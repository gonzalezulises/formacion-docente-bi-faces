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charts/chart7.xml" ContentType="application/vnd.openxmlformats-officedocument.drawingml.chart+xml"/>
  <Override PartName="/ppt/notesSlides/notesSlide16.xml" ContentType="application/vnd.openxmlformats-officedocument.presentationml.notesSlide+xml"/>
  <Override PartName="/ppt/charts/chart8.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84" r:id="rId3"/>
    <p:sldId id="258" r:id="rId4"/>
    <p:sldId id="274" r:id="rId5"/>
    <p:sldId id="259" r:id="rId6"/>
    <p:sldId id="260" r:id="rId7"/>
    <p:sldId id="261" r:id="rId8"/>
    <p:sldId id="262" r:id="rId9"/>
    <p:sldId id="281" r:id="rId10"/>
    <p:sldId id="263" r:id="rId11"/>
    <p:sldId id="282" r:id="rId12"/>
    <p:sldId id="265" r:id="rId13"/>
    <p:sldId id="288" r:id="rId14"/>
    <p:sldId id="264" r:id="rId15"/>
    <p:sldId id="283" r:id="rId16"/>
    <p:sldId id="291" r:id="rId17"/>
    <p:sldId id="292" r:id="rId18"/>
    <p:sldId id="269"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6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Navarro" userId="d8b7ef95239a90b6" providerId="LiveId" clId="{6AD52B52-E32E-41FE-BB31-E7D63DCF4FBB}"/>
    <pc:docChg chg="delSld modSld">
      <pc:chgData name="Ricardo Navarro" userId="d8b7ef95239a90b6" providerId="LiveId" clId="{6AD52B52-E32E-41FE-BB31-E7D63DCF4FBB}" dt="2026-05-04T12:33:46.150" v="6" actId="2696"/>
      <pc:docMkLst>
        <pc:docMk/>
      </pc:docMkLst>
      <pc:sldChg chg="del">
        <pc:chgData name="Ricardo Navarro" userId="d8b7ef95239a90b6" providerId="LiveId" clId="{6AD52B52-E32E-41FE-BB31-E7D63DCF4FBB}" dt="2026-05-04T12:31:44.437" v="0" actId="47"/>
        <pc:sldMkLst>
          <pc:docMk/>
          <pc:sldMk cId="0" sldId="257"/>
        </pc:sldMkLst>
      </pc:sldChg>
      <pc:sldChg chg="modSp mod">
        <pc:chgData name="Ricardo Navarro" userId="d8b7ef95239a90b6" providerId="LiveId" clId="{6AD52B52-E32E-41FE-BB31-E7D63DCF4FBB}" dt="2026-05-04T12:33:03.053" v="5" actId="14100"/>
        <pc:sldMkLst>
          <pc:docMk/>
          <pc:sldMk cId="0" sldId="264"/>
        </pc:sldMkLst>
        <pc:spChg chg="mod">
          <ac:chgData name="Ricardo Navarro" userId="d8b7ef95239a90b6" providerId="LiveId" clId="{6AD52B52-E32E-41FE-BB31-E7D63DCF4FBB}" dt="2026-05-04T12:33:03.053" v="5" actId="14100"/>
          <ac:spMkLst>
            <pc:docMk/>
            <pc:sldMk cId="0" sldId="264"/>
            <ac:spMk id="43" creationId="{00000000-0000-0000-0000-000000000000}"/>
          </ac:spMkLst>
        </pc:spChg>
        <pc:spChg chg="mod">
          <ac:chgData name="Ricardo Navarro" userId="d8b7ef95239a90b6" providerId="LiveId" clId="{6AD52B52-E32E-41FE-BB31-E7D63DCF4FBB}" dt="2026-05-04T12:32:59.539" v="4" actId="14100"/>
          <ac:spMkLst>
            <pc:docMk/>
            <pc:sldMk cId="0" sldId="264"/>
            <ac:spMk id="44" creationId="{00000000-0000-0000-0000-000000000000}"/>
          </ac:spMkLst>
        </pc:spChg>
      </pc:sldChg>
      <pc:sldChg chg="del">
        <pc:chgData name="Ricardo Navarro" userId="d8b7ef95239a90b6" providerId="LiveId" clId="{6AD52B52-E32E-41FE-BB31-E7D63DCF4FBB}" dt="2026-05-04T12:33:46.150" v="6" actId="2696"/>
        <pc:sldMkLst>
          <pc:docMk/>
          <pc:sldMk cId="0" sldId="270"/>
        </pc:sldMkLst>
      </pc:sldChg>
      <pc:sldChg chg="del">
        <pc:chgData name="Ricardo Navarro" userId="d8b7ef95239a90b6" providerId="LiveId" clId="{6AD52B52-E32E-41FE-BB31-E7D63DCF4FBB}" dt="2026-05-04T12:33:46.150" v="6" actId="2696"/>
        <pc:sldMkLst>
          <pc:docMk/>
          <pc:sldMk cId="0" sldId="271"/>
        </pc:sldMkLst>
      </pc:sldChg>
      <pc:sldChg chg="del">
        <pc:chgData name="Ricardo Navarro" userId="d8b7ef95239a90b6" providerId="LiveId" clId="{6AD52B52-E32E-41FE-BB31-E7D63DCF4FBB}" dt="2026-05-04T12:33:46.150" v="6" actId="2696"/>
        <pc:sldMkLst>
          <pc:docMk/>
          <pc:sldMk cId="0" sldId="277"/>
        </pc:sldMkLst>
      </pc:sldChg>
      <pc:sldChg chg="del">
        <pc:chgData name="Ricardo Navarro" userId="d8b7ef95239a90b6" providerId="LiveId" clId="{6AD52B52-E32E-41FE-BB31-E7D63DCF4FBB}" dt="2026-05-04T12:33:46.150" v="6" actId="2696"/>
        <pc:sldMkLst>
          <pc:docMk/>
          <pc:sldMk cId="0" sldId="278"/>
        </pc:sldMkLst>
      </pc:sldChg>
      <pc:sldChg chg="del">
        <pc:chgData name="Ricardo Navarro" userId="d8b7ef95239a90b6" providerId="LiveId" clId="{6AD52B52-E32E-41FE-BB31-E7D63DCF4FBB}" dt="2026-05-04T12:33:46.150" v="6" actId="2696"/>
        <pc:sldMkLst>
          <pc:docMk/>
          <pc:sldMk cId="0" sldId="279"/>
        </pc:sldMkLst>
      </pc:sldChg>
      <pc:sldChg chg="del">
        <pc:chgData name="Ricardo Navarro" userId="d8b7ef95239a90b6" providerId="LiveId" clId="{6AD52B52-E32E-41FE-BB31-E7D63DCF4FBB}" dt="2026-05-04T12:33:46.150" v="6" actId="2696"/>
        <pc:sldMkLst>
          <pc:docMk/>
          <pc:sldMk cId="0" sldId="280"/>
        </pc:sldMkLst>
      </pc:sldChg>
      <pc:sldChg chg="modSp mod">
        <pc:chgData name="Ricardo Navarro" userId="d8b7ef95239a90b6" providerId="LiveId" clId="{6AD52B52-E32E-41FE-BB31-E7D63DCF4FBB}" dt="2026-05-04T12:32:52.915" v="3" actId="1076"/>
        <pc:sldMkLst>
          <pc:docMk/>
          <pc:sldMk cId="1617959566" sldId="288"/>
        </pc:sldMkLst>
        <pc:spChg chg="mod">
          <ac:chgData name="Ricardo Navarro" userId="d8b7ef95239a90b6" providerId="LiveId" clId="{6AD52B52-E32E-41FE-BB31-E7D63DCF4FBB}" dt="2026-05-04T12:32:50.957" v="2" actId="1076"/>
          <ac:spMkLst>
            <pc:docMk/>
            <pc:sldMk cId="1617959566" sldId="288"/>
            <ac:spMk id="6" creationId="{3CEC6005-5E51-4158-95D6-79A3B00FC8FC}"/>
          </ac:spMkLst>
        </pc:spChg>
        <pc:spChg chg="mod">
          <ac:chgData name="Ricardo Navarro" userId="d8b7ef95239a90b6" providerId="LiveId" clId="{6AD52B52-E32E-41FE-BB31-E7D63DCF4FBB}" dt="2026-05-04T12:32:48.510" v="1" actId="1076"/>
          <ac:spMkLst>
            <pc:docMk/>
            <pc:sldMk cId="1617959566" sldId="288"/>
            <ac:spMk id="7" creationId="{CE5EC002-6CAB-43FE-8D48-185E41E7B1D5}"/>
          </ac:spMkLst>
        </pc:spChg>
        <pc:spChg chg="mod">
          <ac:chgData name="Ricardo Navarro" userId="d8b7ef95239a90b6" providerId="LiveId" clId="{6AD52B52-E32E-41FE-BB31-E7D63DCF4FBB}" dt="2026-05-04T12:32:52.915" v="3" actId="1076"/>
          <ac:spMkLst>
            <pc:docMk/>
            <pc:sldMk cId="1617959566" sldId="288"/>
            <ac:spMk id="8" creationId="{5760D10E-6C80-402B-AE45-AAA6E3E0B044}"/>
          </ac:spMkLst>
        </pc:spChg>
      </pc:sldChg>
      <pc:sldChg chg="del">
        <pc:chgData name="Ricardo Navarro" userId="d8b7ef95239a90b6" providerId="LiveId" clId="{6AD52B52-E32E-41FE-BB31-E7D63DCF4FBB}" dt="2026-05-04T12:33:46.150" v="6" actId="2696"/>
        <pc:sldMkLst>
          <pc:docMk/>
          <pc:sldMk cId="3815178645" sldId="293"/>
        </pc:sldMkLst>
      </pc:sldChg>
      <pc:sldChg chg="del">
        <pc:chgData name="Ricardo Navarro" userId="d8b7ef95239a90b6" providerId="LiveId" clId="{6AD52B52-E32E-41FE-BB31-E7D63DCF4FBB}" dt="2026-05-04T12:33:46.150" v="6" actId="2696"/>
        <pc:sldMkLst>
          <pc:docMk/>
          <pc:sldMk cId="2637291766" sldId="294"/>
        </pc:sldMkLst>
      </pc:sldChg>
      <pc:sldChg chg="del">
        <pc:chgData name="Ricardo Navarro" userId="d8b7ef95239a90b6" providerId="LiveId" clId="{6AD52B52-E32E-41FE-BB31-E7D63DCF4FBB}" dt="2026-05-04T12:33:46.150" v="6" actId="2696"/>
        <pc:sldMkLst>
          <pc:docMk/>
          <pc:sldMk cId="3510908905" sldId="296"/>
        </pc:sldMkLst>
      </pc:sldChg>
      <pc:sldChg chg="del">
        <pc:chgData name="Ricardo Navarro" userId="d8b7ef95239a90b6" providerId="LiveId" clId="{6AD52B52-E32E-41FE-BB31-E7D63DCF4FBB}" dt="2026-05-04T12:33:46.150" v="6" actId="2696"/>
        <pc:sldMkLst>
          <pc:docMk/>
          <pc:sldMk cId="3804728576" sldId="297"/>
        </pc:sldMkLst>
      </pc:sldChg>
      <pc:sldChg chg="del">
        <pc:chgData name="Ricardo Navarro" userId="d8b7ef95239a90b6" providerId="LiveId" clId="{6AD52B52-E32E-41FE-BB31-E7D63DCF4FBB}" dt="2026-05-04T12:33:46.150" v="6" actId="2696"/>
        <pc:sldMkLst>
          <pc:docMk/>
          <pc:sldMk cId="1511282857" sldId="298"/>
        </pc:sldMkLst>
      </pc:sldChg>
      <pc:sldChg chg="del">
        <pc:chgData name="Ricardo Navarro" userId="d8b7ef95239a90b6" providerId="LiveId" clId="{6AD52B52-E32E-41FE-BB31-E7D63DCF4FBB}" dt="2026-05-04T12:33:46.150" v="6" actId="2696"/>
        <pc:sldMkLst>
          <pc:docMk/>
          <pc:sldMk cId="2228943460" sldId="300"/>
        </pc:sldMkLst>
      </pc:sldChg>
      <pc:sldChg chg="del">
        <pc:chgData name="Ricardo Navarro" userId="d8b7ef95239a90b6" providerId="LiveId" clId="{6AD52B52-E32E-41FE-BB31-E7D63DCF4FBB}" dt="2026-05-04T12:33:46.150" v="6" actId="2696"/>
        <pc:sldMkLst>
          <pc:docMk/>
          <pc:sldMk cId="94724184" sldId="301"/>
        </pc:sldMkLst>
      </pc:sldChg>
      <pc:sldChg chg="del">
        <pc:chgData name="Ricardo Navarro" userId="d8b7ef95239a90b6" providerId="LiveId" clId="{6AD52B52-E32E-41FE-BB31-E7D63DCF4FBB}" dt="2026-05-04T12:33:46.150" v="6" actId="2696"/>
        <pc:sldMkLst>
          <pc:docMk/>
          <pc:sldMk cId="1482192128" sldId="304"/>
        </pc:sldMkLst>
      </pc:sldChg>
      <pc:sldChg chg="del">
        <pc:chgData name="Ricardo Navarro" userId="d8b7ef95239a90b6" providerId="LiveId" clId="{6AD52B52-E32E-41FE-BB31-E7D63DCF4FBB}" dt="2026-05-04T12:33:46.150" v="6" actId="2696"/>
        <pc:sldMkLst>
          <pc:docMk/>
          <pc:sldMk cId="2103954568" sldId="305"/>
        </pc:sldMkLst>
      </pc:sldChg>
      <pc:sldChg chg="del">
        <pc:chgData name="Ricardo Navarro" userId="d8b7ef95239a90b6" providerId="LiveId" clId="{6AD52B52-E32E-41FE-BB31-E7D63DCF4FBB}" dt="2026-05-04T12:33:46.150" v="6" actId="2696"/>
        <pc:sldMkLst>
          <pc:docMk/>
          <pc:sldMk cId="2094142027" sldId="306"/>
        </pc:sldMkLst>
      </pc:sldChg>
      <pc:sldChg chg="del">
        <pc:chgData name="Ricardo Navarro" userId="d8b7ef95239a90b6" providerId="LiveId" clId="{6AD52B52-E32E-41FE-BB31-E7D63DCF4FBB}" dt="2026-05-04T12:33:46.150" v="6" actId="2696"/>
        <pc:sldMkLst>
          <pc:docMk/>
          <pc:sldMk cId="806119237" sldId="307"/>
        </pc:sldMkLst>
      </pc:sldChg>
    </pc:docChg>
  </pc:docChgLst>
</pc:chgInfo>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1200" b="1">
                <a:solidFill>
                  <a:srgbClr val="1E293B"/>
                </a:solidFill>
                <a:latin typeface="Calibri"/>
              </a:defRPr>
            </a:pPr>
            <a:r>
              <a:rPr lang="es-ES" sz="1200" b="1" dirty="0">
                <a:solidFill>
                  <a:srgbClr val="1E293B"/>
                </a:solidFill>
                <a:latin typeface="Calibri"/>
              </a:rPr>
              <a:t>Precio Vivienda vs m²</a:t>
            </a:r>
          </a:p>
        </c:rich>
      </c:tx>
      <c:overlay val="0"/>
    </c:title>
    <c:autoTitleDeleted val="0"/>
    <c:plotArea>
      <c:layout/>
      <c:scatterChart>
        <c:scatterStyle val="lineMarker"/>
        <c:varyColors val="1"/>
        <c:ser>
          <c:idx val="0"/>
          <c:order val="0"/>
          <c:tx>
            <c:v>Viviendas</c:v>
          </c:tx>
          <c:spPr>
            <a:ln w="0">
              <a:noFill/>
            </a:ln>
          </c:spPr>
          <c:marker>
            <c:symbol val="circle"/>
            <c:size val="5"/>
            <c:spPr>
              <a:solidFill>
                <a:srgbClr val="0D7377"/>
              </a:solidFill>
              <a:ln>
                <a:noFill/>
              </a:ln>
            </c:spPr>
          </c:marker>
          <c:xVal>
            <c:numLit>
              <c:formatCode>General</c:formatCode>
              <c:ptCount val="15"/>
              <c:pt idx="0">
                <c:v>45</c:v>
              </c:pt>
              <c:pt idx="1">
                <c:v>55</c:v>
              </c:pt>
              <c:pt idx="2">
                <c:v>60</c:v>
              </c:pt>
              <c:pt idx="3">
                <c:v>70</c:v>
              </c:pt>
              <c:pt idx="4">
                <c:v>75</c:v>
              </c:pt>
              <c:pt idx="5">
                <c:v>80</c:v>
              </c:pt>
              <c:pt idx="6">
                <c:v>85</c:v>
              </c:pt>
              <c:pt idx="7">
                <c:v>90</c:v>
              </c:pt>
              <c:pt idx="8">
                <c:v>95</c:v>
              </c:pt>
              <c:pt idx="9">
                <c:v>100</c:v>
              </c:pt>
              <c:pt idx="10">
                <c:v>110</c:v>
              </c:pt>
              <c:pt idx="11">
                <c:v>120</c:v>
              </c:pt>
              <c:pt idx="12">
                <c:v>130</c:v>
              </c:pt>
              <c:pt idx="13">
                <c:v>140</c:v>
              </c:pt>
              <c:pt idx="14">
                <c:v>150</c:v>
              </c:pt>
            </c:numLit>
          </c:xVal>
          <c:yVal>
            <c:numLit>
              <c:formatCode>General</c:formatCode>
              <c:ptCount val="15"/>
              <c:pt idx="0">
                <c:v>85000</c:v>
              </c:pt>
              <c:pt idx="1">
                <c:v>105000</c:v>
              </c:pt>
              <c:pt idx="2">
                <c:v>115000</c:v>
              </c:pt>
              <c:pt idx="3">
                <c:v>140000</c:v>
              </c:pt>
              <c:pt idx="4">
                <c:v>155000</c:v>
              </c:pt>
              <c:pt idx="5">
                <c:v>160000</c:v>
              </c:pt>
              <c:pt idx="6">
                <c:v>175000</c:v>
              </c:pt>
              <c:pt idx="7">
                <c:v>190000</c:v>
              </c:pt>
              <c:pt idx="8">
                <c:v>200000</c:v>
              </c:pt>
              <c:pt idx="9">
                <c:v>215000</c:v>
              </c:pt>
              <c:pt idx="10">
                <c:v>240000</c:v>
              </c:pt>
              <c:pt idx="11">
                <c:v>265000</c:v>
              </c:pt>
              <c:pt idx="12">
                <c:v>280000</c:v>
              </c:pt>
              <c:pt idx="13">
                <c:v>310000</c:v>
              </c:pt>
              <c:pt idx="14">
                <c:v>340000</c:v>
              </c:pt>
            </c:numLit>
          </c:yVal>
          <c:smooth val="1"/>
          <c:extLst>
            <c:ext xmlns:c16="http://schemas.microsoft.com/office/drawing/2014/chart" uri="{C3380CC4-5D6E-409C-BE32-E72D297353CC}">
              <c16:uniqueId val="{00000000-2708-4772-891D-CB47BAFAC9D3}"/>
            </c:ext>
          </c:extLst>
        </c:ser>
        <c:dLbls>
          <c:showLegendKey val="0"/>
          <c:showVal val="0"/>
          <c:showCatName val="0"/>
          <c:showSerName val="0"/>
          <c:showPercent val="0"/>
          <c:showBubbleSize val="0"/>
        </c:dLbls>
        <c:axId val="1"/>
        <c:axId val="2"/>
      </c:scatterChart>
      <c:valAx>
        <c:axId val="1"/>
        <c:scaling>
          <c:orientation val="minMax"/>
        </c:scaling>
        <c:delete val="0"/>
        <c:axPos val="b"/>
        <c:title>
          <c:tx>
            <c:rich>
              <a:bodyPr/>
              <a:lstStyle/>
              <a:p>
                <a:pPr>
                  <a:defRPr sz="1000">
                    <a:solidFill>
                      <a:srgbClr val="64748B"/>
                    </a:solidFill>
                    <a:latin typeface="Calibri"/>
                  </a:defRPr>
                </a:pPr>
                <a:r>
                  <a:rPr lang="es-ES" sz="1000" dirty="0">
                    <a:solidFill>
                      <a:srgbClr val="64748B"/>
                    </a:solidFill>
                    <a:latin typeface="Calibri"/>
                  </a:rPr>
                  <a:t>m²</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2"/>
        <c:crosses val="autoZero"/>
        <c:crossBetween val="midCat"/>
      </c:valAx>
      <c:valAx>
        <c:axId val="2"/>
        <c:scaling>
          <c:orientation val="minMax"/>
        </c:scaling>
        <c:delete val="0"/>
        <c:axPos val="l"/>
        <c:title>
          <c:tx>
            <c:rich>
              <a:bodyPr rot="-5400000" vert="horz"/>
              <a:lstStyle/>
              <a:p>
                <a:pPr>
                  <a:defRPr sz="1000">
                    <a:solidFill>
                      <a:srgbClr val="64748B"/>
                    </a:solidFill>
                    <a:latin typeface="Calibri"/>
                  </a:defRPr>
                </a:pPr>
                <a:r>
                  <a:rPr lang="es-ES" sz="1000" dirty="0">
                    <a:solidFill>
                      <a:srgbClr val="64748B"/>
                    </a:solidFill>
                    <a:latin typeface="Calibri"/>
                  </a:rPr>
                  <a:t>Precio (€)</a:t>
                </a:r>
              </a:p>
            </c:rich>
          </c:tx>
          <c:overlay val="0"/>
        </c:title>
        <c:numFmt formatCode="General" sourceLinked="1"/>
        <c:majorTickMark val="out"/>
        <c:minorTickMark val="none"/>
        <c:tickLblPos val="nextTo"/>
        <c:txPr>
          <a:bodyPr/>
          <a:lstStyle/>
          <a:p>
            <a:pPr>
              <a:defRPr sz="900">
                <a:solidFill>
                  <a:srgbClr val="64748B"/>
                </a:solidFill>
                <a:latin typeface="Calibri"/>
              </a:defRPr>
            </a:pPr>
            <a:endParaRPr lang="es-ES"/>
          </a:p>
        </c:txPr>
        <c:crossAx val="1"/>
        <c:crosses val="autoZero"/>
        <c:crossBetween val="midCat"/>
      </c:valAx>
    </c:plotArea>
    <c:legend>
      <c:legendPos val="t"/>
      <c:overlay val="0"/>
      <c:txPr>
        <a:bodyPr/>
        <a:lstStyle/>
        <a:p>
          <a:pPr>
            <a:defRPr sz="1000">
              <a:latin typeface="Calibri"/>
            </a:defRPr>
          </a:pPr>
          <a:endParaRPr lang="es-ES"/>
        </a:p>
      </c:txPr>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m2 vs Precio</a:t>
            </a:r>
          </a:p>
        </c:rich>
      </c:tx>
      <c:overlay val="0"/>
    </c:title>
    <c:autoTitleDeleted val="0"/>
    <c:plotArea>
      <c:layout/>
      <c:scatterChart>
        <c:scatterStyle val="lineMarker"/>
        <c:varyColors val="1"/>
        <c:ser>
          <c:idx val="0"/>
          <c:order val="0"/>
          <c:spPr>
            <a:ln w="0">
              <a:noFill/>
            </a:ln>
          </c:spPr>
          <c:marker>
            <c:symbol val="circle"/>
            <c:size val="4"/>
            <c:spPr>
              <a:solidFill>
                <a:srgbClr val="8E44AD"/>
              </a:solidFill>
              <a:ln>
                <a:noFill/>
              </a:ln>
            </c:spPr>
          </c:marker>
          <c:xVal>
            <c:numLit>
              <c:formatCode>General</c:formatCode>
              <c:ptCount val="9"/>
              <c:pt idx="0">
                <c:v>45</c:v>
              </c:pt>
              <c:pt idx="1">
                <c:v>55</c:v>
              </c:pt>
              <c:pt idx="2">
                <c:v>60</c:v>
              </c:pt>
              <c:pt idx="3">
                <c:v>70</c:v>
              </c:pt>
              <c:pt idx="4">
                <c:v>80</c:v>
              </c:pt>
              <c:pt idx="5">
                <c:v>90</c:v>
              </c:pt>
              <c:pt idx="6">
                <c:v>100</c:v>
              </c:pt>
              <c:pt idx="7">
                <c:v>120</c:v>
              </c:pt>
              <c:pt idx="8">
                <c:v>140</c:v>
              </c:pt>
            </c:numLit>
          </c:xVal>
          <c:yVal>
            <c:numLit>
              <c:formatCode>General</c:formatCode>
              <c:ptCount val="9"/>
              <c:pt idx="0">
                <c:v>85</c:v>
              </c:pt>
              <c:pt idx="1">
                <c:v>105</c:v>
              </c:pt>
              <c:pt idx="2">
                <c:v>115</c:v>
              </c:pt>
              <c:pt idx="3">
                <c:v>140</c:v>
              </c:pt>
              <c:pt idx="4">
                <c:v>160</c:v>
              </c:pt>
              <c:pt idx="5">
                <c:v>190</c:v>
              </c:pt>
              <c:pt idx="6">
                <c:v>215</c:v>
              </c:pt>
              <c:pt idx="7">
                <c:v>265</c:v>
              </c:pt>
              <c:pt idx="8">
                <c:v>310</c:v>
              </c:pt>
            </c:numLit>
          </c:yVal>
          <c:smooth val="1"/>
          <c:extLst>
            <c:ext xmlns:c16="http://schemas.microsoft.com/office/drawing/2014/chart" uri="{C3380CC4-5D6E-409C-BE32-E72D297353CC}">
              <c16:uniqueId val="{00000000-A14E-4867-80D3-1E2D25C49D71}"/>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Habitac. vs Precio</a:t>
            </a:r>
          </a:p>
        </c:rich>
      </c:tx>
      <c:overlay val="0"/>
    </c:title>
    <c:autoTitleDeleted val="0"/>
    <c:plotArea>
      <c:layout/>
      <c:scatterChart>
        <c:scatterStyle val="lineMarker"/>
        <c:varyColors val="1"/>
        <c:ser>
          <c:idx val="0"/>
          <c:order val="0"/>
          <c:spPr>
            <a:ln w="0">
              <a:noFill/>
            </a:ln>
          </c:spPr>
          <c:marker>
            <c:symbol val="circle"/>
            <c:size val="4"/>
            <c:spPr>
              <a:solidFill>
                <a:srgbClr val="AF69C7"/>
              </a:solidFill>
              <a:ln>
                <a:noFill/>
              </a:ln>
            </c:spPr>
          </c:marker>
          <c:xVal>
            <c:numLit>
              <c:formatCode>General</c:formatCode>
              <c:ptCount val="9"/>
              <c:pt idx="0">
                <c:v>1</c:v>
              </c:pt>
              <c:pt idx="1">
                <c:v>2</c:v>
              </c:pt>
              <c:pt idx="2">
                <c:v>2</c:v>
              </c:pt>
              <c:pt idx="3">
                <c:v>3</c:v>
              </c:pt>
              <c:pt idx="4">
                <c:v>3</c:v>
              </c:pt>
              <c:pt idx="5">
                <c:v>3</c:v>
              </c:pt>
              <c:pt idx="6">
                <c:v>4</c:v>
              </c:pt>
              <c:pt idx="7">
                <c:v>4</c:v>
              </c:pt>
              <c:pt idx="8">
                <c:v>5</c:v>
              </c:pt>
            </c:numLit>
          </c:xVal>
          <c:yVal>
            <c:numLit>
              <c:formatCode>General</c:formatCode>
              <c:ptCount val="9"/>
              <c:pt idx="0">
                <c:v>85</c:v>
              </c:pt>
              <c:pt idx="1">
                <c:v>105</c:v>
              </c:pt>
              <c:pt idx="2">
                <c:v>115</c:v>
              </c:pt>
              <c:pt idx="3">
                <c:v>140</c:v>
              </c:pt>
              <c:pt idx="4">
                <c:v>155</c:v>
              </c:pt>
              <c:pt idx="5">
                <c:v>175</c:v>
              </c:pt>
              <c:pt idx="6">
                <c:v>215</c:v>
              </c:pt>
              <c:pt idx="7">
                <c:v>265</c:v>
              </c:pt>
              <c:pt idx="8">
                <c:v>310</c:v>
              </c:pt>
            </c:numLit>
          </c:yVal>
          <c:smooth val="1"/>
          <c:extLst>
            <c:ext xmlns:c16="http://schemas.microsoft.com/office/drawing/2014/chart" uri="{C3380CC4-5D6E-409C-BE32-E72D297353CC}">
              <c16:uniqueId val="{00000000-947F-4EC8-8C40-1FA13F39FE42}"/>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m2 vs Habitac.</a:t>
            </a:r>
          </a:p>
        </c:rich>
      </c:tx>
      <c:overlay val="0"/>
    </c:title>
    <c:autoTitleDeleted val="0"/>
    <c:plotArea>
      <c:layout/>
      <c:scatterChart>
        <c:scatterStyle val="lineMarker"/>
        <c:varyColors val="1"/>
        <c:ser>
          <c:idx val="0"/>
          <c:order val="0"/>
          <c:spPr>
            <a:ln w="0">
              <a:noFill/>
            </a:ln>
          </c:spPr>
          <c:marker>
            <c:symbol val="circle"/>
            <c:size val="4"/>
            <c:spPr>
              <a:solidFill>
                <a:srgbClr val="C39BD3"/>
              </a:solidFill>
              <a:ln>
                <a:noFill/>
              </a:ln>
            </c:spPr>
          </c:marker>
          <c:xVal>
            <c:numLit>
              <c:formatCode>General</c:formatCode>
              <c:ptCount val="9"/>
              <c:pt idx="0">
                <c:v>45</c:v>
              </c:pt>
              <c:pt idx="1">
                <c:v>55</c:v>
              </c:pt>
              <c:pt idx="2">
                <c:v>60</c:v>
              </c:pt>
              <c:pt idx="3">
                <c:v>70</c:v>
              </c:pt>
              <c:pt idx="4">
                <c:v>80</c:v>
              </c:pt>
              <c:pt idx="5">
                <c:v>90</c:v>
              </c:pt>
              <c:pt idx="6">
                <c:v>100</c:v>
              </c:pt>
              <c:pt idx="7">
                <c:v>120</c:v>
              </c:pt>
              <c:pt idx="8">
                <c:v>140</c:v>
              </c:pt>
            </c:numLit>
          </c:xVal>
          <c:yVal>
            <c:numLit>
              <c:formatCode>General</c:formatCode>
              <c:ptCount val="9"/>
              <c:pt idx="0">
                <c:v>1</c:v>
              </c:pt>
              <c:pt idx="1">
                <c:v>2</c:v>
              </c:pt>
              <c:pt idx="2">
                <c:v>2</c:v>
              </c:pt>
              <c:pt idx="3">
                <c:v>3</c:v>
              </c:pt>
              <c:pt idx="4">
                <c:v>3</c:v>
              </c:pt>
              <c:pt idx="5">
                <c:v>3</c:v>
              </c:pt>
              <c:pt idx="6">
                <c:v>4</c:v>
              </c:pt>
              <c:pt idx="7">
                <c:v>4</c:v>
              </c:pt>
              <c:pt idx="8">
                <c:v>5</c:v>
              </c:pt>
            </c:numLit>
          </c:yVal>
          <c:smooth val="1"/>
          <c:extLst>
            <c:ext xmlns:c16="http://schemas.microsoft.com/office/drawing/2014/chart" uri="{C3380CC4-5D6E-409C-BE32-E72D297353CC}">
              <c16:uniqueId val="{00000000-299A-4D80-845A-CA07327CBDB5}"/>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800" b="1">
                <a:solidFill>
                  <a:srgbClr val="1E293B"/>
                </a:solidFill>
                <a:latin typeface="Calibri"/>
              </a:defRPr>
            </a:pPr>
            <a:r>
              <a:rPr lang="es-ES" sz="800" b="1" dirty="0">
                <a:solidFill>
                  <a:srgbClr val="1E293B"/>
                </a:solidFill>
                <a:latin typeface="Calibri"/>
              </a:rPr>
              <a:t>Antig. vs Precio</a:t>
            </a:r>
          </a:p>
        </c:rich>
      </c:tx>
      <c:overlay val="0"/>
    </c:title>
    <c:autoTitleDeleted val="0"/>
    <c:plotArea>
      <c:layout/>
      <c:scatterChart>
        <c:scatterStyle val="lineMarker"/>
        <c:varyColors val="1"/>
        <c:ser>
          <c:idx val="0"/>
          <c:order val="0"/>
          <c:spPr>
            <a:ln w="0">
              <a:noFill/>
            </a:ln>
          </c:spPr>
          <c:marker>
            <c:symbol val="circle"/>
            <c:size val="4"/>
            <c:spPr>
              <a:solidFill>
                <a:srgbClr val="D2B4DE"/>
              </a:solidFill>
              <a:ln>
                <a:noFill/>
              </a:ln>
            </c:spPr>
          </c:marker>
          <c:xVal>
            <c:numLit>
              <c:formatCode>General</c:formatCode>
              <c:ptCount val="9"/>
              <c:pt idx="0">
                <c:v>2</c:v>
              </c:pt>
              <c:pt idx="1">
                <c:v>5</c:v>
              </c:pt>
              <c:pt idx="2">
                <c:v>8</c:v>
              </c:pt>
              <c:pt idx="3">
                <c:v>10</c:v>
              </c:pt>
              <c:pt idx="4">
                <c:v>15</c:v>
              </c:pt>
              <c:pt idx="5">
                <c:v>18</c:v>
              </c:pt>
              <c:pt idx="6">
                <c:v>22</c:v>
              </c:pt>
              <c:pt idx="7">
                <c:v>25</c:v>
              </c:pt>
              <c:pt idx="8">
                <c:v>30</c:v>
              </c:pt>
            </c:numLit>
          </c:xVal>
          <c:yVal>
            <c:numLit>
              <c:formatCode>General</c:formatCode>
              <c:ptCount val="9"/>
              <c:pt idx="0">
                <c:v>310</c:v>
              </c:pt>
              <c:pt idx="1">
                <c:v>265</c:v>
              </c:pt>
              <c:pt idx="2">
                <c:v>215</c:v>
              </c:pt>
              <c:pt idx="3">
                <c:v>190</c:v>
              </c:pt>
              <c:pt idx="4">
                <c:v>160</c:v>
              </c:pt>
              <c:pt idx="5">
                <c:v>140</c:v>
              </c:pt>
              <c:pt idx="6">
                <c:v>115</c:v>
              </c:pt>
              <c:pt idx="7">
                <c:v>105</c:v>
              </c:pt>
              <c:pt idx="8">
                <c:v>85</c:v>
              </c:pt>
            </c:numLit>
          </c:yVal>
          <c:smooth val="1"/>
          <c:extLst>
            <c:ext xmlns:c16="http://schemas.microsoft.com/office/drawing/2014/chart" uri="{C3380CC4-5D6E-409C-BE32-E72D297353CC}">
              <c16:uniqueId val="{00000000-1662-4A96-AECC-E534E0CE8674}"/>
            </c:ext>
          </c:extLst>
        </c:ser>
        <c:dLbls>
          <c:showLegendKey val="0"/>
          <c:showVal val="0"/>
          <c:showCatName val="0"/>
          <c:showSerName val="0"/>
          <c:showPercent val="0"/>
          <c:showBubbleSize val="0"/>
        </c:dLbls>
        <c:axId val="1"/>
        <c:axId val="2"/>
      </c:scatterChart>
      <c:valAx>
        <c:axId val="1"/>
        <c:scaling>
          <c:orientation val="minMax"/>
        </c:scaling>
        <c:delete val="1"/>
        <c:axPos val="b"/>
        <c:numFmt formatCode="General" sourceLinked="1"/>
        <c:majorTickMark val="none"/>
        <c:minorTickMark val="none"/>
        <c:tickLblPos val="none"/>
        <c:crossAx val="2"/>
        <c:crosses val="autoZero"/>
        <c:crossBetween val="midCat"/>
      </c:valAx>
      <c:valAx>
        <c:axId val="2"/>
        <c:scaling>
          <c:orientation val="minMax"/>
        </c:scaling>
        <c:delete val="1"/>
        <c:axPos val="l"/>
        <c:numFmt formatCode="General" sourceLinked="1"/>
        <c:majorTickMark val="none"/>
        <c:minorTickMark val="none"/>
        <c:tickLblPos val="none"/>
        <c:crossAx val="1"/>
        <c:crosses val="autoZero"/>
        <c:crossBetween val="midCat"/>
      </c:valAx>
    </c:plotArea>
    <c:plotVisOnly val="1"/>
    <c:dispBlanksAs val="zero"/>
    <c:showDLblsOverMax val="1"/>
  </c:char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title>
      <c:tx>
        <c:rich>
          <a:bodyPr/>
          <a:lstStyle/>
          <a:p>
            <a:pPr>
              <a:defRPr sz="1400" b="1">
                <a:solidFill>
                  <a:srgbClr val="1E293B"/>
                </a:solidFill>
                <a:latin typeface="Calibri"/>
              </a:defRPr>
            </a:pPr>
            <a:r>
              <a:rPr lang="es-ES" sz="1400" b="1" dirty="0">
                <a:solidFill>
                  <a:srgbClr val="1E293B"/>
                </a:solidFill>
                <a:latin typeface="Calibri"/>
              </a:rPr>
              <a:t>f(x) = 2x + 3</a:t>
            </a:r>
          </a:p>
        </c:rich>
      </c:tx>
      <c:overlay val="0"/>
    </c:title>
    <c:autoTitleDeleted val="0"/>
    <c:plotArea>
      <c:layout/>
      <c:scatterChart>
        <c:scatterStyle val="smoothMarker"/>
        <c:varyColors val="1"/>
        <c:ser>
          <c:idx val="0"/>
          <c:order val="0"/>
          <c:tx>
            <c:v>y = 2x + 3</c:v>
          </c:tx>
          <c:spPr>
            <a:ln w="25400">
              <a:solidFill>
                <a:srgbClr val="0D7377"/>
              </a:solidFill>
            </a:ln>
          </c:spPr>
          <c:marker>
            <c:symbol val="circle"/>
            <c:size val="6"/>
            <c:spPr>
              <a:solidFill>
                <a:srgbClr val="0D7377"/>
              </a:solidFill>
              <a:ln>
                <a:noFill/>
              </a:ln>
            </c:spPr>
          </c:marker>
          <c:dLbls>
            <c:spPr>
              <a:noFill/>
              <a:ln>
                <a:noFill/>
              </a:ln>
              <a:effectLst/>
            </c:spPr>
            <c:txPr>
              <a:bodyPr/>
              <a:lstStyle/>
              <a:p>
                <a:pPr>
                  <a:defRPr sz="1000">
                    <a:solidFill>
                      <a:srgbClr val="1E293B"/>
                    </a:solidFill>
                    <a:latin typeface="Calibri"/>
                  </a:defRPr>
                </a:pPr>
                <a:endParaRPr lang="es-ES"/>
              </a:p>
            </c:txPr>
            <c:showLegendKey val="0"/>
            <c:showVal val="1"/>
            <c:showCatName val="0"/>
            <c:showSerName val="0"/>
            <c:showPercent val="0"/>
            <c:showBubbleSize val="1"/>
            <c:showLeaderLines val="0"/>
            <c:extLst>
              <c:ext xmlns:c15="http://schemas.microsoft.com/office/drawing/2012/chart" uri="{CE6537A1-D6FC-4f65-9D91-7224C49458BB}">
                <c15:showLeaderLines val="0"/>
              </c:ext>
            </c:extLst>
          </c:dLbls>
          <c:xVal>
            <c:numLit>
              <c:formatCode>General</c:formatCode>
              <c:ptCount val="7"/>
              <c:pt idx="0">
                <c:v>-1</c:v>
              </c:pt>
              <c:pt idx="1">
                <c:v>0</c:v>
              </c:pt>
              <c:pt idx="2">
                <c:v>1</c:v>
              </c:pt>
              <c:pt idx="3">
                <c:v>2</c:v>
              </c:pt>
              <c:pt idx="4">
                <c:v>3</c:v>
              </c:pt>
              <c:pt idx="5">
                <c:v>5</c:v>
              </c:pt>
              <c:pt idx="6">
                <c:v>10</c:v>
              </c:pt>
            </c:numLit>
          </c:xVal>
          <c:yVal>
            <c:numLit>
              <c:formatCode>General</c:formatCode>
              <c:ptCount val="7"/>
              <c:pt idx="0">
                <c:v>1</c:v>
              </c:pt>
              <c:pt idx="1">
                <c:v>3</c:v>
              </c:pt>
              <c:pt idx="2">
                <c:v>5</c:v>
              </c:pt>
              <c:pt idx="3">
                <c:v>7</c:v>
              </c:pt>
              <c:pt idx="4">
                <c:v>9</c:v>
              </c:pt>
              <c:pt idx="5">
                <c:v>13</c:v>
              </c:pt>
              <c:pt idx="6">
                <c:v>23</c:v>
              </c:pt>
            </c:numLit>
          </c:yVal>
          <c:smooth val="1"/>
          <c:extLst>
            <c:ext xmlns:c16="http://schemas.microsoft.com/office/drawing/2014/chart" uri="{C3380CC4-5D6E-409C-BE32-E72D297353CC}">
              <c16:uniqueId val="{00000000-BEA6-4C16-BA4D-3B48B89C6787}"/>
            </c:ext>
          </c:extLst>
        </c:ser>
        <c:dLbls>
          <c:showLegendKey val="0"/>
          <c:showVal val="0"/>
          <c:showCatName val="0"/>
          <c:showSerName val="0"/>
          <c:showPercent val="0"/>
          <c:showBubbleSize val="0"/>
        </c:dLbls>
        <c:axId val="1"/>
        <c:axId val="2"/>
      </c:scatterChart>
      <c:valAx>
        <c:axId val="1"/>
        <c:scaling>
          <c:orientation val="minMax"/>
        </c:scaling>
        <c:delete val="0"/>
        <c:axPos val="b"/>
        <c:title>
          <c:tx>
            <c:rich>
              <a:bodyPr/>
              <a:lstStyle/>
              <a:p>
                <a:pPr>
                  <a:defRPr sz="1100">
                    <a:solidFill>
                      <a:srgbClr val="64748B"/>
                    </a:solidFill>
                    <a:latin typeface="Calibri"/>
                  </a:defRPr>
                </a:pPr>
                <a:r>
                  <a:rPr lang="es-ES" sz="1100" dirty="0">
                    <a:solidFill>
                      <a:srgbClr val="64748B"/>
                    </a:solidFill>
                    <a:latin typeface="Calibri"/>
                  </a:rPr>
                  <a:t>x</a:t>
                </a:r>
              </a:p>
            </c:rich>
          </c:tx>
          <c:overlay val="0"/>
        </c:title>
        <c:numFmt formatCode="General" sourceLinked="1"/>
        <c:majorTickMark val="out"/>
        <c:minorTickMark val="none"/>
        <c:tickLblPos val="nextTo"/>
        <c:txPr>
          <a:bodyPr/>
          <a:lstStyle/>
          <a:p>
            <a:pPr>
              <a:defRPr sz="1000">
                <a:solidFill>
                  <a:srgbClr val="64748B"/>
                </a:solidFill>
                <a:latin typeface="Calibri"/>
              </a:defRPr>
            </a:pPr>
            <a:endParaRPr lang="es-ES"/>
          </a:p>
        </c:txPr>
        <c:crossAx val="2"/>
        <c:crosses val="autoZero"/>
        <c:crossBetween val="midCat"/>
      </c:valAx>
      <c:valAx>
        <c:axId val="2"/>
        <c:scaling>
          <c:orientation val="minMax"/>
        </c:scaling>
        <c:delete val="0"/>
        <c:axPos val="l"/>
        <c:title>
          <c:tx>
            <c:rich>
              <a:bodyPr rot="-5400000" vert="horz"/>
              <a:lstStyle/>
              <a:p>
                <a:pPr>
                  <a:defRPr sz="1100">
                    <a:solidFill>
                      <a:srgbClr val="64748B"/>
                    </a:solidFill>
                    <a:latin typeface="Calibri"/>
                  </a:defRPr>
                </a:pPr>
                <a:r>
                  <a:rPr lang="es-ES" sz="1100" dirty="0">
                    <a:solidFill>
                      <a:srgbClr val="64748B"/>
                    </a:solidFill>
                    <a:latin typeface="Calibri"/>
                  </a:rPr>
                  <a:t>f(x)</a:t>
                </a:r>
              </a:p>
            </c:rich>
          </c:tx>
          <c:overlay val="0"/>
        </c:title>
        <c:numFmt formatCode="General" sourceLinked="1"/>
        <c:majorTickMark val="out"/>
        <c:minorTickMark val="none"/>
        <c:tickLblPos val="nextTo"/>
        <c:txPr>
          <a:bodyPr/>
          <a:lstStyle/>
          <a:p>
            <a:pPr>
              <a:defRPr sz="1000">
                <a:solidFill>
                  <a:srgbClr val="64748B"/>
                </a:solidFill>
                <a:latin typeface="Calibri"/>
              </a:defRPr>
            </a:pPr>
            <a:endParaRPr lang="es-ES"/>
          </a:p>
        </c:txPr>
        <c:crossAx val="1"/>
        <c:crosses val="autoZero"/>
        <c:crossBetween val="midCat"/>
      </c:valAx>
    </c:plotArea>
    <c:legend>
      <c:legendPos val="t"/>
      <c:overlay val="0"/>
      <c:txPr>
        <a:bodyPr/>
        <a:lstStyle/>
        <a:p>
          <a:pPr>
            <a:defRPr sz="1000">
              <a:latin typeface="Calibri"/>
            </a:defRPr>
          </a:pPr>
          <a:endParaRPr lang="es-ES"/>
        </a:p>
      </c:txPr>
    </c:legend>
    <c:plotVisOnly val="1"/>
    <c:dispBlanksAs val="zero"/>
    <c:showDLblsOverMax val="1"/>
  </c:char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800" b="0" i="0" u="none" strike="noStrike">
                <a:solidFill>
                  <a:srgbClr val="000000"/>
                </a:solidFill>
                <a:latin typeface="Arial"/>
              </a:defRPr>
            </a:pPr>
            <a:r>
              <a:rPr lang="es-CO" sz="1800" b="0" i="0" u="none" strike="noStrike">
                <a:solidFill>
                  <a:srgbClr val="000000"/>
                </a:solidFill>
                <a:latin typeface="Arial"/>
              </a:rPr>
              <a:t>Ejemplo: Ingreso vs. Consumo</a:t>
            </a:r>
          </a:p>
        </c:rich>
      </c:tx>
      <c:overlay val="0"/>
    </c:title>
    <c:autoTitleDeleted val="0"/>
    <c:plotArea>
      <c:layout/>
      <c:scatterChart>
        <c:scatterStyle val="lineMarker"/>
        <c:varyColors val="0"/>
        <c:ser>
          <c:idx val="0"/>
          <c:order val="0"/>
          <c:tx>
            <c:strRef>
              <c:f>Sheet1!$B$1</c:f>
              <c:strCache>
                <c:ptCount val="1"/>
                <c:pt idx="0">
                  <c:v>Línea de regresión</c:v>
                </c:pt>
              </c:strCache>
            </c:strRef>
          </c:tx>
          <c:spPr>
            <a:ln w="2540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xVal>
            <c:numRef>
              <c:f>Sheet1!$A$2:$A$11</c:f>
              <c:numCache>
                <c:formatCode>General</c:formatCode>
                <c:ptCount val="10"/>
                <c:pt idx="0">
                  <c:v>45</c:v>
                </c:pt>
                <c:pt idx="1">
                  <c:v>68</c:v>
                </c:pt>
                <c:pt idx="2">
                  <c:v>72</c:v>
                </c:pt>
                <c:pt idx="3">
                  <c:v>85</c:v>
                </c:pt>
                <c:pt idx="4">
                  <c:v>91</c:v>
                </c:pt>
                <c:pt idx="5">
                  <c:v>105</c:v>
                </c:pt>
                <c:pt idx="6">
                  <c:v>112</c:v>
                </c:pt>
                <c:pt idx="7">
                  <c:v>98</c:v>
                </c:pt>
                <c:pt idx="8">
                  <c:v>78</c:v>
                </c:pt>
                <c:pt idx="9">
                  <c:v>120</c:v>
                </c:pt>
              </c:numCache>
            </c:numRef>
          </c:xVal>
          <c:yVal>
            <c:numRef>
              <c:f>Sheet1!$B$2:$B$11</c:f>
              <c:numCache>
                <c:formatCode>General</c:formatCode>
                <c:ptCount val="10"/>
                <c:pt idx="0">
                  <c:v>50</c:v>
                </c:pt>
                <c:pt idx="1">
                  <c:v>62</c:v>
                </c:pt>
                <c:pt idx="2">
                  <c:v>70</c:v>
                </c:pt>
                <c:pt idx="3">
                  <c:v>78</c:v>
                </c:pt>
                <c:pt idx="4">
                  <c:v>86</c:v>
                </c:pt>
                <c:pt idx="5">
                  <c:v>98</c:v>
                </c:pt>
                <c:pt idx="6">
                  <c:v>108</c:v>
                </c:pt>
                <c:pt idx="7">
                  <c:v>95</c:v>
                </c:pt>
                <c:pt idx="8">
                  <c:v>75</c:v>
                </c:pt>
                <c:pt idx="9">
                  <c:v>118</c:v>
                </c:pt>
              </c:numCache>
            </c:numRef>
          </c:yVal>
          <c:smooth val="0"/>
          <c:extLst>
            <c:ext xmlns:c16="http://schemas.microsoft.com/office/drawing/2014/chart" uri="{C3380CC4-5D6E-409C-BE32-E72D297353CC}">
              <c16:uniqueId val="{00000000-16EA-45C9-80CB-6B948BC47AD1}"/>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8FAFC"/>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800" b="0" i="0" u="none" strike="noStrike">
                <a:solidFill>
                  <a:srgbClr val="000000"/>
                </a:solidFill>
                <a:latin typeface="Arial"/>
              </a:defRPr>
            </a:pPr>
            <a:r>
              <a:rPr lang="es-CO" sz="1800" b="0" i="0" u="none" strike="noStrike">
                <a:solidFill>
                  <a:srgbClr val="000000"/>
                </a:solidFill>
                <a:latin typeface="Arial"/>
              </a:rPr>
              <a:t>Dispersión + Línea de Regresión</a:t>
            </a:r>
          </a:p>
        </c:rich>
      </c:tx>
      <c:overlay val="0"/>
    </c:title>
    <c:autoTitleDeleted val="0"/>
    <c:plotArea>
      <c:layout/>
      <c:scatterChart>
        <c:scatterStyle val="lineMarker"/>
        <c:varyColors val="0"/>
        <c:ser>
          <c:idx val="0"/>
          <c:order val="0"/>
          <c:tx>
            <c:strRef>
              <c:f>Sheet1!$B$1</c:f>
              <c:strCache>
                <c:ptCount val="1"/>
                <c:pt idx="0">
                  <c:v>Regresión</c:v>
                </c:pt>
              </c:strCache>
            </c:strRef>
          </c:tx>
          <c:spPr>
            <a:ln w="25400" cap="flat">
              <a:solidFill>
                <a:srgbClr val="0D7377"/>
              </a:solidFill>
              <a:prstDash val="solid"/>
              <a:round/>
            </a:ln>
            <a:effectLst/>
          </c:spPr>
          <c:marker>
            <c:symbol val="circle"/>
            <c:size val="6"/>
            <c:spPr>
              <a:solidFill>
                <a:srgbClr val="0D7377"/>
              </a:solidFill>
              <a:ln w="9525" cap="flat">
                <a:solidFill>
                  <a:srgbClr val="0D7377"/>
                </a:solidFill>
                <a:prstDash val="solid"/>
                <a:round/>
              </a:ln>
              <a:effectLst/>
            </c:spPr>
          </c:marker>
          <c:xVal>
            <c:numRef>
              <c:f>Sheet1!$A$2:$A$7</c:f>
              <c:numCache>
                <c:formatCode>General</c:formatCode>
                <c:ptCount val="6"/>
                <c:pt idx="0">
                  <c:v>4.2</c:v>
                </c:pt>
                <c:pt idx="1">
                  <c:v>5.8</c:v>
                </c:pt>
                <c:pt idx="2">
                  <c:v>7.1</c:v>
                </c:pt>
                <c:pt idx="3">
                  <c:v>9</c:v>
                </c:pt>
                <c:pt idx="4">
                  <c:v>11.3</c:v>
                </c:pt>
                <c:pt idx="5">
                  <c:v>13.5</c:v>
                </c:pt>
              </c:numCache>
            </c:numRef>
          </c:xVal>
          <c:yVal>
            <c:numRef>
              <c:f>Sheet1!$B$2:$B$7</c:f>
              <c:numCache>
                <c:formatCode>General</c:formatCode>
                <c:ptCount val="6"/>
                <c:pt idx="0">
                  <c:v>4.1493244808152561</c:v>
                </c:pt>
                <c:pt idx="1">
                  <c:v>5.8270053269512863</c:v>
                </c:pt>
                <c:pt idx="2">
                  <c:v>7.0013819192465077</c:v>
                </c:pt>
                <c:pt idx="3">
                  <c:v>9.1823670192233475</c:v>
                </c:pt>
                <c:pt idx="4">
                  <c:v>11.363352119200187</c:v>
                </c:pt>
                <c:pt idx="5">
                  <c:v>13.376569134563423</c:v>
                </c:pt>
              </c:numCache>
            </c:numRef>
          </c:yVal>
          <c:smooth val="0"/>
          <c:extLst>
            <c:ext xmlns:c16="http://schemas.microsoft.com/office/drawing/2014/chart" uri="{C3380CC4-5D6E-409C-BE32-E72D297353CC}">
              <c16:uniqueId val="{00000000-75CF-437A-B146-9A61BCF77A12}"/>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crossBetween val="midCat"/>
      </c:valAx>
      <c:valAx>
        <c:axId val="2094734552"/>
        <c:scaling>
          <c:orientation val="minMax"/>
        </c:scaling>
        <c:delete val="0"/>
        <c:axPos val="l"/>
        <c:majorGridlines>
          <c:spPr>
            <a:ln w="1270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midCat"/>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34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E867-5A78-F70A-7CFB-B6777E865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5A9F6-2581-3C04-1196-5B96A6960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7B3ADA-8830-192C-4D1D-1F3424C7AC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E8EBDD-611D-6D8A-9BCA-E8F4019C25A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17844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6C1B8-8333-7FEE-DEBF-89A562D33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D392-765A-0067-8135-92041B0CB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CF36F-CA3E-AA0A-4A0A-85E0DC266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E14EC6-796F-8DB3-0DE9-4C448491C13A}"/>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085365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3418-9552-3BDC-172E-4526C7DB5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B64C96-137B-DD0D-B9A6-B396CDAF8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7596D-F7B6-2B48-8B4D-861AA280F5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10267A-3B57-2A92-BEDA-3E5296AE827D}"/>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81316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tylervigen.com/spurious/correlation/2601_cigarette-smoking-rate-for-us-adults_correlates-with_arson-in-united-states" TargetMode="External"/><Relationship Id="rId5" Type="http://schemas.openxmlformats.org/officeDocument/2006/relationships/image" Target="../media/image13.png"/><Relationship Id="rId4" Type="http://schemas.openxmlformats.org/officeDocument/2006/relationships/hyperlink" Target="https://www.tylervigen.com/spurious/correlation/1205_divorce-rates-in-the-united-kingdom_correlates-with_disney-movies-released" TargetMode="External"/></Relationships>
</file>

<file path=ppt/slides/_rels/slide1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0D7377"/>
          </a:solidFill>
          <a:ln w="12700">
            <a:solidFill>
              <a:srgbClr val="0D7377"/>
            </a:solidFill>
            <a:prstDash val="solid"/>
          </a:ln>
        </p:spPr>
        <p:txBody>
          <a:bodyPr/>
          <a:lstStyle/>
          <a:p>
            <a:endParaRPr lang="es-CO"/>
          </a:p>
        </p:txBody>
      </p:sp>
      <p:sp>
        <p:nvSpPr>
          <p:cNvPr id="3" name="Shape 1"/>
          <p:cNvSpPr/>
          <p:nvPr/>
        </p:nvSpPr>
        <p:spPr>
          <a:xfrm>
            <a:off x="457200" y="2331720"/>
            <a:ext cx="5486400" cy="54864"/>
          </a:xfrm>
          <a:prstGeom prst="rect">
            <a:avLst/>
          </a:prstGeom>
          <a:solidFill>
            <a:srgbClr val="E8A838"/>
          </a:solidFill>
          <a:ln w="12700">
            <a:solidFill>
              <a:srgbClr val="E8A838"/>
            </a:solidFill>
            <a:prstDash val="solid"/>
          </a:ln>
        </p:spPr>
        <p:txBody>
          <a:bodyPr/>
          <a:lstStyle/>
          <a:p>
            <a:endParaRPr lang="es-CO"/>
          </a:p>
        </p:txBody>
      </p:sp>
      <p:sp>
        <p:nvSpPr>
          <p:cNvPr id="4" name="Shape 2"/>
          <p:cNvSpPr/>
          <p:nvPr/>
        </p:nvSpPr>
        <p:spPr>
          <a:xfrm>
            <a:off x="6217920" y="365760"/>
            <a:ext cx="2560320" cy="502920"/>
          </a:xfrm>
          <a:prstGeom prst="rect">
            <a:avLst/>
          </a:prstGeom>
          <a:solidFill>
            <a:srgbClr val="3776AB"/>
          </a:solidFill>
          <a:ln w="12700">
            <a:solidFill>
              <a:srgbClr val="3776AB"/>
            </a:solidFill>
            <a:prstDash val="solid"/>
          </a:ln>
        </p:spPr>
        <p:txBody>
          <a:bodyPr/>
          <a:lstStyle/>
          <a:p>
            <a:endParaRPr lang="es-CO"/>
          </a:p>
        </p:txBody>
      </p:sp>
      <p:sp>
        <p:nvSpPr>
          <p:cNvPr id="5" name="Text 3"/>
          <p:cNvSpPr/>
          <p:nvPr/>
        </p:nvSpPr>
        <p:spPr>
          <a:xfrm>
            <a:off x="6217920" y="365760"/>
            <a:ext cx="2560320"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Analítica con Python</a:t>
            </a:r>
            <a:endParaRPr lang="en-US" sz="1100" dirty="0"/>
          </a:p>
        </p:txBody>
      </p:sp>
      <p:sp>
        <p:nvSpPr>
          <p:cNvPr id="6" name="Text 4"/>
          <p:cNvSpPr/>
          <p:nvPr/>
        </p:nvSpPr>
        <p:spPr>
          <a:xfrm>
            <a:off x="731520" y="548640"/>
            <a:ext cx="8046720" cy="91440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MODELOS PREDICTIVOS SIMPLES</a:t>
            </a:r>
            <a:endParaRPr lang="en-US" sz="3200" dirty="0"/>
          </a:p>
        </p:txBody>
      </p:sp>
      <p:sp>
        <p:nvSpPr>
          <p:cNvPr id="7" name="Text 5"/>
          <p:cNvSpPr/>
          <p:nvPr/>
        </p:nvSpPr>
        <p:spPr>
          <a:xfrm>
            <a:off x="731520" y="1463040"/>
            <a:ext cx="7772400" cy="777240"/>
          </a:xfrm>
          <a:prstGeom prst="rect">
            <a:avLst/>
          </a:prstGeom>
          <a:noFill/>
          <a:ln/>
        </p:spPr>
        <p:txBody>
          <a:bodyPr wrap="square" rtlCol="0" anchor="ctr"/>
          <a:lstStyle/>
          <a:p>
            <a:pPr marL="0" indent="0">
              <a:buNone/>
            </a:pPr>
            <a:r>
              <a:rPr lang="es-CO" sz="1500" noProof="0" dirty="0">
                <a:solidFill>
                  <a:srgbClr val="A8C8E8"/>
                </a:solidFill>
                <a:latin typeface="Calibri" pitchFamily="34" charset="0"/>
                <a:ea typeface="Calibri" pitchFamily="34" charset="-122"/>
                <a:cs typeface="Calibri" pitchFamily="34" charset="-120"/>
              </a:rPr>
              <a:t>Aplicaciones en Economía, Administración y Ciencias Sociales</a:t>
            </a:r>
            <a:endParaRPr lang="es-CO" sz="1500" noProof="0" dirty="0"/>
          </a:p>
          <a:p>
            <a:pPr marL="0" indent="0">
              <a:buNone/>
            </a:pPr>
            <a:r>
              <a:rPr lang="es-CO" sz="1500" noProof="0" dirty="0">
                <a:solidFill>
                  <a:srgbClr val="A8C8E8"/>
                </a:solidFill>
                <a:latin typeface="Calibri" pitchFamily="34" charset="0"/>
                <a:ea typeface="Calibri" pitchFamily="34" charset="-122"/>
                <a:cs typeface="Calibri" pitchFamily="34" charset="-120"/>
              </a:rPr>
              <a:t>Enfoque en Analítica Avanzada Básica</a:t>
            </a:r>
            <a:endParaRPr lang="es-CO" sz="1500" noProof="0" dirty="0"/>
          </a:p>
        </p:txBody>
      </p:sp>
      <p:sp>
        <p:nvSpPr>
          <p:cNvPr id="8" name="Text 6"/>
          <p:cNvSpPr/>
          <p:nvPr/>
        </p:nvSpPr>
        <p:spPr>
          <a:xfrm>
            <a:off x="731520" y="2514600"/>
            <a:ext cx="6400800" cy="365760"/>
          </a:xfrm>
          <a:prstGeom prst="rect">
            <a:avLst/>
          </a:prstGeom>
          <a:noFill/>
          <a:ln/>
        </p:spPr>
        <p:txBody>
          <a:bodyPr wrap="square" rtlCol="0" anchor="ctr"/>
          <a:lstStyle/>
          <a:p>
            <a:pPr marL="0" indent="0">
              <a:buNone/>
            </a:pPr>
            <a:r>
              <a:rPr lang="en-US" sz="1300" b="1" dirty="0">
                <a:solidFill>
                  <a:srgbClr val="E8A838"/>
                </a:solidFill>
                <a:latin typeface="Calibri" pitchFamily="34" charset="0"/>
                <a:ea typeface="Calibri" pitchFamily="34" charset="-122"/>
                <a:cs typeface="Calibri" pitchFamily="34" charset="-120"/>
              </a:rPr>
              <a:t>Curso Completo · 4 Sesiones · 8 Horas</a:t>
            </a:r>
            <a:endParaRPr lang="en-US" sz="1300" dirty="0"/>
          </a:p>
        </p:txBody>
      </p:sp>
      <p:sp>
        <p:nvSpPr>
          <p:cNvPr id="9" name="Shape 7"/>
          <p:cNvSpPr/>
          <p:nvPr/>
        </p:nvSpPr>
        <p:spPr>
          <a:xfrm>
            <a:off x="731520" y="3291840"/>
            <a:ext cx="1874520" cy="1463040"/>
          </a:xfrm>
          <a:prstGeom prst="rect">
            <a:avLst/>
          </a:prstGeom>
          <a:solidFill>
            <a:srgbClr val="0D7377"/>
          </a:solidFill>
          <a:ln w="12700">
            <a:solidFill>
              <a:srgbClr val="0D7377"/>
            </a:solidFill>
            <a:prstDash val="solid"/>
          </a:ln>
          <a:effectLst>
            <a:outerShdw blurRad="101600" dist="38100" dir="8100000" algn="bl" rotWithShape="0">
              <a:srgbClr val="000000">
                <a:alpha val="12000"/>
              </a:srgbClr>
            </a:outerShdw>
          </a:effectLst>
        </p:spPr>
        <p:txBody>
          <a:bodyPr/>
          <a:lstStyle/>
          <a:p>
            <a:endParaRPr lang="es-CO" noProof="0"/>
          </a:p>
        </p:txBody>
      </p:sp>
      <p:sp>
        <p:nvSpPr>
          <p:cNvPr id="10" name="Text 8"/>
          <p:cNvSpPr/>
          <p:nvPr/>
        </p:nvSpPr>
        <p:spPr>
          <a:xfrm>
            <a:off x="731520" y="3310128"/>
            <a:ext cx="1874520" cy="1426464"/>
          </a:xfrm>
          <a:prstGeom prst="rect">
            <a:avLst/>
          </a:prstGeom>
          <a:noFill/>
          <a:ln/>
        </p:spPr>
        <p:txBody>
          <a:bodyPr wrap="square" rtlCol="0" anchor="ctr"/>
          <a:lstStyle/>
          <a:p>
            <a:pPr marL="0" indent="0" algn="ctr">
              <a:buNone/>
            </a:pPr>
            <a:r>
              <a:rPr lang="es-CO" sz="1100" b="1" noProof="0" dirty="0">
                <a:solidFill>
                  <a:srgbClr val="FFFFFF"/>
                </a:solidFill>
                <a:latin typeface="Calibri" pitchFamily="34" charset="0"/>
                <a:ea typeface="Calibri" pitchFamily="34" charset="-122"/>
                <a:cs typeface="Calibri" pitchFamily="34" charset="-120"/>
              </a:rPr>
              <a:t>Sesión 1</a:t>
            </a:r>
            <a:endParaRPr lang="es-CO" sz="1100" noProof="0" dirty="0"/>
          </a:p>
          <a:p>
            <a:pPr marL="0" indent="0" algn="ctr">
              <a:buNone/>
            </a:pPr>
            <a:r>
              <a:rPr lang="es-CO" sz="1100" b="1" noProof="0" dirty="0">
                <a:solidFill>
                  <a:srgbClr val="FFFFFF"/>
                </a:solidFill>
                <a:latin typeface="Calibri" pitchFamily="34" charset="0"/>
                <a:ea typeface="Calibri" pitchFamily="34" charset="-122"/>
                <a:cs typeface="Calibri" pitchFamily="34" charset="-120"/>
              </a:rPr>
              <a:t>Fundamentos – Regresión Lineal</a:t>
            </a:r>
            <a:endParaRPr lang="es-CO" sz="1100" noProof="0" dirty="0"/>
          </a:p>
        </p:txBody>
      </p:sp>
      <p:sp>
        <p:nvSpPr>
          <p:cNvPr id="11" name="Shape 9"/>
          <p:cNvSpPr/>
          <p:nvPr/>
        </p:nvSpPr>
        <p:spPr>
          <a:xfrm>
            <a:off x="2743200" y="3291840"/>
            <a:ext cx="1874520" cy="1463040"/>
          </a:xfrm>
          <a:prstGeom prst="rect">
            <a:avLst/>
          </a:prstGeom>
          <a:solidFill>
            <a:srgbClr val="0D5E75"/>
          </a:solidFill>
          <a:ln w="12700">
            <a:solidFill>
              <a:srgbClr val="0D5E75"/>
            </a:solidFill>
            <a:prstDash val="solid"/>
          </a:ln>
          <a:effectLst>
            <a:outerShdw blurRad="101600" dist="38100" dir="8100000" algn="bl" rotWithShape="0">
              <a:srgbClr val="000000">
                <a:alpha val="12000"/>
              </a:srgbClr>
            </a:outerShdw>
          </a:effectLst>
        </p:spPr>
        <p:txBody>
          <a:bodyPr/>
          <a:lstStyle/>
          <a:p>
            <a:endParaRPr lang="es-CO"/>
          </a:p>
        </p:txBody>
      </p:sp>
      <p:sp>
        <p:nvSpPr>
          <p:cNvPr id="12" name="Text 10"/>
          <p:cNvSpPr/>
          <p:nvPr/>
        </p:nvSpPr>
        <p:spPr>
          <a:xfrm>
            <a:off x="2743200" y="3310128"/>
            <a:ext cx="1874520" cy="142646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Sesión 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Regresión Múltiple</a:t>
            </a:r>
            <a:endParaRPr lang="en-US" sz="1100" dirty="0"/>
          </a:p>
        </p:txBody>
      </p:sp>
      <p:sp>
        <p:nvSpPr>
          <p:cNvPr id="13" name="Shape 11"/>
          <p:cNvSpPr/>
          <p:nvPr/>
        </p:nvSpPr>
        <p:spPr>
          <a:xfrm>
            <a:off x="4754880" y="3291840"/>
            <a:ext cx="1874520" cy="1463040"/>
          </a:xfrm>
          <a:prstGeom prst="rect">
            <a:avLst/>
          </a:prstGeom>
          <a:solidFill>
            <a:srgbClr val="0A4A5C"/>
          </a:solidFill>
          <a:ln w="12700">
            <a:solidFill>
              <a:srgbClr val="0A4A5C"/>
            </a:solidFill>
            <a:prstDash val="solid"/>
          </a:ln>
          <a:effectLst>
            <a:outerShdw blurRad="101600" dist="38100" dir="8100000" algn="bl" rotWithShape="0">
              <a:srgbClr val="000000">
                <a:alpha val="12000"/>
              </a:srgbClr>
            </a:outerShdw>
          </a:effectLst>
        </p:spPr>
        <p:txBody>
          <a:bodyPr/>
          <a:lstStyle/>
          <a:p>
            <a:endParaRPr lang="es-CO"/>
          </a:p>
        </p:txBody>
      </p:sp>
      <p:sp>
        <p:nvSpPr>
          <p:cNvPr id="14" name="Text 12"/>
          <p:cNvSpPr/>
          <p:nvPr/>
        </p:nvSpPr>
        <p:spPr>
          <a:xfrm>
            <a:off x="4754880" y="3310128"/>
            <a:ext cx="1874520" cy="142646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Sesión 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Interpretación Crítica</a:t>
            </a:r>
            <a:endParaRPr lang="en-US" sz="1100" dirty="0"/>
          </a:p>
        </p:txBody>
      </p:sp>
      <p:sp>
        <p:nvSpPr>
          <p:cNvPr id="15" name="Shape 13"/>
          <p:cNvSpPr/>
          <p:nvPr/>
        </p:nvSpPr>
        <p:spPr>
          <a:xfrm>
            <a:off x="6766560" y="3291840"/>
            <a:ext cx="1874520" cy="1463040"/>
          </a:xfrm>
          <a:prstGeom prst="rect">
            <a:avLst/>
          </a:prstGeom>
          <a:solidFill>
            <a:srgbClr val="083A47"/>
          </a:solidFill>
          <a:ln w="12700">
            <a:solidFill>
              <a:srgbClr val="083A47"/>
            </a:solidFill>
            <a:prstDash val="solid"/>
          </a:ln>
          <a:effectLst>
            <a:outerShdw blurRad="101600" dist="38100" dir="8100000" algn="bl" rotWithShape="0">
              <a:srgbClr val="000000">
                <a:alpha val="12000"/>
              </a:srgbClr>
            </a:outerShdw>
          </a:effectLst>
        </p:spPr>
        <p:txBody>
          <a:bodyPr/>
          <a:lstStyle/>
          <a:p>
            <a:endParaRPr lang="es-CO"/>
          </a:p>
        </p:txBody>
      </p:sp>
      <p:sp>
        <p:nvSpPr>
          <p:cNvPr id="16" name="Text 14"/>
          <p:cNvSpPr/>
          <p:nvPr/>
        </p:nvSpPr>
        <p:spPr>
          <a:xfrm>
            <a:off x="6766560" y="3310128"/>
            <a:ext cx="1874520" cy="142646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Sesión 4</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Proyecto Integrador</a:t>
            </a:r>
            <a:endParaRPr lang="en-US" sz="1100" dirty="0"/>
          </a:p>
        </p:txBody>
      </p:sp>
      <p:sp>
        <p:nvSpPr>
          <p:cNvPr id="17" name="Text 15"/>
          <p:cNvSpPr/>
          <p:nvPr/>
        </p:nvSpPr>
        <p:spPr>
          <a:xfrm>
            <a:off x="731520" y="4892040"/>
            <a:ext cx="8046720" cy="201168"/>
          </a:xfrm>
          <a:prstGeom prst="rect">
            <a:avLst/>
          </a:prstGeom>
          <a:noFill/>
          <a:ln/>
        </p:spPr>
        <p:txBody>
          <a:bodyPr wrap="square" rtlCol="0" anchor="ctr"/>
          <a:lstStyle/>
          <a:p>
            <a:pPr marL="0" indent="0">
              <a:buNone/>
            </a:pPr>
            <a:r>
              <a:rPr lang="en-US" sz="900" dirty="0">
                <a:solidFill>
                  <a:srgbClr val="4A7FA5"/>
                </a:solidFill>
                <a:latin typeface="Consolas" pitchFamily="34" charset="0"/>
                <a:ea typeface="Consolas" pitchFamily="34" charset="-122"/>
                <a:cs typeface="Consolas" pitchFamily="34" charset="-120"/>
              </a:rPr>
              <a:t>Mayo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8A838"/>
          </a:solidFill>
          <a:ln w="12700">
            <a:solidFill>
              <a:srgbClr val="E8A838"/>
            </a:solidFill>
            <a:prstDash val="solid"/>
          </a:ln>
        </p:spPr>
        <p:txBody>
          <a:bodyPr/>
          <a:lstStyle/>
          <a:p>
            <a:endParaRPr lang="es-CO"/>
          </a:p>
        </p:txBody>
      </p:sp>
      <p:sp>
        <p:nvSpPr>
          <p:cNvPr id="3" name="Shape 1"/>
          <p:cNvSpPr/>
          <p:nvPr/>
        </p:nvSpPr>
        <p:spPr>
          <a:xfrm>
            <a:off x="0" y="5029200"/>
            <a:ext cx="9144000" cy="109728"/>
          </a:xfrm>
          <a:prstGeom prst="rect">
            <a:avLst/>
          </a:prstGeom>
          <a:solidFill>
            <a:srgbClr val="E8A838"/>
          </a:solidFill>
          <a:ln w="12700">
            <a:solidFill>
              <a:srgbClr val="E8A838"/>
            </a:solidFill>
            <a:prstDash val="solid"/>
          </a:ln>
        </p:spPr>
        <p:txBody>
          <a:bodyPr/>
          <a:lstStyle/>
          <a:p>
            <a:endParaRPr lang="es-CO"/>
          </a:p>
        </p:txBody>
      </p:sp>
      <p:sp>
        <p:nvSpPr>
          <p:cNvPr id="4" name="Shape 2"/>
          <p:cNvSpPr/>
          <p:nvPr/>
        </p:nvSpPr>
        <p:spPr>
          <a:xfrm>
            <a:off x="0" y="109728"/>
            <a:ext cx="3108960" cy="4919472"/>
          </a:xfrm>
          <a:prstGeom prst="rect">
            <a:avLst/>
          </a:prstGeom>
          <a:solidFill>
            <a:srgbClr val="152A45"/>
          </a:solidFill>
          <a:ln w="12700">
            <a:solidFill>
              <a:srgbClr val="152A45"/>
            </a:solidFill>
            <a:prstDash val="solid"/>
          </a:ln>
        </p:spPr>
        <p:txBody>
          <a:bodyPr/>
          <a:lstStyle/>
          <a:p>
            <a:endParaRPr lang="es-CO"/>
          </a:p>
        </p:txBody>
      </p:sp>
      <p:pic>
        <p:nvPicPr>
          <p:cNvPr id="5" name="Image 0" descr="preencoded.png"/>
          <p:cNvPicPr>
            <a:picLocks noChangeAspect="1"/>
          </p:cNvPicPr>
          <p:nvPr/>
        </p:nvPicPr>
        <p:blipFill>
          <a:blip r:embed="rId3"/>
          <a:stretch>
            <a:fillRect/>
          </a:stretch>
        </p:blipFill>
        <p:spPr>
          <a:xfrm>
            <a:off x="411480" y="274320"/>
            <a:ext cx="2286000" cy="2286000"/>
          </a:xfrm>
          <a:prstGeom prst="rect">
            <a:avLst/>
          </a:prstGeom>
        </p:spPr>
      </p:pic>
      <p:sp>
        <p:nvSpPr>
          <p:cNvPr id="6" name="Text 3"/>
          <p:cNvSpPr/>
          <p:nvPr/>
        </p:nvSpPr>
        <p:spPr>
          <a:xfrm>
            <a:off x="109728" y="2651760"/>
            <a:ext cx="2880360" cy="475488"/>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Ricardo Navarro</a:t>
            </a:r>
            <a:endParaRPr lang="en-US" sz="1800" dirty="0"/>
          </a:p>
        </p:txBody>
      </p:sp>
      <p:sp>
        <p:nvSpPr>
          <p:cNvPr id="7" name="Text 4"/>
          <p:cNvSpPr/>
          <p:nvPr/>
        </p:nvSpPr>
        <p:spPr>
          <a:xfrm>
            <a:off x="109728" y="3108960"/>
            <a:ext cx="2880360" cy="292608"/>
          </a:xfrm>
          <a:prstGeom prst="rect">
            <a:avLst/>
          </a:prstGeom>
          <a:noFill/>
          <a:ln/>
        </p:spPr>
        <p:txBody>
          <a:bodyPr wrap="square" rtlCol="0" anchor="ctr"/>
          <a:lstStyle/>
          <a:p>
            <a:pPr marL="0" indent="0" algn="ctr">
              <a:buNone/>
            </a:pPr>
            <a:r>
              <a:rPr lang="en-US" sz="1100" b="1" dirty="0" err="1">
                <a:solidFill>
                  <a:srgbClr val="E8A838"/>
                </a:solidFill>
                <a:latin typeface="Calibri" pitchFamily="34" charset="0"/>
                <a:ea typeface="Calibri" pitchFamily="34" charset="-122"/>
                <a:cs typeface="Calibri" pitchFamily="34" charset="-120"/>
              </a:rPr>
              <a:t>Líder</a:t>
            </a:r>
            <a:r>
              <a:rPr lang="en-US" sz="1100" b="1" dirty="0">
                <a:solidFill>
                  <a:srgbClr val="E8A838"/>
                </a:solidFill>
                <a:latin typeface="Calibri" pitchFamily="34" charset="0"/>
                <a:ea typeface="Calibri" pitchFamily="34" charset="-122"/>
                <a:cs typeface="Calibri" pitchFamily="34" charset="-120"/>
              </a:rPr>
              <a:t> de </a:t>
            </a:r>
            <a:r>
              <a:rPr lang="en-US" sz="1100" b="1" dirty="0" err="1">
                <a:solidFill>
                  <a:srgbClr val="E8A838"/>
                </a:solidFill>
                <a:latin typeface="Calibri" pitchFamily="34" charset="0"/>
                <a:ea typeface="Calibri" pitchFamily="34" charset="-122"/>
                <a:cs typeface="Calibri" pitchFamily="34" charset="-120"/>
              </a:rPr>
              <a:t>Gobierno</a:t>
            </a:r>
            <a:r>
              <a:rPr lang="en-US" sz="1100" b="1" dirty="0">
                <a:solidFill>
                  <a:srgbClr val="E8A838"/>
                </a:solidFill>
                <a:latin typeface="Calibri" pitchFamily="34" charset="0"/>
                <a:ea typeface="Calibri" pitchFamily="34" charset="-122"/>
                <a:cs typeface="Calibri" pitchFamily="34" charset="-120"/>
              </a:rPr>
              <a:t> de Datos, BI &amp; Analítica</a:t>
            </a:r>
            <a:endParaRPr lang="en-US" sz="1100" dirty="0"/>
          </a:p>
        </p:txBody>
      </p:sp>
      <p:sp>
        <p:nvSpPr>
          <p:cNvPr id="8" name="Text 5"/>
          <p:cNvSpPr/>
          <p:nvPr/>
        </p:nvSpPr>
        <p:spPr>
          <a:xfrm>
            <a:off x="109728" y="3392424"/>
            <a:ext cx="2880360" cy="256032"/>
          </a:xfrm>
          <a:prstGeom prst="rect">
            <a:avLst/>
          </a:prstGeom>
          <a:noFill/>
          <a:ln/>
        </p:spPr>
        <p:txBody>
          <a:bodyPr wrap="square" rtlCol="0" anchor="ctr"/>
          <a:lstStyle/>
          <a:p>
            <a:pPr marL="0" indent="0" algn="ctr">
              <a:buNone/>
            </a:pPr>
            <a:r>
              <a:rPr lang="en-US" sz="950" dirty="0">
                <a:solidFill>
                  <a:srgbClr val="8AB8D4"/>
                </a:solidFill>
                <a:latin typeface="Calibri" pitchFamily="34" charset="0"/>
                <a:ea typeface="Calibri" pitchFamily="34" charset="-122"/>
                <a:cs typeface="Calibri" pitchFamily="34" charset="-120"/>
              </a:rPr>
              <a:t>Gobierno de Datos  ·  Gerencia de Proyectos</a:t>
            </a:r>
            <a:endParaRPr lang="en-US" sz="950" dirty="0"/>
          </a:p>
        </p:txBody>
      </p:sp>
      <p:sp>
        <p:nvSpPr>
          <p:cNvPr id="9" name="Shape 6"/>
          <p:cNvSpPr/>
          <p:nvPr/>
        </p:nvSpPr>
        <p:spPr>
          <a:xfrm>
            <a:off x="182880"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0" name="Text 7"/>
          <p:cNvSpPr/>
          <p:nvPr/>
        </p:nvSpPr>
        <p:spPr>
          <a:xfrm>
            <a:off x="182880"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CSM®</a:t>
            </a:r>
            <a:endParaRPr lang="en-US" sz="900" dirty="0"/>
          </a:p>
        </p:txBody>
      </p:sp>
      <p:sp>
        <p:nvSpPr>
          <p:cNvPr id="11" name="Shape 8"/>
          <p:cNvSpPr/>
          <p:nvPr/>
        </p:nvSpPr>
        <p:spPr>
          <a:xfrm>
            <a:off x="850392"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2" name="Text 9"/>
          <p:cNvSpPr/>
          <p:nvPr/>
        </p:nvSpPr>
        <p:spPr>
          <a:xfrm>
            <a:off x="850392"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CDMP®</a:t>
            </a:r>
            <a:endParaRPr lang="en-US" sz="900" dirty="0"/>
          </a:p>
        </p:txBody>
      </p:sp>
      <p:sp>
        <p:nvSpPr>
          <p:cNvPr id="13" name="Shape 10"/>
          <p:cNvSpPr/>
          <p:nvPr/>
        </p:nvSpPr>
        <p:spPr>
          <a:xfrm>
            <a:off x="1517904"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4" name="Text 11"/>
          <p:cNvSpPr/>
          <p:nvPr/>
        </p:nvSpPr>
        <p:spPr>
          <a:xfrm>
            <a:off x="1517904"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PMP®</a:t>
            </a:r>
            <a:endParaRPr lang="en-US" sz="900" dirty="0"/>
          </a:p>
        </p:txBody>
      </p:sp>
      <p:sp>
        <p:nvSpPr>
          <p:cNvPr id="15" name="Shape 12"/>
          <p:cNvSpPr/>
          <p:nvPr/>
        </p:nvSpPr>
        <p:spPr>
          <a:xfrm>
            <a:off x="2185416" y="3767328"/>
            <a:ext cx="594360" cy="274320"/>
          </a:xfrm>
          <a:prstGeom prst="roundRect">
            <a:avLst>
              <a:gd name="adj" fmla="val 26667"/>
            </a:avLst>
          </a:prstGeom>
          <a:solidFill>
            <a:srgbClr val="0D7377"/>
          </a:solidFill>
          <a:ln w="12700">
            <a:solidFill>
              <a:srgbClr val="0D7377"/>
            </a:solidFill>
            <a:prstDash val="solid"/>
          </a:ln>
        </p:spPr>
        <p:txBody>
          <a:bodyPr/>
          <a:lstStyle/>
          <a:p>
            <a:endParaRPr lang="es-CO"/>
          </a:p>
        </p:txBody>
      </p:sp>
      <p:sp>
        <p:nvSpPr>
          <p:cNvPr id="16" name="Text 13"/>
          <p:cNvSpPr/>
          <p:nvPr/>
        </p:nvSpPr>
        <p:spPr>
          <a:xfrm>
            <a:off x="2185416" y="3767328"/>
            <a:ext cx="594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IPMA®</a:t>
            </a:r>
            <a:endParaRPr lang="en-US" sz="900" dirty="0"/>
          </a:p>
        </p:txBody>
      </p:sp>
      <p:sp>
        <p:nvSpPr>
          <p:cNvPr id="17" name="Shape 14"/>
          <p:cNvSpPr/>
          <p:nvPr/>
        </p:nvSpPr>
        <p:spPr>
          <a:xfrm>
            <a:off x="182880" y="4114800"/>
            <a:ext cx="2697480" cy="274320"/>
          </a:xfrm>
          <a:prstGeom prst="roundRect">
            <a:avLst>
              <a:gd name="adj" fmla="val 26667"/>
            </a:avLst>
          </a:prstGeom>
          <a:solidFill>
            <a:srgbClr val="1A7A5E"/>
          </a:solidFill>
          <a:ln w="12700">
            <a:solidFill>
              <a:srgbClr val="1A7A5E"/>
            </a:solidFill>
            <a:prstDash val="solid"/>
          </a:ln>
        </p:spPr>
        <p:txBody>
          <a:bodyPr/>
          <a:lstStyle/>
          <a:p>
            <a:endParaRPr lang="es-CO"/>
          </a:p>
        </p:txBody>
      </p:sp>
      <p:sp>
        <p:nvSpPr>
          <p:cNvPr id="18" name="Text 15"/>
          <p:cNvSpPr/>
          <p:nvPr/>
        </p:nvSpPr>
        <p:spPr>
          <a:xfrm>
            <a:off x="182880" y="4114800"/>
            <a:ext cx="269748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Lean Six Sigma  ·  Scrum Master</a:t>
            </a:r>
            <a:endParaRPr lang="en-US" sz="900" dirty="0"/>
          </a:p>
        </p:txBody>
      </p:sp>
      <p:sp>
        <p:nvSpPr>
          <p:cNvPr id="19" name="Text 16"/>
          <p:cNvSpPr/>
          <p:nvPr/>
        </p:nvSpPr>
        <p:spPr>
          <a:xfrm>
            <a:off x="109728" y="4498848"/>
            <a:ext cx="2880360" cy="228600"/>
          </a:xfrm>
          <a:prstGeom prst="rect">
            <a:avLst/>
          </a:prstGeom>
          <a:noFill/>
          <a:ln/>
        </p:spPr>
        <p:txBody>
          <a:bodyPr wrap="square" rtlCol="0" anchor="ctr"/>
          <a:lstStyle/>
          <a:p>
            <a:pPr marL="0" indent="0" algn="ctr">
              <a:buNone/>
            </a:pPr>
            <a:r>
              <a:rPr lang="en-US" sz="950" dirty="0">
                <a:solidFill>
                  <a:srgbClr val="7AA8CC"/>
                </a:solidFill>
                <a:latin typeface="Calibri" pitchFamily="34" charset="0"/>
                <a:ea typeface="Calibri" pitchFamily="34" charset="-122"/>
                <a:cs typeface="Calibri" pitchFamily="34" charset="-120"/>
              </a:rPr>
              <a:t>📍  Bogotá, Colombia</a:t>
            </a:r>
            <a:endParaRPr lang="en-US" sz="950" dirty="0"/>
          </a:p>
        </p:txBody>
      </p:sp>
      <p:sp>
        <p:nvSpPr>
          <p:cNvPr id="20" name="Text 17"/>
          <p:cNvSpPr/>
          <p:nvPr/>
        </p:nvSpPr>
        <p:spPr>
          <a:xfrm>
            <a:off x="109728" y="4709160"/>
            <a:ext cx="2880360" cy="228600"/>
          </a:xfrm>
          <a:prstGeom prst="rect">
            <a:avLst/>
          </a:prstGeom>
          <a:noFill/>
          <a:ln/>
        </p:spPr>
        <p:txBody>
          <a:bodyPr wrap="square" rtlCol="0" anchor="ctr"/>
          <a:lstStyle/>
          <a:p>
            <a:pPr marL="0" indent="0" algn="ctr">
              <a:buNone/>
            </a:pPr>
            <a:r>
              <a:rPr lang="en-US" sz="900" dirty="0">
                <a:solidFill>
                  <a:srgbClr val="5A8FAF"/>
                </a:solidFill>
                <a:latin typeface="Calibri" pitchFamily="34" charset="0"/>
                <a:ea typeface="Calibri" pitchFamily="34" charset="-122"/>
                <a:cs typeface="Calibri" pitchFamily="34" charset="-120"/>
              </a:rPr>
              <a:t>🔗  linkedin.com/in/navarroricardoa</a:t>
            </a:r>
            <a:endParaRPr lang="en-US" sz="900" dirty="0"/>
          </a:p>
        </p:txBody>
      </p:sp>
      <p:sp>
        <p:nvSpPr>
          <p:cNvPr id="21" name="Shape 18"/>
          <p:cNvSpPr/>
          <p:nvPr/>
        </p:nvSpPr>
        <p:spPr>
          <a:xfrm>
            <a:off x="3246120" y="164592"/>
            <a:ext cx="5760720" cy="135331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22" name="Text 19"/>
          <p:cNvSpPr/>
          <p:nvPr/>
        </p:nvSpPr>
        <p:spPr>
          <a:xfrm>
            <a:off x="3383280" y="201168"/>
            <a:ext cx="5486400" cy="256032"/>
          </a:xfrm>
          <a:prstGeom prst="rect">
            <a:avLst/>
          </a:prstGeom>
          <a:noFill/>
          <a:ln/>
        </p:spPr>
        <p:txBody>
          <a:bodyPr wrap="square"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SOBRE EL INSTRUCTOR</a:t>
            </a:r>
            <a:endParaRPr lang="en-US" sz="1000" dirty="0"/>
          </a:p>
        </p:txBody>
      </p:sp>
      <p:sp>
        <p:nvSpPr>
          <p:cNvPr id="23" name="Text 20"/>
          <p:cNvSpPr/>
          <p:nvPr/>
        </p:nvSpPr>
        <p:spPr>
          <a:xfrm>
            <a:off x="3364992" y="475488"/>
            <a:ext cx="5577840" cy="987552"/>
          </a:xfrm>
          <a:prstGeom prst="rect">
            <a:avLst/>
          </a:prstGeom>
          <a:noFill/>
          <a:ln/>
        </p:spPr>
        <p:txBody>
          <a:bodyPr wrap="square" rtlCol="0" anchor="ctr"/>
          <a:lstStyle/>
          <a:p>
            <a:pPr marL="0" indent="0">
              <a:buNone/>
            </a:pPr>
            <a:r>
              <a:rPr lang="en-US" sz="1050" dirty="0">
                <a:solidFill>
                  <a:srgbClr val="C8DCF0"/>
                </a:solidFill>
                <a:latin typeface="Calibri" pitchFamily="34" charset="0"/>
                <a:ea typeface="Calibri" pitchFamily="34" charset="-122"/>
                <a:cs typeface="Calibri" pitchFamily="34" charset="-120"/>
              </a:rPr>
              <a:t>Líder en BI y Analítica con más de 10 años de experiencia en implementaciones de Inteligencia de Negocios, Big Data, Modelos Predictivos y Gobierno de Datos. Trayectoria multisectorial en Retail, Sector Público, Energía, Banca, Seguros y Oil &amp; Gas </a:t>
            </a:r>
            <a:r>
              <a:rPr lang="en-US" sz="1050" dirty="0" err="1">
                <a:solidFill>
                  <a:srgbClr val="C8DCF0"/>
                </a:solidFill>
                <a:latin typeface="Calibri" pitchFamily="34" charset="0"/>
                <a:ea typeface="Calibri" pitchFamily="34" charset="-122"/>
                <a:cs typeface="Calibri" pitchFamily="34" charset="-120"/>
              </a:rPr>
              <a:t>en</a:t>
            </a:r>
            <a:r>
              <a:rPr lang="en-US" sz="1050" dirty="0">
                <a:solidFill>
                  <a:srgbClr val="C8DCF0"/>
                </a:solidFill>
                <a:latin typeface="Calibri" pitchFamily="34" charset="0"/>
                <a:ea typeface="Calibri" pitchFamily="34" charset="-122"/>
                <a:cs typeface="Calibri" pitchFamily="34" charset="-120"/>
              </a:rPr>
              <a:t> Colombia, Venezuela, Perú y Panamá.</a:t>
            </a:r>
            <a:endParaRPr lang="en-US" sz="1050" dirty="0"/>
          </a:p>
        </p:txBody>
      </p:sp>
      <p:sp>
        <p:nvSpPr>
          <p:cNvPr id="24" name="Text 21"/>
          <p:cNvSpPr/>
          <p:nvPr/>
        </p:nvSpPr>
        <p:spPr>
          <a:xfrm>
            <a:off x="3246120" y="1600200"/>
            <a:ext cx="5760720" cy="256032"/>
          </a:xfrm>
          <a:prstGeom prst="rect">
            <a:avLst/>
          </a:prstGeom>
          <a:noFill/>
          <a:ln/>
        </p:spPr>
        <p:txBody>
          <a:bodyPr wrap="square"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EXPERIENCIA MULTISECTORIAL</a:t>
            </a:r>
            <a:endParaRPr lang="en-US" sz="1000" dirty="0"/>
          </a:p>
        </p:txBody>
      </p:sp>
      <p:sp>
        <p:nvSpPr>
          <p:cNvPr id="25" name="Shape 22"/>
          <p:cNvSpPr/>
          <p:nvPr/>
        </p:nvSpPr>
        <p:spPr>
          <a:xfrm>
            <a:off x="3246120" y="2002536"/>
            <a:ext cx="182880" cy="182880"/>
          </a:xfrm>
          <a:prstGeom prst="ellipse">
            <a:avLst/>
          </a:prstGeom>
          <a:solidFill>
            <a:srgbClr val="0D7377"/>
          </a:solidFill>
          <a:ln w="12700">
            <a:solidFill>
              <a:srgbClr val="0D7377"/>
            </a:solidFill>
            <a:prstDash val="solid"/>
          </a:ln>
        </p:spPr>
        <p:txBody>
          <a:bodyPr/>
          <a:lstStyle/>
          <a:p>
            <a:endParaRPr lang="es-CO"/>
          </a:p>
        </p:txBody>
      </p:sp>
      <p:sp>
        <p:nvSpPr>
          <p:cNvPr id="26" name="Shape 23"/>
          <p:cNvSpPr/>
          <p:nvPr/>
        </p:nvSpPr>
        <p:spPr>
          <a:xfrm>
            <a:off x="3337560" y="2185416"/>
            <a:ext cx="0" cy="475488"/>
          </a:xfrm>
          <a:prstGeom prst="line">
            <a:avLst/>
          </a:prstGeom>
          <a:noFill/>
          <a:ln w="19050">
            <a:solidFill>
              <a:srgbClr val="2A4A6A"/>
            </a:solidFill>
            <a:prstDash val="solid"/>
          </a:ln>
        </p:spPr>
        <p:txBody>
          <a:bodyPr/>
          <a:lstStyle/>
          <a:p>
            <a:endParaRPr lang="es-CO"/>
          </a:p>
        </p:txBody>
      </p:sp>
      <p:sp>
        <p:nvSpPr>
          <p:cNvPr id="27" name="Shape 24"/>
          <p:cNvSpPr/>
          <p:nvPr/>
        </p:nvSpPr>
        <p:spPr>
          <a:xfrm>
            <a:off x="3520440" y="1920240"/>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28" name="Shape 25"/>
          <p:cNvSpPr/>
          <p:nvPr/>
        </p:nvSpPr>
        <p:spPr>
          <a:xfrm>
            <a:off x="8229600" y="2011680"/>
            <a:ext cx="685800" cy="365760"/>
          </a:xfrm>
          <a:prstGeom prst="rect">
            <a:avLst/>
          </a:prstGeom>
          <a:solidFill>
            <a:srgbClr val="0D7377"/>
          </a:solidFill>
          <a:ln w="12700">
            <a:solidFill>
              <a:srgbClr val="0D7377"/>
            </a:solidFill>
            <a:prstDash val="solid"/>
          </a:ln>
        </p:spPr>
        <p:txBody>
          <a:bodyPr/>
          <a:lstStyle/>
          <a:p>
            <a:endParaRPr lang="es-CO"/>
          </a:p>
        </p:txBody>
      </p:sp>
      <p:sp>
        <p:nvSpPr>
          <p:cNvPr id="29" name="Text 26"/>
          <p:cNvSpPr/>
          <p:nvPr/>
        </p:nvSpPr>
        <p:spPr>
          <a:xfrm>
            <a:off x="8229600" y="2011680"/>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Retail</a:t>
            </a:r>
            <a:endParaRPr lang="en-US" sz="800" dirty="0"/>
          </a:p>
        </p:txBody>
      </p:sp>
      <p:sp>
        <p:nvSpPr>
          <p:cNvPr id="30" name="Text 27"/>
          <p:cNvSpPr/>
          <p:nvPr/>
        </p:nvSpPr>
        <p:spPr>
          <a:xfrm>
            <a:off x="3602736" y="1956816"/>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Líder de Datos</a:t>
            </a:r>
            <a:endParaRPr lang="en-US" sz="1150" dirty="0"/>
          </a:p>
        </p:txBody>
      </p:sp>
      <p:sp>
        <p:nvSpPr>
          <p:cNvPr id="31" name="Text 28"/>
          <p:cNvSpPr/>
          <p:nvPr/>
        </p:nvSpPr>
        <p:spPr>
          <a:xfrm>
            <a:off x="3602736" y="2231136"/>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Colombiana de Comercio / Alkosto  ·  2025 – Pres.</a:t>
            </a:r>
            <a:endParaRPr lang="en-US" sz="950" dirty="0"/>
          </a:p>
        </p:txBody>
      </p:sp>
      <p:sp>
        <p:nvSpPr>
          <p:cNvPr id="32" name="Shape 29"/>
          <p:cNvSpPr/>
          <p:nvPr/>
        </p:nvSpPr>
        <p:spPr>
          <a:xfrm>
            <a:off x="3246120" y="2670048"/>
            <a:ext cx="182880" cy="182880"/>
          </a:xfrm>
          <a:prstGeom prst="ellipse">
            <a:avLst/>
          </a:prstGeom>
          <a:solidFill>
            <a:srgbClr val="1A7A5E"/>
          </a:solidFill>
          <a:ln w="12700">
            <a:solidFill>
              <a:srgbClr val="1A7A5E"/>
            </a:solidFill>
            <a:prstDash val="solid"/>
          </a:ln>
        </p:spPr>
        <p:txBody>
          <a:bodyPr/>
          <a:lstStyle/>
          <a:p>
            <a:endParaRPr lang="es-CO"/>
          </a:p>
        </p:txBody>
      </p:sp>
      <p:sp>
        <p:nvSpPr>
          <p:cNvPr id="33" name="Shape 30"/>
          <p:cNvSpPr/>
          <p:nvPr/>
        </p:nvSpPr>
        <p:spPr>
          <a:xfrm>
            <a:off x="3337560" y="2852928"/>
            <a:ext cx="0" cy="475488"/>
          </a:xfrm>
          <a:prstGeom prst="line">
            <a:avLst/>
          </a:prstGeom>
          <a:noFill/>
          <a:ln w="19050">
            <a:solidFill>
              <a:srgbClr val="2A4A6A"/>
            </a:solidFill>
            <a:prstDash val="solid"/>
          </a:ln>
        </p:spPr>
        <p:txBody>
          <a:bodyPr/>
          <a:lstStyle/>
          <a:p>
            <a:endParaRPr lang="es-CO"/>
          </a:p>
        </p:txBody>
      </p:sp>
      <p:sp>
        <p:nvSpPr>
          <p:cNvPr id="34" name="Shape 31"/>
          <p:cNvSpPr/>
          <p:nvPr/>
        </p:nvSpPr>
        <p:spPr>
          <a:xfrm>
            <a:off x="3520440" y="2587752"/>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35" name="Shape 32"/>
          <p:cNvSpPr/>
          <p:nvPr/>
        </p:nvSpPr>
        <p:spPr>
          <a:xfrm>
            <a:off x="8229600" y="2679192"/>
            <a:ext cx="685800" cy="365760"/>
          </a:xfrm>
          <a:prstGeom prst="rect">
            <a:avLst/>
          </a:prstGeom>
          <a:solidFill>
            <a:srgbClr val="1A7A5E"/>
          </a:solidFill>
          <a:ln w="12700">
            <a:solidFill>
              <a:srgbClr val="1A7A5E"/>
            </a:solidFill>
            <a:prstDash val="solid"/>
          </a:ln>
        </p:spPr>
        <p:txBody>
          <a:bodyPr/>
          <a:lstStyle/>
          <a:p>
            <a:endParaRPr lang="es-CO"/>
          </a:p>
        </p:txBody>
      </p:sp>
      <p:sp>
        <p:nvSpPr>
          <p:cNvPr id="36" name="Text 33"/>
          <p:cNvSpPr/>
          <p:nvPr/>
        </p:nvSpPr>
        <p:spPr>
          <a:xfrm>
            <a:off x="8229600" y="2679192"/>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Energía</a:t>
            </a:r>
            <a:endParaRPr lang="en-US" sz="800" dirty="0"/>
          </a:p>
        </p:txBody>
      </p:sp>
      <p:sp>
        <p:nvSpPr>
          <p:cNvPr id="37" name="Text 34"/>
          <p:cNvSpPr/>
          <p:nvPr/>
        </p:nvSpPr>
        <p:spPr>
          <a:xfrm>
            <a:off x="3602736" y="2624328"/>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Arquitecto de Soluciones BI</a:t>
            </a:r>
            <a:endParaRPr lang="en-US" sz="1150" dirty="0"/>
          </a:p>
        </p:txBody>
      </p:sp>
      <p:sp>
        <p:nvSpPr>
          <p:cNvPr id="38" name="Text 35"/>
          <p:cNvSpPr/>
          <p:nvPr/>
        </p:nvSpPr>
        <p:spPr>
          <a:xfrm>
            <a:off x="3602736" y="2898648"/>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ENSA – Elektra Noreste S.A.  ·  2021 – 2025</a:t>
            </a:r>
            <a:endParaRPr lang="en-US" sz="950" dirty="0"/>
          </a:p>
        </p:txBody>
      </p:sp>
      <p:sp>
        <p:nvSpPr>
          <p:cNvPr id="39" name="Shape 36"/>
          <p:cNvSpPr/>
          <p:nvPr/>
        </p:nvSpPr>
        <p:spPr>
          <a:xfrm>
            <a:off x="3246120" y="3337560"/>
            <a:ext cx="182880" cy="182880"/>
          </a:xfrm>
          <a:prstGeom prst="ellipse">
            <a:avLst/>
          </a:prstGeom>
          <a:solidFill>
            <a:srgbClr val="3776AB"/>
          </a:solidFill>
          <a:ln w="12700">
            <a:solidFill>
              <a:srgbClr val="3776AB"/>
            </a:solidFill>
            <a:prstDash val="solid"/>
          </a:ln>
        </p:spPr>
        <p:txBody>
          <a:bodyPr/>
          <a:lstStyle/>
          <a:p>
            <a:endParaRPr lang="es-CO"/>
          </a:p>
        </p:txBody>
      </p:sp>
      <p:sp>
        <p:nvSpPr>
          <p:cNvPr id="40" name="Shape 37"/>
          <p:cNvSpPr/>
          <p:nvPr/>
        </p:nvSpPr>
        <p:spPr>
          <a:xfrm>
            <a:off x="3337560" y="3520440"/>
            <a:ext cx="0" cy="475488"/>
          </a:xfrm>
          <a:prstGeom prst="line">
            <a:avLst/>
          </a:prstGeom>
          <a:noFill/>
          <a:ln w="19050">
            <a:solidFill>
              <a:srgbClr val="2A4A6A"/>
            </a:solidFill>
            <a:prstDash val="solid"/>
          </a:ln>
        </p:spPr>
        <p:txBody>
          <a:bodyPr/>
          <a:lstStyle/>
          <a:p>
            <a:endParaRPr lang="es-CO"/>
          </a:p>
        </p:txBody>
      </p:sp>
      <p:sp>
        <p:nvSpPr>
          <p:cNvPr id="41" name="Shape 38"/>
          <p:cNvSpPr/>
          <p:nvPr/>
        </p:nvSpPr>
        <p:spPr>
          <a:xfrm>
            <a:off x="3520440" y="3255264"/>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42" name="Shape 39"/>
          <p:cNvSpPr/>
          <p:nvPr/>
        </p:nvSpPr>
        <p:spPr>
          <a:xfrm>
            <a:off x="8229600" y="3346704"/>
            <a:ext cx="685800" cy="365760"/>
          </a:xfrm>
          <a:prstGeom prst="rect">
            <a:avLst/>
          </a:prstGeom>
          <a:solidFill>
            <a:srgbClr val="3776AB"/>
          </a:solidFill>
          <a:ln w="12700">
            <a:solidFill>
              <a:srgbClr val="3776AB"/>
            </a:solidFill>
            <a:prstDash val="solid"/>
          </a:ln>
        </p:spPr>
        <p:txBody>
          <a:bodyPr/>
          <a:lstStyle/>
          <a:p>
            <a:endParaRPr lang="es-CO"/>
          </a:p>
        </p:txBody>
      </p:sp>
      <p:sp>
        <p:nvSpPr>
          <p:cNvPr id="43" name="Text 40"/>
          <p:cNvSpPr/>
          <p:nvPr/>
        </p:nvSpPr>
        <p:spPr>
          <a:xfrm>
            <a:off x="8229600" y="3346704"/>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Banca/Seg</a:t>
            </a:r>
            <a:endParaRPr lang="en-US" sz="800" dirty="0"/>
          </a:p>
        </p:txBody>
      </p:sp>
      <p:sp>
        <p:nvSpPr>
          <p:cNvPr id="44" name="Text 41"/>
          <p:cNvSpPr/>
          <p:nvPr/>
        </p:nvSpPr>
        <p:spPr>
          <a:xfrm>
            <a:off x="3602736" y="3291840"/>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Adm. Proyectos &amp; Consultor BI</a:t>
            </a:r>
            <a:endParaRPr lang="en-US" sz="1150" dirty="0"/>
          </a:p>
        </p:txBody>
      </p:sp>
      <p:sp>
        <p:nvSpPr>
          <p:cNvPr id="45" name="Text 42"/>
          <p:cNvSpPr/>
          <p:nvPr/>
        </p:nvSpPr>
        <p:spPr>
          <a:xfrm>
            <a:off x="3602736" y="3566160"/>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MSTech  ·  2017 – 2021</a:t>
            </a:r>
            <a:endParaRPr lang="en-US" sz="950" dirty="0"/>
          </a:p>
        </p:txBody>
      </p:sp>
      <p:sp>
        <p:nvSpPr>
          <p:cNvPr id="46" name="Shape 43"/>
          <p:cNvSpPr/>
          <p:nvPr/>
        </p:nvSpPr>
        <p:spPr>
          <a:xfrm>
            <a:off x="3246120" y="4005072"/>
            <a:ext cx="182880" cy="182880"/>
          </a:xfrm>
          <a:prstGeom prst="ellipse">
            <a:avLst/>
          </a:prstGeom>
          <a:solidFill>
            <a:srgbClr val="7D3C98"/>
          </a:solidFill>
          <a:ln w="12700">
            <a:solidFill>
              <a:srgbClr val="7D3C98"/>
            </a:solidFill>
            <a:prstDash val="solid"/>
          </a:ln>
        </p:spPr>
        <p:txBody>
          <a:bodyPr/>
          <a:lstStyle/>
          <a:p>
            <a:endParaRPr lang="es-CO"/>
          </a:p>
        </p:txBody>
      </p:sp>
      <p:sp>
        <p:nvSpPr>
          <p:cNvPr id="47" name="Shape 44"/>
          <p:cNvSpPr/>
          <p:nvPr/>
        </p:nvSpPr>
        <p:spPr>
          <a:xfrm>
            <a:off x="3520440" y="3922776"/>
            <a:ext cx="5440680" cy="576072"/>
          </a:xfrm>
          <a:prstGeom prst="rect">
            <a:avLst/>
          </a:prstGeom>
          <a:solidFill>
            <a:srgbClr val="1A2F48"/>
          </a:solidFill>
          <a:ln w="12700">
            <a:solidFill>
              <a:srgbClr val="253F5C"/>
            </a:solidFill>
            <a:prstDash val="solid"/>
          </a:ln>
          <a:effectLst>
            <a:outerShdw blurRad="101600" dist="38100" dir="8100000" algn="bl" rotWithShape="0">
              <a:srgbClr val="000000">
                <a:alpha val="12000"/>
              </a:srgbClr>
            </a:outerShdw>
          </a:effectLst>
        </p:spPr>
        <p:txBody>
          <a:bodyPr/>
          <a:lstStyle/>
          <a:p>
            <a:endParaRPr lang="es-CO"/>
          </a:p>
        </p:txBody>
      </p:sp>
      <p:sp>
        <p:nvSpPr>
          <p:cNvPr id="48" name="Shape 45"/>
          <p:cNvSpPr/>
          <p:nvPr/>
        </p:nvSpPr>
        <p:spPr>
          <a:xfrm>
            <a:off x="8229600" y="4014216"/>
            <a:ext cx="685800" cy="365760"/>
          </a:xfrm>
          <a:prstGeom prst="rect">
            <a:avLst/>
          </a:prstGeom>
          <a:solidFill>
            <a:srgbClr val="7D3C98"/>
          </a:solidFill>
          <a:ln w="12700">
            <a:solidFill>
              <a:srgbClr val="7D3C98"/>
            </a:solidFill>
            <a:prstDash val="solid"/>
          </a:ln>
        </p:spPr>
        <p:txBody>
          <a:bodyPr/>
          <a:lstStyle/>
          <a:p>
            <a:endParaRPr lang="es-CO"/>
          </a:p>
        </p:txBody>
      </p:sp>
      <p:sp>
        <p:nvSpPr>
          <p:cNvPr id="49" name="Text 46"/>
          <p:cNvSpPr/>
          <p:nvPr/>
        </p:nvSpPr>
        <p:spPr>
          <a:xfrm>
            <a:off x="8229600" y="4014216"/>
            <a:ext cx="685800" cy="365760"/>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Oil &amp; Gas</a:t>
            </a:r>
            <a:endParaRPr lang="en-US" sz="800" dirty="0"/>
          </a:p>
        </p:txBody>
      </p:sp>
      <p:sp>
        <p:nvSpPr>
          <p:cNvPr id="50" name="Text 47"/>
          <p:cNvSpPr/>
          <p:nvPr/>
        </p:nvSpPr>
        <p:spPr>
          <a:xfrm>
            <a:off x="3602736" y="3959352"/>
            <a:ext cx="4553712"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SAP BI Consultant</a:t>
            </a:r>
            <a:endParaRPr lang="en-US" sz="1150" dirty="0"/>
          </a:p>
        </p:txBody>
      </p:sp>
      <p:sp>
        <p:nvSpPr>
          <p:cNvPr id="51" name="Text 48"/>
          <p:cNvSpPr/>
          <p:nvPr/>
        </p:nvSpPr>
        <p:spPr>
          <a:xfrm>
            <a:off x="3602736" y="4233672"/>
            <a:ext cx="4553712" cy="219456"/>
          </a:xfrm>
          <a:prstGeom prst="rect">
            <a:avLst/>
          </a:prstGeom>
          <a:noFill/>
          <a:ln/>
        </p:spPr>
        <p:txBody>
          <a:bodyPr wrap="square" lIns="0" tIns="0" rIns="0" bIns="0" rtlCol="0" anchor="ctr"/>
          <a:lstStyle/>
          <a:p>
            <a:pPr marL="0" indent="0">
              <a:buNone/>
            </a:pPr>
            <a:r>
              <a:rPr lang="en-US" sz="950" dirty="0">
                <a:solidFill>
                  <a:srgbClr val="7AA8CC"/>
                </a:solidFill>
                <a:latin typeface="Calibri" pitchFamily="34" charset="0"/>
                <a:ea typeface="Calibri" pitchFamily="34" charset="-122"/>
                <a:cs typeface="Calibri" pitchFamily="34" charset="-120"/>
              </a:rPr>
              <a:t>MQA Americas / Everis  ·  2013 – 2017</a:t>
            </a:r>
            <a:endParaRPr lang="en-US" sz="950" dirty="0"/>
          </a:p>
        </p:txBody>
      </p:sp>
      <p:sp>
        <p:nvSpPr>
          <p:cNvPr id="52" name="Text 49"/>
          <p:cNvSpPr/>
          <p:nvPr/>
        </p:nvSpPr>
        <p:spPr>
          <a:xfrm>
            <a:off x="3246120" y="4626864"/>
            <a:ext cx="3200400" cy="201168"/>
          </a:xfrm>
          <a:prstGeom prst="rect">
            <a:avLst/>
          </a:prstGeom>
          <a:noFill/>
          <a:ln/>
        </p:spPr>
        <p:txBody>
          <a:bodyPr wrap="square" rtlCol="0" anchor="ctr"/>
          <a:lstStyle/>
          <a:p>
            <a:pPr marL="0" indent="0">
              <a:buNone/>
            </a:pPr>
            <a:r>
              <a:rPr lang="en-US" sz="1000" b="1" kern="0" spc="300" dirty="0">
                <a:solidFill>
                  <a:srgbClr val="E8A838"/>
                </a:solidFill>
                <a:latin typeface="Calibri" pitchFamily="34" charset="0"/>
                <a:ea typeface="Calibri" pitchFamily="34" charset="-122"/>
                <a:cs typeface="Calibri" pitchFamily="34" charset="-120"/>
              </a:rPr>
              <a:t>STACK TECNOLÓGICO</a:t>
            </a:r>
            <a:endParaRPr lang="en-US" sz="1000" dirty="0"/>
          </a:p>
        </p:txBody>
      </p:sp>
      <p:sp>
        <p:nvSpPr>
          <p:cNvPr id="53" name="Text 50"/>
          <p:cNvSpPr/>
          <p:nvPr/>
        </p:nvSpPr>
        <p:spPr>
          <a:xfrm>
            <a:off x="3246120" y="4818888"/>
            <a:ext cx="5760720" cy="201168"/>
          </a:xfrm>
          <a:prstGeom prst="rect">
            <a:avLst/>
          </a:prstGeom>
          <a:noFill/>
          <a:ln/>
        </p:spPr>
        <p:txBody>
          <a:bodyPr wrap="square" rtlCol="0" anchor="ctr"/>
          <a:lstStyle/>
          <a:p>
            <a:pPr marL="0" indent="0">
              <a:buNone/>
            </a:pPr>
            <a:r>
              <a:rPr lang="en-US" sz="950" dirty="0">
                <a:solidFill>
                  <a:srgbClr val="8AB8D4"/>
                </a:solidFill>
                <a:latin typeface="Calibri" pitchFamily="34" charset="0"/>
                <a:ea typeface="Calibri" pitchFamily="34" charset="-122"/>
                <a:cs typeface="Calibri" pitchFamily="34" charset="-120"/>
              </a:rPr>
              <a:t>Power BI  ·  Databricks  ·  Azure Synapse  ·  SPSS Modeler  ·  SAP HANA  ·  Tableau  ·  Python 🐍  ·  SQL Server</a:t>
            </a:r>
            <a:endParaRPr lang="en-US" sz="950" dirty="0"/>
          </a:p>
        </p:txBody>
      </p:sp>
      <p:sp>
        <p:nvSpPr>
          <p:cNvPr id="54" name="Text 51"/>
          <p:cNvSpPr/>
          <p:nvPr/>
        </p:nvSpPr>
        <p:spPr>
          <a:xfrm>
            <a:off x="3246120" y="4974336"/>
            <a:ext cx="5760720" cy="201168"/>
          </a:xfrm>
          <a:prstGeom prst="rect">
            <a:avLst/>
          </a:prstGeom>
          <a:noFill/>
          <a:ln/>
        </p:spPr>
        <p:txBody>
          <a:bodyPr wrap="square" rtlCol="0" anchor="ctr"/>
          <a:lstStyle/>
          <a:p>
            <a:pPr marL="0" indent="0">
              <a:buNone/>
            </a:pPr>
            <a:r>
              <a:rPr lang="en-US" sz="850" dirty="0">
                <a:solidFill>
                  <a:srgbClr val="506A88"/>
                </a:solidFill>
                <a:latin typeface="Calibri" pitchFamily="34" charset="0"/>
                <a:ea typeface="Calibri" pitchFamily="34" charset="-122"/>
                <a:cs typeface="Calibri" pitchFamily="34" charset="-120"/>
              </a:rPr>
              <a:t>🎓  MSc Business Intelligence (OBS)   ·   MSc Gerencia de Proyectos (UIP Panamá)   ·   Diplomado ML &amp; Data Science (UNAL)</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ESTRUCTURA DEL CURSO — 4 Sesiones · 8 Horas</a:t>
            </a:r>
            <a:endParaRPr lang="en-US" sz="2000" dirty="0"/>
          </a:p>
        </p:txBody>
      </p:sp>
      <p:sp>
        <p:nvSpPr>
          <p:cNvPr id="4" name="Shape 2"/>
          <p:cNvSpPr/>
          <p:nvPr/>
        </p:nvSpPr>
        <p:spPr>
          <a:xfrm>
            <a:off x="274320" y="1069848"/>
            <a:ext cx="621792" cy="621792"/>
          </a:xfrm>
          <a:prstGeom prst="ellipse">
            <a:avLst/>
          </a:prstGeom>
          <a:solidFill>
            <a:srgbClr val="0D7377"/>
          </a:solidFill>
          <a:ln w="12700">
            <a:solidFill>
              <a:srgbClr val="0D7377"/>
            </a:solidFill>
            <a:prstDash val="solid"/>
          </a:ln>
        </p:spPr>
        <p:txBody>
          <a:bodyPr/>
          <a:lstStyle/>
          <a:p>
            <a:endParaRPr lang="es-CO"/>
          </a:p>
        </p:txBody>
      </p:sp>
      <p:sp>
        <p:nvSpPr>
          <p:cNvPr id="5" name="Text 3"/>
          <p:cNvSpPr/>
          <p:nvPr/>
        </p:nvSpPr>
        <p:spPr>
          <a:xfrm>
            <a:off x="274320" y="1069848"/>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1005840" y="1005840"/>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7" name="Shape 5"/>
          <p:cNvSpPr/>
          <p:nvPr/>
        </p:nvSpPr>
        <p:spPr>
          <a:xfrm>
            <a:off x="7955280" y="1069848"/>
            <a:ext cx="777240" cy="384048"/>
          </a:xfrm>
          <a:prstGeom prst="rect">
            <a:avLst/>
          </a:prstGeom>
          <a:solidFill>
            <a:srgbClr val="E8A838"/>
          </a:solidFill>
          <a:ln w="12700">
            <a:solidFill>
              <a:srgbClr val="E8A838"/>
            </a:solidFill>
            <a:prstDash val="solid"/>
          </a:ln>
        </p:spPr>
        <p:txBody>
          <a:bodyPr/>
          <a:lstStyle/>
          <a:p>
            <a:endParaRPr lang="es-CO"/>
          </a:p>
        </p:txBody>
      </p:sp>
      <p:sp>
        <p:nvSpPr>
          <p:cNvPr id="8" name="Text 6"/>
          <p:cNvSpPr/>
          <p:nvPr/>
        </p:nvSpPr>
        <p:spPr>
          <a:xfrm>
            <a:off x="7955280" y="1069848"/>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9" name="Text 7"/>
          <p:cNvSpPr/>
          <p:nvPr/>
        </p:nvSpPr>
        <p:spPr>
          <a:xfrm>
            <a:off x="1097280" y="1033272"/>
            <a:ext cx="6766560" cy="36576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Fundamentos + </a:t>
            </a:r>
            <a:r>
              <a:rPr lang="en-US" sz="1300" b="1" dirty="0" err="1">
                <a:solidFill>
                  <a:srgbClr val="1A3A5C"/>
                </a:solidFill>
                <a:latin typeface="Calibri" pitchFamily="34" charset="0"/>
                <a:ea typeface="Calibri" pitchFamily="34" charset="-122"/>
                <a:cs typeface="Calibri" pitchFamily="34" charset="-120"/>
              </a:rPr>
              <a:t>Regresión</a:t>
            </a:r>
            <a:r>
              <a:rPr lang="en-US" sz="1300" b="1" dirty="0">
                <a:solidFill>
                  <a:srgbClr val="1A3A5C"/>
                </a:solidFill>
                <a:latin typeface="Calibri" pitchFamily="34" charset="0"/>
                <a:ea typeface="Calibri" pitchFamily="34" charset="-122"/>
                <a:cs typeface="Calibri" pitchFamily="34" charset="-120"/>
              </a:rPr>
              <a:t> Lineal</a:t>
            </a:r>
            <a:endParaRPr lang="en-US" sz="1300" dirty="0"/>
          </a:p>
        </p:txBody>
      </p:sp>
      <p:sp>
        <p:nvSpPr>
          <p:cNvPr id="10" name="Text 8"/>
          <p:cNvSpPr/>
          <p:nvPr/>
        </p:nvSpPr>
        <p:spPr>
          <a:xfrm>
            <a:off x="1097280" y="1399032"/>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CRISP-DM · Regresión simple · Estadística descriptiva · pandas/statsmodels · EDA</a:t>
            </a:r>
            <a:endParaRPr lang="en-US" sz="1000" dirty="0"/>
          </a:p>
        </p:txBody>
      </p:sp>
      <p:sp>
        <p:nvSpPr>
          <p:cNvPr id="11" name="Shape 9"/>
          <p:cNvSpPr/>
          <p:nvPr/>
        </p:nvSpPr>
        <p:spPr>
          <a:xfrm>
            <a:off x="274320" y="2057400"/>
            <a:ext cx="621792" cy="621792"/>
          </a:xfrm>
          <a:prstGeom prst="ellipse">
            <a:avLst/>
          </a:prstGeom>
          <a:solidFill>
            <a:srgbClr val="0D7377"/>
          </a:solidFill>
          <a:ln w="12700">
            <a:solidFill>
              <a:srgbClr val="0D7377"/>
            </a:solidFill>
            <a:prstDash val="solid"/>
          </a:ln>
        </p:spPr>
        <p:txBody>
          <a:bodyPr/>
          <a:lstStyle/>
          <a:p>
            <a:endParaRPr lang="es-CO"/>
          </a:p>
        </p:txBody>
      </p:sp>
      <p:sp>
        <p:nvSpPr>
          <p:cNvPr id="12" name="Text 10"/>
          <p:cNvSpPr/>
          <p:nvPr/>
        </p:nvSpPr>
        <p:spPr>
          <a:xfrm>
            <a:off x="274320" y="2057400"/>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Shape 11"/>
          <p:cNvSpPr/>
          <p:nvPr/>
        </p:nvSpPr>
        <p:spPr>
          <a:xfrm>
            <a:off x="1005840" y="1993392"/>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4" name="Shape 12"/>
          <p:cNvSpPr/>
          <p:nvPr/>
        </p:nvSpPr>
        <p:spPr>
          <a:xfrm>
            <a:off x="7955280" y="2057400"/>
            <a:ext cx="777240" cy="384048"/>
          </a:xfrm>
          <a:prstGeom prst="rect">
            <a:avLst/>
          </a:prstGeom>
          <a:solidFill>
            <a:srgbClr val="E8A838"/>
          </a:solidFill>
          <a:ln w="12700">
            <a:solidFill>
              <a:srgbClr val="E8A838"/>
            </a:solidFill>
            <a:prstDash val="solid"/>
          </a:ln>
        </p:spPr>
        <p:txBody>
          <a:bodyPr/>
          <a:lstStyle/>
          <a:p>
            <a:endParaRPr lang="es-CO"/>
          </a:p>
        </p:txBody>
      </p:sp>
      <p:sp>
        <p:nvSpPr>
          <p:cNvPr id="15" name="Text 13"/>
          <p:cNvSpPr/>
          <p:nvPr/>
        </p:nvSpPr>
        <p:spPr>
          <a:xfrm>
            <a:off x="7955280" y="2057400"/>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16" name="Text 14"/>
          <p:cNvSpPr/>
          <p:nvPr/>
        </p:nvSpPr>
        <p:spPr>
          <a:xfrm>
            <a:off x="1097280" y="2020824"/>
            <a:ext cx="6766560" cy="365760"/>
          </a:xfrm>
          <a:prstGeom prst="rect">
            <a:avLst/>
          </a:prstGeom>
          <a:noFill/>
          <a:ln/>
        </p:spPr>
        <p:txBody>
          <a:bodyPr wrap="square" lIns="0" tIns="0" rIns="0" bIns="0" rtlCol="0" anchor="ctr"/>
          <a:lstStyle/>
          <a:p>
            <a:pPr marL="0" indent="0">
              <a:buNone/>
            </a:pPr>
            <a:r>
              <a:rPr lang="en-US" sz="1300" b="1" dirty="0" err="1">
                <a:solidFill>
                  <a:srgbClr val="1A3A5C"/>
                </a:solidFill>
                <a:latin typeface="Calibri" pitchFamily="34" charset="0"/>
                <a:ea typeface="Calibri" pitchFamily="34" charset="-122"/>
                <a:cs typeface="Calibri" pitchFamily="34" charset="-120"/>
              </a:rPr>
              <a:t>Regresión</a:t>
            </a:r>
            <a:r>
              <a:rPr lang="en-US" sz="1300" b="1" dirty="0">
                <a:solidFill>
                  <a:srgbClr val="1A3A5C"/>
                </a:solidFill>
                <a:latin typeface="Calibri" pitchFamily="34" charset="0"/>
                <a:ea typeface="Calibri" pitchFamily="34" charset="-122"/>
                <a:cs typeface="Calibri" pitchFamily="34" charset="-120"/>
              </a:rPr>
              <a:t> </a:t>
            </a:r>
            <a:r>
              <a:rPr lang="en-US" sz="1300" b="1" dirty="0" err="1">
                <a:solidFill>
                  <a:srgbClr val="1A3A5C"/>
                </a:solidFill>
                <a:latin typeface="Calibri" pitchFamily="34" charset="0"/>
                <a:ea typeface="Calibri" pitchFamily="34" charset="-122"/>
                <a:cs typeface="Calibri" pitchFamily="34" charset="-120"/>
              </a:rPr>
              <a:t>Múltiple</a:t>
            </a:r>
            <a:endParaRPr lang="en-US" sz="1300" dirty="0"/>
          </a:p>
        </p:txBody>
      </p:sp>
      <p:sp>
        <p:nvSpPr>
          <p:cNvPr id="17" name="Text 15"/>
          <p:cNvSpPr/>
          <p:nvPr/>
        </p:nvSpPr>
        <p:spPr>
          <a:xfrm>
            <a:off x="1097280" y="2386584"/>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Múltiples variables · Correlaciones · Outliers · sklearn · Interpretación coeficientes</a:t>
            </a:r>
            <a:endParaRPr lang="en-US" sz="1000" dirty="0"/>
          </a:p>
        </p:txBody>
      </p:sp>
      <p:sp>
        <p:nvSpPr>
          <p:cNvPr id="18" name="Shape 16"/>
          <p:cNvSpPr/>
          <p:nvPr/>
        </p:nvSpPr>
        <p:spPr>
          <a:xfrm>
            <a:off x="274320" y="3044952"/>
            <a:ext cx="621792" cy="621792"/>
          </a:xfrm>
          <a:prstGeom prst="ellipse">
            <a:avLst/>
          </a:prstGeom>
          <a:solidFill>
            <a:srgbClr val="0D7377"/>
          </a:solidFill>
          <a:ln w="12700">
            <a:solidFill>
              <a:srgbClr val="0D7377"/>
            </a:solidFill>
            <a:prstDash val="solid"/>
          </a:ln>
        </p:spPr>
        <p:txBody>
          <a:bodyPr/>
          <a:lstStyle/>
          <a:p>
            <a:endParaRPr lang="es-CO"/>
          </a:p>
        </p:txBody>
      </p:sp>
      <p:sp>
        <p:nvSpPr>
          <p:cNvPr id="19" name="Text 17"/>
          <p:cNvSpPr/>
          <p:nvPr/>
        </p:nvSpPr>
        <p:spPr>
          <a:xfrm>
            <a:off x="274320" y="3044952"/>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Shape 18"/>
          <p:cNvSpPr/>
          <p:nvPr/>
        </p:nvSpPr>
        <p:spPr>
          <a:xfrm>
            <a:off x="1005840" y="2980944"/>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p:cNvSpPr/>
          <p:nvPr/>
        </p:nvSpPr>
        <p:spPr>
          <a:xfrm>
            <a:off x="7955280" y="3044952"/>
            <a:ext cx="777240" cy="384048"/>
          </a:xfrm>
          <a:prstGeom prst="rect">
            <a:avLst/>
          </a:prstGeom>
          <a:solidFill>
            <a:srgbClr val="E8A838"/>
          </a:solidFill>
          <a:ln w="12700">
            <a:solidFill>
              <a:srgbClr val="E8A838"/>
            </a:solidFill>
            <a:prstDash val="solid"/>
          </a:ln>
        </p:spPr>
        <p:txBody>
          <a:bodyPr/>
          <a:lstStyle/>
          <a:p>
            <a:endParaRPr lang="es-CO"/>
          </a:p>
        </p:txBody>
      </p:sp>
      <p:sp>
        <p:nvSpPr>
          <p:cNvPr id="22" name="Text 20"/>
          <p:cNvSpPr/>
          <p:nvPr/>
        </p:nvSpPr>
        <p:spPr>
          <a:xfrm>
            <a:off x="7955280" y="3044952"/>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23" name="Text 21"/>
          <p:cNvSpPr/>
          <p:nvPr/>
        </p:nvSpPr>
        <p:spPr>
          <a:xfrm>
            <a:off x="1097280" y="3008376"/>
            <a:ext cx="6766560" cy="365760"/>
          </a:xfrm>
          <a:prstGeom prst="rect">
            <a:avLst/>
          </a:prstGeom>
          <a:noFill/>
          <a:ln/>
        </p:spPr>
        <p:txBody>
          <a:bodyPr wrap="square" lIns="0" tIns="0" rIns="0" bIns="0" rtlCol="0" anchor="ctr"/>
          <a:lstStyle/>
          <a:p>
            <a:pPr marL="0" indent="0">
              <a:buNone/>
            </a:pPr>
            <a:r>
              <a:rPr lang="en-US" sz="1300" b="1" dirty="0" err="1">
                <a:solidFill>
                  <a:srgbClr val="1A3A5C"/>
                </a:solidFill>
                <a:latin typeface="Calibri" pitchFamily="34" charset="0"/>
                <a:ea typeface="Calibri" pitchFamily="34" charset="-122"/>
                <a:cs typeface="Calibri" pitchFamily="34" charset="-120"/>
              </a:rPr>
              <a:t>Interpretación</a:t>
            </a:r>
            <a:r>
              <a:rPr lang="en-US" sz="1300" b="1" dirty="0">
                <a:solidFill>
                  <a:srgbClr val="1A3A5C"/>
                </a:solidFill>
                <a:latin typeface="Calibri" pitchFamily="34" charset="0"/>
                <a:ea typeface="Calibri" pitchFamily="34" charset="-122"/>
                <a:cs typeface="Calibri" pitchFamily="34" charset="-120"/>
              </a:rPr>
              <a:t> Prudente</a:t>
            </a:r>
            <a:endParaRPr lang="en-US" sz="1300" dirty="0"/>
          </a:p>
        </p:txBody>
      </p:sp>
      <p:sp>
        <p:nvSpPr>
          <p:cNvPr id="24" name="Text 22"/>
          <p:cNvSpPr/>
          <p:nvPr/>
        </p:nvSpPr>
        <p:spPr>
          <a:xfrm>
            <a:off x="1097280" y="3374136"/>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Significancia · Supuestos MCO · Aprendizaje computacional · Casos ciencias sociales</a:t>
            </a:r>
            <a:endParaRPr lang="en-US" sz="1000" dirty="0"/>
          </a:p>
        </p:txBody>
      </p:sp>
      <p:sp>
        <p:nvSpPr>
          <p:cNvPr id="25" name="Shape 23"/>
          <p:cNvSpPr/>
          <p:nvPr/>
        </p:nvSpPr>
        <p:spPr>
          <a:xfrm>
            <a:off x="274320" y="4032504"/>
            <a:ext cx="621792" cy="621792"/>
          </a:xfrm>
          <a:prstGeom prst="ellipse">
            <a:avLst/>
          </a:prstGeom>
          <a:solidFill>
            <a:srgbClr val="0D7377"/>
          </a:solidFill>
          <a:ln w="12700">
            <a:solidFill>
              <a:srgbClr val="0D7377"/>
            </a:solidFill>
            <a:prstDash val="solid"/>
          </a:ln>
        </p:spPr>
        <p:txBody>
          <a:bodyPr/>
          <a:lstStyle/>
          <a:p>
            <a:endParaRPr lang="es-CO"/>
          </a:p>
        </p:txBody>
      </p:sp>
      <p:sp>
        <p:nvSpPr>
          <p:cNvPr id="26" name="Text 24"/>
          <p:cNvSpPr/>
          <p:nvPr/>
        </p:nvSpPr>
        <p:spPr>
          <a:xfrm>
            <a:off x="274320" y="4032504"/>
            <a:ext cx="621792" cy="621792"/>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hape 25"/>
          <p:cNvSpPr/>
          <p:nvPr/>
        </p:nvSpPr>
        <p:spPr>
          <a:xfrm>
            <a:off x="1005840" y="3968496"/>
            <a:ext cx="7772400" cy="80467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8" name="Shape 26"/>
          <p:cNvSpPr/>
          <p:nvPr/>
        </p:nvSpPr>
        <p:spPr>
          <a:xfrm>
            <a:off x="7955280" y="4032504"/>
            <a:ext cx="777240" cy="384048"/>
          </a:xfrm>
          <a:prstGeom prst="rect">
            <a:avLst/>
          </a:prstGeom>
          <a:solidFill>
            <a:srgbClr val="E8A838"/>
          </a:solidFill>
          <a:ln w="12700">
            <a:solidFill>
              <a:srgbClr val="E8A838"/>
            </a:solidFill>
            <a:prstDash val="solid"/>
          </a:ln>
        </p:spPr>
        <p:txBody>
          <a:bodyPr/>
          <a:lstStyle/>
          <a:p>
            <a:endParaRPr lang="es-CO"/>
          </a:p>
        </p:txBody>
      </p:sp>
      <p:sp>
        <p:nvSpPr>
          <p:cNvPr id="29" name="Text 27"/>
          <p:cNvSpPr/>
          <p:nvPr/>
        </p:nvSpPr>
        <p:spPr>
          <a:xfrm>
            <a:off x="7955280" y="4032504"/>
            <a:ext cx="777240" cy="384048"/>
          </a:xfrm>
          <a:prstGeom prst="rect">
            <a:avLst/>
          </a:prstGeom>
          <a:noFill/>
          <a:ln/>
        </p:spPr>
        <p:txBody>
          <a:bodyPr wrap="square"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 hrs</a:t>
            </a:r>
            <a:endParaRPr lang="en-US" sz="1000" dirty="0"/>
          </a:p>
        </p:txBody>
      </p:sp>
      <p:sp>
        <p:nvSpPr>
          <p:cNvPr id="30" name="Text 28"/>
          <p:cNvSpPr/>
          <p:nvPr/>
        </p:nvSpPr>
        <p:spPr>
          <a:xfrm>
            <a:off x="1097280" y="3995928"/>
            <a:ext cx="6766560" cy="365760"/>
          </a:xfrm>
          <a:prstGeom prst="rect">
            <a:avLst/>
          </a:prstGeom>
          <a:noFill/>
          <a:ln/>
        </p:spPr>
        <p:txBody>
          <a:bodyPr wrap="square" lIns="0" tIns="0" rIns="0" bIns="0"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Proyecto Integrador</a:t>
            </a:r>
            <a:endParaRPr lang="en-US" sz="1300" dirty="0"/>
          </a:p>
        </p:txBody>
      </p:sp>
      <p:sp>
        <p:nvSpPr>
          <p:cNvPr id="31" name="Text 29"/>
          <p:cNvSpPr/>
          <p:nvPr/>
        </p:nvSpPr>
        <p:spPr>
          <a:xfrm>
            <a:off x="1097280" y="4361688"/>
            <a:ext cx="6766560" cy="32004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Pregunta real · Dataset completo · Reporte en Jupyter · Presentación de resultados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776AB"/>
          </a:solidFill>
          <a:ln w="12700">
            <a:solidFill>
              <a:srgbClr val="3776AB"/>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¿POR QUÉ MODELOS PREDICTIVOS PARA PROFESORES DE CIENCIAS SOCIALES, ECONOMÍA Y ADMINISTRACIÓN?</a:t>
            </a:r>
            <a:endParaRPr lang="en-US" sz="2000" dirty="0"/>
          </a:p>
        </p:txBody>
      </p:sp>
      <p:sp>
        <p:nvSpPr>
          <p:cNvPr id="4" name="Shape 2"/>
          <p:cNvSpPr/>
          <p:nvPr/>
        </p:nvSpPr>
        <p:spPr>
          <a:xfrm>
            <a:off x="274320" y="100584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38912"/>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Ciencias Sociales</a:t>
            </a:r>
            <a:endParaRPr lang="en-US" sz="1300" dirty="0"/>
          </a:p>
        </p:txBody>
      </p:sp>
      <p:sp>
        <p:nvSpPr>
          <p:cNvPr id="7" name="Text 5"/>
          <p:cNvSpPr/>
          <p:nvPr/>
        </p:nvSpPr>
        <p:spPr>
          <a:xfrm>
            <a:off x="411480" y="149961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Identificar factores asociados a pobreza, crimen o participación política</a:t>
            </a:r>
            <a:endParaRPr lang="en-US" sz="1050" dirty="0"/>
          </a:p>
        </p:txBody>
      </p:sp>
      <p:sp>
        <p:nvSpPr>
          <p:cNvPr id="8" name="Text 6"/>
          <p:cNvSpPr/>
          <p:nvPr/>
        </p:nvSpPr>
        <p:spPr>
          <a:xfrm>
            <a:off x="411480" y="191109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Cuantificar el efecto de políticas públicas sobre indicadores sociales</a:t>
            </a:r>
            <a:endParaRPr lang="en-US" sz="1050" dirty="0"/>
          </a:p>
        </p:txBody>
      </p:sp>
      <p:sp>
        <p:nvSpPr>
          <p:cNvPr id="9" name="Text 7"/>
          <p:cNvSpPr/>
          <p:nvPr/>
        </p:nvSpPr>
        <p:spPr>
          <a:xfrm>
            <a:off x="411480" y="2322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Superar el análisis meramente descriptivo de encuestas DANE/ICFES</a:t>
            </a:r>
            <a:endParaRPr lang="en-US" sz="1050" dirty="0"/>
          </a:p>
        </p:txBody>
      </p:sp>
      <p:sp>
        <p:nvSpPr>
          <p:cNvPr id="10" name="Shape 8"/>
          <p:cNvSpPr/>
          <p:nvPr/>
        </p:nvSpPr>
        <p:spPr>
          <a:xfrm>
            <a:off x="4709160" y="100584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1" name="Shape 9"/>
          <p:cNvSpPr/>
          <p:nvPr/>
        </p:nvSpPr>
        <p:spPr>
          <a:xfrm>
            <a:off x="4709160" y="1005840"/>
            <a:ext cx="4114800" cy="438912"/>
          </a:xfrm>
          <a:prstGeom prst="rect">
            <a:avLst/>
          </a:prstGeom>
          <a:solidFill>
            <a:srgbClr val="3776AB"/>
          </a:solidFill>
          <a:ln w="12700">
            <a:solidFill>
              <a:srgbClr val="3776AB"/>
            </a:solidFill>
            <a:prstDash val="solid"/>
          </a:ln>
        </p:spPr>
        <p:txBody>
          <a:bodyPr/>
          <a:lstStyle/>
          <a:p>
            <a:endParaRPr lang="es-CO"/>
          </a:p>
        </p:txBody>
      </p:sp>
      <p:sp>
        <p:nvSpPr>
          <p:cNvPr id="12" name="Text 10"/>
          <p:cNvSpPr/>
          <p:nvPr/>
        </p:nvSpPr>
        <p:spPr>
          <a:xfrm>
            <a:off x="4800600" y="100584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Economía</a:t>
            </a:r>
            <a:endParaRPr lang="en-US" sz="1300" dirty="0"/>
          </a:p>
        </p:txBody>
      </p:sp>
      <p:sp>
        <p:nvSpPr>
          <p:cNvPr id="13" name="Text 11"/>
          <p:cNvSpPr/>
          <p:nvPr/>
        </p:nvSpPr>
        <p:spPr>
          <a:xfrm>
            <a:off x="4846320" y="149961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Estimar funciones de demanda, oferta y producción con datos reales</a:t>
            </a:r>
            <a:endParaRPr lang="en-US" sz="1050" dirty="0"/>
          </a:p>
        </p:txBody>
      </p:sp>
      <p:sp>
        <p:nvSpPr>
          <p:cNvPr id="14" name="Text 12"/>
          <p:cNvSpPr/>
          <p:nvPr/>
        </p:nvSpPr>
        <p:spPr>
          <a:xfrm>
            <a:off x="4846320" y="191109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Analizar determinantes de variables macroeconómicas (inflación, PIB)</a:t>
            </a:r>
            <a:endParaRPr lang="en-US" sz="1050" dirty="0"/>
          </a:p>
        </p:txBody>
      </p:sp>
      <p:sp>
        <p:nvSpPr>
          <p:cNvPr id="15" name="Text 13"/>
          <p:cNvSpPr/>
          <p:nvPr/>
        </p:nvSpPr>
        <p:spPr>
          <a:xfrm>
            <a:off x="4846320" y="2322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Evaluar impacto de variables de política con evidencia cuantitativa</a:t>
            </a:r>
            <a:endParaRPr lang="en-US" sz="1050" dirty="0"/>
          </a:p>
        </p:txBody>
      </p:sp>
      <p:sp>
        <p:nvSpPr>
          <p:cNvPr id="16" name="Shape 14"/>
          <p:cNvSpPr/>
          <p:nvPr/>
        </p:nvSpPr>
        <p:spPr>
          <a:xfrm>
            <a:off x="274320" y="297180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7" name="Shape 15"/>
          <p:cNvSpPr/>
          <p:nvPr/>
        </p:nvSpPr>
        <p:spPr>
          <a:xfrm>
            <a:off x="274320" y="2971800"/>
            <a:ext cx="4114800" cy="438912"/>
          </a:xfrm>
          <a:prstGeom prst="rect">
            <a:avLst/>
          </a:prstGeom>
          <a:solidFill>
            <a:srgbClr val="8E44AD"/>
          </a:solidFill>
          <a:ln w="12700">
            <a:solidFill>
              <a:srgbClr val="8E44AD"/>
            </a:solidFill>
            <a:prstDash val="solid"/>
          </a:ln>
        </p:spPr>
        <p:txBody>
          <a:bodyPr/>
          <a:lstStyle/>
          <a:p>
            <a:endParaRPr lang="es-CO"/>
          </a:p>
        </p:txBody>
      </p:sp>
      <p:sp>
        <p:nvSpPr>
          <p:cNvPr id="18" name="Text 16"/>
          <p:cNvSpPr/>
          <p:nvPr/>
        </p:nvSpPr>
        <p:spPr>
          <a:xfrm>
            <a:off x="365760" y="297180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Administración</a:t>
            </a:r>
            <a:endParaRPr lang="en-US" sz="1300" dirty="0"/>
          </a:p>
        </p:txBody>
      </p:sp>
      <p:sp>
        <p:nvSpPr>
          <p:cNvPr id="19" name="Text 17"/>
          <p:cNvSpPr/>
          <p:nvPr/>
        </p:nvSpPr>
        <p:spPr>
          <a:xfrm>
            <a:off x="411480" y="3465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Predecir ventas, deserción de clientes o rentabilidad de proyectos</a:t>
            </a:r>
            <a:endParaRPr lang="en-US" sz="1050" dirty="0"/>
          </a:p>
        </p:txBody>
      </p:sp>
      <p:sp>
        <p:nvSpPr>
          <p:cNvPr id="20" name="Text 18"/>
          <p:cNvSpPr/>
          <p:nvPr/>
        </p:nvSpPr>
        <p:spPr>
          <a:xfrm>
            <a:off x="411480" y="387705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Tomar decisiones basadas en datos (evidence-based management)</a:t>
            </a:r>
            <a:endParaRPr lang="en-US" sz="1050" dirty="0"/>
          </a:p>
        </p:txBody>
      </p:sp>
      <p:sp>
        <p:nvSpPr>
          <p:cNvPr id="21" name="Text 19"/>
          <p:cNvSpPr/>
          <p:nvPr/>
        </p:nvSpPr>
        <p:spPr>
          <a:xfrm>
            <a:off x="411480" y="428853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Identificar variables críticas en el desempeño organizacional</a:t>
            </a:r>
            <a:endParaRPr lang="en-US" sz="1050" dirty="0"/>
          </a:p>
        </p:txBody>
      </p:sp>
      <p:sp>
        <p:nvSpPr>
          <p:cNvPr id="22" name="Shape 20"/>
          <p:cNvSpPr/>
          <p:nvPr/>
        </p:nvSpPr>
        <p:spPr>
          <a:xfrm>
            <a:off x="4709160" y="2971800"/>
            <a:ext cx="4114800" cy="178308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3" name="Shape 21"/>
          <p:cNvSpPr/>
          <p:nvPr/>
        </p:nvSpPr>
        <p:spPr>
          <a:xfrm>
            <a:off x="4709160" y="2971800"/>
            <a:ext cx="4114800" cy="438912"/>
          </a:xfrm>
          <a:prstGeom prst="rect">
            <a:avLst/>
          </a:prstGeom>
          <a:solidFill>
            <a:srgbClr val="E67E22"/>
          </a:solidFill>
          <a:ln w="12700">
            <a:solidFill>
              <a:srgbClr val="E67E22"/>
            </a:solidFill>
            <a:prstDash val="solid"/>
          </a:ln>
        </p:spPr>
        <p:txBody>
          <a:bodyPr/>
          <a:lstStyle/>
          <a:p>
            <a:endParaRPr lang="es-CO"/>
          </a:p>
        </p:txBody>
      </p:sp>
      <p:sp>
        <p:nvSpPr>
          <p:cNvPr id="24" name="Text 22"/>
          <p:cNvSpPr/>
          <p:nvPr/>
        </p:nvSpPr>
        <p:spPr>
          <a:xfrm>
            <a:off x="4800600" y="2971800"/>
            <a:ext cx="3931920" cy="43891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Con Python — Ventaja adicional</a:t>
            </a:r>
            <a:endParaRPr lang="en-US" sz="1300" dirty="0"/>
          </a:p>
        </p:txBody>
      </p:sp>
      <p:sp>
        <p:nvSpPr>
          <p:cNvPr id="25" name="Text 23"/>
          <p:cNvSpPr/>
          <p:nvPr/>
        </p:nvSpPr>
        <p:spPr>
          <a:xfrm>
            <a:off x="4846320" y="346557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Reproducibilidad: compartir notebooks con colegas y estudiantes</a:t>
            </a:r>
            <a:endParaRPr lang="en-US" sz="1050" dirty="0"/>
          </a:p>
        </p:txBody>
      </p:sp>
      <p:sp>
        <p:nvSpPr>
          <p:cNvPr id="26" name="Text 24"/>
          <p:cNvSpPr/>
          <p:nvPr/>
        </p:nvSpPr>
        <p:spPr>
          <a:xfrm>
            <a:off x="4846320" y="387705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Datos abiertos: DANE, Banco Mundial, Kaggle — análisis en tiempo real</a:t>
            </a:r>
            <a:endParaRPr lang="en-US" sz="1050" dirty="0"/>
          </a:p>
        </p:txBody>
      </p:sp>
      <p:sp>
        <p:nvSpPr>
          <p:cNvPr id="27" name="Text 25"/>
          <p:cNvSpPr/>
          <p:nvPr/>
        </p:nvSpPr>
        <p:spPr>
          <a:xfrm>
            <a:off x="4846320" y="4288536"/>
            <a:ext cx="3886200" cy="38404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Puente hacia ML avanzado: misma herramienta, mayor profundidad gradual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3776AB"/>
          </a:solidFill>
          <a:ln w="12700">
            <a:solidFill>
              <a:srgbClr val="3776AB"/>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¿POR QUÉ PYTHON PARA MODELOS PREDICTIVOS?</a:t>
            </a:r>
            <a:endParaRPr lang="en-US" sz="2000" dirty="0"/>
          </a:p>
        </p:txBody>
      </p:sp>
      <p:sp>
        <p:nvSpPr>
          <p:cNvPr id="4" name="Shape 2"/>
          <p:cNvSpPr/>
          <p:nvPr/>
        </p:nvSpPr>
        <p:spPr>
          <a:xfrm>
            <a:off x="27432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11480"/>
          </a:xfrm>
          <a:prstGeom prst="rect">
            <a:avLst/>
          </a:prstGeom>
          <a:solidFill>
            <a:srgbClr val="3776AB"/>
          </a:solidFill>
          <a:ln w="12700">
            <a:solidFill>
              <a:srgbClr val="3776AB"/>
            </a:solidFill>
            <a:prstDash val="solid"/>
          </a:ln>
        </p:spPr>
        <p:txBody>
          <a:bodyPr/>
          <a:lstStyle/>
          <a:p>
            <a:endParaRPr lang="es-CO"/>
          </a:p>
        </p:txBody>
      </p:sp>
      <p:sp>
        <p:nvSpPr>
          <p:cNvPr id="6" name="Text 4"/>
          <p:cNvSpPr/>
          <p:nvPr/>
        </p:nvSpPr>
        <p:spPr>
          <a:xfrm>
            <a:off x="365760" y="100584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pandas</a:t>
            </a:r>
            <a:endParaRPr lang="en-US" sz="1400" dirty="0"/>
          </a:p>
        </p:txBody>
      </p:sp>
      <p:sp>
        <p:nvSpPr>
          <p:cNvPr id="7" name="Text 5"/>
          <p:cNvSpPr/>
          <p:nvPr/>
        </p:nvSpPr>
        <p:spPr>
          <a:xfrm>
            <a:off x="365760" y="148132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Manipulación y limpieza de datos. DataFrames similares a hojas de cálculo.</a:t>
            </a:r>
            <a:endParaRPr lang="en-US" sz="1050" dirty="0"/>
          </a:p>
        </p:txBody>
      </p:sp>
      <p:sp>
        <p:nvSpPr>
          <p:cNvPr id="8" name="Shape 6"/>
          <p:cNvSpPr/>
          <p:nvPr/>
        </p:nvSpPr>
        <p:spPr>
          <a:xfrm>
            <a:off x="365760" y="1993392"/>
            <a:ext cx="3931920" cy="749808"/>
          </a:xfrm>
          <a:prstGeom prst="rect">
            <a:avLst/>
          </a:prstGeom>
          <a:solidFill>
            <a:srgbClr val="1E1E2E"/>
          </a:solidFill>
          <a:ln w="12700">
            <a:solidFill>
              <a:srgbClr val="1E1E2E"/>
            </a:solidFill>
            <a:prstDash val="solid"/>
          </a:ln>
        </p:spPr>
        <p:txBody>
          <a:bodyPr/>
          <a:lstStyle/>
          <a:p>
            <a:endParaRPr lang="es-CO"/>
          </a:p>
        </p:txBody>
      </p:sp>
      <p:sp>
        <p:nvSpPr>
          <p:cNvPr id="9" name="Text 7"/>
          <p:cNvSpPr/>
          <p:nvPr/>
        </p:nvSpPr>
        <p:spPr>
          <a:xfrm>
            <a:off x="457200" y="201168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import pandas as pd</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df = pd.read_csv('datos.csv')</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df.describe()</a:t>
            </a:r>
            <a:endParaRPr lang="en-US" sz="850" dirty="0"/>
          </a:p>
        </p:txBody>
      </p:sp>
      <p:sp>
        <p:nvSpPr>
          <p:cNvPr id="10" name="Shape 8"/>
          <p:cNvSpPr/>
          <p:nvPr/>
        </p:nvSpPr>
        <p:spPr>
          <a:xfrm>
            <a:off x="470916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1" name="Shape 9"/>
          <p:cNvSpPr/>
          <p:nvPr/>
        </p:nvSpPr>
        <p:spPr>
          <a:xfrm>
            <a:off x="470916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12" name="Text 10"/>
          <p:cNvSpPr/>
          <p:nvPr/>
        </p:nvSpPr>
        <p:spPr>
          <a:xfrm>
            <a:off x="4800600" y="100584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statsmodels</a:t>
            </a:r>
            <a:endParaRPr lang="en-US" sz="1400" dirty="0"/>
          </a:p>
        </p:txBody>
      </p:sp>
      <p:sp>
        <p:nvSpPr>
          <p:cNvPr id="13" name="Text 11"/>
          <p:cNvSpPr/>
          <p:nvPr/>
        </p:nvSpPr>
        <p:spPr>
          <a:xfrm>
            <a:off x="4800600" y="148132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Regresión con salida estadística completa: p-valores, IC, R², pruebas.</a:t>
            </a:r>
            <a:endParaRPr lang="en-US" sz="1050" dirty="0"/>
          </a:p>
        </p:txBody>
      </p:sp>
      <p:sp>
        <p:nvSpPr>
          <p:cNvPr id="14" name="Shape 12"/>
          <p:cNvSpPr/>
          <p:nvPr/>
        </p:nvSpPr>
        <p:spPr>
          <a:xfrm>
            <a:off x="4800600" y="1993392"/>
            <a:ext cx="3931920" cy="749808"/>
          </a:xfrm>
          <a:prstGeom prst="rect">
            <a:avLst/>
          </a:prstGeom>
          <a:solidFill>
            <a:srgbClr val="1E1E2E"/>
          </a:solidFill>
          <a:ln w="12700">
            <a:solidFill>
              <a:srgbClr val="1E1E2E"/>
            </a:solidFill>
            <a:prstDash val="solid"/>
          </a:ln>
        </p:spPr>
        <p:txBody>
          <a:bodyPr/>
          <a:lstStyle/>
          <a:p>
            <a:endParaRPr lang="es-CO"/>
          </a:p>
        </p:txBody>
      </p:sp>
      <p:sp>
        <p:nvSpPr>
          <p:cNvPr id="15" name="Text 13"/>
          <p:cNvSpPr/>
          <p:nvPr/>
        </p:nvSpPr>
        <p:spPr>
          <a:xfrm>
            <a:off x="4892040" y="201168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import statsmodels.api as sm</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model = sm.OLS(y, X).fit()</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print(model.summary())</a:t>
            </a:r>
            <a:endParaRPr lang="en-US" sz="850" dirty="0"/>
          </a:p>
        </p:txBody>
      </p:sp>
      <p:sp>
        <p:nvSpPr>
          <p:cNvPr id="16" name="Shape 14"/>
          <p:cNvSpPr/>
          <p:nvPr/>
        </p:nvSpPr>
        <p:spPr>
          <a:xfrm>
            <a:off x="27432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7" name="Shape 15"/>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18" name="Text 16"/>
          <p:cNvSpPr/>
          <p:nvPr/>
        </p:nvSpPr>
        <p:spPr>
          <a:xfrm>
            <a:off x="365760" y="301752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scikit-learn</a:t>
            </a:r>
            <a:endParaRPr lang="en-US" sz="1400" dirty="0"/>
          </a:p>
        </p:txBody>
      </p:sp>
      <p:sp>
        <p:nvSpPr>
          <p:cNvPr id="19" name="Text 17"/>
          <p:cNvSpPr/>
          <p:nvPr/>
        </p:nvSpPr>
        <p:spPr>
          <a:xfrm>
            <a:off x="365760" y="349300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Machine Learning: pipelines, validación cruzada, métricas predictivas.</a:t>
            </a:r>
            <a:endParaRPr lang="en-US" sz="1050" dirty="0"/>
          </a:p>
        </p:txBody>
      </p:sp>
      <p:sp>
        <p:nvSpPr>
          <p:cNvPr id="20" name="Shape 18"/>
          <p:cNvSpPr/>
          <p:nvPr/>
        </p:nvSpPr>
        <p:spPr>
          <a:xfrm>
            <a:off x="365760" y="4005072"/>
            <a:ext cx="3931920" cy="749808"/>
          </a:xfrm>
          <a:prstGeom prst="rect">
            <a:avLst/>
          </a:prstGeom>
          <a:solidFill>
            <a:srgbClr val="1E1E2E"/>
          </a:solidFill>
          <a:ln w="12700">
            <a:solidFill>
              <a:srgbClr val="1E1E2E"/>
            </a:solidFill>
            <a:prstDash val="solid"/>
          </a:ln>
        </p:spPr>
        <p:txBody>
          <a:bodyPr/>
          <a:lstStyle/>
          <a:p>
            <a:endParaRPr lang="es-CO"/>
          </a:p>
        </p:txBody>
      </p:sp>
      <p:sp>
        <p:nvSpPr>
          <p:cNvPr id="21" name="Text 19"/>
          <p:cNvSpPr/>
          <p:nvPr/>
        </p:nvSpPr>
        <p:spPr>
          <a:xfrm>
            <a:off x="457200" y="402336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from sklearn.linear_model import LinearRegression</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lr = LinearRegression().fit(X, y)</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print(lr.coef_)</a:t>
            </a:r>
            <a:endParaRPr lang="en-US" sz="850" dirty="0"/>
          </a:p>
        </p:txBody>
      </p:sp>
      <p:sp>
        <p:nvSpPr>
          <p:cNvPr id="22" name="Shape 20"/>
          <p:cNvSpPr/>
          <p:nvPr/>
        </p:nvSpPr>
        <p:spPr>
          <a:xfrm>
            <a:off x="470916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3" name="Shape 21"/>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24" name="Text 22"/>
          <p:cNvSpPr/>
          <p:nvPr/>
        </p:nvSpPr>
        <p:spPr>
          <a:xfrm>
            <a:off x="4800600" y="3017520"/>
            <a:ext cx="3931920" cy="411480"/>
          </a:xfrm>
          <a:prstGeom prst="rect">
            <a:avLst/>
          </a:prstGeom>
          <a:noFill/>
          <a:ln/>
        </p:spPr>
        <p:txBody>
          <a:bodyPr wrap="square" rtlCol="0" anchor="ctr"/>
          <a:lstStyle/>
          <a:p>
            <a:pPr marL="0" indent="0">
              <a:buNone/>
            </a:pPr>
            <a:r>
              <a:rPr lang="en-US" sz="1400" b="1" dirty="0">
                <a:solidFill>
                  <a:srgbClr val="FFFFFF"/>
                </a:solidFill>
                <a:latin typeface="Consolas" pitchFamily="34" charset="0"/>
                <a:ea typeface="Consolas" pitchFamily="34" charset="-122"/>
                <a:cs typeface="Consolas" pitchFamily="34" charset="-120"/>
              </a:rPr>
              <a:t>matplotlib / seaborn</a:t>
            </a:r>
            <a:endParaRPr lang="en-US" sz="1400" dirty="0"/>
          </a:p>
        </p:txBody>
      </p:sp>
      <p:sp>
        <p:nvSpPr>
          <p:cNvPr id="25" name="Text 23"/>
          <p:cNvSpPr/>
          <p:nvPr/>
        </p:nvSpPr>
        <p:spPr>
          <a:xfrm>
            <a:off x="4800600" y="3493008"/>
            <a:ext cx="3931920" cy="47548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Visualización profesional: diagramas de dispersión, residuos, correlaciones.</a:t>
            </a:r>
            <a:endParaRPr lang="en-US" sz="1050" dirty="0"/>
          </a:p>
        </p:txBody>
      </p:sp>
      <p:sp>
        <p:nvSpPr>
          <p:cNvPr id="26" name="Shape 24"/>
          <p:cNvSpPr/>
          <p:nvPr/>
        </p:nvSpPr>
        <p:spPr>
          <a:xfrm>
            <a:off x="4800600" y="4005072"/>
            <a:ext cx="3931920" cy="749808"/>
          </a:xfrm>
          <a:prstGeom prst="rect">
            <a:avLst/>
          </a:prstGeom>
          <a:solidFill>
            <a:srgbClr val="1E1E2E"/>
          </a:solidFill>
          <a:ln w="12700">
            <a:solidFill>
              <a:srgbClr val="1E1E2E"/>
            </a:solidFill>
            <a:prstDash val="solid"/>
          </a:ln>
        </p:spPr>
        <p:txBody>
          <a:bodyPr/>
          <a:lstStyle/>
          <a:p>
            <a:endParaRPr lang="es-CO"/>
          </a:p>
        </p:txBody>
      </p:sp>
      <p:sp>
        <p:nvSpPr>
          <p:cNvPr id="27" name="Text 25"/>
          <p:cNvSpPr/>
          <p:nvPr/>
        </p:nvSpPr>
        <p:spPr>
          <a:xfrm>
            <a:off x="4892040" y="4023360"/>
            <a:ext cx="3749040" cy="713232"/>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import seaborn as sns</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sns.heatmap(df.corr(), annot=True)</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sns.regplot(x='X', y='Y', data=df)</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METODOLOGÍA CRISP-DM — Cross-Industry Standard Process for Data Mining</a:t>
            </a:r>
            <a:endParaRPr lang="en-US" sz="2000" dirty="0"/>
          </a:p>
        </p:txBody>
      </p:sp>
      <p:sp>
        <p:nvSpPr>
          <p:cNvPr id="4" name="Text 2"/>
          <p:cNvSpPr/>
          <p:nvPr/>
        </p:nvSpPr>
        <p:spPr>
          <a:xfrm>
            <a:off x="365760" y="1005840"/>
            <a:ext cx="8412480" cy="347472"/>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Marco de referencia estándar para proyectos de analítica de datos y modelos predictivos</a:t>
            </a:r>
            <a:endParaRPr lang="en-US" sz="1200" dirty="0"/>
          </a:p>
        </p:txBody>
      </p:sp>
      <p:sp>
        <p:nvSpPr>
          <p:cNvPr id="5" name="Shape 3"/>
          <p:cNvSpPr/>
          <p:nvPr/>
        </p:nvSpPr>
        <p:spPr>
          <a:xfrm>
            <a:off x="3442764" y="1499924"/>
            <a:ext cx="1846764" cy="1088136"/>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6" name="Shape 4"/>
          <p:cNvSpPr/>
          <p:nvPr/>
        </p:nvSpPr>
        <p:spPr>
          <a:xfrm>
            <a:off x="3442764" y="1499924"/>
            <a:ext cx="1846764" cy="438912"/>
          </a:xfrm>
          <a:prstGeom prst="rect">
            <a:avLst/>
          </a:prstGeom>
          <a:solidFill>
            <a:srgbClr val="0D7377"/>
          </a:solidFill>
          <a:ln w="12700">
            <a:solidFill>
              <a:srgbClr val="0D7377"/>
            </a:solidFill>
            <a:prstDash val="solid"/>
          </a:ln>
        </p:spPr>
        <p:txBody>
          <a:bodyPr/>
          <a:lstStyle/>
          <a:p>
            <a:endParaRPr lang="es-CO"/>
          </a:p>
        </p:txBody>
      </p:sp>
      <p:sp>
        <p:nvSpPr>
          <p:cNvPr id="7" name="Text 5"/>
          <p:cNvSpPr/>
          <p:nvPr/>
        </p:nvSpPr>
        <p:spPr>
          <a:xfrm>
            <a:off x="3534205" y="1499924"/>
            <a:ext cx="1755324"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1.  Comprensión del Negocio</a:t>
            </a:r>
            <a:endParaRPr lang="en-US" sz="1150" dirty="0"/>
          </a:p>
        </p:txBody>
      </p:sp>
      <p:sp>
        <p:nvSpPr>
          <p:cNvPr id="8" name="Text 6"/>
          <p:cNvSpPr/>
          <p:nvPr/>
        </p:nvSpPr>
        <p:spPr>
          <a:xfrm>
            <a:off x="3534205" y="1993700"/>
            <a:ext cx="1755324" cy="59436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Definir el objetivo, preguntas de investigación y criterios de éxito</a:t>
            </a:r>
            <a:endParaRPr lang="en-US" sz="1000" dirty="0"/>
          </a:p>
        </p:txBody>
      </p:sp>
      <p:sp>
        <p:nvSpPr>
          <p:cNvPr id="11" name="Shape 9"/>
          <p:cNvSpPr/>
          <p:nvPr/>
        </p:nvSpPr>
        <p:spPr>
          <a:xfrm>
            <a:off x="5380968" y="1509376"/>
            <a:ext cx="1827508" cy="1088136"/>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2" name="Shape 10"/>
          <p:cNvSpPr/>
          <p:nvPr/>
        </p:nvSpPr>
        <p:spPr>
          <a:xfrm>
            <a:off x="5380968" y="1509376"/>
            <a:ext cx="1827508" cy="338380"/>
          </a:xfrm>
          <a:prstGeom prst="rect">
            <a:avLst/>
          </a:prstGeom>
          <a:solidFill>
            <a:srgbClr val="3776AB"/>
          </a:solidFill>
          <a:ln w="12700">
            <a:solidFill>
              <a:srgbClr val="3776AB"/>
            </a:solidFill>
            <a:prstDash val="solid"/>
          </a:ln>
        </p:spPr>
        <p:txBody>
          <a:bodyPr/>
          <a:lstStyle/>
          <a:p>
            <a:endParaRPr lang="es-CO"/>
          </a:p>
        </p:txBody>
      </p:sp>
      <p:sp>
        <p:nvSpPr>
          <p:cNvPr id="13" name="Text 11"/>
          <p:cNvSpPr/>
          <p:nvPr/>
        </p:nvSpPr>
        <p:spPr>
          <a:xfrm>
            <a:off x="5472408" y="1509376"/>
            <a:ext cx="1557927" cy="33838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2.  Comprensión de los Datos</a:t>
            </a:r>
            <a:endParaRPr lang="en-US" sz="1150" dirty="0"/>
          </a:p>
        </p:txBody>
      </p:sp>
      <p:sp>
        <p:nvSpPr>
          <p:cNvPr id="14" name="Text 12"/>
          <p:cNvSpPr/>
          <p:nvPr/>
        </p:nvSpPr>
        <p:spPr>
          <a:xfrm>
            <a:off x="5472408" y="2003152"/>
            <a:ext cx="1701712" cy="458223"/>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Recolección, exploración inicial, calidad y descripción de variables</a:t>
            </a:r>
            <a:endParaRPr lang="en-US" sz="1000" dirty="0"/>
          </a:p>
        </p:txBody>
      </p:sp>
      <p:sp>
        <p:nvSpPr>
          <p:cNvPr id="17" name="Shape 15"/>
          <p:cNvSpPr/>
          <p:nvPr/>
        </p:nvSpPr>
        <p:spPr>
          <a:xfrm>
            <a:off x="7299934" y="1495446"/>
            <a:ext cx="1827509" cy="1111591"/>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8" name="Shape 16"/>
          <p:cNvSpPr/>
          <p:nvPr/>
        </p:nvSpPr>
        <p:spPr>
          <a:xfrm>
            <a:off x="7299934" y="1495446"/>
            <a:ext cx="1827510" cy="334403"/>
          </a:xfrm>
          <a:prstGeom prst="rect">
            <a:avLst/>
          </a:prstGeom>
          <a:solidFill>
            <a:srgbClr val="8E44AD"/>
          </a:solidFill>
          <a:ln w="12700">
            <a:solidFill>
              <a:srgbClr val="8E44AD"/>
            </a:solidFill>
            <a:prstDash val="solid"/>
          </a:ln>
        </p:spPr>
        <p:txBody>
          <a:bodyPr/>
          <a:lstStyle/>
          <a:p>
            <a:endParaRPr lang="es-CO"/>
          </a:p>
        </p:txBody>
      </p:sp>
      <p:sp>
        <p:nvSpPr>
          <p:cNvPr id="19" name="Text 17"/>
          <p:cNvSpPr/>
          <p:nvPr/>
        </p:nvSpPr>
        <p:spPr>
          <a:xfrm>
            <a:off x="7260840" y="1495446"/>
            <a:ext cx="1827508" cy="334403"/>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3.  Preparación de Datos</a:t>
            </a:r>
            <a:endParaRPr lang="en-US" sz="1150" dirty="0"/>
          </a:p>
        </p:txBody>
      </p:sp>
      <p:sp>
        <p:nvSpPr>
          <p:cNvPr id="20" name="Text 18"/>
          <p:cNvSpPr/>
          <p:nvPr/>
        </p:nvSpPr>
        <p:spPr>
          <a:xfrm>
            <a:off x="7260840" y="1989222"/>
            <a:ext cx="1827508" cy="45283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Limpieza, transformación, tratamiento de outliers y valores faltantes</a:t>
            </a:r>
            <a:endParaRPr lang="en-US" sz="1000" dirty="0"/>
          </a:p>
        </p:txBody>
      </p:sp>
      <p:sp>
        <p:nvSpPr>
          <p:cNvPr id="23" name="Shape 21"/>
          <p:cNvSpPr/>
          <p:nvPr/>
        </p:nvSpPr>
        <p:spPr>
          <a:xfrm>
            <a:off x="3442764" y="3004576"/>
            <a:ext cx="1880705" cy="1134117"/>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4" name="Shape 22"/>
          <p:cNvSpPr/>
          <p:nvPr/>
        </p:nvSpPr>
        <p:spPr>
          <a:xfrm>
            <a:off x="3442764" y="3004576"/>
            <a:ext cx="1880705" cy="400178"/>
          </a:xfrm>
          <a:prstGeom prst="rect">
            <a:avLst/>
          </a:prstGeom>
          <a:solidFill>
            <a:srgbClr val="E67E22"/>
          </a:solidFill>
          <a:ln w="12700">
            <a:solidFill>
              <a:srgbClr val="E67E22"/>
            </a:solidFill>
            <a:prstDash val="solid"/>
          </a:ln>
        </p:spPr>
        <p:txBody>
          <a:bodyPr/>
          <a:lstStyle/>
          <a:p>
            <a:endParaRPr lang="es-CO"/>
          </a:p>
        </p:txBody>
      </p:sp>
      <p:sp>
        <p:nvSpPr>
          <p:cNvPr id="25" name="Text 23"/>
          <p:cNvSpPr/>
          <p:nvPr/>
        </p:nvSpPr>
        <p:spPr>
          <a:xfrm>
            <a:off x="3534205" y="3004576"/>
            <a:ext cx="1755324" cy="40017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4.  Modelado</a:t>
            </a:r>
            <a:endParaRPr lang="en-US" sz="1150" dirty="0"/>
          </a:p>
        </p:txBody>
      </p:sp>
      <p:sp>
        <p:nvSpPr>
          <p:cNvPr id="26" name="Text 24"/>
          <p:cNvSpPr/>
          <p:nvPr/>
        </p:nvSpPr>
        <p:spPr>
          <a:xfrm>
            <a:off x="3534205" y="3498352"/>
            <a:ext cx="1755324" cy="5419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Selección de técnica, entrenamiento y ajuste del modelo predictivo</a:t>
            </a:r>
            <a:endParaRPr lang="en-US" sz="1000" dirty="0"/>
          </a:p>
        </p:txBody>
      </p:sp>
      <p:sp>
        <p:nvSpPr>
          <p:cNvPr id="29" name="Shape 27"/>
          <p:cNvSpPr/>
          <p:nvPr/>
        </p:nvSpPr>
        <p:spPr>
          <a:xfrm>
            <a:off x="5380969" y="2993763"/>
            <a:ext cx="1827508" cy="114493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30" name="Shape 28"/>
          <p:cNvSpPr/>
          <p:nvPr/>
        </p:nvSpPr>
        <p:spPr>
          <a:xfrm>
            <a:off x="5380969" y="2993763"/>
            <a:ext cx="1827508" cy="400178"/>
          </a:xfrm>
          <a:prstGeom prst="rect">
            <a:avLst/>
          </a:prstGeom>
          <a:solidFill>
            <a:srgbClr val="C0392B"/>
          </a:solidFill>
          <a:ln w="12700">
            <a:solidFill>
              <a:srgbClr val="C0392B"/>
            </a:solidFill>
            <a:prstDash val="solid"/>
          </a:ln>
        </p:spPr>
        <p:txBody>
          <a:bodyPr/>
          <a:lstStyle/>
          <a:p>
            <a:endParaRPr lang="es-CO"/>
          </a:p>
        </p:txBody>
      </p:sp>
      <p:sp>
        <p:nvSpPr>
          <p:cNvPr id="31" name="Text 29"/>
          <p:cNvSpPr/>
          <p:nvPr/>
        </p:nvSpPr>
        <p:spPr>
          <a:xfrm>
            <a:off x="5472409" y="2993763"/>
            <a:ext cx="1450898" cy="40017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5.  Evaluación</a:t>
            </a:r>
            <a:endParaRPr lang="en-US" sz="1150" dirty="0"/>
          </a:p>
        </p:txBody>
      </p:sp>
      <p:sp>
        <p:nvSpPr>
          <p:cNvPr id="32" name="Text 30"/>
          <p:cNvSpPr/>
          <p:nvPr/>
        </p:nvSpPr>
        <p:spPr>
          <a:xfrm>
            <a:off x="5472409" y="3487539"/>
            <a:ext cx="1736068" cy="5419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Validar resultados contra objetivos, verificar supuestos, R², RMSE</a:t>
            </a:r>
            <a:endParaRPr lang="en-US" sz="1000" dirty="0"/>
          </a:p>
        </p:txBody>
      </p:sp>
      <p:sp>
        <p:nvSpPr>
          <p:cNvPr id="35" name="Shape 33"/>
          <p:cNvSpPr/>
          <p:nvPr/>
        </p:nvSpPr>
        <p:spPr>
          <a:xfrm>
            <a:off x="7260841" y="2986669"/>
            <a:ext cx="1827508" cy="1152024"/>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36" name="Shape 34"/>
          <p:cNvSpPr/>
          <p:nvPr/>
        </p:nvSpPr>
        <p:spPr>
          <a:xfrm>
            <a:off x="7260841" y="2986669"/>
            <a:ext cx="1827508" cy="400178"/>
          </a:xfrm>
          <a:prstGeom prst="rect">
            <a:avLst/>
          </a:prstGeom>
          <a:solidFill>
            <a:srgbClr val="27AE60"/>
          </a:solidFill>
          <a:ln w="12700">
            <a:solidFill>
              <a:srgbClr val="27AE60"/>
            </a:solidFill>
            <a:prstDash val="solid"/>
          </a:ln>
        </p:spPr>
        <p:txBody>
          <a:bodyPr/>
          <a:lstStyle/>
          <a:p>
            <a:endParaRPr lang="es-CO"/>
          </a:p>
        </p:txBody>
      </p:sp>
      <p:sp>
        <p:nvSpPr>
          <p:cNvPr id="37" name="Text 35"/>
          <p:cNvSpPr/>
          <p:nvPr/>
        </p:nvSpPr>
        <p:spPr>
          <a:xfrm>
            <a:off x="7352281" y="2986669"/>
            <a:ext cx="1450898" cy="40017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6.  Despliegue</a:t>
            </a:r>
            <a:endParaRPr lang="en-US" sz="1150" dirty="0"/>
          </a:p>
        </p:txBody>
      </p:sp>
      <p:sp>
        <p:nvSpPr>
          <p:cNvPr id="38" name="Text 36"/>
          <p:cNvSpPr/>
          <p:nvPr/>
        </p:nvSpPr>
        <p:spPr>
          <a:xfrm>
            <a:off x="7352281" y="3480445"/>
            <a:ext cx="1639320" cy="54190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Comunicar hallazgos, reportes, recomendaciones de política o negocio</a:t>
            </a:r>
            <a:endParaRPr lang="en-US" sz="1000" dirty="0"/>
          </a:p>
        </p:txBody>
      </p:sp>
      <p:sp>
        <p:nvSpPr>
          <p:cNvPr id="41" name="Shape 39"/>
          <p:cNvSpPr/>
          <p:nvPr/>
        </p:nvSpPr>
        <p:spPr>
          <a:xfrm>
            <a:off x="274320" y="4828032"/>
            <a:ext cx="8595360" cy="256032"/>
          </a:xfrm>
          <a:prstGeom prst="rect">
            <a:avLst/>
          </a:prstGeom>
          <a:solidFill>
            <a:srgbClr val="1A3A5C"/>
          </a:solidFill>
          <a:ln w="12700">
            <a:solidFill>
              <a:srgbClr val="1A3A5C"/>
            </a:solidFill>
            <a:prstDash val="solid"/>
          </a:ln>
        </p:spPr>
        <p:txBody>
          <a:bodyPr/>
          <a:lstStyle/>
          <a:p>
            <a:endParaRPr lang="es-CO"/>
          </a:p>
        </p:txBody>
      </p:sp>
      <p:sp>
        <p:nvSpPr>
          <p:cNvPr id="42" name="Text 40"/>
          <p:cNvSpPr/>
          <p:nvPr/>
        </p:nvSpPr>
        <p:spPr>
          <a:xfrm>
            <a:off x="274320" y="4828032"/>
            <a:ext cx="8595360" cy="256032"/>
          </a:xfrm>
          <a:prstGeom prst="rect">
            <a:avLst/>
          </a:prstGeom>
          <a:noFill/>
          <a:ln/>
        </p:spPr>
        <p:txBody>
          <a:bodyPr wrap="square" rtlCol="0" anchor="ctr"/>
          <a:lstStyle/>
          <a:p>
            <a:pPr marL="0" indent="0" algn="ctr">
              <a:buNone/>
            </a:pPr>
            <a:r>
              <a:rPr lang="en-US" sz="1000" dirty="0">
                <a:solidFill>
                  <a:srgbClr val="E8A838"/>
                </a:solidFill>
                <a:latin typeface="Calibri" pitchFamily="34" charset="0"/>
                <a:ea typeface="Calibri" pitchFamily="34" charset="-122"/>
                <a:cs typeface="Calibri" pitchFamily="34" charset="-120"/>
              </a:rPr>
              <a:t>⟳  El proceso es iterativo — los hallazgos en evaluación pueden llevar a redefinir el negocio o preparar nuevamente los datos</a:t>
            </a:r>
            <a:endParaRPr lang="en-US" sz="1000" dirty="0"/>
          </a:p>
        </p:txBody>
      </p:sp>
      <p:pic>
        <p:nvPicPr>
          <p:cNvPr id="49" name="Imagen 48">
            <a:extLst>
              <a:ext uri="{FF2B5EF4-FFF2-40B4-BE49-F238E27FC236}">
                <a16:creationId xmlns:a16="http://schemas.microsoft.com/office/drawing/2014/main" id="{6D5B761A-8C5A-2204-06F5-526ECFD40464}"/>
              </a:ext>
            </a:extLst>
          </p:cNvPr>
          <p:cNvPicPr>
            <a:picLocks noChangeAspect="1"/>
          </p:cNvPicPr>
          <p:nvPr/>
        </p:nvPicPr>
        <p:blipFill>
          <a:blip r:embed="rId3"/>
          <a:stretch>
            <a:fillRect/>
          </a:stretch>
        </p:blipFill>
        <p:spPr>
          <a:xfrm>
            <a:off x="274320" y="1444752"/>
            <a:ext cx="3077004" cy="30674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ESTADÍSTICA DESCRIPTIVA E INFERENCIAL — Definiciones Clave</a:t>
            </a:r>
            <a:endParaRPr lang="en-US" sz="2000" dirty="0"/>
          </a:p>
        </p:txBody>
      </p:sp>
      <p:sp>
        <p:nvSpPr>
          <p:cNvPr id="4" name="Shape 2"/>
          <p:cNvSpPr/>
          <p:nvPr/>
        </p:nvSpPr>
        <p:spPr>
          <a:xfrm>
            <a:off x="27432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50292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Estadística DESCRIPTIVA</a:t>
            </a:r>
            <a:endParaRPr lang="en-US" sz="1300" dirty="0"/>
          </a:p>
        </p:txBody>
      </p:sp>
      <p:sp>
        <p:nvSpPr>
          <p:cNvPr id="7" name="Text 5"/>
          <p:cNvSpPr/>
          <p:nvPr/>
        </p:nvSpPr>
        <p:spPr>
          <a:xfrm>
            <a:off x="411480" y="1600200"/>
            <a:ext cx="384048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Definición:</a:t>
            </a:r>
            <a:endParaRPr lang="en-US" sz="1100" dirty="0"/>
          </a:p>
        </p:txBody>
      </p:sp>
      <p:sp>
        <p:nvSpPr>
          <p:cNvPr id="8" name="Text 6"/>
          <p:cNvSpPr/>
          <p:nvPr/>
        </p:nvSpPr>
        <p:spPr>
          <a:xfrm>
            <a:off x="411480" y="1883664"/>
            <a:ext cx="3840480" cy="914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Rama que resume, organiza y describe las características de un conjunto de datos observado. No generaliza más allá de los datos disponibles.</a:t>
            </a:r>
            <a:endParaRPr lang="en-US" sz="1100" dirty="0"/>
          </a:p>
        </p:txBody>
      </p:sp>
      <p:sp>
        <p:nvSpPr>
          <p:cNvPr id="9" name="Text 7"/>
          <p:cNvSpPr/>
          <p:nvPr/>
        </p:nvSpPr>
        <p:spPr>
          <a:xfrm>
            <a:off x="411480" y="2852928"/>
            <a:ext cx="3840480" cy="274320"/>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Ejemplos:</a:t>
            </a:r>
            <a:endParaRPr lang="en-US" sz="1100" dirty="0"/>
          </a:p>
        </p:txBody>
      </p:sp>
      <p:sp>
        <p:nvSpPr>
          <p:cNvPr id="10" name="Text 8"/>
          <p:cNvSpPr/>
          <p:nvPr/>
        </p:nvSpPr>
        <p:spPr>
          <a:xfrm>
            <a:off x="457200" y="315468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Media, mediana, moda de salarios</a:t>
            </a:r>
            <a:endParaRPr lang="en-US" sz="1050" dirty="0"/>
          </a:p>
        </p:txBody>
      </p:sp>
      <p:sp>
        <p:nvSpPr>
          <p:cNvPr id="11" name="Text 9"/>
          <p:cNvSpPr/>
          <p:nvPr/>
        </p:nvSpPr>
        <p:spPr>
          <a:xfrm>
            <a:off x="457200" y="347472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Histograma de edades de una empresa</a:t>
            </a:r>
            <a:endParaRPr lang="en-US" sz="1050" dirty="0"/>
          </a:p>
        </p:txBody>
      </p:sp>
      <p:sp>
        <p:nvSpPr>
          <p:cNvPr id="12" name="Text 10"/>
          <p:cNvSpPr/>
          <p:nvPr/>
        </p:nvSpPr>
        <p:spPr>
          <a:xfrm>
            <a:off x="457200" y="379476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Tabla de frecuencias de sectores económicos</a:t>
            </a:r>
            <a:endParaRPr lang="en-US" sz="1050" dirty="0"/>
          </a:p>
        </p:txBody>
      </p:sp>
      <p:sp>
        <p:nvSpPr>
          <p:cNvPr id="13" name="Shape 11"/>
          <p:cNvSpPr/>
          <p:nvPr/>
        </p:nvSpPr>
        <p:spPr>
          <a:xfrm>
            <a:off x="470916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4" name="Shape 12"/>
          <p:cNvSpPr/>
          <p:nvPr/>
        </p:nvSpPr>
        <p:spPr>
          <a:xfrm>
            <a:off x="4709160" y="1005840"/>
            <a:ext cx="4114800" cy="502920"/>
          </a:xfrm>
          <a:prstGeom prst="rect">
            <a:avLst/>
          </a:prstGeom>
          <a:solidFill>
            <a:srgbClr val="3776AB"/>
          </a:solidFill>
          <a:ln w="12700">
            <a:solidFill>
              <a:srgbClr val="3776AB"/>
            </a:solidFill>
            <a:prstDash val="solid"/>
          </a:ln>
        </p:spPr>
        <p:txBody>
          <a:bodyPr/>
          <a:lstStyle/>
          <a:p>
            <a:endParaRPr lang="es-CO"/>
          </a:p>
        </p:txBody>
      </p:sp>
      <p:sp>
        <p:nvSpPr>
          <p:cNvPr id="15" name="Text 13"/>
          <p:cNvSpPr/>
          <p:nvPr/>
        </p:nvSpPr>
        <p:spPr>
          <a:xfrm>
            <a:off x="4800600" y="1005840"/>
            <a:ext cx="393192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Estadística INFERENCIAL</a:t>
            </a:r>
            <a:endParaRPr lang="en-US" sz="1300" dirty="0"/>
          </a:p>
        </p:txBody>
      </p:sp>
      <p:sp>
        <p:nvSpPr>
          <p:cNvPr id="16" name="Text 14"/>
          <p:cNvSpPr/>
          <p:nvPr/>
        </p:nvSpPr>
        <p:spPr>
          <a:xfrm>
            <a:off x="4846320" y="1600200"/>
            <a:ext cx="3840480" cy="274320"/>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Definición:</a:t>
            </a:r>
            <a:endParaRPr lang="en-US" sz="1100" dirty="0"/>
          </a:p>
        </p:txBody>
      </p:sp>
      <p:sp>
        <p:nvSpPr>
          <p:cNvPr id="17" name="Text 15"/>
          <p:cNvSpPr/>
          <p:nvPr/>
        </p:nvSpPr>
        <p:spPr>
          <a:xfrm>
            <a:off x="4846320" y="1883664"/>
            <a:ext cx="3840480" cy="9144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Rama que utiliza datos de una muestra para hacer inferencias, estimaciones o pruebas de hipótesis sobre una población más amplia.</a:t>
            </a:r>
            <a:endParaRPr lang="en-US" sz="1100" dirty="0"/>
          </a:p>
        </p:txBody>
      </p:sp>
      <p:sp>
        <p:nvSpPr>
          <p:cNvPr id="18" name="Text 16"/>
          <p:cNvSpPr/>
          <p:nvPr/>
        </p:nvSpPr>
        <p:spPr>
          <a:xfrm>
            <a:off x="4846320" y="2852928"/>
            <a:ext cx="3840480" cy="274320"/>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Ejemplos:</a:t>
            </a:r>
            <a:endParaRPr lang="en-US" sz="1100" dirty="0"/>
          </a:p>
        </p:txBody>
      </p:sp>
      <p:sp>
        <p:nvSpPr>
          <p:cNvPr id="19" name="Text 17"/>
          <p:cNvSpPr/>
          <p:nvPr/>
        </p:nvSpPr>
        <p:spPr>
          <a:xfrm>
            <a:off x="4892040" y="315468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¿El salario medio nacional &gt; $2M?</a:t>
            </a:r>
            <a:endParaRPr lang="en-US" sz="1050" dirty="0"/>
          </a:p>
        </p:txBody>
      </p:sp>
      <p:sp>
        <p:nvSpPr>
          <p:cNvPr id="20" name="Text 18"/>
          <p:cNvSpPr/>
          <p:nvPr/>
        </p:nvSpPr>
        <p:spPr>
          <a:xfrm>
            <a:off x="4892040" y="347472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¿Hay diferencia significativa entre regiones?</a:t>
            </a:r>
            <a:endParaRPr lang="en-US" sz="1050" dirty="0"/>
          </a:p>
        </p:txBody>
      </p:sp>
      <p:sp>
        <p:nvSpPr>
          <p:cNvPr id="21" name="Text 19"/>
          <p:cNvSpPr/>
          <p:nvPr/>
        </p:nvSpPr>
        <p:spPr>
          <a:xfrm>
            <a:off x="4892040" y="3794760"/>
            <a:ext cx="3749040" cy="292608"/>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Intervalo de confianza del coef. de regresión</a:t>
            </a:r>
            <a:endParaRPr lang="en-US" sz="1050" dirty="0"/>
          </a:p>
        </p:txBody>
      </p:sp>
      <p:sp>
        <p:nvSpPr>
          <p:cNvPr id="22" name="Shape 20"/>
          <p:cNvSpPr/>
          <p:nvPr/>
        </p:nvSpPr>
        <p:spPr>
          <a:xfrm>
            <a:off x="274320" y="4709160"/>
            <a:ext cx="8595360" cy="347472"/>
          </a:xfrm>
          <a:prstGeom prst="rect">
            <a:avLst/>
          </a:prstGeom>
          <a:solidFill>
            <a:srgbClr val="1A3A5C"/>
          </a:solidFill>
          <a:ln w="12700">
            <a:solidFill>
              <a:srgbClr val="1A3A5C"/>
            </a:solidFill>
            <a:prstDash val="solid"/>
          </a:ln>
        </p:spPr>
        <p:txBody>
          <a:bodyPr/>
          <a:lstStyle/>
          <a:p>
            <a:endParaRPr lang="es-CO"/>
          </a:p>
        </p:txBody>
      </p:sp>
      <p:sp>
        <p:nvSpPr>
          <p:cNvPr id="23" name="Text 21"/>
          <p:cNvSpPr/>
          <p:nvPr/>
        </p:nvSpPr>
        <p:spPr>
          <a:xfrm>
            <a:off x="365760" y="4709160"/>
            <a:ext cx="8412480" cy="347472"/>
          </a:xfrm>
          <a:prstGeom prst="rect">
            <a:avLst/>
          </a:prstGeom>
          <a:noFill/>
          <a:ln/>
        </p:spPr>
        <p:txBody>
          <a:bodyPr wrap="square" rtlCol="0" anchor="ctr"/>
          <a:lstStyle/>
          <a:p>
            <a:pPr marL="0" indent="0">
              <a:buNone/>
            </a:pPr>
            <a:r>
              <a:rPr lang="en-US" sz="1000" b="1" dirty="0">
                <a:solidFill>
                  <a:srgbClr val="E8A838"/>
                </a:solidFill>
                <a:latin typeface="Calibri" pitchFamily="34" charset="0"/>
                <a:ea typeface="Calibri" pitchFamily="34" charset="-122"/>
                <a:cs typeface="Calibri" pitchFamily="34" charset="-120"/>
              </a:rPr>
              <a:t>POBLACIÓN: </a:t>
            </a:r>
            <a:r>
              <a:rPr lang="en-US" sz="1000" dirty="0">
                <a:solidFill>
                  <a:srgbClr val="FFFFFF"/>
                </a:solidFill>
                <a:latin typeface="Calibri" pitchFamily="34" charset="0"/>
                <a:ea typeface="Calibri" pitchFamily="34" charset="-122"/>
                <a:cs typeface="Calibri" pitchFamily="34" charset="-120"/>
              </a:rPr>
              <a:t>Conjunto completo de elementos de interés (ej: todos los hogares colombianos)   </a:t>
            </a:r>
            <a:r>
              <a:rPr lang="en-US" sz="1000" b="1" dirty="0">
                <a:solidFill>
                  <a:srgbClr val="E8A838"/>
                </a:solidFill>
                <a:latin typeface="Calibri" pitchFamily="34" charset="0"/>
                <a:ea typeface="Calibri" pitchFamily="34" charset="-122"/>
                <a:cs typeface="Calibri" pitchFamily="34" charset="-120"/>
              </a:rPr>
              <a:t>MUESTRA: </a:t>
            </a:r>
            <a:r>
              <a:rPr lang="en-US" sz="1000" dirty="0">
                <a:solidFill>
                  <a:srgbClr val="FFFFFF"/>
                </a:solidFill>
                <a:latin typeface="Calibri" pitchFamily="34" charset="0"/>
                <a:ea typeface="Calibri" pitchFamily="34" charset="-122"/>
                <a:cs typeface="Calibri" pitchFamily="34" charset="-120"/>
              </a:rPr>
              <a:t>Subconjunto representativo seleccionado de la población para el análisis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EXPLORATORIO DE DATOS (EDA) — Estadística Descriptiva</a:t>
            </a:r>
            <a:endParaRPr lang="en-US" sz="2000" dirty="0"/>
          </a:p>
        </p:txBody>
      </p:sp>
      <p:sp>
        <p:nvSpPr>
          <p:cNvPr id="4" name="Shape 2"/>
          <p:cNvSpPr/>
          <p:nvPr/>
        </p:nvSpPr>
        <p:spPr>
          <a:xfrm>
            <a:off x="27432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Tendencia Central</a:t>
            </a:r>
            <a:endParaRPr lang="en-US" sz="1200" dirty="0"/>
          </a:p>
        </p:txBody>
      </p:sp>
      <p:sp>
        <p:nvSpPr>
          <p:cNvPr id="12" name="Shape 10"/>
          <p:cNvSpPr/>
          <p:nvPr/>
        </p:nvSpPr>
        <p:spPr>
          <a:xfrm>
            <a:off x="470916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3" name="Shape 11"/>
          <p:cNvSpPr/>
          <p:nvPr/>
        </p:nvSpPr>
        <p:spPr>
          <a:xfrm>
            <a:off x="4709160" y="1005840"/>
            <a:ext cx="4114800" cy="411480"/>
          </a:xfrm>
          <a:prstGeom prst="rect">
            <a:avLst/>
          </a:prstGeom>
          <a:solidFill>
            <a:srgbClr val="3776AB"/>
          </a:solidFill>
          <a:ln w="12700">
            <a:solidFill>
              <a:srgbClr val="3776AB"/>
            </a:solidFill>
            <a:prstDash val="solid"/>
          </a:ln>
        </p:spPr>
        <p:txBody>
          <a:bodyPr/>
          <a:lstStyle/>
          <a:p>
            <a:endParaRPr lang="es-CO"/>
          </a:p>
        </p:txBody>
      </p:sp>
      <p:sp>
        <p:nvSpPr>
          <p:cNvPr id="14" name="Text 12"/>
          <p:cNvSpPr/>
          <p:nvPr/>
        </p:nvSpPr>
        <p:spPr>
          <a:xfrm>
            <a:off x="480060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Cuantiles y Forma</a:t>
            </a:r>
            <a:endParaRPr lang="en-US" sz="1200" dirty="0"/>
          </a:p>
        </p:txBody>
      </p:sp>
      <p:sp>
        <p:nvSpPr>
          <p:cNvPr id="20" name="Shape 18"/>
          <p:cNvSpPr/>
          <p:nvPr/>
        </p:nvSpPr>
        <p:spPr>
          <a:xfrm>
            <a:off x="27432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22" name="Text 20"/>
          <p:cNvSpPr/>
          <p:nvPr/>
        </p:nvSpPr>
        <p:spPr>
          <a:xfrm>
            <a:off x="36576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Dispersión</a:t>
            </a:r>
            <a:endParaRPr lang="en-US" sz="1200" dirty="0"/>
          </a:p>
        </p:txBody>
      </p:sp>
      <p:sp>
        <p:nvSpPr>
          <p:cNvPr id="28" name="Shape 26"/>
          <p:cNvSpPr/>
          <p:nvPr/>
        </p:nvSpPr>
        <p:spPr>
          <a:xfrm>
            <a:off x="470916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9" name="Shape 27"/>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30" name="Text 28"/>
          <p:cNvSpPr/>
          <p:nvPr/>
        </p:nvSpPr>
        <p:spPr>
          <a:xfrm>
            <a:off x="480060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Visualización de Información</a:t>
            </a:r>
            <a:endParaRPr lang="en-US" sz="1200" dirty="0"/>
          </a:p>
        </p:txBody>
      </p:sp>
      <p:pic>
        <p:nvPicPr>
          <p:cNvPr id="37" name="Imagen 36">
            <a:extLst>
              <a:ext uri="{FF2B5EF4-FFF2-40B4-BE49-F238E27FC236}">
                <a16:creationId xmlns:a16="http://schemas.microsoft.com/office/drawing/2014/main" id="{7EAF49D7-7ECE-1841-CE0A-BEDAEC6C7EEA}"/>
              </a:ext>
            </a:extLst>
          </p:cNvPr>
          <p:cNvPicPr>
            <a:picLocks noChangeAspect="1"/>
          </p:cNvPicPr>
          <p:nvPr/>
        </p:nvPicPr>
        <p:blipFill>
          <a:blip r:embed="rId3"/>
          <a:stretch>
            <a:fillRect/>
          </a:stretch>
        </p:blipFill>
        <p:spPr>
          <a:xfrm>
            <a:off x="876300" y="1431147"/>
            <a:ext cx="2509152" cy="1403493"/>
          </a:xfrm>
          <a:prstGeom prst="rect">
            <a:avLst/>
          </a:prstGeom>
        </p:spPr>
      </p:pic>
      <p:pic>
        <p:nvPicPr>
          <p:cNvPr id="39" name="Imagen 38">
            <a:extLst>
              <a:ext uri="{FF2B5EF4-FFF2-40B4-BE49-F238E27FC236}">
                <a16:creationId xmlns:a16="http://schemas.microsoft.com/office/drawing/2014/main" id="{76B83AC3-81CF-F786-15F4-9A07AFAA0FA7}"/>
              </a:ext>
            </a:extLst>
          </p:cNvPr>
          <p:cNvPicPr>
            <a:picLocks noChangeAspect="1"/>
          </p:cNvPicPr>
          <p:nvPr/>
        </p:nvPicPr>
        <p:blipFill>
          <a:blip r:embed="rId4"/>
          <a:stretch>
            <a:fillRect/>
          </a:stretch>
        </p:blipFill>
        <p:spPr>
          <a:xfrm>
            <a:off x="4754882" y="1464607"/>
            <a:ext cx="2131693" cy="1255655"/>
          </a:xfrm>
          <a:prstGeom prst="rect">
            <a:avLst/>
          </a:prstGeom>
        </p:spPr>
      </p:pic>
      <p:pic>
        <p:nvPicPr>
          <p:cNvPr id="41" name="Imagen 40">
            <a:extLst>
              <a:ext uri="{FF2B5EF4-FFF2-40B4-BE49-F238E27FC236}">
                <a16:creationId xmlns:a16="http://schemas.microsoft.com/office/drawing/2014/main" id="{C96FF7A4-0C26-BA09-27D6-7F495B875CDB}"/>
              </a:ext>
            </a:extLst>
          </p:cNvPr>
          <p:cNvPicPr>
            <a:picLocks noChangeAspect="1"/>
          </p:cNvPicPr>
          <p:nvPr/>
        </p:nvPicPr>
        <p:blipFill>
          <a:blip r:embed="rId5"/>
          <a:srcRect t="36527"/>
          <a:stretch>
            <a:fillRect/>
          </a:stretch>
        </p:blipFill>
        <p:spPr>
          <a:xfrm>
            <a:off x="363035" y="3950970"/>
            <a:ext cx="2000227" cy="890833"/>
          </a:xfrm>
          <a:prstGeom prst="rect">
            <a:avLst/>
          </a:prstGeom>
        </p:spPr>
      </p:pic>
      <p:pic>
        <p:nvPicPr>
          <p:cNvPr id="43" name="Imagen 42">
            <a:extLst>
              <a:ext uri="{FF2B5EF4-FFF2-40B4-BE49-F238E27FC236}">
                <a16:creationId xmlns:a16="http://schemas.microsoft.com/office/drawing/2014/main" id="{7389C403-8FB1-9974-973B-9F50CB3A00F2}"/>
              </a:ext>
            </a:extLst>
          </p:cNvPr>
          <p:cNvPicPr>
            <a:picLocks noChangeAspect="1"/>
          </p:cNvPicPr>
          <p:nvPr/>
        </p:nvPicPr>
        <p:blipFill>
          <a:blip r:embed="rId6"/>
          <a:stretch>
            <a:fillRect/>
          </a:stretch>
        </p:blipFill>
        <p:spPr>
          <a:xfrm>
            <a:off x="320040" y="3482615"/>
            <a:ext cx="2423160" cy="426169"/>
          </a:xfrm>
          <a:prstGeom prst="rect">
            <a:avLst/>
          </a:prstGeom>
        </p:spPr>
      </p:pic>
      <p:pic>
        <p:nvPicPr>
          <p:cNvPr id="45" name="Imagen 44">
            <a:extLst>
              <a:ext uri="{FF2B5EF4-FFF2-40B4-BE49-F238E27FC236}">
                <a16:creationId xmlns:a16="http://schemas.microsoft.com/office/drawing/2014/main" id="{446E9BA1-D3EE-A354-3331-A9D39CE3B57A}"/>
              </a:ext>
            </a:extLst>
          </p:cNvPr>
          <p:cNvPicPr>
            <a:picLocks noChangeAspect="1"/>
          </p:cNvPicPr>
          <p:nvPr/>
        </p:nvPicPr>
        <p:blipFill>
          <a:blip r:embed="rId7"/>
          <a:stretch>
            <a:fillRect/>
          </a:stretch>
        </p:blipFill>
        <p:spPr>
          <a:xfrm>
            <a:off x="2451977" y="3959102"/>
            <a:ext cx="1886427" cy="861902"/>
          </a:xfrm>
          <a:prstGeom prst="rect">
            <a:avLst/>
          </a:prstGeom>
        </p:spPr>
      </p:pic>
      <p:pic>
        <p:nvPicPr>
          <p:cNvPr id="47" name="Imagen 46">
            <a:extLst>
              <a:ext uri="{FF2B5EF4-FFF2-40B4-BE49-F238E27FC236}">
                <a16:creationId xmlns:a16="http://schemas.microsoft.com/office/drawing/2014/main" id="{EBAB4DC7-608F-E047-32DB-F4E3AE55B163}"/>
              </a:ext>
            </a:extLst>
          </p:cNvPr>
          <p:cNvPicPr>
            <a:picLocks noChangeAspect="1"/>
          </p:cNvPicPr>
          <p:nvPr/>
        </p:nvPicPr>
        <p:blipFill>
          <a:blip r:embed="rId8"/>
          <a:stretch>
            <a:fillRect/>
          </a:stretch>
        </p:blipFill>
        <p:spPr>
          <a:xfrm>
            <a:off x="5574611" y="3463181"/>
            <a:ext cx="2054806" cy="1348957"/>
          </a:xfrm>
          <a:prstGeom prst="rect">
            <a:avLst/>
          </a:prstGeom>
        </p:spPr>
      </p:pic>
      <p:pic>
        <p:nvPicPr>
          <p:cNvPr id="49" name="Imagen 48">
            <a:extLst>
              <a:ext uri="{FF2B5EF4-FFF2-40B4-BE49-F238E27FC236}">
                <a16:creationId xmlns:a16="http://schemas.microsoft.com/office/drawing/2014/main" id="{88197026-2851-AAEB-C7A8-88B6840C5E49}"/>
              </a:ext>
            </a:extLst>
          </p:cNvPr>
          <p:cNvPicPr>
            <a:picLocks noChangeAspect="1"/>
          </p:cNvPicPr>
          <p:nvPr/>
        </p:nvPicPr>
        <p:blipFill>
          <a:blip r:embed="rId9"/>
          <a:stretch>
            <a:fillRect/>
          </a:stretch>
        </p:blipFill>
        <p:spPr>
          <a:xfrm flipH="1">
            <a:off x="6911974" y="1800070"/>
            <a:ext cx="1891666" cy="914399"/>
          </a:xfrm>
          <a:prstGeom prst="rect">
            <a:avLst/>
          </a:prstGeom>
        </p:spPr>
      </p:pic>
      <p:pic>
        <p:nvPicPr>
          <p:cNvPr id="51" name="Imagen 50">
            <a:extLst>
              <a:ext uri="{FF2B5EF4-FFF2-40B4-BE49-F238E27FC236}">
                <a16:creationId xmlns:a16="http://schemas.microsoft.com/office/drawing/2014/main" id="{893EF033-90B5-CC64-00E9-87B6962C4094}"/>
              </a:ext>
            </a:extLst>
          </p:cNvPr>
          <p:cNvPicPr>
            <a:picLocks noChangeAspect="1"/>
          </p:cNvPicPr>
          <p:nvPr/>
        </p:nvPicPr>
        <p:blipFill>
          <a:blip r:embed="rId10"/>
          <a:stretch>
            <a:fillRect/>
          </a:stretch>
        </p:blipFill>
        <p:spPr>
          <a:xfrm>
            <a:off x="6949921" y="1475390"/>
            <a:ext cx="1853719" cy="1476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A582A15-ED3B-14D3-B041-795D0A023C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E45C43-9482-42E1-E3A7-77D427B32961}"/>
              </a:ext>
            </a:extLst>
          </p:cNvPr>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a:extLst>
              <a:ext uri="{FF2B5EF4-FFF2-40B4-BE49-F238E27FC236}">
                <a16:creationId xmlns:a16="http://schemas.microsoft.com/office/drawing/2014/main" id="{54FB0BD5-FAAC-052C-5123-A57158BF7C79}"/>
              </a:ext>
            </a:extLst>
          </p:cNvPr>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EXPLORATORIO DE DATOS (EDA) — Estadística Descriptiva</a:t>
            </a:r>
            <a:endParaRPr lang="en-US" sz="2000" dirty="0"/>
          </a:p>
        </p:txBody>
      </p:sp>
      <p:sp>
        <p:nvSpPr>
          <p:cNvPr id="4" name="Shape 2">
            <a:extLst>
              <a:ext uri="{FF2B5EF4-FFF2-40B4-BE49-F238E27FC236}">
                <a16:creationId xmlns:a16="http://schemas.microsoft.com/office/drawing/2014/main" id="{D03DB021-D1C0-77F3-2F26-B877F0ECE89E}"/>
              </a:ext>
            </a:extLst>
          </p:cNvPr>
          <p:cNvSpPr/>
          <p:nvPr/>
        </p:nvSpPr>
        <p:spPr>
          <a:xfrm>
            <a:off x="27432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a:extLst>
              <a:ext uri="{FF2B5EF4-FFF2-40B4-BE49-F238E27FC236}">
                <a16:creationId xmlns:a16="http://schemas.microsoft.com/office/drawing/2014/main" id="{1D32FE2A-8E9E-D6EE-57C4-ACCCA89F2363}"/>
              </a:ext>
            </a:extLst>
          </p:cNvPr>
          <p:cNvSpPr/>
          <p:nvPr/>
        </p:nvSpPr>
        <p:spPr>
          <a:xfrm>
            <a:off x="274320" y="1005840"/>
            <a:ext cx="4114800" cy="411480"/>
          </a:xfrm>
          <a:prstGeom prst="rect">
            <a:avLst/>
          </a:prstGeom>
          <a:solidFill>
            <a:srgbClr val="0D7377"/>
          </a:solidFill>
          <a:ln w="12700">
            <a:solidFill>
              <a:srgbClr val="0D7377"/>
            </a:solidFill>
            <a:prstDash val="solid"/>
          </a:ln>
        </p:spPr>
        <p:txBody>
          <a:bodyPr/>
          <a:lstStyle/>
          <a:p>
            <a:endParaRPr lang="es-CO"/>
          </a:p>
        </p:txBody>
      </p:sp>
      <p:sp>
        <p:nvSpPr>
          <p:cNvPr id="6" name="Text 4">
            <a:extLst>
              <a:ext uri="{FF2B5EF4-FFF2-40B4-BE49-F238E27FC236}">
                <a16:creationId xmlns:a16="http://schemas.microsoft.com/office/drawing/2014/main" id="{796AC590-31F8-2FAB-A01B-7BF4C1FF23AF}"/>
              </a:ext>
            </a:extLst>
          </p:cNvPr>
          <p:cNvSpPr/>
          <p:nvPr/>
        </p:nvSpPr>
        <p:spPr>
          <a:xfrm>
            <a:off x="36576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Tendencia Central</a:t>
            </a:r>
            <a:endParaRPr lang="en-US" sz="1200" dirty="0"/>
          </a:p>
        </p:txBody>
      </p:sp>
      <p:sp>
        <p:nvSpPr>
          <p:cNvPr id="7" name="Text 5">
            <a:extLst>
              <a:ext uri="{FF2B5EF4-FFF2-40B4-BE49-F238E27FC236}">
                <a16:creationId xmlns:a16="http://schemas.microsoft.com/office/drawing/2014/main" id="{C149BD00-52C6-AC94-6377-CD07044B1D1C}"/>
              </a:ext>
            </a:extLst>
          </p:cNvPr>
          <p:cNvSpPr/>
          <p:nvPr/>
        </p:nvSpPr>
        <p:spPr>
          <a:xfrm>
            <a:off x="384048" y="146304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Media (μ): Promedio aritmético de los datos</a:t>
            </a:r>
            <a:endParaRPr lang="en-US" sz="1000" dirty="0"/>
          </a:p>
        </p:txBody>
      </p:sp>
      <p:sp>
        <p:nvSpPr>
          <p:cNvPr id="8" name="Text 6">
            <a:extLst>
              <a:ext uri="{FF2B5EF4-FFF2-40B4-BE49-F238E27FC236}">
                <a16:creationId xmlns:a16="http://schemas.microsoft.com/office/drawing/2014/main" id="{B5B59E20-775F-EA55-70DB-0A74CBA2D88C}"/>
              </a:ext>
            </a:extLst>
          </p:cNvPr>
          <p:cNvSpPr/>
          <p:nvPr/>
        </p:nvSpPr>
        <p:spPr>
          <a:xfrm>
            <a:off x="384048" y="175564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Mediana: Valor central cuando los datos están ordenados</a:t>
            </a:r>
            <a:endParaRPr lang="en-US" sz="1000" dirty="0"/>
          </a:p>
        </p:txBody>
      </p:sp>
      <p:sp>
        <p:nvSpPr>
          <p:cNvPr id="9" name="Text 7">
            <a:extLst>
              <a:ext uri="{FF2B5EF4-FFF2-40B4-BE49-F238E27FC236}">
                <a16:creationId xmlns:a16="http://schemas.microsoft.com/office/drawing/2014/main" id="{72DFE79F-CAB3-1D84-9BDF-8A06E3EF3EA2}"/>
              </a:ext>
            </a:extLst>
          </p:cNvPr>
          <p:cNvSpPr/>
          <p:nvPr/>
        </p:nvSpPr>
        <p:spPr>
          <a:xfrm>
            <a:off x="384048" y="204825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Moda: Valor que aparece con mayor frecuencia</a:t>
            </a:r>
            <a:endParaRPr lang="en-US" sz="1000" dirty="0"/>
          </a:p>
        </p:txBody>
      </p:sp>
      <p:sp>
        <p:nvSpPr>
          <p:cNvPr id="10" name="Shape 8">
            <a:extLst>
              <a:ext uri="{FF2B5EF4-FFF2-40B4-BE49-F238E27FC236}">
                <a16:creationId xmlns:a16="http://schemas.microsoft.com/office/drawing/2014/main" id="{B30D7448-05C0-B0DF-29D1-872A12C9B1EA}"/>
              </a:ext>
            </a:extLst>
          </p:cNvPr>
          <p:cNvSpPr/>
          <p:nvPr/>
        </p:nvSpPr>
        <p:spPr>
          <a:xfrm>
            <a:off x="365760" y="2414016"/>
            <a:ext cx="3931920" cy="347472"/>
          </a:xfrm>
          <a:prstGeom prst="rect">
            <a:avLst/>
          </a:prstGeom>
          <a:solidFill>
            <a:srgbClr val="1E1E2E"/>
          </a:solidFill>
          <a:ln w="12700">
            <a:solidFill>
              <a:srgbClr val="1E1E2E"/>
            </a:solidFill>
            <a:prstDash val="solid"/>
          </a:ln>
        </p:spPr>
        <p:txBody>
          <a:bodyPr/>
          <a:lstStyle/>
          <a:p>
            <a:endParaRPr lang="es-CO"/>
          </a:p>
        </p:txBody>
      </p:sp>
      <p:sp>
        <p:nvSpPr>
          <p:cNvPr id="11" name="Text 9">
            <a:extLst>
              <a:ext uri="{FF2B5EF4-FFF2-40B4-BE49-F238E27FC236}">
                <a16:creationId xmlns:a16="http://schemas.microsoft.com/office/drawing/2014/main" id="{750FBFA9-590C-95E6-94A6-32D8B495B346}"/>
              </a:ext>
            </a:extLst>
          </p:cNvPr>
          <p:cNvSpPr/>
          <p:nvPr/>
        </p:nvSpPr>
        <p:spPr>
          <a:xfrm>
            <a:off x="411480" y="241401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df['col'].mean()</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df['col'].median()</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df['col'].mode()</a:t>
            </a:r>
            <a:endParaRPr lang="en-US" sz="800" dirty="0"/>
          </a:p>
        </p:txBody>
      </p:sp>
      <p:sp>
        <p:nvSpPr>
          <p:cNvPr id="12" name="Shape 10">
            <a:extLst>
              <a:ext uri="{FF2B5EF4-FFF2-40B4-BE49-F238E27FC236}">
                <a16:creationId xmlns:a16="http://schemas.microsoft.com/office/drawing/2014/main" id="{7AE8C732-0B9A-FBC3-4803-E309FFEC60F8}"/>
              </a:ext>
            </a:extLst>
          </p:cNvPr>
          <p:cNvSpPr/>
          <p:nvPr/>
        </p:nvSpPr>
        <p:spPr>
          <a:xfrm>
            <a:off x="4709160" y="100584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3" name="Shape 11">
            <a:extLst>
              <a:ext uri="{FF2B5EF4-FFF2-40B4-BE49-F238E27FC236}">
                <a16:creationId xmlns:a16="http://schemas.microsoft.com/office/drawing/2014/main" id="{EFFCB1F3-7A39-8CEE-A288-0C4F7D0403C0}"/>
              </a:ext>
            </a:extLst>
          </p:cNvPr>
          <p:cNvSpPr/>
          <p:nvPr/>
        </p:nvSpPr>
        <p:spPr>
          <a:xfrm>
            <a:off x="4709160" y="1005840"/>
            <a:ext cx="4114800" cy="411480"/>
          </a:xfrm>
          <a:prstGeom prst="rect">
            <a:avLst/>
          </a:prstGeom>
          <a:solidFill>
            <a:srgbClr val="3776AB"/>
          </a:solidFill>
          <a:ln w="12700">
            <a:solidFill>
              <a:srgbClr val="3776AB"/>
            </a:solidFill>
            <a:prstDash val="solid"/>
          </a:ln>
        </p:spPr>
        <p:txBody>
          <a:bodyPr/>
          <a:lstStyle/>
          <a:p>
            <a:endParaRPr lang="es-CO"/>
          </a:p>
        </p:txBody>
      </p:sp>
      <p:sp>
        <p:nvSpPr>
          <p:cNvPr id="14" name="Text 12">
            <a:extLst>
              <a:ext uri="{FF2B5EF4-FFF2-40B4-BE49-F238E27FC236}">
                <a16:creationId xmlns:a16="http://schemas.microsoft.com/office/drawing/2014/main" id="{0CEE73C1-04A8-B51C-8704-803FF3F11997}"/>
              </a:ext>
            </a:extLst>
          </p:cNvPr>
          <p:cNvSpPr/>
          <p:nvPr/>
        </p:nvSpPr>
        <p:spPr>
          <a:xfrm>
            <a:off x="4800600" y="100584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Cuantiles y Forma</a:t>
            </a:r>
            <a:endParaRPr lang="en-US" sz="1200" dirty="0"/>
          </a:p>
        </p:txBody>
      </p:sp>
      <p:sp>
        <p:nvSpPr>
          <p:cNvPr id="15" name="Text 13">
            <a:extLst>
              <a:ext uri="{FF2B5EF4-FFF2-40B4-BE49-F238E27FC236}">
                <a16:creationId xmlns:a16="http://schemas.microsoft.com/office/drawing/2014/main" id="{EE977802-A87D-187B-6B15-859EDF24D56F}"/>
              </a:ext>
            </a:extLst>
          </p:cNvPr>
          <p:cNvSpPr/>
          <p:nvPr/>
        </p:nvSpPr>
        <p:spPr>
          <a:xfrm>
            <a:off x="4818888" y="146304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Cuartiles Q1, Q2, Q3: Dividen los datos en 4 partes iguales</a:t>
            </a:r>
            <a:endParaRPr lang="en-US" sz="1000" dirty="0"/>
          </a:p>
        </p:txBody>
      </p:sp>
      <p:sp>
        <p:nvSpPr>
          <p:cNvPr id="16" name="Text 14">
            <a:extLst>
              <a:ext uri="{FF2B5EF4-FFF2-40B4-BE49-F238E27FC236}">
                <a16:creationId xmlns:a16="http://schemas.microsoft.com/office/drawing/2014/main" id="{3397B590-BB20-AE7D-D8A1-EB4D29542349}"/>
              </a:ext>
            </a:extLst>
          </p:cNvPr>
          <p:cNvSpPr/>
          <p:nvPr/>
        </p:nvSpPr>
        <p:spPr>
          <a:xfrm>
            <a:off x="4818888" y="175564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Percentiles: Posición relativa de un valor en la distribución</a:t>
            </a:r>
            <a:endParaRPr lang="en-US" sz="1000" dirty="0"/>
          </a:p>
        </p:txBody>
      </p:sp>
      <p:sp>
        <p:nvSpPr>
          <p:cNvPr id="17" name="Text 15">
            <a:extLst>
              <a:ext uri="{FF2B5EF4-FFF2-40B4-BE49-F238E27FC236}">
                <a16:creationId xmlns:a16="http://schemas.microsoft.com/office/drawing/2014/main" id="{E8132B6B-A5EC-843E-1F38-A3CA04FC2209}"/>
              </a:ext>
            </a:extLst>
          </p:cNvPr>
          <p:cNvSpPr/>
          <p:nvPr/>
        </p:nvSpPr>
        <p:spPr>
          <a:xfrm>
            <a:off x="4818888" y="204825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Curtosis: Grado de apuntalamiento de la </a:t>
            </a:r>
            <a:r>
              <a:rPr lang="en-US" sz="1000" dirty="0" err="1">
                <a:solidFill>
                  <a:srgbClr val="1E293B"/>
                </a:solidFill>
                <a:latin typeface="Calibri" pitchFamily="34" charset="0"/>
                <a:ea typeface="Calibri" pitchFamily="34" charset="-122"/>
                <a:cs typeface="Calibri" pitchFamily="34" charset="-120"/>
              </a:rPr>
              <a:t>distribución</a:t>
            </a:r>
            <a:endParaRPr lang="en-US" sz="1000" dirty="0"/>
          </a:p>
        </p:txBody>
      </p:sp>
      <p:sp>
        <p:nvSpPr>
          <p:cNvPr id="18" name="Shape 16">
            <a:extLst>
              <a:ext uri="{FF2B5EF4-FFF2-40B4-BE49-F238E27FC236}">
                <a16:creationId xmlns:a16="http://schemas.microsoft.com/office/drawing/2014/main" id="{0FBF0264-073D-F2AD-134C-BD71030D4E93}"/>
              </a:ext>
            </a:extLst>
          </p:cNvPr>
          <p:cNvSpPr/>
          <p:nvPr/>
        </p:nvSpPr>
        <p:spPr>
          <a:xfrm>
            <a:off x="4800600" y="2414016"/>
            <a:ext cx="3931920" cy="347472"/>
          </a:xfrm>
          <a:prstGeom prst="rect">
            <a:avLst/>
          </a:prstGeom>
          <a:solidFill>
            <a:srgbClr val="1E1E2E"/>
          </a:solidFill>
          <a:ln w="12700">
            <a:solidFill>
              <a:srgbClr val="1E1E2E"/>
            </a:solidFill>
            <a:prstDash val="solid"/>
          </a:ln>
        </p:spPr>
        <p:txBody>
          <a:bodyPr/>
          <a:lstStyle/>
          <a:p>
            <a:endParaRPr lang="es-CO"/>
          </a:p>
        </p:txBody>
      </p:sp>
      <p:sp>
        <p:nvSpPr>
          <p:cNvPr id="19" name="Text 17">
            <a:extLst>
              <a:ext uri="{FF2B5EF4-FFF2-40B4-BE49-F238E27FC236}">
                <a16:creationId xmlns:a16="http://schemas.microsoft.com/office/drawing/2014/main" id="{3C6AA20F-A353-0EAA-99E1-90AD546B481D}"/>
              </a:ext>
            </a:extLst>
          </p:cNvPr>
          <p:cNvSpPr/>
          <p:nvPr/>
        </p:nvSpPr>
        <p:spPr>
          <a:xfrm>
            <a:off x="4846320" y="241401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df['col'].quantile([.25,.5,.75])</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df['col'].kurtosis()</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df['col'].skew()</a:t>
            </a:r>
            <a:endParaRPr lang="en-US" sz="800" dirty="0"/>
          </a:p>
        </p:txBody>
      </p:sp>
      <p:sp>
        <p:nvSpPr>
          <p:cNvPr id="20" name="Shape 18">
            <a:extLst>
              <a:ext uri="{FF2B5EF4-FFF2-40B4-BE49-F238E27FC236}">
                <a16:creationId xmlns:a16="http://schemas.microsoft.com/office/drawing/2014/main" id="{8477BACD-9973-7A73-69BE-4D7D13919349}"/>
              </a:ext>
            </a:extLst>
          </p:cNvPr>
          <p:cNvSpPr/>
          <p:nvPr/>
        </p:nvSpPr>
        <p:spPr>
          <a:xfrm>
            <a:off x="27432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1" name="Shape 19">
            <a:extLst>
              <a:ext uri="{FF2B5EF4-FFF2-40B4-BE49-F238E27FC236}">
                <a16:creationId xmlns:a16="http://schemas.microsoft.com/office/drawing/2014/main" id="{A93E10B7-F9A1-DD11-80E8-40B2B96C9A0A}"/>
              </a:ext>
            </a:extLst>
          </p:cNvPr>
          <p:cNvSpPr/>
          <p:nvPr/>
        </p:nvSpPr>
        <p:spPr>
          <a:xfrm>
            <a:off x="274320" y="3017520"/>
            <a:ext cx="4114800" cy="411480"/>
          </a:xfrm>
          <a:prstGeom prst="rect">
            <a:avLst/>
          </a:prstGeom>
          <a:solidFill>
            <a:srgbClr val="8E44AD"/>
          </a:solidFill>
          <a:ln w="12700">
            <a:solidFill>
              <a:srgbClr val="8E44AD"/>
            </a:solidFill>
            <a:prstDash val="solid"/>
          </a:ln>
        </p:spPr>
        <p:txBody>
          <a:bodyPr/>
          <a:lstStyle/>
          <a:p>
            <a:endParaRPr lang="es-CO"/>
          </a:p>
        </p:txBody>
      </p:sp>
      <p:sp>
        <p:nvSpPr>
          <p:cNvPr id="22" name="Text 20">
            <a:extLst>
              <a:ext uri="{FF2B5EF4-FFF2-40B4-BE49-F238E27FC236}">
                <a16:creationId xmlns:a16="http://schemas.microsoft.com/office/drawing/2014/main" id="{551409D0-5976-2D82-6B21-F36228EB6668}"/>
              </a:ext>
            </a:extLst>
          </p:cNvPr>
          <p:cNvSpPr/>
          <p:nvPr/>
        </p:nvSpPr>
        <p:spPr>
          <a:xfrm>
            <a:off x="36576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Medidas de Dispersión</a:t>
            </a:r>
            <a:endParaRPr lang="en-US" sz="1200" dirty="0"/>
          </a:p>
        </p:txBody>
      </p:sp>
      <p:sp>
        <p:nvSpPr>
          <p:cNvPr id="23" name="Text 21">
            <a:extLst>
              <a:ext uri="{FF2B5EF4-FFF2-40B4-BE49-F238E27FC236}">
                <a16:creationId xmlns:a16="http://schemas.microsoft.com/office/drawing/2014/main" id="{C1581E66-536C-E3C1-4916-5BA7F566BB89}"/>
              </a:ext>
            </a:extLst>
          </p:cNvPr>
          <p:cNvSpPr/>
          <p:nvPr/>
        </p:nvSpPr>
        <p:spPr>
          <a:xfrm>
            <a:off x="384048" y="347472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Desviación estándar (σ): Qué tanto se alejan los datos de la media</a:t>
            </a:r>
            <a:endParaRPr lang="en-US" sz="1000" dirty="0"/>
          </a:p>
        </p:txBody>
      </p:sp>
      <p:sp>
        <p:nvSpPr>
          <p:cNvPr id="24" name="Text 22">
            <a:extLst>
              <a:ext uri="{FF2B5EF4-FFF2-40B4-BE49-F238E27FC236}">
                <a16:creationId xmlns:a16="http://schemas.microsoft.com/office/drawing/2014/main" id="{57C4C94B-79E3-17E5-672B-369D618E4AAE}"/>
              </a:ext>
            </a:extLst>
          </p:cNvPr>
          <p:cNvSpPr/>
          <p:nvPr/>
        </p:nvSpPr>
        <p:spPr>
          <a:xfrm>
            <a:off x="384048" y="376732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Varianza (σ²): Cuadrado de la desviación estándar</a:t>
            </a:r>
            <a:endParaRPr lang="en-US" sz="1000" dirty="0"/>
          </a:p>
        </p:txBody>
      </p:sp>
      <p:sp>
        <p:nvSpPr>
          <p:cNvPr id="25" name="Text 23">
            <a:extLst>
              <a:ext uri="{FF2B5EF4-FFF2-40B4-BE49-F238E27FC236}">
                <a16:creationId xmlns:a16="http://schemas.microsoft.com/office/drawing/2014/main" id="{732ADDC9-C048-1944-112B-B10FE3BBD6DD}"/>
              </a:ext>
            </a:extLst>
          </p:cNvPr>
          <p:cNvSpPr/>
          <p:nvPr/>
        </p:nvSpPr>
        <p:spPr>
          <a:xfrm>
            <a:off x="384048" y="405993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Rango: Máximo − Mínimo  ·  Min y Max absolutos</a:t>
            </a:r>
            <a:endParaRPr lang="en-US" sz="1000" dirty="0"/>
          </a:p>
        </p:txBody>
      </p:sp>
      <p:sp>
        <p:nvSpPr>
          <p:cNvPr id="26" name="Shape 24">
            <a:extLst>
              <a:ext uri="{FF2B5EF4-FFF2-40B4-BE49-F238E27FC236}">
                <a16:creationId xmlns:a16="http://schemas.microsoft.com/office/drawing/2014/main" id="{6BEA2A7E-E0E4-114B-4A08-98D14820B136}"/>
              </a:ext>
            </a:extLst>
          </p:cNvPr>
          <p:cNvSpPr/>
          <p:nvPr/>
        </p:nvSpPr>
        <p:spPr>
          <a:xfrm>
            <a:off x="365760" y="4425696"/>
            <a:ext cx="3931920" cy="347472"/>
          </a:xfrm>
          <a:prstGeom prst="rect">
            <a:avLst/>
          </a:prstGeom>
          <a:solidFill>
            <a:srgbClr val="1E1E2E"/>
          </a:solidFill>
          <a:ln w="12700">
            <a:solidFill>
              <a:srgbClr val="1E1E2E"/>
            </a:solidFill>
            <a:prstDash val="solid"/>
          </a:ln>
        </p:spPr>
        <p:txBody>
          <a:bodyPr/>
          <a:lstStyle/>
          <a:p>
            <a:endParaRPr lang="es-CO"/>
          </a:p>
        </p:txBody>
      </p:sp>
      <p:sp>
        <p:nvSpPr>
          <p:cNvPr id="27" name="Text 25">
            <a:extLst>
              <a:ext uri="{FF2B5EF4-FFF2-40B4-BE49-F238E27FC236}">
                <a16:creationId xmlns:a16="http://schemas.microsoft.com/office/drawing/2014/main" id="{13BD74AA-A1B4-716C-2E87-7A35F6333A73}"/>
              </a:ext>
            </a:extLst>
          </p:cNvPr>
          <p:cNvSpPr/>
          <p:nvPr/>
        </p:nvSpPr>
        <p:spPr>
          <a:xfrm>
            <a:off x="411480" y="442569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df['col'].std()   # σ</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df['col'].var()   # σ²</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df['col'].describe() # todo</a:t>
            </a:r>
            <a:endParaRPr lang="en-US" sz="800" dirty="0"/>
          </a:p>
        </p:txBody>
      </p:sp>
      <p:sp>
        <p:nvSpPr>
          <p:cNvPr id="28" name="Shape 26">
            <a:extLst>
              <a:ext uri="{FF2B5EF4-FFF2-40B4-BE49-F238E27FC236}">
                <a16:creationId xmlns:a16="http://schemas.microsoft.com/office/drawing/2014/main" id="{FE8BB977-834E-0ED4-6C69-729914F45BFB}"/>
              </a:ext>
            </a:extLst>
          </p:cNvPr>
          <p:cNvSpPr/>
          <p:nvPr/>
        </p:nvSpPr>
        <p:spPr>
          <a:xfrm>
            <a:off x="4709160" y="3017520"/>
            <a:ext cx="4114800" cy="182880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9" name="Shape 27">
            <a:extLst>
              <a:ext uri="{FF2B5EF4-FFF2-40B4-BE49-F238E27FC236}">
                <a16:creationId xmlns:a16="http://schemas.microsoft.com/office/drawing/2014/main" id="{69F02310-C659-BBE3-F1E6-F8C244C89FE8}"/>
              </a:ext>
            </a:extLst>
          </p:cNvPr>
          <p:cNvSpPr/>
          <p:nvPr/>
        </p:nvSpPr>
        <p:spPr>
          <a:xfrm>
            <a:off x="4709160" y="3017520"/>
            <a:ext cx="4114800" cy="411480"/>
          </a:xfrm>
          <a:prstGeom prst="rect">
            <a:avLst/>
          </a:prstGeom>
          <a:solidFill>
            <a:srgbClr val="E67E22"/>
          </a:solidFill>
          <a:ln w="12700">
            <a:solidFill>
              <a:srgbClr val="E67E22"/>
            </a:solidFill>
            <a:prstDash val="solid"/>
          </a:ln>
        </p:spPr>
        <p:txBody>
          <a:bodyPr/>
          <a:lstStyle/>
          <a:p>
            <a:endParaRPr lang="es-CO"/>
          </a:p>
        </p:txBody>
      </p:sp>
      <p:sp>
        <p:nvSpPr>
          <p:cNvPr id="30" name="Text 28">
            <a:extLst>
              <a:ext uri="{FF2B5EF4-FFF2-40B4-BE49-F238E27FC236}">
                <a16:creationId xmlns:a16="http://schemas.microsoft.com/office/drawing/2014/main" id="{D6F58E70-C07C-57E8-0D65-157EE14206EE}"/>
              </a:ext>
            </a:extLst>
          </p:cNvPr>
          <p:cNvSpPr/>
          <p:nvPr/>
        </p:nvSpPr>
        <p:spPr>
          <a:xfrm>
            <a:off x="4800600" y="3017520"/>
            <a:ext cx="393192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Visualización de Información</a:t>
            </a:r>
            <a:endParaRPr lang="en-US" sz="1200" dirty="0"/>
          </a:p>
        </p:txBody>
      </p:sp>
      <p:sp>
        <p:nvSpPr>
          <p:cNvPr id="31" name="Text 29">
            <a:extLst>
              <a:ext uri="{FF2B5EF4-FFF2-40B4-BE49-F238E27FC236}">
                <a16:creationId xmlns:a16="http://schemas.microsoft.com/office/drawing/2014/main" id="{221D00FB-60AA-BE32-19CA-C143626ABD4A}"/>
              </a:ext>
            </a:extLst>
          </p:cNvPr>
          <p:cNvSpPr/>
          <p:nvPr/>
        </p:nvSpPr>
        <p:spPr>
          <a:xfrm>
            <a:off x="4818888" y="3474720"/>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Histogramas: Distribución de frecuencias de una variable</a:t>
            </a:r>
            <a:endParaRPr lang="en-US" sz="1000" dirty="0"/>
          </a:p>
        </p:txBody>
      </p:sp>
      <p:sp>
        <p:nvSpPr>
          <p:cNvPr id="32" name="Text 30">
            <a:extLst>
              <a:ext uri="{FF2B5EF4-FFF2-40B4-BE49-F238E27FC236}">
                <a16:creationId xmlns:a16="http://schemas.microsoft.com/office/drawing/2014/main" id="{8AD24851-B235-CA4F-AAD4-D37AF6BF90D5}"/>
              </a:ext>
            </a:extLst>
          </p:cNvPr>
          <p:cNvSpPr/>
          <p:nvPr/>
        </p:nvSpPr>
        <p:spPr>
          <a:xfrm>
            <a:off x="4818888" y="3767328"/>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Boxplots: Mediana, cuartiles y outliers visualmente</a:t>
            </a:r>
            <a:endParaRPr lang="en-US" sz="1000" dirty="0"/>
          </a:p>
        </p:txBody>
      </p:sp>
      <p:sp>
        <p:nvSpPr>
          <p:cNvPr id="33" name="Text 31">
            <a:extLst>
              <a:ext uri="{FF2B5EF4-FFF2-40B4-BE49-F238E27FC236}">
                <a16:creationId xmlns:a16="http://schemas.microsoft.com/office/drawing/2014/main" id="{8843D515-6AAD-08B5-9F79-6531969DC74C}"/>
              </a:ext>
            </a:extLst>
          </p:cNvPr>
          <p:cNvSpPr/>
          <p:nvPr/>
        </p:nvSpPr>
        <p:spPr>
          <a:xfrm>
            <a:off x="4818888" y="4059936"/>
            <a:ext cx="3931920" cy="27432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 Heatmap de correlación: Relaciones entre múltiples variables</a:t>
            </a:r>
            <a:endParaRPr lang="en-US" sz="1000" dirty="0"/>
          </a:p>
        </p:txBody>
      </p:sp>
      <p:sp>
        <p:nvSpPr>
          <p:cNvPr id="34" name="Shape 32">
            <a:extLst>
              <a:ext uri="{FF2B5EF4-FFF2-40B4-BE49-F238E27FC236}">
                <a16:creationId xmlns:a16="http://schemas.microsoft.com/office/drawing/2014/main" id="{2D9FE1F7-9CD2-5FB3-7E4A-9E1A4D828EEC}"/>
              </a:ext>
            </a:extLst>
          </p:cNvPr>
          <p:cNvSpPr/>
          <p:nvPr/>
        </p:nvSpPr>
        <p:spPr>
          <a:xfrm>
            <a:off x="4800600" y="4425696"/>
            <a:ext cx="3931920" cy="347472"/>
          </a:xfrm>
          <a:prstGeom prst="rect">
            <a:avLst/>
          </a:prstGeom>
          <a:solidFill>
            <a:srgbClr val="1E1E2E"/>
          </a:solidFill>
          <a:ln w="12700">
            <a:solidFill>
              <a:srgbClr val="1E1E2E"/>
            </a:solidFill>
            <a:prstDash val="solid"/>
          </a:ln>
        </p:spPr>
        <p:txBody>
          <a:bodyPr/>
          <a:lstStyle/>
          <a:p>
            <a:endParaRPr lang="es-CO"/>
          </a:p>
        </p:txBody>
      </p:sp>
      <p:sp>
        <p:nvSpPr>
          <p:cNvPr id="35" name="Text 33">
            <a:extLst>
              <a:ext uri="{FF2B5EF4-FFF2-40B4-BE49-F238E27FC236}">
                <a16:creationId xmlns:a16="http://schemas.microsoft.com/office/drawing/2014/main" id="{E1AF5D2B-BA0D-AAF0-0BBD-573DC38D2AAE}"/>
              </a:ext>
            </a:extLst>
          </p:cNvPr>
          <p:cNvSpPr/>
          <p:nvPr/>
        </p:nvSpPr>
        <p:spPr>
          <a:xfrm>
            <a:off x="4846320" y="4425696"/>
            <a:ext cx="3840480" cy="347472"/>
          </a:xfrm>
          <a:prstGeom prst="rect">
            <a:avLst/>
          </a:prstGeom>
          <a:noFill/>
          <a:ln/>
        </p:spPr>
        <p:txBody>
          <a:bodyPr wrap="square" rtlCol="0" anchor="ctr"/>
          <a:lstStyle/>
          <a:p>
            <a:pPr marL="0" indent="0">
              <a:buNone/>
            </a:pPr>
            <a:r>
              <a:rPr lang="en-US" sz="800" dirty="0">
                <a:solidFill>
                  <a:srgbClr val="FFD43B"/>
                </a:solidFill>
                <a:latin typeface="Consolas" pitchFamily="34" charset="0"/>
                <a:ea typeface="Consolas" pitchFamily="34" charset="-122"/>
                <a:cs typeface="Consolas" pitchFamily="34" charset="-120"/>
              </a:rPr>
              <a:t>🐍  sns.histplot(df['col'])</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sns.boxplot(data=df)</a:t>
            </a:r>
            <a:endParaRPr lang="en-US" sz="800" dirty="0"/>
          </a:p>
          <a:p>
            <a:pPr marL="0" indent="0">
              <a:buNone/>
            </a:pPr>
            <a:r>
              <a:rPr lang="en-US" sz="800" dirty="0">
                <a:solidFill>
                  <a:srgbClr val="FFD43B"/>
                </a:solidFill>
                <a:latin typeface="Consolas" pitchFamily="34" charset="0"/>
                <a:ea typeface="Consolas" pitchFamily="34" charset="-122"/>
                <a:cs typeface="Consolas" pitchFamily="34" charset="-120"/>
              </a:rPr>
              <a:t>sns.heatmap(df.corr())</a:t>
            </a:r>
            <a:endParaRPr lang="en-US" sz="800" dirty="0"/>
          </a:p>
        </p:txBody>
      </p:sp>
    </p:spTree>
    <p:extLst>
      <p:ext uri="{BB962C8B-B14F-4D97-AF65-F5344CB8AC3E}">
        <p14:creationId xmlns:p14="http://schemas.microsoft.com/office/powerpoint/2010/main" val="397857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DE CORRELACIONES Y REGRESIONES — Conceptos Fundamentales</a:t>
            </a:r>
            <a:endParaRPr lang="en-US" sz="2000" dirty="0"/>
          </a:p>
        </p:txBody>
      </p:sp>
      <p:sp>
        <p:nvSpPr>
          <p:cNvPr id="4" name="Shape 2"/>
          <p:cNvSpPr/>
          <p:nvPr/>
        </p:nvSpPr>
        <p:spPr>
          <a:xfrm>
            <a:off x="27432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74320" y="1005840"/>
            <a:ext cx="4114800" cy="45720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65760" y="1005840"/>
            <a:ext cx="39319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ANÁLISIS DE CORRELACIÓN</a:t>
            </a:r>
            <a:endParaRPr lang="en-US" sz="1300" dirty="0"/>
          </a:p>
        </p:txBody>
      </p:sp>
      <p:sp>
        <p:nvSpPr>
          <p:cNvPr id="7" name="Text 5"/>
          <p:cNvSpPr/>
          <p:nvPr/>
        </p:nvSpPr>
        <p:spPr>
          <a:xfrm>
            <a:off x="411480" y="157276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¿Qué mide?</a:t>
            </a:r>
            <a:endParaRPr lang="en-US" sz="1100" dirty="0"/>
          </a:p>
        </p:txBody>
      </p:sp>
      <p:sp>
        <p:nvSpPr>
          <p:cNvPr id="8" name="Text 6"/>
          <p:cNvSpPr/>
          <p:nvPr/>
        </p:nvSpPr>
        <p:spPr>
          <a:xfrm>
            <a:off x="411480" y="182880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 fuerza y dirección de la relación lineal entre dos variables continuas.</a:t>
            </a:r>
            <a:endParaRPr lang="en-US" sz="1050" dirty="0"/>
          </a:p>
        </p:txBody>
      </p:sp>
      <p:sp>
        <p:nvSpPr>
          <p:cNvPr id="9" name="Text 7"/>
          <p:cNvSpPr/>
          <p:nvPr/>
        </p:nvSpPr>
        <p:spPr>
          <a:xfrm>
            <a:off x="411480" y="230428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Rango:</a:t>
            </a:r>
            <a:endParaRPr lang="en-US" sz="1100" dirty="0"/>
          </a:p>
        </p:txBody>
      </p:sp>
      <p:sp>
        <p:nvSpPr>
          <p:cNvPr id="10" name="Text 8"/>
          <p:cNvSpPr/>
          <p:nvPr/>
        </p:nvSpPr>
        <p:spPr>
          <a:xfrm>
            <a:off x="411480" y="256032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 (correlación negativa perfecta) a +1 (correlación positiva perfecta). 0 = sin relación lineal.</a:t>
            </a:r>
            <a:endParaRPr lang="en-US" sz="1050" dirty="0"/>
          </a:p>
        </p:txBody>
      </p:sp>
      <p:sp>
        <p:nvSpPr>
          <p:cNvPr id="11" name="Text 9"/>
          <p:cNvSpPr/>
          <p:nvPr/>
        </p:nvSpPr>
        <p:spPr>
          <a:xfrm>
            <a:off x="411480" y="303580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Limitación:</a:t>
            </a:r>
            <a:endParaRPr lang="en-US" sz="1100" dirty="0"/>
          </a:p>
        </p:txBody>
      </p:sp>
      <p:sp>
        <p:nvSpPr>
          <p:cNvPr id="12" name="Text 10"/>
          <p:cNvSpPr/>
          <p:nvPr/>
        </p:nvSpPr>
        <p:spPr>
          <a:xfrm>
            <a:off x="411480" y="329184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Detecta asociación, NO causalidad. Dos variables pueden correlacionarse por una tercera (variable confusora).</a:t>
            </a:r>
            <a:endParaRPr lang="en-US" sz="1050" dirty="0"/>
          </a:p>
        </p:txBody>
      </p:sp>
      <p:sp>
        <p:nvSpPr>
          <p:cNvPr id="13" name="Text 11"/>
          <p:cNvSpPr/>
          <p:nvPr/>
        </p:nvSpPr>
        <p:spPr>
          <a:xfrm>
            <a:off x="411480" y="3767328"/>
            <a:ext cx="3886200" cy="256032"/>
          </a:xfrm>
          <a:prstGeom prst="rect">
            <a:avLst/>
          </a:prstGeom>
          <a:noFill/>
          <a:ln/>
        </p:spPr>
        <p:txBody>
          <a:bodyPr wrap="square" rtlCol="0" anchor="ctr"/>
          <a:lstStyle/>
          <a:p>
            <a:pPr marL="0" indent="0">
              <a:buNone/>
            </a:pPr>
            <a:r>
              <a:rPr lang="en-US" sz="1100" b="1" dirty="0">
                <a:solidFill>
                  <a:srgbClr val="0D7377"/>
                </a:solidFill>
                <a:latin typeface="Calibri" pitchFamily="34" charset="0"/>
                <a:ea typeface="Calibri" pitchFamily="34" charset="-122"/>
                <a:cs typeface="Calibri" pitchFamily="34" charset="-120"/>
              </a:rPr>
              <a:t>Uso típico:</a:t>
            </a:r>
            <a:endParaRPr lang="en-US" sz="1100" dirty="0"/>
          </a:p>
        </p:txBody>
      </p:sp>
      <p:sp>
        <p:nvSpPr>
          <p:cNvPr id="14" name="Text 12"/>
          <p:cNvSpPr/>
          <p:nvPr/>
        </p:nvSpPr>
        <p:spPr>
          <a:xfrm>
            <a:off x="411480" y="402336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Paso previo a la regresión para identificar qué variables incluir en el modelo.</a:t>
            </a:r>
            <a:endParaRPr lang="en-US" sz="1050" dirty="0"/>
          </a:p>
        </p:txBody>
      </p:sp>
      <p:sp>
        <p:nvSpPr>
          <p:cNvPr id="15" name="Shape 13"/>
          <p:cNvSpPr/>
          <p:nvPr/>
        </p:nvSpPr>
        <p:spPr>
          <a:xfrm>
            <a:off x="4663440" y="1005840"/>
            <a:ext cx="4114800" cy="39776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6" name="Shape 14"/>
          <p:cNvSpPr/>
          <p:nvPr/>
        </p:nvSpPr>
        <p:spPr>
          <a:xfrm>
            <a:off x="4663440" y="1005840"/>
            <a:ext cx="4114800" cy="457200"/>
          </a:xfrm>
          <a:prstGeom prst="rect">
            <a:avLst/>
          </a:prstGeom>
          <a:solidFill>
            <a:srgbClr val="3776AB"/>
          </a:solidFill>
          <a:ln w="12700">
            <a:solidFill>
              <a:srgbClr val="3776AB"/>
            </a:solidFill>
            <a:prstDash val="solid"/>
          </a:ln>
        </p:spPr>
        <p:txBody>
          <a:bodyPr/>
          <a:lstStyle/>
          <a:p>
            <a:endParaRPr lang="es-CO"/>
          </a:p>
        </p:txBody>
      </p:sp>
      <p:sp>
        <p:nvSpPr>
          <p:cNvPr id="17" name="Text 15"/>
          <p:cNvSpPr/>
          <p:nvPr/>
        </p:nvSpPr>
        <p:spPr>
          <a:xfrm>
            <a:off x="4754880" y="1005840"/>
            <a:ext cx="39319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ANÁLISIS DE REGRESIÓN</a:t>
            </a:r>
            <a:endParaRPr lang="en-US" sz="1300" dirty="0"/>
          </a:p>
        </p:txBody>
      </p:sp>
      <p:sp>
        <p:nvSpPr>
          <p:cNvPr id="18" name="Text 16"/>
          <p:cNvSpPr/>
          <p:nvPr/>
        </p:nvSpPr>
        <p:spPr>
          <a:xfrm>
            <a:off x="4754880" y="157276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¿Qué hace?</a:t>
            </a:r>
            <a:endParaRPr lang="en-US" sz="1100" dirty="0"/>
          </a:p>
        </p:txBody>
      </p:sp>
      <p:sp>
        <p:nvSpPr>
          <p:cNvPr id="19" name="Text 17"/>
          <p:cNvSpPr/>
          <p:nvPr/>
        </p:nvSpPr>
        <p:spPr>
          <a:xfrm>
            <a:off x="4754880" y="182880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Modela la relación funcional entre una variable dependiente Y y una o más variables independientes X.</a:t>
            </a:r>
            <a:endParaRPr lang="en-US" sz="1050" dirty="0"/>
          </a:p>
        </p:txBody>
      </p:sp>
      <p:sp>
        <p:nvSpPr>
          <p:cNvPr id="20" name="Text 18"/>
          <p:cNvSpPr/>
          <p:nvPr/>
        </p:nvSpPr>
        <p:spPr>
          <a:xfrm>
            <a:off x="4754880" y="230428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Diferencia con correlación:</a:t>
            </a:r>
            <a:endParaRPr lang="en-US" sz="1100" dirty="0"/>
          </a:p>
        </p:txBody>
      </p:sp>
      <p:sp>
        <p:nvSpPr>
          <p:cNvPr id="21" name="Text 19"/>
          <p:cNvSpPr/>
          <p:nvPr/>
        </p:nvSpPr>
        <p:spPr>
          <a:xfrm>
            <a:off x="4754880" y="256032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La regresión establece una dirección (X → Y), cuantifica el efecto y permite predicciones.</a:t>
            </a:r>
            <a:endParaRPr lang="en-US" sz="1050" dirty="0"/>
          </a:p>
        </p:txBody>
      </p:sp>
      <p:sp>
        <p:nvSpPr>
          <p:cNvPr id="22" name="Text 20"/>
          <p:cNvSpPr/>
          <p:nvPr/>
        </p:nvSpPr>
        <p:spPr>
          <a:xfrm>
            <a:off x="4754880" y="303580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Tipos principales:</a:t>
            </a:r>
            <a:endParaRPr lang="en-US" sz="1100" dirty="0"/>
          </a:p>
        </p:txBody>
      </p:sp>
      <p:sp>
        <p:nvSpPr>
          <p:cNvPr id="23" name="Text 21"/>
          <p:cNvSpPr/>
          <p:nvPr/>
        </p:nvSpPr>
        <p:spPr>
          <a:xfrm>
            <a:off x="4754880" y="329184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Regresión lineal simple (1 predictor), múltiple (k predictores), logística (Y binaria).</a:t>
            </a:r>
            <a:endParaRPr lang="en-US" sz="1050" dirty="0"/>
          </a:p>
        </p:txBody>
      </p:sp>
      <p:sp>
        <p:nvSpPr>
          <p:cNvPr id="24" name="Text 22"/>
          <p:cNvSpPr/>
          <p:nvPr/>
        </p:nvSpPr>
        <p:spPr>
          <a:xfrm>
            <a:off x="4754880" y="3767328"/>
            <a:ext cx="3886200" cy="256032"/>
          </a:xfrm>
          <a:prstGeom prst="rect">
            <a:avLst/>
          </a:prstGeom>
          <a:noFill/>
          <a:ln/>
        </p:spPr>
        <p:txBody>
          <a:bodyPr wrap="square" rtlCol="0" anchor="ctr"/>
          <a:lstStyle/>
          <a:p>
            <a:pPr marL="0" indent="0">
              <a:buNone/>
            </a:pPr>
            <a:r>
              <a:rPr lang="en-US" sz="1100" b="1" dirty="0">
                <a:solidFill>
                  <a:srgbClr val="3776AB"/>
                </a:solidFill>
                <a:latin typeface="Calibri" pitchFamily="34" charset="0"/>
                <a:ea typeface="Calibri" pitchFamily="34" charset="-122"/>
                <a:cs typeface="Calibri" pitchFamily="34" charset="-120"/>
              </a:rPr>
              <a:t>Producto:</a:t>
            </a:r>
            <a:endParaRPr lang="en-US" sz="1100" dirty="0"/>
          </a:p>
        </p:txBody>
      </p:sp>
      <p:sp>
        <p:nvSpPr>
          <p:cNvPr id="25" name="Text 23"/>
          <p:cNvSpPr/>
          <p:nvPr/>
        </p:nvSpPr>
        <p:spPr>
          <a:xfrm>
            <a:off x="4754880" y="4023360"/>
            <a:ext cx="3886200" cy="45720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Ecuación Ŷ = β₀ + β₁X₁ + ... + βₖXₖ + ε con medidas de bondad de ajuste.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a:extLst>
            <a:ext uri="{FF2B5EF4-FFF2-40B4-BE49-F238E27FC236}">
              <a16:creationId xmlns:a16="http://schemas.microsoft.com/office/drawing/2014/main" id="{3B373694-3B1B-E3B3-0656-D6A9C46B388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56E754-1100-0213-AA51-07EB71EE0464}"/>
              </a:ext>
            </a:extLst>
          </p:cNvPr>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a:extLst>
              <a:ext uri="{FF2B5EF4-FFF2-40B4-BE49-F238E27FC236}">
                <a16:creationId xmlns:a16="http://schemas.microsoft.com/office/drawing/2014/main" id="{FDA7F1D7-6921-D626-B80E-A565F80E8396}"/>
              </a:ext>
            </a:extLst>
          </p:cNvPr>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ANÁLISIS DE CORRELACIONES Y REGRESIONES — Conceptos Fundamentales</a:t>
            </a:r>
            <a:endParaRPr lang="en-US" sz="2000" dirty="0"/>
          </a:p>
        </p:txBody>
      </p:sp>
      <p:pic>
        <p:nvPicPr>
          <p:cNvPr id="27" name="Imagen 26">
            <a:extLst>
              <a:ext uri="{FF2B5EF4-FFF2-40B4-BE49-F238E27FC236}">
                <a16:creationId xmlns:a16="http://schemas.microsoft.com/office/drawing/2014/main" id="{666C44F6-0FD8-5E5C-78CC-2A4FEC7E8BE6}"/>
              </a:ext>
            </a:extLst>
          </p:cNvPr>
          <p:cNvPicPr>
            <a:picLocks noChangeAspect="1"/>
          </p:cNvPicPr>
          <p:nvPr/>
        </p:nvPicPr>
        <p:blipFill>
          <a:blip r:embed="rId3"/>
          <a:stretch>
            <a:fillRect/>
          </a:stretch>
        </p:blipFill>
        <p:spPr>
          <a:xfrm>
            <a:off x="133350" y="1808887"/>
            <a:ext cx="8877300" cy="1752476"/>
          </a:xfrm>
          <a:prstGeom prst="rect">
            <a:avLst/>
          </a:prstGeom>
        </p:spPr>
      </p:pic>
    </p:spTree>
    <p:extLst>
      <p:ext uri="{BB962C8B-B14F-4D97-AF65-F5344CB8AC3E}">
        <p14:creationId xmlns:p14="http://schemas.microsoft.com/office/powerpoint/2010/main" val="3050000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DIAGRAMAS DE CORRELACIÓN — Definición y Ejemplos</a:t>
            </a:r>
            <a:endParaRPr lang="en-US" sz="2000" dirty="0"/>
          </a:p>
        </p:txBody>
      </p:sp>
      <p:sp>
        <p:nvSpPr>
          <p:cNvPr id="4" name="Text 2"/>
          <p:cNvSpPr/>
          <p:nvPr/>
        </p:nvSpPr>
        <p:spPr>
          <a:xfrm>
            <a:off x="365760" y="987552"/>
            <a:ext cx="8412480" cy="384048"/>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Un diagrama de correlación (scatter plot o mapa de calor) visualiza la relación entre variables, permitiendo detectar patrones antes de ajustar modelos.</a:t>
            </a:r>
            <a:endParaRPr lang="en-US" sz="1150" dirty="0"/>
          </a:p>
        </p:txBody>
      </p:sp>
      <p:sp>
        <p:nvSpPr>
          <p:cNvPr id="5" name="Shape 3"/>
          <p:cNvSpPr/>
          <p:nvPr/>
        </p:nvSpPr>
        <p:spPr>
          <a:xfrm>
            <a:off x="228600" y="1463040"/>
            <a:ext cx="278892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6" name="Shape 4"/>
          <p:cNvSpPr/>
          <p:nvPr/>
        </p:nvSpPr>
        <p:spPr>
          <a:xfrm>
            <a:off x="228600" y="1463040"/>
            <a:ext cx="2788920" cy="438912"/>
          </a:xfrm>
          <a:prstGeom prst="rect">
            <a:avLst/>
          </a:prstGeom>
          <a:solidFill>
            <a:srgbClr val="0D7377"/>
          </a:solidFill>
          <a:ln w="12700">
            <a:solidFill>
              <a:srgbClr val="0D7377"/>
            </a:solidFill>
            <a:prstDash val="solid"/>
          </a:ln>
        </p:spPr>
        <p:txBody>
          <a:bodyPr/>
          <a:lstStyle/>
          <a:p>
            <a:endParaRPr lang="es-CO"/>
          </a:p>
        </p:txBody>
      </p:sp>
      <p:sp>
        <p:nvSpPr>
          <p:cNvPr id="7" name="Text 5"/>
          <p:cNvSpPr/>
          <p:nvPr/>
        </p:nvSpPr>
        <p:spPr>
          <a:xfrm>
            <a:off x="320040" y="1463040"/>
            <a:ext cx="2606040"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Diagrama de Dispersión (Scatter)</a:t>
            </a:r>
            <a:endParaRPr lang="en-US" sz="1150" dirty="0"/>
          </a:p>
        </p:txBody>
      </p:sp>
      <p:sp>
        <p:nvSpPr>
          <p:cNvPr id="8" name="Text 6"/>
          <p:cNvSpPr/>
          <p:nvPr/>
        </p:nvSpPr>
        <p:spPr>
          <a:xfrm>
            <a:off x="320040" y="1965960"/>
            <a:ext cx="2606040"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Descripción:</a:t>
            </a:r>
            <a:endParaRPr lang="en-US" sz="1050" dirty="0"/>
          </a:p>
        </p:txBody>
      </p:sp>
      <p:sp>
        <p:nvSpPr>
          <p:cNvPr id="9" name="Text 7"/>
          <p:cNvSpPr/>
          <p:nvPr/>
        </p:nvSpPr>
        <p:spPr>
          <a:xfrm>
            <a:off x="320040" y="2231136"/>
            <a:ext cx="2606040" cy="80467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Cada punto = una observación. Eje X = predictor, Eje Y = respuesta. La nube de puntos revela si hay relación lineal, curva o nula.</a:t>
            </a:r>
            <a:endParaRPr lang="en-US" sz="1000" dirty="0"/>
          </a:p>
        </p:txBody>
      </p:sp>
      <p:sp>
        <p:nvSpPr>
          <p:cNvPr id="10" name="Text 8"/>
          <p:cNvSpPr/>
          <p:nvPr/>
        </p:nvSpPr>
        <p:spPr>
          <a:xfrm>
            <a:off x="320040" y="3063240"/>
            <a:ext cx="2606040"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Ejemplos de uso:</a:t>
            </a:r>
            <a:endParaRPr lang="en-US" sz="1050" dirty="0"/>
          </a:p>
        </p:txBody>
      </p:sp>
      <p:sp>
        <p:nvSpPr>
          <p:cNvPr id="11" name="Text 9"/>
          <p:cNvSpPr/>
          <p:nvPr/>
        </p:nvSpPr>
        <p:spPr>
          <a:xfrm>
            <a:off x="320040" y="3328416"/>
            <a:ext cx="2606040" cy="53035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Precio vivienda vs m²</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Salario vs años educación</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PIB vs inversión</a:t>
            </a:r>
            <a:endParaRPr lang="en-US" sz="1000" dirty="0"/>
          </a:p>
        </p:txBody>
      </p:sp>
      <p:sp>
        <p:nvSpPr>
          <p:cNvPr id="12" name="Shape 10"/>
          <p:cNvSpPr/>
          <p:nvPr/>
        </p:nvSpPr>
        <p:spPr>
          <a:xfrm>
            <a:off x="320040" y="3913632"/>
            <a:ext cx="2606040" cy="896112"/>
          </a:xfrm>
          <a:prstGeom prst="rect">
            <a:avLst/>
          </a:prstGeom>
          <a:solidFill>
            <a:srgbClr val="1E1E2E"/>
          </a:solidFill>
          <a:ln w="12700">
            <a:solidFill>
              <a:srgbClr val="1E1E2E"/>
            </a:solidFill>
            <a:prstDash val="solid"/>
          </a:ln>
        </p:spPr>
        <p:txBody>
          <a:bodyPr/>
          <a:lstStyle/>
          <a:p>
            <a:endParaRPr lang="es-CO"/>
          </a:p>
        </p:txBody>
      </p:sp>
      <p:sp>
        <p:nvSpPr>
          <p:cNvPr id="13" name="Text 11"/>
          <p:cNvSpPr/>
          <p:nvPr/>
        </p:nvSpPr>
        <p:spPr>
          <a:xfrm>
            <a:off x="365760" y="3931920"/>
            <a:ext cx="2514600" cy="859536"/>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 sns.scatterplot(x='X', y='Y', data=df)</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sns.regplot(x='X', y='Y', data=df)</a:t>
            </a:r>
            <a:endParaRPr lang="en-US" sz="850" dirty="0"/>
          </a:p>
        </p:txBody>
      </p:sp>
      <p:sp>
        <p:nvSpPr>
          <p:cNvPr id="14" name="Shape 12"/>
          <p:cNvSpPr/>
          <p:nvPr/>
        </p:nvSpPr>
        <p:spPr>
          <a:xfrm>
            <a:off x="3154680" y="1463040"/>
            <a:ext cx="278892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5" name="Shape 13"/>
          <p:cNvSpPr/>
          <p:nvPr/>
        </p:nvSpPr>
        <p:spPr>
          <a:xfrm>
            <a:off x="3154680" y="1463040"/>
            <a:ext cx="2788920" cy="438912"/>
          </a:xfrm>
          <a:prstGeom prst="rect">
            <a:avLst/>
          </a:prstGeom>
          <a:solidFill>
            <a:srgbClr val="3776AB"/>
          </a:solidFill>
          <a:ln w="12700">
            <a:solidFill>
              <a:srgbClr val="3776AB"/>
            </a:solidFill>
            <a:prstDash val="solid"/>
          </a:ln>
        </p:spPr>
        <p:txBody>
          <a:bodyPr/>
          <a:lstStyle/>
          <a:p>
            <a:endParaRPr lang="es-CO"/>
          </a:p>
        </p:txBody>
      </p:sp>
      <p:sp>
        <p:nvSpPr>
          <p:cNvPr id="16" name="Text 14"/>
          <p:cNvSpPr/>
          <p:nvPr/>
        </p:nvSpPr>
        <p:spPr>
          <a:xfrm>
            <a:off x="3246120" y="1463040"/>
            <a:ext cx="2606040"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Heatmap de Correlación</a:t>
            </a:r>
            <a:endParaRPr lang="en-US" sz="1150" dirty="0"/>
          </a:p>
        </p:txBody>
      </p:sp>
      <p:sp>
        <p:nvSpPr>
          <p:cNvPr id="17" name="Text 15"/>
          <p:cNvSpPr/>
          <p:nvPr/>
        </p:nvSpPr>
        <p:spPr>
          <a:xfrm>
            <a:off x="3246120" y="1965960"/>
            <a:ext cx="2606040"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Descripción:</a:t>
            </a:r>
            <a:endParaRPr lang="en-US" sz="1050" dirty="0"/>
          </a:p>
        </p:txBody>
      </p:sp>
      <p:sp>
        <p:nvSpPr>
          <p:cNvPr id="18" name="Text 16"/>
          <p:cNvSpPr/>
          <p:nvPr/>
        </p:nvSpPr>
        <p:spPr>
          <a:xfrm>
            <a:off x="3246120" y="2231136"/>
            <a:ext cx="2606040" cy="80467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Matriz de colores donde cada celda muestra r entre pares de variables. Colores cálidos = correlación positiva, fríos = negativa.</a:t>
            </a:r>
            <a:endParaRPr lang="en-US" sz="1000" dirty="0"/>
          </a:p>
        </p:txBody>
      </p:sp>
      <p:sp>
        <p:nvSpPr>
          <p:cNvPr id="19" name="Text 17"/>
          <p:cNvSpPr/>
          <p:nvPr/>
        </p:nvSpPr>
        <p:spPr>
          <a:xfrm>
            <a:off x="3246120" y="3063240"/>
            <a:ext cx="2606040"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Ejemplos de uso:</a:t>
            </a:r>
            <a:endParaRPr lang="en-US" sz="1050" dirty="0"/>
          </a:p>
        </p:txBody>
      </p:sp>
      <p:sp>
        <p:nvSpPr>
          <p:cNvPr id="20" name="Text 18"/>
          <p:cNvSpPr/>
          <p:nvPr/>
        </p:nvSpPr>
        <p:spPr>
          <a:xfrm>
            <a:off x="3246120" y="3328416"/>
            <a:ext cx="2606040" cy="53035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Correlaciones entre variables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macroeconómicas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Detección de multicolinealidad</a:t>
            </a:r>
            <a:endParaRPr lang="en-US" sz="1000" dirty="0"/>
          </a:p>
        </p:txBody>
      </p:sp>
      <p:sp>
        <p:nvSpPr>
          <p:cNvPr id="21" name="Shape 19"/>
          <p:cNvSpPr/>
          <p:nvPr/>
        </p:nvSpPr>
        <p:spPr>
          <a:xfrm>
            <a:off x="3246120" y="3913632"/>
            <a:ext cx="2606040" cy="896112"/>
          </a:xfrm>
          <a:prstGeom prst="rect">
            <a:avLst/>
          </a:prstGeom>
          <a:solidFill>
            <a:srgbClr val="1E1E2E"/>
          </a:solidFill>
          <a:ln w="12700">
            <a:solidFill>
              <a:srgbClr val="1E1E2E"/>
            </a:solidFill>
            <a:prstDash val="solid"/>
          </a:ln>
        </p:spPr>
        <p:txBody>
          <a:bodyPr/>
          <a:lstStyle/>
          <a:p>
            <a:endParaRPr lang="es-CO"/>
          </a:p>
        </p:txBody>
      </p:sp>
      <p:sp>
        <p:nvSpPr>
          <p:cNvPr id="22" name="Text 20"/>
          <p:cNvSpPr/>
          <p:nvPr/>
        </p:nvSpPr>
        <p:spPr>
          <a:xfrm>
            <a:off x="3291840" y="3931920"/>
            <a:ext cx="2514600" cy="859536"/>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 corr = df.corr()</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sns.heatmap(corr, annot=True,</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  cmap='coolwarm')</a:t>
            </a:r>
            <a:endParaRPr lang="en-US" sz="850" dirty="0"/>
          </a:p>
        </p:txBody>
      </p:sp>
      <p:sp>
        <p:nvSpPr>
          <p:cNvPr id="23" name="Shape 21"/>
          <p:cNvSpPr/>
          <p:nvPr/>
        </p:nvSpPr>
        <p:spPr>
          <a:xfrm>
            <a:off x="6080760" y="1463040"/>
            <a:ext cx="2788920" cy="347472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24" name="Shape 22"/>
          <p:cNvSpPr/>
          <p:nvPr/>
        </p:nvSpPr>
        <p:spPr>
          <a:xfrm>
            <a:off x="6080760" y="1463040"/>
            <a:ext cx="2788920" cy="438912"/>
          </a:xfrm>
          <a:prstGeom prst="rect">
            <a:avLst/>
          </a:prstGeom>
          <a:solidFill>
            <a:srgbClr val="8E44AD"/>
          </a:solidFill>
          <a:ln w="12700">
            <a:solidFill>
              <a:srgbClr val="8E44AD"/>
            </a:solidFill>
            <a:prstDash val="solid"/>
          </a:ln>
        </p:spPr>
        <p:txBody>
          <a:bodyPr/>
          <a:lstStyle/>
          <a:p>
            <a:endParaRPr lang="es-CO"/>
          </a:p>
        </p:txBody>
      </p:sp>
      <p:sp>
        <p:nvSpPr>
          <p:cNvPr id="25" name="Text 23"/>
          <p:cNvSpPr/>
          <p:nvPr/>
        </p:nvSpPr>
        <p:spPr>
          <a:xfrm>
            <a:off x="6172200" y="1463040"/>
            <a:ext cx="2606040" cy="43891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Scatter Matrix (pairplot)</a:t>
            </a:r>
            <a:endParaRPr lang="en-US" sz="1150" dirty="0"/>
          </a:p>
        </p:txBody>
      </p:sp>
      <p:sp>
        <p:nvSpPr>
          <p:cNvPr id="26" name="Text 24"/>
          <p:cNvSpPr/>
          <p:nvPr/>
        </p:nvSpPr>
        <p:spPr>
          <a:xfrm>
            <a:off x="6172200" y="1965960"/>
            <a:ext cx="2606040"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Descripción:</a:t>
            </a:r>
            <a:endParaRPr lang="en-US" sz="1050" dirty="0"/>
          </a:p>
        </p:txBody>
      </p:sp>
      <p:sp>
        <p:nvSpPr>
          <p:cNvPr id="27" name="Text 25"/>
          <p:cNvSpPr/>
          <p:nvPr/>
        </p:nvSpPr>
        <p:spPr>
          <a:xfrm>
            <a:off x="6172200" y="2231136"/>
            <a:ext cx="2606040" cy="80467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Matriz de diagramas de dispersión para todas las combinaciones de variables. Ideal para EDA inicial con múltiples predictores.</a:t>
            </a:r>
            <a:endParaRPr lang="en-US" sz="1000" dirty="0"/>
          </a:p>
        </p:txBody>
      </p:sp>
      <p:sp>
        <p:nvSpPr>
          <p:cNvPr id="28" name="Text 26"/>
          <p:cNvSpPr/>
          <p:nvPr/>
        </p:nvSpPr>
        <p:spPr>
          <a:xfrm>
            <a:off x="6172200" y="3063240"/>
            <a:ext cx="2606040"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Ejemplos de uso:</a:t>
            </a:r>
            <a:endParaRPr lang="en-US" sz="1050" dirty="0"/>
          </a:p>
        </p:txBody>
      </p:sp>
      <p:sp>
        <p:nvSpPr>
          <p:cNvPr id="29" name="Text 27"/>
          <p:cNvSpPr/>
          <p:nvPr/>
        </p:nvSpPr>
        <p:spPr>
          <a:xfrm>
            <a:off x="6172200" y="3328416"/>
            <a:ext cx="2606040" cy="530352"/>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Exploración de dataset de</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precios, ingresos, edades</a:t>
            </a:r>
            <a:endParaRPr lang="en-US" sz="1000" dirty="0"/>
          </a:p>
          <a:p>
            <a:pPr marL="0" indent="0">
              <a:buNone/>
            </a:pPr>
            <a:r>
              <a:rPr lang="en-US" sz="1000" dirty="0">
                <a:solidFill>
                  <a:srgbClr val="64748B"/>
                </a:solidFill>
                <a:latin typeface="Calibri" pitchFamily="34" charset="0"/>
                <a:ea typeface="Calibri" pitchFamily="34" charset="-122"/>
                <a:cs typeface="Calibri" pitchFamily="34" charset="-120"/>
              </a:rPr>
              <a:t>antes de la regresión</a:t>
            </a:r>
            <a:endParaRPr lang="en-US" sz="1000" dirty="0"/>
          </a:p>
        </p:txBody>
      </p:sp>
      <p:sp>
        <p:nvSpPr>
          <p:cNvPr id="30" name="Shape 28"/>
          <p:cNvSpPr/>
          <p:nvPr/>
        </p:nvSpPr>
        <p:spPr>
          <a:xfrm>
            <a:off x="6172200" y="3913632"/>
            <a:ext cx="2606040" cy="896112"/>
          </a:xfrm>
          <a:prstGeom prst="rect">
            <a:avLst/>
          </a:prstGeom>
          <a:solidFill>
            <a:srgbClr val="1E1E2E"/>
          </a:solidFill>
          <a:ln w="12700">
            <a:solidFill>
              <a:srgbClr val="1E1E2E"/>
            </a:solidFill>
            <a:prstDash val="solid"/>
          </a:ln>
        </p:spPr>
        <p:txBody>
          <a:bodyPr/>
          <a:lstStyle/>
          <a:p>
            <a:endParaRPr lang="es-CO"/>
          </a:p>
        </p:txBody>
      </p:sp>
      <p:sp>
        <p:nvSpPr>
          <p:cNvPr id="31" name="Text 29"/>
          <p:cNvSpPr/>
          <p:nvPr/>
        </p:nvSpPr>
        <p:spPr>
          <a:xfrm>
            <a:off x="6217920" y="3931920"/>
            <a:ext cx="2514600" cy="859536"/>
          </a:xfrm>
          <a:prstGeom prst="rect">
            <a:avLst/>
          </a:prstGeom>
          <a:noFill/>
          <a:ln/>
        </p:spPr>
        <p:txBody>
          <a:bodyPr wrap="square" rtlCol="0" anchor="t"/>
          <a:lstStyle/>
          <a:p>
            <a:pPr marL="0" indent="0">
              <a:buNone/>
            </a:pPr>
            <a:r>
              <a:rPr lang="en-US" sz="850" dirty="0">
                <a:solidFill>
                  <a:srgbClr val="FFD43B"/>
                </a:solidFill>
                <a:latin typeface="Consolas" pitchFamily="34" charset="0"/>
                <a:ea typeface="Consolas" pitchFamily="34" charset="-122"/>
                <a:cs typeface="Consolas" pitchFamily="34" charset="-120"/>
              </a:rPr>
              <a:t>🐍 sns.pairplot(df)</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 Con color por categoría:</a:t>
            </a:r>
            <a:endParaRPr lang="en-US" sz="850" dirty="0"/>
          </a:p>
          <a:p>
            <a:pPr marL="0" indent="0">
              <a:buNone/>
            </a:pPr>
            <a:r>
              <a:rPr lang="en-US" sz="850" dirty="0">
                <a:solidFill>
                  <a:srgbClr val="FFD43B"/>
                </a:solidFill>
                <a:latin typeface="Consolas" pitchFamily="34" charset="0"/>
                <a:ea typeface="Consolas" pitchFamily="34" charset="-122"/>
                <a:cs typeface="Consolas" pitchFamily="34" charset="-120"/>
              </a:rPr>
              <a:t>sns.pairplot(df, hue='sector')</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5BDC4C2-3C22-411B-B5B5-99FB3445B7FC}"/>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4351F336-99AA-455C-A066-C49CCDD35246}"/>
              </a:ext>
            </a:extLst>
          </p:cNvPr>
          <p:cNvSpPr txBox="1"/>
          <p:nvPr/>
        </p:nvSpPr>
        <p:spPr>
          <a:xfrm>
            <a:off x="368300" y="101600"/>
            <a:ext cx="8407400" cy="558800"/>
          </a:xfrm>
          <a:prstGeom prst="rect">
            <a:avLst/>
          </a:prstGeom>
          <a:noFill/>
        </p:spPr>
        <p:txBody>
          <a:bodyPr vertOverflow="overflow" vert="horz" wrap="square" rtlCol="0" anchor="ctr" anchorCtr="0">
            <a:spAutoFit/>
          </a:bodyPr>
          <a:lstStyle/>
          <a:p>
            <a:pPr algn="l"/>
            <a:r>
              <a:rPr lang="es-ES" sz="2000" b="1">
                <a:solidFill>
                  <a:srgbClr val="FFFFFF"/>
                </a:solidFill>
                <a:latin typeface="Calibri"/>
                <a:ea typeface="Calibri"/>
                <a:cs typeface="Calibri"/>
              </a:rPr>
              <a:t>DIAGRAMAS DE CORRELACIÓN — Ejemplos Visuales</a:t>
            </a:r>
            <a:endParaRPr lang="es-CO" sz="2000" b="1">
              <a:solidFill>
                <a:srgbClr val="FFFFFF"/>
              </a:solidFill>
              <a:latin typeface="Calibri"/>
              <a:ea typeface="Calibri"/>
              <a:cs typeface="Calibri"/>
            </a:endParaRPr>
          </a:p>
        </p:txBody>
      </p:sp>
      <p:graphicFrame>
        <p:nvGraphicFramePr>
          <p:cNvPr id="101" name="Chart Scatter"/>
          <p:cNvGraphicFramePr/>
          <p:nvPr>
            <p:extLst>
              <p:ext uri="{D42A27DB-BD31-4B8C-83A1-F6EECF244321}">
                <p14:modId xmlns:p14="http://schemas.microsoft.com/office/powerpoint/2010/main" val="308243431"/>
              </p:ext>
            </p:extLst>
          </p:nvPr>
        </p:nvGraphicFramePr>
        <p:xfrm>
          <a:off x="228600" y="1219200"/>
          <a:ext cx="2794000" cy="3556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Tabla 4">
            <a:extLst>
              <a:ext uri="{FF2B5EF4-FFF2-40B4-BE49-F238E27FC236}">
                <a16:creationId xmlns:a16="http://schemas.microsoft.com/office/drawing/2014/main" id="{3CEAF8D2-24A9-4B85-AD9C-EBFEAC28A8AE}"/>
              </a:ext>
            </a:extLst>
          </p:cNvPr>
          <p:cNvGraphicFramePr>
            <a:graphicFrameLocks noGrp="1"/>
          </p:cNvGraphicFramePr>
          <p:nvPr>
            <p:extLst>
              <p:ext uri="{D42A27DB-BD31-4B8C-83A1-F6EECF244321}">
                <p14:modId xmlns:p14="http://schemas.microsoft.com/office/powerpoint/2010/main" val="614746154"/>
              </p:ext>
            </p:extLst>
          </p:nvPr>
        </p:nvGraphicFramePr>
        <p:xfrm>
          <a:off x="3175000" y="1397000"/>
          <a:ext cx="2794000" cy="2286000"/>
        </p:xfrm>
        <a:graphic>
          <a:graphicData uri="http://schemas.openxmlformats.org/drawingml/2006/table">
            <a:tbl>
              <a:tblPr firstRow="1" bandRow="1">
                <a:tableStyleId>{5C22544A-7EE6-4342-B048-85BDC9FD1C3A}</a:tableStyleId>
              </a:tblPr>
              <a:tblGrid>
                <a:gridCol w="558800">
                  <a:extLst>
                    <a:ext uri="{9D8B030D-6E8A-4147-A177-3AD203B41FA5}">
                      <a16:colId xmlns:a16="http://schemas.microsoft.com/office/drawing/2014/main" val="3786057880"/>
                    </a:ext>
                  </a:extLst>
                </a:gridCol>
                <a:gridCol w="558800">
                  <a:extLst>
                    <a:ext uri="{9D8B030D-6E8A-4147-A177-3AD203B41FA5}">
                      <a16:colId xmlns:a16="http://schemas.microsoft.com/office/drawing/2014/main" val="3319471429"/>
                    </a:ext>
                  </a:extLst>
                </a:gridCol>
                <a:gridCol w="558800">
                  <a:extLst>
                    <a:ext uri="{9D8B030D-6E8A-4147-A177-3AD203B41FA5}">
                      <a16:colId xmlns:a16="http://schemas.microsoft.com/office/drawing/2014/main" val="3856050507"/>
                    </a:ext>
                  </a:extLst>
                </a:gridCol>
                <a:gridCol w="558800">
                  <a:extLst>
                    <a:ext uri="{9D8B030D-6E8A-4147-A177-3AD203B41FA5}">
                      <a16:colId xmlns:a16="http://schemas.microsoft.com/office/drawing/2014/main" val="4203991248"/>
                    </a:ext>
                  </a:extLst>
                </a:gridCol>
                <a:gridCol w="558800">
                  <a:extLst>
                    <a:ext uri="{9D8B030D-6E8A-4147-A177-3AD203B41FA5}">
                      <a16:colId xmlns:a16="http://schemas.microsoft.com/office/drawing/2014/main" val="3287422576"/>
                    </a:ext>
                  </a:extLst>
                </a:gridCol>
              </a:tblGrid>
              <a:tr h="457200">
                <a:tc>
                  <a:txBody>
                    <a:bodyPr/>
                    <a:lstStyle/>
                    <a:p>
                      <a:pPr algn="ctr"/>
                      <a:endParaRPr lang="es-CO" sz="1000" b="1">
                        <a:solidFill>
                          <a:srgbClr val="FFFFFF"/>
                        </a:solidFill>
                        <a:latin typeface="Calibri"/>
                        <a:ea typeface="Calibri"/>
                        <a:cs typeface="Calibri"/>
                      </a:endParaRPr>
                    </a:p>
                  </a:txBody>
                  <a:tcPr anchor="ctr">
                    <a:solidFill>
                      <a:srgbClr val="3776AB"/>
                    </a:solidFill>
                  </a:tcPr>
                </a:tc>
                <a:tc>
                  <a:txBody>
                    <a:bodyPr/>
                    <a:lstStyle/>
                    <a:p>
                      <a:pPr algn="ctr"/>
                      <a:r>
                        <a:rPr lang="es-CO" sz="1000" b="1">
                          <a:solidFill>
                            <a:srgbClr val="FFFFFF"/>
                          </a:solidFill>
                          <a:latin typeface="Calibri"/>
                          <a:ea typeface="Calibri"/>
                          <a:cs typeface="Calibri"/>
                        </a:rPr>
                        <a:t>Precio</a:t>
                      </a:r>
                    </a:p>
                  </a:txBody>
                  <a:tcPr anchor="ctr">
                    <a:solidFill>
                      <a:srgbClr val="3776AB"/>
                    </a:solidFill>
                  </a:tcPr>
                </a:tc>
                <a:tc>
                  <a:txBody>
                    <a:bodyPr/>
                    <a:lstStyle/>
                    <a:p>
                      <a:pPr algn="ctr"/>
                      <a:r>
                        <a:rPr lang="es-CO" sz="1000" b="1">
                          <a:solidFill>
                            <a:srgbClr val="FFFFFF"/>
                          </a:solidFill>
                          <a:latin typeface="Calibri"/>
                          <a:ea typeface="Calibri"/>
                          <a:cs typeface="Calibri"/>
                        </a:rPr>
                        <a:t>m²</a:t>
                      </a:r>
                    </a:p>
                  </a:txBody>
                  <a:tcPr anchor="ctr">
                    <a:solidFill>
                      <a:srgbClr val="3776AB"/>
                    </a:solidFill>
                  </a:tcPr>
                </a:tc>
                <a:tc>
                  <a:txBody>
                    <a:bodyPr/>
                    <a:lstStyle/>
                    <a:p>
                      <a:pPr algn="ctr"/>
                      <a:r>
                        <a:rPr lang="es-CO" sz="1000" b="1">
                          <a:solidFill>
                            <a:srgbClr val="FFFFFF"/>
                          </a:solidFill>
                          <a:latin typeface="Calibri"/>
                          <a:ea typeface="Calibri"/>
                          <a:cs typeface="Calibri"/>
                        </a:rPr>
                        <a:t>Habitac.</a:t>
                      </a:r>
                    </a:p>
                  </a:txBody>
                  <a:tcPr anchor="ctr">
                    <a:solidFill>
                      <a:srgbClr val="3776AB"/>
                    </a:solidFill>
                  </a:tcPr>
                </a:tc>
                <a:tc>
                  <a:txBody>
                    <a:bodyPr/>
                    <a:lstStyle/>
                    <a:p>
                      <a:pPr algn="ctr"/>
                      <a:r>
                        <a:rPr lang="es-CO" sz="1000" b="1">
                          <a:solidFill>
                            <a:srgbClr val="FFFFFF"/>
                          </a:solidFill>
                          <a:latin typeface="Calibri"/>
                          <a:ea typeface="Calibri"/>
                          <a:cs typeface="Calibri"/>
                        </a:rPr>
                        <a:t>Antigüed.</a:t>
                      </a:r>
                    </a:p>
                  </a:txBody>
                  <a:tcPr anchor="ctr">
                    <a:solidFill>
                      <a:srgbClr val="3776AB"/>
                    </a:solidFill>
                  </a:tcPr>
                </a:tc>
                <a:extLst>
                  <a:ext uri="{0D108BD9-81ED-4DB2-BD59-A6C34878D82A}">
                    <a16:rowId xmlns:a16="http://schemas.microsoft.com/office/drawing/2014/main" val="356378717"/>
                  </a:ext>
                </a:extLst>
              </a:tr>
              <a:tr h="457200">
                <a:tc>
                  <a:txBody>
                    <a:bodyPr/>
                    <a:lstStyle/>
                    <a:p>
                      <a:pPr algn="ctr"/>
                      <a:r>
                        <a:rPr lang="es-CO" sz="1000" b="1">
                          <a:solidFill>
                            <a:srgbClr val="FFFFFF"/>
                          </a:solidFill>
                          <a:latin typeface="Calibri"/>
                          <a:ea typeface="Calibri"/>
                          <a:cs typeface="Calibri"/>
                        </a:rPr>
                        <a:t>Precio</a:t>
                      </a:r>
                    </a:p>
                  </a:txBody>
                  <a:tcPr anchor="ctr">
                    <a:solidFill>
                      <a:srgbClr val="3776AB"/>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tc>
                  <a:txBody>
                    <a:bodyPr/>
                    <a:lstStyle/>
                    <a:p>
                      <a:pPr algn="ctr"/>
                      <a:r>
                        <a:rPr lang="es-CO" sz="1000" b="0">
                          <a:solidFill>
                            <a:srgbClr val="FFFFFF"/>
                          </a:solidFill>
                          <a:latin typeface="Calibri"/>
                          <a:ea typeface="Calibri"/>
                          <a:cs typeface="Calibri"/>
                        </a:rPr>
                        <a:t>0.87</a:t>
                      </a:r>
                    </a:p>
                  </a:txBody>
                  <a:tcPr anchor="ctr">
                    <a:solidFill>
                      <a:srgbClr val="0D7377"/>
                    </a:solidFill>
                  </a:tcPr>
                </a:tc>
                <a:tc>
                  <a:txBody>
                    <a:bodyPr/>
                    <a:lstStyle/>
                    <a:p>
                      <a:pPr algn="ctr"/>
                      <a:r>
                        <a:rPr lang="es-CO" sz="1000" b="0">
                          <a:solidFill>
                            <a:srgbClr val="1E293B"/>
                          </a:solidFill>
                          <a:latin typeface="Calibri"/>
                          <a:ea typeface="Calibri"/>
                          <a:cs typeface="Calibri"/>
                        </a:rPr>
                        <a:t>0.72</a:t>
                      </a:r>
                    </a:p>
                  </a:txBody>
                  <a:tcPr anchor="ctr">
                    <a:solidFill>
                      <a:srgbClr val="4DB8A4"/>
                    </a:solidFill>
                  </a:tcPr>
                </a:tc>
                <a:tc>
                  <a:txBody>
                    <a:bodyPr/>
                    <a:lstStyle/>
                    <a:p>
                      <a:pPr algn="ctr"/>
                      <a:r>
                        <a:rPr lang="es-CO" sz="1000" b="0">
                          <a:solidFill>
                            <a:srgbClr val="1E293B"/>
                          </a:solidFill>
                          <a:latin typeface="Calibri"/>
                          <a:ea typeface="Calibri"/>
                          <a:cs typeface="Calibri"/>
                        </a:rPr>
                        <a:t>-0.45</a:t>
                      </a:r>
                    </a:p>
                  </a:txBody>
                  <a:tcPr anchor="ctr">
                    <a:solidFill>
                      <a:srgbClr val="F4A4A4"/>
                    </a:solidFill>
                  </a:tcPr>
                </a:tc>
                <a:extLst>
                  <a:ext uri="{0D108BD9-81ED-4DB2-BD59-A6C34878D82A}">
                    <a16:rowId xmlns:a16="http://schemas.microsoft.com/office/drawing/2014/main" val="3121918904"/>
                  </a:ext>
                </a:extLst>
              </a:tr>
              <a:tr h="457200">
                <a:tc>
                  <a:txBody>
                    <a:bodyPr/>
                    <a:lstStyle/>
                    <a:p>
                      <a:pPr algn="ctr"/>
                      <a:r>
                        <a:rPr lang="es-CO" sz="1000" b="1">
                          <a:solidFill>
                            <a:srgbClr val="FFFFFF"/>
                          </a:solidFill>
                          <a:latin typeface="Calibri"/>
                          <a:ea typeface="Calibri"/>
                          <a:cs typeface="Calibri"/>
                        </a:rPr>
                        <a:t>m²</a:t>
                      </a:r>
                    </a:p>
                  </a:txBody>
                  <a:tcPr anchor="ctr">
                    <a:solidFill>
                      <a:srgbClr val="3776AB"/>
                    </a:solidFill>
                  </a:tcPr>
                </a:tc>
                <a:tc>
                  <a:txBody>
                    <a:bodyPr/>
                    <a:lstStyle/>
                    <a:p>
                      <a:pPr algn="ctr"/>
                      <a:r>
                        <a:rPr lang="es-CO" sz="1000" b="0">
                          <a:solidFill>
                            <a:srgbClr val="FFFFFF"/>
                          </a:solidFill>
                          <a:latin typeface="Calibri"/>
                          <a:ea typeface="Calibri"/>
                          <a:cs typeface="Calibri"/>
                        </a:rPr>
                        <a:t>0.87</a:t>
                      </a:r>
                    </a:p>
                  </a:txBody>
                  <a:tcPr anchor="ctr">
                    <a:solidFill>
                      <a:srgbClr val="0D7377"/>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tc>
                  <a:txBody>
                    <a:bodyPr/>
                    <a:lstStyle/>
                    <a:p>
                      <a:pPr algn="ctr"/>
                      <a:r>
                        <a:rPr lang="es-CO" sz="1000" b="0">
                          <a:solidFill>
                            <a:srgbClr val="1E293B"/>
                          </a:solidFill>
                          <a:latin typeface="Calibri"/>
                          <a:ea typeface="Calibri"/>
                          <a:cs typeface="Calibri"/>
                        </a:rPr>
                        <a:t>0.65</a:t>
                      </a:r>
                    </a:p>
                  </a:txBody>
                  <a:tcPr anchor="ctr">
                    <a:solidFill>
                      <a:srgbClr val="4DB8A4"/>
                    </a:solidFill>
                  </a:tcPr>
                </a:tc>
                <a:tc>
                  <a:txBody>
                    <a:bodyPr/>
                    <a:lstStyle/>
                    <a:p>
                      <a:pPr algn="ctr"/>
                      <a:r>
                        <a:rPr lang="es-CO" sz="1000" b="0">
                          <a:solidFill>
                            <a:srgbClr val="1E293B"/>
                          </a:solidFill>
                          <a:latin typeface="Calibri"/>
                          <a:ea typeface="Calibri"/>
                          <a:cs typeface="Calibri"/>
                        </a:rPr>
                        <a:t>-0.38</a:t>
                      </a:r>
                    </a:p>
                  </a:txBody>
                  <a:tcPr anchor="ctr">
                    <a:solidFill>
                      <a:srgbClr val="F4A4A4"/>
                    </a:solidFill>
                  </a:tcPr>
                </a:tc>
                <a:extLst>
                  <a:ext uri="{0D108BD9-81ED-4DB2-BD59-A6C34878D82A}">
                    <a16:rowId xmlns:a16="http://schemas.microsoft.com/office/drawing/2014/main" val="1754443414"/>
                  </a:ext>
                </a:extLst>
              </a:tr>
              <a:tr h="457200">
                <a:tc>
                  <a:txBody>
                    <a:bodyPr/>
                    <a:lstStyle/>
                    <a:p>
                      <a:pPr algn="ctr"/>
                      <a:r>
                        <a:rPr lang="es-CO" sz="1000" b="1">
                          <a:solidFill>
                            <a:srgbClr val="FFFFFF"/>
                          </a:solidFill>
                          <a:latin typeface="Calibri"/>
                          <a:ea typeface="Calibri"/>
                          <a:cs typeface="Calibri"/>
                        </a:rPr>
                        <a:t>Habitac.</a:t>
                      </a:r>
                    </a:p>
                  </a:txBody>
                  <a:tcPr anchor="ctr">
                    <a:solidFill>
                      <a:srgbClr val="3776AB"/>
                    </a:solidFill>
                  </a:tcPr>
                </a:tc>
                <a:tc>
                  <a:txBody>
                    <a:bodyPr/>
                    <a:lstStyle/>
                    <a:p>
                      <a:pPr algn="ctr"/>
                      <a:r>
                        <a:rPr lang="es-CO" sz="1000" b="0">
                          <a:solidFill>
                            <a:srgbClr val="1E293B"/>
                          </a:solidFill>
                          <a:latin typeface="Calibri"/>
                          <a:ea typeface="Calibri"/>
                          <a:cs typeface="Calibri"/>
                        </a:rPr>
                        <a:t>0.72</a:t>
                      </a:r>
                    </a:p>
                  </a:txBody>
                  <a:tcPr anchor="ctr">
                    <a:solidFill>
                      <a:srgbClr val="4DB8A4"/>
                    </a:solidFill>
                  </a:tcPr>
                </a:tc>
                <a:tc>
                  <a:txBody>
                    <a:bodyPr/>
                    <a:lstStyle/>
                    <a:p>
                      <a:pPr algn="ctr"/>
                      <a:r>
                        <a:rPr lang="es-CO" sz="1000" b="0">
                          <a:solidFill>
                            <a:srgbClr val="1E293B"/>
                          </a:solidFill>
                          <a:latin typeface="Calibri"/>
                          <a:ea typeface="Calibri"/>
                          <a:cs typeface="Calibri"/>
                        </a:rPr>
                        <a:t>0.65</a:t>
                      </a:r>
                    </a:p>
                  </a:txBody>
                  <a:tcPr anchor="ctr">
                    <a:solidFill>
                      <a:srgbClr val="4DB8A4"/>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tc>
                  <a:txBody>
                    <a:bodyPr/>
                    <a:lstStyle/>
                    <a:p>
                      <a:pPr algn="ctr"/>
                      <a:r>
                        <a:rPr lang="es-CO" sz="1000" b="0">
                          <a:solidFill>
                            <a:srgbClr val="1E293B"/>
                          </a:solidFill>
                          <a:latin typeface="Calibri"/>
                          <a:ea typeface="Calibri"/>
                          <a:cs typeface="Calibri"/>
                        </a:rPr>
                        <a:t>-0.22</a:t>
                      </a:r>
                    </a:p>
                  </a:txBody>
                  <a:tcPr anchor="ctr">
                    <a:solidFill>
                      <a:srgbClr val="F4A4A4"/>
                    </a:solidFill>
                  </a:tcPr>
                </a:tc>
                <a:extLst>
                  <a:ext uri="{0D108BD9-81ED-4DB2-BD59-A6C34878D82A}">
                    <a16:rowId xmlns:a16="http://schemas.microsoft.com/office/drawing/2014/main" val="1927776058"/>
                  </a:ext>
                </a:extLst>
              </a:tr>
              <a:tr h="457200">
                <a:tc>
                  <a:txBody>
                    <a:bodyPr/>
                    <a:lstStyle/>
                    <a:p>
                      <a:pPr algn="ctr"/>
                      <a:r>
                        <a:rPr lang="es-CO" sz="1000" b="1">
                          <a:solidFill>
                            <a:srgbClr val="FFFFFF"/>
                          </a:solidFill>
                          <a:latin typeface="Calibri"/>
                          <a:ea typeface="Calibri"/>
                          <a:cs typeface="Calibri"/>
                        </a:rPr>
                        <a:t>Antigüed.</a:t>
                      </a:r>
                    </a:p>
                  </a:txBody>
                  <a:tcPr anchor="ctr">
                    <a:solidFill>
                      <a:srgbClr val="3776AB"/>
                    </a:solidFill>
                  </a:tcPr>
                </a:tc>
                <a:tc>
                  <a:txBody>
                    <a:bodyPr/>
                    <a:lstStyle/>
                    <a:p>
                      <a:pPr algn="ctr"/>
                      <a:r>
                        <a:rPr lang="es-CO" sz="1000" b="0">
                          <a:solidFill>
                            <a:srgbClr val="1E293B"/>
                          </a:solidFill>
                          <a:latin typeface="Calibri"/>
                          <a:ea typeface="Calibri"/>
                          <a:cs typeface="Calibri"/>
                        </a:rPr>
                        <a:t>-0.45</a:t>
                      </a:r>
                    </a:p>
                  </a:txBody>
                  <a:tcPr anchor="ctr">
                    <a:solidFill>
                      <a:srgbClr val="F4A4A4"/>
                    </a:solidFill>
                  </a:tcPr>
                </a:tc>
                <a:tc>
                  <a:txBody>
                    <a:bodyPr/>
                    <a:lstStyle/>
                    <a:p>
                      <a:pPr algn="ctr"/>
                      <a:r>
                        <a:rPr lang="es-CO" sz="1000" b="0">
                          <a:solidFill>
                            <a:srgbClr val="1E293B"/>
                          </a:solidFill>
                          <a:latin typeface="Calibri"/>
                          <a:ea typeface="Calibri"/>
                          <a:cs typeface="Calibri"/>
                        </a:rPr>
                        <a:t>-0.38</a:t>
                      </a:r>
                    </a:p>
                  </a:txBody>
                  <a:tcPr anchor="ctr">
                    <a:solidFill>
                      <a:srgbClr val="F4A4A4"/>
                    </a:solidFill>
                  </a:tcPr>
                </a:tc>
                <a:tc>
                  <a:txBody>
                    <a:bodyPr/>
                    <a:lstStyle/>
                    <a:p>
                      <a:pPr algn="ctr"/>
                      <a:r>
                        <a:rPr lang="es-CO" sz="1000" b="0">
                          <a:solidFill>
                            <a:srgbClr val="1E293B"/>
                          </a:solidFill>
                          <a:latin typeface="Calibri"/>
                          <a:ea typeface="Calibri"/>
                          <a:cs typeface="Calibri"/>
                        </a:rPr>
                        <a:t>-0.22</a:t>
                      </a:r>
                    </a:p>
                  </a:txBody>
                  <a:tcPr anchor="ctr">
                    <a:solidFill>
                      <a:srgbClr val="F4A4A4"/>
                    </a:solidFill>
                  </a:tcPr>
                </a:tc>
                <a:tc>
                  <a:txBody>
                    <a:bodyPr/>
                    <a:lstStyle/>
                    <a:p>
                      <a:pPr algn="ctr"/>
                      <a:r>
                        <a:rPr lang="es-CO" sz="1000" b="1">
                          <a:solidFill>
                            <a:srgbClr val="FFFFFF"/>
                          </a:solidFill>
                          <a:latin typeface="Calibri"/>
                          <a:ea typeface="Calibri"/>
                          <a:cs typeface="Calibri"/>
                        </a:rPr>
                        <a:t>1.00</a:t>
                      </a:r>
                    </a:p>
                  </a:txBody>
                  <a:tcPr anchor="ctr">
                    <a:solidFill>
                      <a:srgbClr val="0D7377"/>
                    </a:solidFill>
                  </a:tcPr>
                </a:tc>
                <a:extLst>
                  <a:ext uri="{0D108BD9-81ED-4DB2-BD59-A6C34878D82A}">
                    <a16:rowId xmlns:a16="http://schemas.microsoft.com/office/drawing/2014/main" val="650058291"/>
                  </a:ext>
                </a:extLst>
              </a:tr>
            </a:tbl>
          </a:graphicData>
        </a:graphic>
      </p:graphicFrame>
      <p:sp>
        <p:nvSpPr>
          <p:cNvPr id="6" name="CuadroTexto 5">
            <a:extLst>
              <a:ext uri="{FF2B5EF4-FFF2-40B4-BE49-F238E27FC236}">
                <a16:creationId xmlns:a16="http://schemas.microsoft.com/office/drawing/2014/main" id="{3CEC6005-5E51-4158-95D6-79A3B00FC8FC}"/>
              </a:ext>
            </a:extLst>
          </p:cNvPr>
          <p:cNvSpPr txBox="1"/>
          <p:nvPr/>
        </p:nvSpPr>
        <p:spPr>
          <a:xfrm>
            <a:off x="3601720" y="999490"/>
            <a:ext cx="2794000" cy="203200"/>
          </a:xfrm>
          <a:prstGeom prst="rect">
            <a:avLst/>
          </a:prstGeom>
          <a:noFill/>
        </p:spPr>
        <p:txBody>
          <a:bodyPr vertOverflow="overflow" vert="horz" wrap="square" rtlCol="0" anchor="t">
            <a:spAutoFit/>
          </a:bodyPr>
          <a:lstStyle/>
          <a:p>
            <a:pPr algn="l"/>
            <a:r>
              <a:rPr lang="es-CO" sz="1200" b="1" dirty="0" err="1">
                <a:solidFill>
                  <a:srgbClr val="3776AB"/>
                </a:solidFill>
                <a:latin typeface="Calibri"/>
                <a:ea typeface="Calibri"/>
                <a:cs typeface="Calibri"/>
              </a:rPr>
              <a:t>Heatmap</a:t>
            </a:r>
            <a:r>
              <a:rPr lang="es-CO" sz="1200" b="1" dirty="0">
                <a:solidFill>
                  <a:srgbClr val="3776AB"/>
                </a:solidFill>
                <a:latin typeface="Calibri"/>
                <a:ea typeface="Calibri"/>
                <a:cs typeface="Calibri"/>
              </a:rPr>
              <a:t> de Correlación</a:t>
            </a:r>
          </a:p>
        </p:txBody>
      </p:sp>
      <p:graphicFrame>
        <p:nvGraphicFramePr>
          <p:cNvPr id="202" name="Pairplot 1"/>
          <p:cNvGraphicFramePr/>
          <p:nvPr>
            <p:extLst>
              <p:ext uri="{D42A27DB-BD31-4B8C-83A1-F6EECF244321}">
                <p14:modId xmlns:p14="http://schemas.microsoft.com/office/powerpoint/2010/main" val="3425072135"/>
              </p:ext>
            </p:extLst>
          </p:nvPr>
        </p:nvGraphicFramePr>
        <p:xfrm>
          <a:off x="6172200" y="1270000"/>
          <a:ext cx="1333500" cy="1714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3" name="Pairplot 2"/>
          <p:cNvGraphicFramePr/>
          <p:nvPr>
            <p:extLst>
              <p:ext uri="{D42A27DB-BD31-4B8C-83A1-F6EECF244321}">
                <p14:modId xmlns:p14="http://schemas.microsoft.com/office/powerpoint/2010/main" val="3399889615"/>
              </p:ext>
            </p:extLst>
          </p:nvPr>
        </p:nvGraphicFramePr>
        <p:xfrm>
          <a:off x="7569200" y="1270000"/>
          <a:ext cx="1333500" cy="17145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4" name="Pairplot 3"/>
          <p:cNvGraphicFramePr/>
          <p:nvPr>
            <p:extLst>
              <p:ext uri="{D42A27DB-BD31-4B8C-83A1-F6EECF244321}">
                <p14:modId xmlns:p14="http://schemas.microsoft.com/office/powerpoint/2010/main" val="2977308781"/>
              </p:ext>
            </p:extLst>
          </p:nvPr>
        </p:nvGraphicFramePr>
        <p:xfrm>
          <a:off x="6172200" y="3073400"/>
          <a:ext cx="1333500" cy="17145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05" name="Pairplot 4"/>
          <p:cNvGraphicFramePr/>
          <p:nvPr>
            <p:extLst>
              <p:ext uri="{D42A27DB-BD31-4B8C-83A1-F6EECF244321}">
                <p14:modId xmlns:p14="http://schemas.microsoft.com/office/powerpoint/2010/main" val="3067993482"/>
              </p:ext>
            </p:extLst>
          </p:nvPr>
        </p:nvGraphicFramePr>
        <p:xfrm>
          <a:off x="7569200" y="3073400"/>
          <a:ext cx="1333500" cy="1714500"/>
        </p:xfrm>
        <a:graphic>
          <a:graphicData uri="http://schemas.openxmlformats.org/drawingml/2006/chart">
            <c:chart xmlns:c="http://schemas.openxmlformats.org/drawingml/2006/chart" xmlns:r="http://schemas.openxmlformats.org/officeDocument/2006/relationships" r:id="rId6"/>
          </a:graphicData>
        </a:graphic>
      </p:graphicFrame>
      <p:sp>
        <p:nvSpPr>
          <p:cNvPr id="4" name="CuadroTexto 3">
            <a:extLst>
              <a:ext uri="{FF2B5EF4-FFF2-40B4-BE49-F238E27FC236}">
                <a16:creationId xmlns:a16="http://schemas.microsoft.com/office/drawing/2014/main" id="{30A80502-0673-426D-9B8F-AAC882CE8A6B}"/>
              </a:ext>
            </a:extLst>
          </p:cNvPr>
          <p:cNvSpPr txBox="1"/>
          <p:nvPr/>
        </p:nvSpPr>
        <p:spPr>
          <a:xfrm>
            <a:off x="368300" y="774700"/>
            <a:ext cx="8407400" cy="177800"/>
          </a:xfrm>
          <a:prstGeom prst="rect">
            <a:avLst/>
          </a:prstGeom>
          <a:noFill/>
        </p:spPr>
        <p:txBody>
          <a:bodyPr vertOverflow="overflow" vert="horz" wrap="square" rtlCol="0" anchor="t">
            <a:spAutoFit/>
          </a:bodyPr>
          <a:lstStyle/>
          <a:p>
            <a:pPr algn="l"/>
            <a:r>
              <a:rPr lang="es-ES" sz="1000">
                <a:solidFill>
                  <a:srgbClr val="1E293B"/>
                </a:solidFill>
                <a:latin typeface="Calibri"/>
                <a:ea typeface="Calibri"/>
                <a:cs typeface="Calibri"/>
              </a:rPr>
              <a:t>Ejemplo práctico con datos de viviendas: precio, superficie, habitaciones y antigüedad.</a:t>
            </a:r>
            <a:endParaRPr lang="es-CO" sz="1000">
              <a:solidFill>
                <a:srgbClr val="1E293B"/>
              </a:solidFill>
              <a:latin typeface="Calibri"/>
              <a:ea typeface="Calibri"/>
              <a:cs typeface="Calibri"/>
            </a:endParaRPr>
          </a:p>
        </p:txBody>
      </p:sp>
      <p:sp>
        <p:nvSpPr>
          <p:cNvPr id="7" name="CuadroTexto 6">
            <a:extLst>
              <a:ext uri="{FF2B5EF4-FFF2-40B4-BE49-F238E27FC236}">
                <a16:creationId xmlns:a16="http://schemas.microsoft.com/office/drawing/2014/main" id="{CE5EC002-6CAB-43FE-8D48-185E41E7B1D5}"/>
              </a:ext>
            </a:extLst>
          </p:cNvPr>
          <p:cNvSpPr txBox="1"/>
          <p:nvPr/>
        </p:nvSpPr>
        <p:spPr>
          <a:xfrm>
            <a:off x="381000" y="1016000"/>
            <a:ext cx="2794000" cy="203200"/>
          </a:xfrm>
          <a:prstGeom prst="rect">
            <a:avLst/>
          </a:prstGeom>
          <a:noFill/>
        </p:spPr>
        <p:txBody>
          <a:bodyPr vertOverflow="overflow" vert="horz" wrap="square" rtlCol="0" anchor="t">
            <a:spAutoFit/>
          </a:bodyPr>
          <a:lstStyle/>
          <a:p>
            <a:pPr algn="l"/>
            <a:r>
              <a:rPr lang="es-CO" sz="1200" b="1" dirty="0">
                <a:solidFill>
                  <a:srgbClr val="0D7377"/>
                </a:solidFill>
                <a:latin typeface="Calibri"/>
                <a:ea typeface="Calibri"/>
                <a:cs typeface="Calibri"/>
              </a:rPr>
              <a:t>Diagrama de Dispersión</a:t>
            </a:r>
          </a:p>
        </p:txBody>
      </p:sp>
      <p:sp>
        <p:nvSpPr>
          <p:cNvPr id="8" name="CuadroTexto 7">
            <a:extLst>
              <a:ext uri="{FF2B5EF4-FFF2-40B4-BE49-F238E27FC236}">
                <a16:creationId xmlns:a16="http://schemas.microsoft.com/office/drawing/2014/main" id="{5760D10E-6C80-402B-AE45-AAA6E3E0B044}"/>
              </a:ext>
            </a:extLst>
          </p:cNvPr>
          <p:cNvSpPr txBox="1"/>
          <p:nvPr/>
        </p:nvSpPr>
        <p:spPr>
          <a:xfrm>
            <a:off x="6728460" y="999490"/>
            <a:ext cx="2730500" cy="203200"/>
          </a:xfrm>
          <a:prstGeom prst="rect">
            <a:avLst/>
          </a:prstGeom>
          <a:noFill/>
        </p:spPr>
        <p:txBody>
          <a:bodyPr vertOverflow="overflow" vert="horz" wrap="square" rtlCol="0" anchor="t">
            <a:spAutoFit/>
          </a:bodyPr>
          <a:lstStyle/>
          <a:p>
            <a:pPr algn="l"/>
            <a:r>
              <a:rPr lang="es-CO" sz="1200" b="1" dirty="0" err="1">
                <a:solidFill>
                  <a:srgbClr val="8E44AD"/>
                </a:solidFill>
                <a:latin typeface="Calibri"/>
                <a:ea typeface="Calibri"/>
                <a:cs typeface="Calibri"/>
              </a:rPr>
              <a:t>Scatter</a:t>
            </a:r>
            <a:r>
              <a:rPr lang="es-CO" sz="1200" b="1" dirty="0">
                <a:solidFill>
                  <a:srgbClr val="8E44AD"/>
                </a:solidFill>
                <a:latin typeface="Calibri"/>
                <a:ea typeface="Calibri"/>
                <a:cs typeface="Calibri"/>
              </a:rPr>
              <a:t> Matrix (</a:t>
            </a:r>
            <a:r>
              <a:rPr lang="es-CO" sz="1200" b="1" dirty="0" err="1">
                <a:solidFill>
                  <a:srgbClr val="8E44AD"/>
                </a:solidFill>
                <a:latin typeface="Calibri"/>
                <a:ea typeface="Calibri"/>
                <a:cs typeface="Calibri"/>
              </a:rPr>
              <a:t>Pairplot</a:t>
            </a:r>
            <a:r>
              <a:rPr lang="es-CO" sz="1200" b="1" dirty="0">
                <a:solidFill>
                  <a:srgbClr val="8E44AD"/>
                </a:solidFill>
                <a:latin typeface="Calibri"/>
                <a:ea typeface="Calibri"/>
                <a:cs typeface="Calibri"/>
              </a:rPr>
              <a:t>)</a:t>
            </a:r>
          </a:p>
        </p:txBody>
      </p:sp>
      <p:sp>
        <p:nvSpPr>
          <p:cNvPr id="9" name="CuadroTexto 8">
            <a:extLst>
              <a:ext uri="{FF2B5EF4-FFF2-40B4-BE49-F238E27FC236}">
                <a16:creationId xmlns:a16="http://schemas.microsoft.com/office/drawing/2014/main" id="{006DB600-544F-4654-B728-39D9C6D5BA3A}"/>
              </a:ext>
            </a:extLst>
          </p:cNvPr>
          <p:cNvSpPr txBox="1"/>
          <p:nvPr/>
        </p:nvSpPr>
        <p:spPr>
          <a:xfrm>
            <a:off x="228600" y="4826000"/>
            <a:ext cx="8686800" cy="203200"/>
          </a:xfrm>
          <a:prstGeom prst="rect">
            <a:avLst/>
          </a:prstGeom>
          <a:noFill/>
        </p:spPr>
        <p:txBody>
          <a:bodyPr vertOverflow="overflow" vert="horz" wrap="square" rtlCol="0" anchor="t">
            <a:spAutoFit/>
          </a:bodyPr>
          <a:lstStyle/>
          <a:p>
            <a:pPr algn="l"/>
            <a:r>
              <a:rPr lang="pt-BR" sz="900">
                <a:solidFill>
                  <a:srgbClr val="64748B"/>
                </a:solidFill>
                <a:latin typeface="Calibri"/>
                <a:ea typeface="Calibri"/>
                <a:cs typeface="Calibri"/>
              </a:rPr>
              <a:t>r &gt; 0.7 = correlación fuerte   |   0.3 &lt; r &lt; 0.7 = moderada   |   r &lt; 0.3 = débil</a:t>
            </a:r>
            <a:endParaRPr lang="es-CO" sz="900">
              <a:solidFill>
                <a:srgbClr val="64748B"/>
              </a:solidFill>
              <a:latin typeface="Calibri"/>
              <a:ea typeface="Calibri"/>
              <a:cs typeface="Calibri"/>
            </a:endParaRPr>
          </a:p>
        </p:txBody>
      </p:sp>
    </p:spTree>
    <p:extLst>
      <p:ext uri="{BB962C8B-B14F-4D97-AF65-F5344CB8AC3E}">
        <p14:creationId xmlns:p14="http://schemas.microsoft.com/office/powerpoint/2010/main" val="1617959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COEFICIENTES DE CORRELACIÓN — Pearson, Spearman y Kendall</a:t>
            </a:r>
            <a:endParaRPr lang="en-US" sz="2000" dirty="0"/>
          </a:p>
        </p:txBody>
      </p:sp>
      <p:sp>
        <p:nvSpPr>
          <p:cNvPr id="4" name="Shape 2"/>
          <p:cNvSpPr/>
          <p:nvPr/>
        </p:nvSpPr>
        <p:spPr>
          <a:xfrm>
            <a:off x="228600" y="1005840"/>
            <a:ext cx="2743200" cy="384048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5" name="Shape 3"/>
          <p:cNvSpPr/>
          <p:nvPr/>
        </p:nvSpPr>
        <p:spPr>
          <a:xfrm>
            <a:off x="228600" y="1005840"/>
            <a:ext cx="2743200" cy="457200"/>
          </a:xfrm>
          <a:prstGeom prst="rect">
            <a:avLst/>
          </a:prstGeom>
          <a:solidFill>
            <a:srgbClr val="0D7377"/>
          </a:solidFill>
          <a:ln w="12700">
            <a:solidFill>
              <a:srgbClr val="0D7377"/>
            </a:solidFill>
            <a:prstDash val="solid"/>
          </a:ln>
        </p:spPr>
        <p:txBody>
          <a:bodyPr/>
          <a:lstStyle/>
          <a:p>
            <a:endParaRPr lang="es-CO"/>
          </a:p>
        </p:txBody>
      </p:sp>
      <p:sp>
        <p:nvSpPr>
          <p:cNvPr id="6" name="Text 4"/>
          <p:cNvSpPr/>
          <p:nvPr/>
        </p:nvSpPr>
        <p:spPr>
          <a:xfrm>
            <a:off x="320040" y="10058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Pearson (r)</a:t>
            </a:r>
            <a:endParaRPr lang="en-US" sz="1400" dirty="0"/>
          </a:p>
        </p:txBody>
      </p:sp>
      <p:sp>
        <p:nvSpPr>
          <p:cNvPr id="7" name="Shape 5"/>
          <p:cNvSpPr/>
          <p:nvPr/>
        </p:nvSpPr>
        <p:spPr>
          <a:xfrm>
            <a:off x="320040" y="1554480"/>
            <a:ext cx="2560320" cy="530352"/>
          </a:xfrm>
          <a:prstGeom prst="rect">
            <a:avLst/>
          </a:prstGeom>
          <a:solidFill>
            <a:srgbClr val="1E1E2E"/>
          </a:solidFill>
          <a:ln w="12700">
            <a:solidFill>
              <a:srgbClr val="1E1E2E"/>
            </a:solidFill>
            <a:prstDash val="solid"/>
          </a:ln>
        </p:spPr>
        <p:txBody>
          <a:bodyPr/>
          <a:lstStyle/>
          <a:p>
            <a:endParaRPr lang="es-CO"/>
          </a:p>
        </p:txBody>
      </p:sp>
      <p:sp>
        <p:nvSpPr>
          <p:cNvPr id="8" name="Text 6"/>
          <p:cNvSpPr/>
          <p:nvPr/>
        </p:nvSpPr>
        <p:spPr>
          <a:xfrm>
            <a:off x="365760" y="1554480"/>
            <a:ext cx="2468880" cy="53035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r = Σ[(Xᵢ−X̄)(Yᵢ−Ȳ)] / √[Σ(Xᵢ−X̄)² · Σ(Yᵢ−Ȳ)²]</a:t>
            </a:r>
            <a:endParaRPr lang="en-US" sz="850" dirty="0"/>
          </a:p>
        </p:txBody>
      </p:sp>
      <p:sp>
        <p:nvSpPr>
          <p:cNvPr id="9" name="Text 7"/>
          <p:cNvSpPr/>
          <p:nvPr/>
        </p:nvSpPr>
        <p:spPr>
          <a:xfrm>
            <a:off x="338328" y="2212848"/>
            <a:ext cx="2523744"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Cuándo usarlo:</a:t>
            </a:r>
            <a:endParaRPr lang="en-US" sz="1050" dirty="0"/>
          </a:p>
        </p:txBody>
      </p:sp>
      <p:sp>
        <p:nvSpPr>
          <p:cNvPr id="10" name="Text 8"/>
          <p:cNvSpPr/>
          <p:nvPr/>
        </p:nvSpPr>
        <p:spPr>
          <a:xfrm>
            <a:off x="338328" y="24688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Variables continuas, relación lineal, distribución normal aproximada</a:t>
            </a:r>
            <a:endParaRPr lang="en-US" sz="1000" dirty="0"/>
          </a:p>
        </p:txBody>
      </p:sp>
      <p:sp>
        <p:nvSpPr>
          <p:cNvPr id="11" name="Text 9"/>
          <p:cNvSpPr/>
          <p:nvPr/>
        </p:nvSpPr>
        <p:spPr>
          <a:xfrm>
            <a:off x="338328" y="2898648"/>
            <a:ext cx="2523744"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Rango:</a:t>
            </a:r>
            <a:endParaRPr lang="en-US" sz="1050" dirty="0"/>
          </a:p>
        </p:txBody>
      </p:sp>
      <p:sp>
        <p:nvSpPr>
          <p:cNvPr id="12" name="Text 10"/>
          <p:cNvSpPr/>
          <p:nvPr/>
        </p:nvSpPr>
        <p:spPr>
          <a:xfrm>
            <a:off x="338328" y="31546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  a  +1</a:t>
            </a:r>
            <a:endParaRPr lang="en-US" sz="1000" dirty="0"/>
          </a:p>
        </p:txBody>
      </p:sp>
      <p:sp>
        <p:nvSpPr>
          <p:cNvPr id="13" name="Text 11"/>
          <p:cNvSpPr/>
          <p:nvPr/>
        </p:nvSpPr>
        <p:spPr>
          <a:xfrm>
            <a:off x="338328" y="3584448"/>
            <a:ext cx="2523744" cy="256032"/>
          </a:xfrm>
          <a:prstGeom prst="rect">
            <a:avLst/>
          </a:prstGeom>
          <a:noFill/>
          <a:ln/>
        </p:spPr>
        <p:txBody>
          <a:bodyPr wrap="square" rtlCol="0" anchor="ctr"/>
          <a:lstStyle/>
          <a:p>
            <a:pPr marL="0" indent="0">
              <a:buNone/>
            </a:pPr>
            <a:r>
              <a:rPr lang="en-US" sz="1050" b="1" dirty="0">
                <a:solidFill>
                  <a:srgbClr val="0D7377"/>
                </a:solidFill>
                <a:latin typeface="Calibri" pitchFamily="34" charset="0"/>
                <a:ea typeface="Calibri" pitchFamily="34" charset="-122"/>
                <a:cs typeface="Calibri" pitchFamily="34" charset="-120"/>
              </a:rPr>
              <a:t>Limitación:</a:t>
            </a:r>
            <a:endParaRPr lang="en-US" sz="1050" dirty="0"/>
          </a:p>
        </p:txBody>
      </p:sp>
      <p:sp>
        <p:nvSpPr>
          <p:cNvPr id="14" name="Text 12"/>
          <p:cNvSpPr/>
          <p:nvPr/>
        </p:nvSpPr>
        <p:spPr>
          <a:xfrm>
            <a:off x="338328" y="38404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Sensible a outliers</a:t>
            </a:r>
            <a:endParaRPr lang="en-US" sz="1000" dirty="0"/>
          </a:p>
        </p:txBody>
      </p:sp>
      <p:sp>
        <p:nvSpPr>
          <p:cNvPr id="15" name="Shape 13"/>
          <p:cNvSpPr/>
          <p:nvPr/>
        </p:nvSpPr>
        <p:spPr>
          <a:xfrm>
            <a:off x="320040" y="4370832"/>
            <a:ext cx="2560320" cy="347472"/>
          </a:xfrm>
          <a:prstGeom prst="rect">
            <a:avLst/>
          </a:prstGeom>
          <a:solidFill>
            <a:srgbClr val="1E1E2E"/>
          </a:solidFill>
          <a:ln w="12700">
            <a:solidFill>
              <a:srgbClr val="1E1E2E"/>
            </a:solidFill>
            <a:prstDash val="solid"/>
          </a:ln>
        </p:spPr>
        <p:txBody>
          <a:bodyPr/>
          <a:lstStyle/>
          <a:p>
            <a:endParaRPr lang="es-CO"/>
          </a:p>
        </p:txBody>
      </p:sp>
      <p:sp>
        <p:nvSpPr>
          <p:cNvPr id="16" name="Text 14"/>
          <p:cNvSpPr/>
          <p:nvPr/>
        </p:nvSpPr>
        <p:spPr>
          <a:xfrm>
            <a:off x="365760" y="4370832"/>
            <a:ext cx="2468880" cy="347472"/>
          </a:xfrm>
          <a:prstGeom prst="rect">
            <a:avLst/>
          </a:prstGeom>
          <a:noFill/>
          <a:ln/>
        </p:spPr>
        <p:txBody>
          <a:bodyPr wrap="square" rtlCol="0" anchor="ctr"/>
          <a:lstStyle/>
          <a:p>
            <a:pPr marL="0" indent="0">
              <a:buNone/>
            </a:pPr>
            <a:r>
              <a:rPr lang="en-US" sz="950" dirty="0">
                <a:solidFill>
                  <a:srgbClr val="FFD43B"/>
                </a:solidFill>
                <a:latin typeface="Consolas" pitchFamily="34" charset="0"/>
                <a:ea typeface="Consolas" pitchFamily="34" charset="-122"/>
                <a:cs typeface="Consolas" pitchFamily="34" charset="-120"/>
              </a:rPr>
              <a:t>🐍 df.corr(method='pearson')</a:t>
            </a:r>
            <a:endParaRPr lang="en-US" sz="950" dirty="0"/>
          </a:p>
        </p:txBody>
      </p:sp>
      <p:sp>
        <p:nvSpPr>
          <p:cNvPr id="17" name="Shape 15"/>
          <p:cNvSpPr/>
          <p:nvPr/>
        </p:nvSpPr>
        <p:spPr>
          <a:xfrm>
            <a:off x="3154680" y="1005840"/>
            <a:ext cx="2743200" cy="384048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18" name="Shape 16"/>
          <p:cNvSpPr/>
          <p:nvPr/>
        </p:nvSpPr>
        <p:spPr>
          <a:xfrm>
            <a:off x="3154680" y="1005840"/>
            <a:ext cx="2743200" cy="457200"/>
          </a:xfrm>
          <a:prstGeom prst="rect">
            <a:avLst/>
          </a:prstGeom>
          <a:solidFill>
            <a:srgbClr val="3776AB"/>
          </a:solidFill>
          <a:ln w="12700">
            <a:solidFill>
              <a:srgbClr val="3776AB"/>
            </a:solidFill>
            <a:prstDash val="solid"/>
          </a:ln>
        </p:spPr>
        <p:txBody>
          <a:bodyPr/>
          <a:lstStyle/>
          <a:p>
            <a:endParaRPr lang="es-CO"/>
          </a:p>
        </p:txBody>
      </p:sp>
      <p:sp>
        <p:nvSpPr>
          <p:cNvPr id="19" name="Text 17"/>
          <p:cNvSpPr/>
          <p:nvPr/>
        </p:nvSpPr>
        <p:spPr>
          <a:xfrm>
            <a:off x="3246120" y="10058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Spearman (ρ)</a:t>
            </a:r>
            <a:endParaRPr lang="en-US" sz="1400" dirty="0"/>
          </a:p>
        </p:txBody>
      </p:sp>
      <p:sp>
        <p:nvSpPr>
          <p:cNvPr id="20" name="Shape 18"/>
          <p:cNvSpPr/>
          <p:nvPr/>
        </p:nvSpPr>
        <p:spPr>
          <a:xfrm>
            <a:off x="3246120" y="1554480"/>
            <a:ext cx="2560320" cy="530352"/>
          </a:xfrm>
          <a:prstGeom prst="rect">
            <a:avLst/>
          </a:prstGeom>
          <a:solidFill>
            <a:srgbClr val="1E1E2E"/>
          </a:solidFill>
          <a:ln w="12700">
            <a:solidFill>
              <a:srgbClr val="1E1E2E"/>
            </a:solidFill>
            <a:prstDash val="solid"/>
          </a:ln>
        </p:spPr>
        <p:txBody>
          <a:bodyPr/>
          <a:lstStyle/>
          <a:p>
            <a:endParaRPr lang="es-CO"/>
          </a:p>
        </p:txBody>
      </p:sp>
      <p:sp>
        <p:nvSpPr>
          <p:cNvPr id="21" name="Text 19"/>
          <p:cNvSpPr/>
          <p:nvPr/>
        </p:nvSpPr>
        <p:spPr>
          <a:xfrm>
            <a:off x="3291840" y="1554480"/>
            <a:ext cx="2468880" cy="53035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ρ = 1 − [6·Σdᵢ²] / [n(n²−1)]</a:t>
            </a:r>
            <a:endParaRPr lang="en-US" sz="850" dirty="0"/>
          </a:p>
        </p:txBody>
      </p:sp>
      <p:sp>
        <p:nvSpPr>
          <p:cNvPr id="22" name="Text 20"/>
          <p:cNvSpPr/>
          <p:nvPr/>
        </p:nvSpPr>
        <p:spPr>
          <a:xfrm>
            <a:off x="3264408" y="2212848"/>
            <a:ext cx="2523744"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Cuándo usarlo:</a:t>
            </a:r>
            <a:endParaRPr lang="en-US" sz="1050" dirty="0"/>
          </a:p>
        </p:txBody>
      </p:sp>
      <p:sp>
        <p:nvSpPr>
          <p:cNvPr id="23" name="Text 21"/>
          <p:cNvSpPr/>
          <p:nvPr/>
        </p:nvSpPr>
        <p:spPr>
          <a:xfrm>
            <a:off x="3264408" y="24688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Datos ordinales, relación monótona no lineal o presencia de outliers</a:t>
            </a:r>
            <a:endParaRPr lang="en-US" sz="1000" dirty="0"/>
          </a:p>
        </p:txBody>
      </p:sp>
      <p:sp>
        <p:nvSpPr>
          <p:cNvPr id="24" name="Text 22"/>
          <p:cNvSpPr/>
          <p:nvPr/>
        </p:nvSpPr>
        <p:spPr>
          <a:xfrm>
            <a:off x="3264408" y="2898648"/>
            <a:ext cx="2523744"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Rango:</a:t>
            </a:r>
            <a:endParaRPr lang="en-US" sz="1050" dirty="0"/>
          </a:p>
        </p:txBody>
      </p:sp>
      <p:sp>
        <p:nvSpPr>
          <p:cNvPr id="25" name="Text 23"/>
          <p:cNvSpPr/>
          <p:nvPr/>
        </p:nvSpPr>
        <p:spPr>
          <a:xfrm>
            <a:off x="3264408" y="31546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  a  +1</a:t>
            </a:r>
            <a:endParaRPr lang="en-US" sz="1000" dirty="0"/>
          </a:p>
        </p:txBody>
      </p:sp>
      <p:sp>
        <p:nvSpPr>
          <p:cNvPr id="26" name="Text 24"/>
          <p:cNvSpPr/>
          <p:nvPr/>
        </p:nvSpPr>
        <p:spPr>
          <a:xfrm>
            <a:off x="3264408" y="3584448"/>
            <a:ext cx="2523744" cy="256032"/>
          </a:xfrm>
          <a:prstGeom prst="rect">
            <a:avLst/>
          </a:prstGeom>
          <a:noFill/>
          <a:ln/>
        </p:spPr>
        <p:txBody>
          <a:bodyPr wrap="square" rtlCol="0" anchor="ctr"/>
          <a:lstStyle/>
          <a:p>
            <a:pPr marL="0" indent="0">
              <a:buNone/>
            </a:pPr>
            <a:r>
              <a:rPr lang="en-US" sz="1050" b="1" dirty="0">
                <a:solidFill>
                  <a:srgbClr val="3776AB"/>
                </a:solidFill>
                <a:latin typeface="Calibri" pitchFamily="34" charset="0"/>
                <a:ea typeface="Calibri" pitchFamily="34" charset="-122"/>
                <a:cs typeface="Calibri" pitchFamily="34" charset="-120"/>
              </a:rPr>
              <a:t>Limitación:</a:t>
            </a:r>
            <a:endParaRPr lang="en-US" sz="1050" dirty="0"/>
          </a:p>
        </p:txBody>
      </p:sp>
      <p:sp>
        <p:nvSpPr>
          <p:cNvPr id="27" name="Text 25"/>
          <p:cNvSpPr/>
          <p:nvPr/>
        </p:nvSpPr>
        <p:spPr>
          <a:xfrm>
            <a:off x="3264408" y="38404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Menos potente en datos normales</a:t>
            </a:r>
            <a:endParaRPr lang="en-US" sz="1000" dirty="0"/>
          </a:p>
        </p:txBody>
      </p:sp>
      <p:sp>
        <p:nvSpPr>
          <p:cNvPr id="28" name="Shape 26"/>
          <p:cNvSpPr/>
          <p:nvPr/>
        </p:nvSpPr>
        <p:spPr>
          <a:xfrm>
            <a:off x="3246120" y="4370832"/>
            <a:ext cx="2560320" cy="347472"/>
          </a:xfrm>
          <a:prstGeom prst="rect">
            <a:avLst/>
          </a:prstGeom>
          <a:solidFill>
            <a:srgbClr val="1E1E2E"/>
          </a:solidFill>
          <a:ln w="12700">
            <a:solidFill>
              <a:srgbClr val="1E1E2E"/>
            </a:solidFill>
            <a:prstDash val="solid"/>
          </a:ln>
        </p:spPr>
        <p:txBody>
          <a:bodyPr/>
          <a:lstStyle/>
          <a:p>
            <a:endParaRPr lang="es-CO"/>
          </a:p>
        </p:txBody>
      </p:sp>
      <p:sp>
        <p:nvSpPr>
          <p:cNvPr id="29" name="Text 27"/>
          <p:cNvSpPr/>
          <p:nvPr/>
        </p:nvSpPr>
        <p:spPr>
          <a:xfrm>
            <a:off x="3291840" y="4370832"/>
            <a:ext cx="2468880" cy="347472"/>
          </a:xfrm>
          <a:prstGeom prst="rect">
            <a:avLst/>
          </a:prstGeom>
          <a:noFill/>
          <a:ln/>
        </p:spPr>
        <p:txBody>
          <a:bodyPr wrap="square" rtlCol="0" anchor="ctr"/>
          <a:lstStyle/>
          <a:p>
            <a:pPr marL="0" indent="0">
              <a:buNone/>
            </a:pPr>
            <a:r>
              <a:rPr lang="en-US" sz="950" dirty="0">
                <a:solidFill>
                  <a:srgbClr val="FFD43B"/>
                </a:solidFill>
                <a:latin typeface="Consolas" pitchFamily="34" charset="0"/>
                <a:ea typeface="Consolas" pitchFamily="34" charset="-122"/>
                <a:cs typeface="Consolas" pitchFamily="34" charset="-120"/>
              </a:rPr>
              <a:t>🐍 df.corr(method='spearman')</a:t>
            </a:r>
            <a:endParaRPr lang="en-US" sz="950" dirty="0"/>
          </a:p>
        </p:txBody>
      </p:sp>
      <p:sp>
        <p:nvSpPr>
          <p:cNvPr id="30" name="Shape 28"/>
          <p:cNvSpPr/>
          <p:nvPr/>
        </p:nvSpPr>
        <p:spPr>
          <a:xfrm>
            <a:off x="6080760" y="1005840"/>
            <a:ext cx="2743200" cy="3840480"/>
          </a:xfrm>
          <a:prstGeom prst="rect">
            <a:avLst/>
          </a:prstGeom>
          <a:solidFill>
            <a:srgbClr val="F0F4F8"/>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s-CO"/>
          </a:p>
        </p:txBody>
      </p:sp>
      <p:sp>
        <p:nvSpPr>
          <p:cNvPr id="31" name="Shape 29"/>
          <p:cNvSpPr/>
          <p:nvPr/>
        </p:nvSpPr>
        <p:spPr>
          <a:xfrm>
            <a:off x="6080760" y="1005840"/>
            <a:ext cx="2743200" cy="457200"/>
          </a:xfrm>
          <a:prstGeom prst="rect">
            <a:avLst/>
          </a:prstGeom>
          <a:solidFill>
            <a:srgbClr val="8E44AD"/>
          </a:solidFill>
          <a:ln w="12700">
            <a:solidFill>
              <a:srgbClr val="8E44AD"/>
            </a:solidFill>
            <a:prstDash val="solid"/>
          </a:ln>
        </p:spPr>
        <p:txBody>
          <a:bodyPr/>
          <a:lstStyle/>
          <a:p>
            <a:endParaRPr lang="es-CO"/>
          </a:p>
        </p:txBody>
      </p:sp>
      <p:sp>
        <p:nvSpPr>
          <p:cNvPr id="32" name="Text 30"/>
          <p:cNvSpPr/>
          <p:nvPr/>
        </p:nvSpPr>
        <p:spPr>
          <a:xfrm>
            <a:off x="6172200" y="10058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Kendall (τ)</a:t>
            </a:r>
            <a:endParaRPr lang="en-US" sz="1400" dirty="0"/>
          </a:p>
        </p:txBody>
      </p:sp>
      <p:sp>
        <p:nvSpPr>
          <p:cNvPr id="33" name="Shape 31"/>
          <p:cNvSpPr/>
          <p:nvPr/>
        </p:nvSpPr>
        <p:spPr>
          <a:xfrm>
            <a:off x="6172200" y="1554480"/>
            <a:ext cx="2560320" cy="530352"/>
          </a:xfrm>
          <a:prstGeom prst="rect">
            <a:avLst/>
          </a:prstGeom>
          <a:solidFill>
            <a:srgbClr val="1E1E2E"/>
          </a:solidFill>
          <a:ln w="12700">
            <a:solidFill>
              <a:srgbClr val="1E1E2E"/>
            </a:solidFill>
            <a:prstDash val="solid"/>
          </a:ln>
        </p:spPr>
        <p:txBody>
          <a:bodyPr/>
          <a:lstStyle/>
          <a:p>
            <a:endParaRPr lang="es-CO"/>
          </a:p>
        </p:txBody>
      </p:sp>
      <p:sp>
        <p:nvSpPr>
          <p:cNvPr id="34" name="Text 32"/>
          <p:cNvSpPr/>
          <p:nvPr/>
        </p:nvSpPr>
        <p:spPr>
          <a:xfrm>
            <a:off x="6217920" y="1554480"/>
            <a:ext cx="2468880" cy="530352"/>
          </a:xfrm>
          <a:prstGeom prst="rect">
            <a:avLst/>
          </a:prstGeom>
          <a:noFill/>
          <a:ln/>
        </p:spPr>
        <p:txBody>
          <a:bodyPr wrap="square" rtlCol="0" anchor="ctr"/>
          <a:lstStyle/>
          <a:p>
            <a:pPr marL="0" indent="0">
              <a:buNone/>
            </a:pPr>
            <a:r>
              <a:rPr lang="en-US" sz="850" dirty="0">
                <a:solidFill>
                  <a:srgbClr val="FFD43B"/>
                </a:solidFill>
                <a:latin typeface="Consolas" pitchFamily="34" charset="0"/>
                <a:ea typeface="Consolas" pitchFamily="34" charset="-122"/>
                <a:cs typeface="Consolas" pitchFamily="34" charset="-120"/>
              </a:rPr>
              <a:t>τ = (Concordantes − Discordantes) / n(n−1)/2</a:t>
            </a:r>
            <a:endParaRPr lang="en-US" sz="850" dirty="0"/>
          </a:p>
        </p:txBody>
      </p:sp>
      <p:sp>
        <p:nvSpPr>
          <p:cNvPr id="35" name="Text 33"/>
          <p:cNvSpPr/>
          <p:nvPr/>
        </p:nvSpPr>
        <p:spPr>
          <a:xfrm>
            <a:off x="6190488" y="2212848"/>
            <a:ext cx="2523744"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Cuándo usarlo:</a:t>
            </a:r>
            <a:endParaRPr lang="en-US" sz="1050" dirty="0"/>
          </a:p>
        </p:txBody>
      </p:sp>
      <p:sp>
        <p:nvSpPr>
          <p:cNvPr id="36" name="Text 34"/>
          <p:cNvSpPr/>
          <p:nvPr/>
        </p:nvSpPr>
        <p:spPr>
          <a:xfrm>
            <a:off x="6190488" y="24688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Muestras pequeñas, muchos empates, datos ordinales robustos</a:t>
            </a:r>
            <a:endParaRPr lang="en-US" sz="1000" dirty="0"/>
          </a:p>
        </p:txBody>
      </p:sp>
      <p:sp>
        <p:nvSpPr>
          <p:cNvPr id="37" name="Text 35"/>
          <p:cNvSpPr/>
          <p:nvPr/>
        </p:nvSpPr>
        <p:spPr>
          <a:xfrm>
            <a:off x="6190488" y="2898648"/>
            <a:ext cx="2523744"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Rango:</a:t>
            </a:r>
            <a:endParaRPr lang="en-US" sz="1050" dirty="0"/>
          </a:p>
        </p:txBody>
      </p:sp>
      <p:sp>
        <p:nvSpPr>
          <p:cNvPr id="38" name="Text 36"/>
          <p:cNvSpPr/>
          <p:nvPr/>
        </p:nvSpPr>
        <p:spPr>
          <a:xfrm>
            <a:off x="6190488" y="31546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−1  a  +1</a:t>
            </a:r>
            <a:endParaRPr lang="en-US" sz="1000" dirty="0"/>
          </a:p>
        </p:txBody>
      </p:sp>
      <p:sp>
        <p:nvSpPr>
          <p:cNvPr id="39" name="Text 37"/>
          <p:cNvSpPr/>
          <p:nvPr/>
        </p:nvSpPr>
        <p:spPr>
          <a:xfrm>
            <a:off x="6190488" y="3584448"/>
            <a:ext cx="2523744" cy="256032"/>
          </a:xfrm>
          <a:prstGeom prst="rect">
            <a:avLst/>
          </a:prstGeom>
          <a:noFill/>
          <a:ln/>
        </p:spPr>
        <p:txBody>
          <a:bodyPr wrap="square" rtlCol="0" anchor="ctr"/>
          <a:lstStyle/>
          <a:p>
            <a:pPr marL="0" indent="0">
              <a:buNone/>
            </a:pPr>
            <a:r>
              <a:rPr lang="en-US" sz="1050" b="1" dirty="0">
                <a:solidFill>
                  <a:srgbClr val="8E44AD"/>
                </a:solidFill>
                <a:latin typeface="Calibri" pitchFamily="34" charset="0"/>
                <a:ea typeface="Calibri" pitchFamily="34" charset="-122"/>
                <a:cs typeface="Calibri" pitchFamily="34" charset="-120"/>
              </a:rPr>
              <a:t>Limitación:</a:t>
            </a:r>
            <a:endParaRPr lang="en-US" sz="1050" dirty="0"/>
          </a:p>
        </p:txBody>
      </p:sp>
      <p:sp>
        <p:nvSpPr>
          <p:cNvPr id="40" name="Text 38"/>
          <p:cNvSpPr/>
          <p:nvPr/>
        </p:nvSpPr>
        <p:spPr>
          <a:xfrm>
            <a:off x="6190488" y="3840480"/>
            <a:ext cx="2523744" cy="384048"/>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Mayor costo computacional</a:t>
            </a:r>
            <a:endParaRPr lang="en-US" sz="1000" dirty="0"/>
          </a:p>
        </p:txBody>
      </p:sp>
      <p:sp>
        <p:nvSpPr>
          <p:cNvPr id="41" name="Shape 39"/>
          <p:cNvSpPr/>
          <p:nvPr/>
        </p:nvSpPr>
        <p:spPr>
          <a:xfrm>
            <a:off x="6172200" y="4370832"/>
            <a:ext cx="2560320" cy="347472"/>
          </a:xfrm>
          <a:prstGeom prst="rect">
            <a:avLst/>
          </a:prstGeom>
          <a:solidFill>
            <a:srgbClr val="1E1E2E"/>
          </a:solidFill>
          <a:ln w="12700">
            <a:solidFill>
              <a:srgbClr val="1E1E2E"/>
            </a:solidFill>
            <a:prstDash val="solid"/>
          </a:ln>
        </p:spPr>
        <p:txBody>
          <a:bodyPr/>
          <a:lstStyle/>
          <a:p>
            <a:endParaRPr lang="es-CO"/>
          </a:p>
        </p:txBody>
      </p:sp>
      <p:sp>
        <p:nvSpPr>
          <p:cNvPr id="42" name="Text 40"/>
          <p:cNvSpPr/>
          <p:nvPr/>
        </p:nvSpPr>
        <p:spPr>
          <a:xfrm>
            <a:off x="6217920" y="4370832"/>
            <a:ext cx="2468880" cy="347472"/>
          </a:xfrm>
          <a:prstGeom prst="rect">
            <a:avLst/>
          </a:prstGeom>
          <a:noFill/>
          <a:ln/>
        </p:spPr>
        <p:txBody>
          <a:bodyPr wrap="square" rtlCol="0" anchor="ctr"/>
          <a:lstStyle/>
          <a:p>
            <a:pPr marL="0" indent="0">
              <a:buNone/>
            </a:pPr>
            <a:r>
              <a:rPr lang="en-US" sz="950" dirty="0">
                <a:solidFill>
                  <a:srgbClr val="FFD43B"/>
                </a:solidFill>
                <a:latin typeface="Consolas" pitchFamily="34" charset="0"/>
                <a:ea typeface="Consolas" pitchFamily="34" charset="-122"/>
                <a:cs typeface="Consolas" pitchFamily="34" charset="-120"/>
              </a:rPr>
              <a:t>🐍 df.corr(method='kendall')</a:t>
            </a:r>
            <a:endParaRPr lang="en-US" sz="950" dirty="0"/>
          </a:p>
        </p:txBody>
      </p:sp>
      <p:sp>
        <p:nvSpPr>
          <p:cNvPr id="43" name="Shape 41"/>
          <p:cNvSpPr/>
          <p:nvPr/>
        </p:nvSpPr>
        <p:spPr>
          <a:xfrm>
            <a:off x="228600" y="4754880"/>
            <a:ext cx="8686800" cy="329184"/>
          </a:xfrm>
          <a:prstGeom prst="rect">
            <a:avLst/>
          </a:prstGeom>
          <a:solidFill>
            <a:srgbClr val="FDECEA"/>
          </a:solidFill>
          <a:ln w="12700">
            <a:solidFill>
              <a:srgbClr val="C0392B"/>
            </a:solidFill>
            <a:prstDash val="solid"/>
          </a:ln>
        </p:spPr>
        <p:txBody>
          <a:bodyPr/>
          <a:lstStyle/>
          <a:p>
            <a:endParaRPr lang="es-CO"/>
          </a:p>
        </p:txBody>
      </p:sp>
      <p:sp>
        <p:nvSpPr>
          <p:cNvPr id="44" name="Text 42"/>
          <p:cNvSpPr/>
          <p:nvPr/>
        </p:nvSpPr>
        <p:spPr>
          <a:xfrm>
            <a:off x="320040" y="4736592"/>
            <a:ext cx="8503920" cy="34747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CONCLUSIÓN FUNDAMENTAL: La correlación NO implica causalidad. Una correlación alta entre X e Y puede deberse a una tercera variable Z o ser totalmente espuria.</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8DF2B57-5CB8-85EB-E988-C6D953BF97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4C2847-F6AF-13B4-6448-8AF5BF9A5EFE}"/>
              </a:ext>
            </a:extLst>
          </p:cNvPr>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a:extLst>
              <a:ext uri="{FF2B5EF4-FFF2-40B4-BE49-F238E27FC236}">
                <a16:creationId xmlns:a16="http://schemas.microsoft.com/office/drawing/2014/main" id="{04E5AFCA-A27D-92E7-C45E-BC156AC7980E}"/>
              </a:ext>
            </a:extLst>
          </p:cNvPr>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COEFICIENTES DE CORRELACIÓN — </a:t>
            </a:r>
            <a:r>
              <a:rPr lang="en-US" sz="2000" b="1" dirty="0" err="1">
                <a:solidFill>
                  <a:srgbClr val="FFFFFF"/>
                </a:solidFill>
                <a:latin typeface="Calibri" pitchFamily="34" charset="0"/>
                <a:ea typeface="Calibri" pitchFamily="34" charset="-122"/>
                <a:cs typeface="Calibri" pitchFamily="34" charset="-120"/>
              </a:rPr>
              <a:t>Causalidad</a:t>
            </a:r>
            <a:r>
              <a:rPr lang="en-US" sz="2000" b="1" dirty="0">
                <a:solidFill>
                  <a:srgbClr val="FFFFFF"/>
                </a:solidFill>
                <a:latin typeface="Calibri" pitchFamily="34" charset="0"/>
                <a:ea typeface="Calibri" pitchFamily="34" charset="-122"/>
                <a:cs typeface="Calibri" pitchFamily="34" charset="-120"/>
              </a:rPr>
              <a:t> vs </a:t>
            </a:r>
            <a:r>
              <a:rPr lang="en-US" sz="2000" b="1" dirty="0" err="1">
                <a:solidFill>
                  <a:srgbClr val="FFFFFF"/>
                </a:solidFill>
                <a:latin typeface="Calibri" pitchFamily="34" charset="0"/>
                <a:ea typeface="Calibri" pitchFamily="34" charset="-122"/>
                <a:cs typeface="Calibri" pitchFamily="34" charset="-120"/>
              </a:rPr>
              <a:t>Correlación</a:t>
            </a:r>
            <a:endParaRPr lang="en-US" sz="2000" dirty="0"/>
          </a:p>
        </p:txBody>
      </p:sp>
      <p:sp>
        <p:nvSpPr>
          <p:cNvPr id="43" name="Shape 41">
            <a:extLst>
              <a:ext uri="{FF2B5EF4-FFF2-40B4-BE49-F238E27FC236}">
                <a16:creationId xmlns:a16="http://schemas.microsoft.com/office/drawing/2014/main" id="{06F85884-9C50-517F-88EA-A442F3501A3A}"/>
              </a:ext>
            </a:extLst>
          </p:cNvPr>
          <p:cNvSpPr/>
          <p:nvPr/>
        </p:nvSpPr>
        <p:spPr>
          <a:xfrm>
            <a:off x="228600" y="4828032"/>
            <a:ext cx="8686800" cy="256032"/>
          </a:xfrm>
          <a:prstGeom prst="rect">
            <a:avLst/>
          </a:prstGeom>
          <a:solidFill>
            <a:srgbClr val="FDECEA"/>
          </a:solidFill>
          <a:ln w="12700">
            <a:solidFill>
              <a:srgbClr val="C0392B"/>
            </a:solidFill>
            <a:prstDash val="solid"/>
          </a:ln>
        </p:spPr>
        <p:txBody>
          <a:bodyPr/>
          <a:lstStyle/>
          <a:p>
            <a:endParaRPr lang="es-CO"/>
          </a:p>
        </p:txBody>
      </p:sp>
      <p:sp>
        <p:nvSpPr>
          <p:cNvPr id="44" name="Text 42">
            <a:extLst>
              <a:ext uri="{FF2B5EF4-FFF2-40B4-BE49-F238E27FC236}">
                <a16:creationId xmlns:a16="http://schemas.microsoft.com/office/drawing/2014/main" id="{5229CA9A-D19D-C92E-8677-E599D663B7B5}"/>
              </a:ext>
            </a:extLst>
          </p:cNvPr>
          <p:cNvSpPr/>
          <p:nvPr/>
        </p:nvSpPr>
        <p:spPr>
          <a:xfrm>
            <a:off x="320040" y="4828032"/>
            <a:ext cx="8503920" cy="256032"/>
          </a:xfrm>
          <a:prstGeom prst="rect">
            <a:avLst/>
          </a:prstGeom>
          <a:noFill/>
          <a:ln/>
        </p:spPr>
        <p:txBody>
          <a:bodyPr wrap="square" rtlCol="0" anchor="ctr"/>
          <a:lstStyle/>
          <a:p>
            <a:pPr marL="0" indent="0">
              <a:buNone/>
            </a:pPr>
            <a:r>
              <a:rPr lang="en-US" sz="1000" b="1" dirty="0">
                <a:solidFill>
                  <a:srgbClr val="C0392B"/>
                </a:solidFill>
                <a:latin typeface="Calibri" pitchFamily="34" charset="0"/>
                <a:ea typeface="Calibri" pitchFamily="34" charset="-122"/>
                <a:cs typeface="Calibri" pitchFamily="34" charset="-120"/>
              </a:rPr>
              <a:t>⚠  CONCLUSIÓN FUNDAMENTAL: La correlación NO implica causalidad. Una correlación alta entre X e Y puede deberse a una tercera variable Z o ser totalmente espuria.</a:t>
            </a:r>
            <a:endParaRPr lang="en-US" sz="1000" dirty="0"/>
          </a:p>
        </p:txBody>
      </p:sp>
      <p:pic>
        <p:nvPicPr>
          <p:cNvPr id="46" name="Imagen 45">
            <a:extLst>
              <a:ext uri="{FF2B5EF4-FFF2-40B4-BE49-F238E27FC236}">
                <a16:creationId xmlns:a16="http://schemas.microsoft.com/office/drawing/2014/main" id="{469BE0B9-DD92-6D07-7A69-6C3F1A734CBB}"/>
              </a:ext>
            </a:extLst>
          </p:cNvPr>
          <p:cNvPicPr>
            <a:picLocks noChangeAspect="1"/>
          </p:cNvPicPr>
          <p:nvPr/>
        </p:nvPicPr>
        <p:blipFill>
          <a:blip r:embed="rId3"/>
          <a:stretch>
            <a:fillRect/>
          </a:stretch>
        </p:blipFill>
        <p:spPr>
          <a:xfrm>
            <a:off x="530861" y="1231899"/>
            <a:ext cx="3386728" cy="2032037"/>
          </a:xfrm>
          <a:prstGeom prst="rect">
            <a:avLst/>
          </a:prstGeom>
        </p:spPr>
      </p:pic>
      <p:sp>
        <p:nvSpPr>
          <p:cNvPr id="48" name="CuadroTexto 47">
            <a:extLst>
              <a:ext uri="{FF2B5EF4-FFF2-40B4-BE49-F238E27FC236}">
                <a16:creationId xmlns:a16="http://schemas.microsoft.com/office/drawing/2014/main" id="{A910F264-B265-6D4F-978B-E915C11BEDDA}"/>
              </a:ext>
            </a:extLst>
          </p:cNvPr>
          <p:cNvSpPr txBox="1"/>
          <p:nvPr/>
        </p:nvSpPr>
        <p:spPr>
          <a:xfrm>
            <a:off x="435610" y="4176643"/>
            <a:ext cx="2978150" cy="307777"/>
          </a:xfrm>
          <a:prstGeom prst="rect">
            <a:avLst/>
          </a:prstGeom>
          <a:noFill/>
        </p:spPr>
        <p:txBody>
          <a:bodyPr wrap="square">
            <a:spAutoFit/>
          </a:bodyPr>
          <a:lstStyle/>
          <a:p>
            <a:r>
              <a:rPr lang="es-ES" sz="700" dirty="0">
                <a:hlinkClick r:id="rId4"/>
              </a:rPr>
              <a:t>Las tasas de divorcio en el Reino Unido se correlacionan con las películas de Disney estrenadas (r=0,925)</a:t>
            </a:r>
            <a:endParaRPr lang="es-CO" sz="700" dirty="0"/>
          </a:p>
        </p:txBody>
      </p:sp>
      <p:sp>
        <p:nvSpPr>
          <p:cNvPr id="50" name="CuadroTexto 49">
            <a:extLst>
              <a:ext uri="{FF2B5EF4-FFF2-40B4-BE49-F238E27FC236}">
                <a16:creationId xmlns:a16="http://schemas.microsoft.com/office/drawing/2014/main" id="{E60A5953-327C-B67F-1BBF-A8DE562AD994}"/>
              </a:ext>
            </a:extLst>
          </p:cNvPr>
          <p:cNvSpPr txBox="1"/>
          <p:nvPr/>
        </p:nvSpPr>
        <p:spPr>
          <a:xfrm>
            <a:off x="365760" y="3355377"/>
            <a:ext cx="3270251" cy="738664"/>
          </a:xfrm>
          <a:prstGeom prst="rect">
            <a:avLst/>
          </a:prstGeom>
          <a:noFill/>
        </p:spPr>
        <p:txBody>
          <a:bodyPr wrap="square">
            <a:spAutoFit/>
          </a:bodyPr>
          <a:lstStyle/>
          <a:p>
            <a:r>
              <a:rPr lang="es-ES" sz="600" b="0" i="0" dirty="0">
                <a:solidFill>
                  <a:srgbClr val="111111"/>
                </a:solidFill>
                <a:effectLst/>
                <a:latin typeface="Segoe UI" panose="020B0502040204020203" pitchFamily="34" charset="0"/>
              </a:rPr>
              <a:t>Como dice el refrán, 'felices para siempre' adquirió un significado completamente nuevo en el Reino Unido. Parece que, a medida que las parejas se separaban menos, se quedaban para ver más comedias románticas conmovedoras en lugar de buscar consuelo en cuentos animados. Así que, a medida que las tasas de divorcio caían en picado, Disney se dio cuenta de que había 'menos separaciones, más animaciones'. Es una historia tan antigua como el tiempo: el amor lo conquista todo, ¡incluso las cifras de taquilla!</a:t>
            </a:r>
            <a:br>
              <a:rPr lang="es-ES" sz="600" dirty="0"/>
            </a:br>
            <a:endParaRPr lang="es-CO" sz="600" dirty="0"/>
          </a:p>
        </p:txBody>
      </p:sp>
      <p:pic>
        <p:nvPicPr>
          <p:cNvPr id="52" name="Imagen 51">
            <a:extLst>
              <a:ext uri="{FF2B5EF4-FFF2-40B4-BE49-F238E27FC236}">
                <a16:creationId xmlns:a16="http://schemas.microsoft.com/office/drawing/2014/main" id="{E8D62CA5-0F7F-BF47-2C30-0E17658CE095}"/>
              </a:ext>
            </a:extLst>
          </p:cNvPr>
          <p:cNvPicPr>
            <a:picLocks noChangeAspect="1"/>
          </p:cNvPicPr>
          <p:nvPr/>
        </p:nvPicPr>
        <p:blipFill>
          <a:blip r:embed="rId5"/>
          <a:stretch>
            <a:fillRect/>
          </a:stretch>
        </p:blipFill>
        <p:spPr>
          <a:xfrm>
            <a:off x="4937760" y="1166572"/>
            <a:ext cx="3331716" cy="2032037"/>
          </a:xfrm>
          <a:prstGeom prst="rect">
            <a:avLst/>
          </a:prstGeom>
        </p:spPr>
      </p:pic>
      <p:sp>
        <p:nvSpPr>
          <p:cNvPr id="54" name="CuadroTexto 53">
            <a:extLst>
              <a:ext uri="{FF2B5EF4-FFF2-40B4-BE49-F238E27FC236}">
                <a16:creationId xmlns:a16="http://schemas.microsoft.com/office/drawing/2014/main" id="{2CE71207-E42E-2A9D-915C-079116564884}"/>
              </a:ext>
            </a:extLst>
          </p:cNvPr>
          <p:cNvSpPr txBox="1"/>
          <p:nvPr/>
        </p:nvSpPr>
        <p:spPr>
          <a:xfrm>
            <a:off x="4937760" y="3378148"/>
            <a:ext cx="3270251" cy="523220"/>
          </a:xfrm>
          <a:prstGeom prst="rect">
            <a:avLst/>
          </a:prstGeom>
          <a:noFill/>
        </p:spPr>
        <p:txBody>
          <a:bodyPr wrap="square">
            <a:spAutoFit/>
          </a:bodyPr>
          <a:lstStyle/>
          <a:p>
            <a:r>
              <a:rPr lang="es-ES" sz="700" b="0" i="0" dirty="0">
                <a:solidFill>
                  <a:srgbClr val="111111"/>
                </a:solidFill>
                <a:effectLst/>
                <a:latin typeface="Segoe UI" panose="020B0502040204020203" pitchFamily="34" charset="0"/>
              </a:rPr>
              <a:t>A medida que menos personas encendían, hubo una reducción significativa en las oportunidades de incendios 'calientes' para incendios accidentales. Además, sin tanto fumar, había mucho menos deseo 'ardiente' de cometer un incendio provocado.</a:t>
            </a:r>
            <a:endParaRPr lang="es-CO" sz="700" dirty="0"/>
          </a:p>
        </p:txBody>
      </p:sp>
      <p:sp>
        <p:nvSpPr>
          <p:cNvPr id="56" name="CuadroTexto 55">
            <a:extLst>
              <a:ext uri="{FF2B5EF4-FFF2-40B4-BE49-F238E27FC236}">
                <a16:creationId xmlns:a16="http://schemas.microsoft.com/office/drawing/2014/main" id="{47A59C87-9D13-DD6D-0EFE-F5FF0947FFD5}"/>
              </a:ext>
            </a:extLst>
          </p:cNvPr>
          <p:cNvSpPr txBox="1"/>
          <p:nvPr/>
        </p:nvSpPr>
        <p:spPr>
          <a:xfrm>
            <a:off x="4937760" y="4207121"/>
            <a:ext cx="3340100" cy="169277"/>
          </a:xfrm>
          <a:prstGeom prst="rect">
            <a:avLst/>
          </a:prstGeom>
          <a:noFill/>
        </p:spPr>
        <p:txBody>
          <a:bodyPr wrap="square">
            <a:spAutoFit/>
          </a:bodyPr>
          <a:lstStyle/>
          <a:p>
            <a:r>
              <a:rPr lang="es-ES" sz="500" dirty="0">
                <a:hlinkClick r:id="rId6"/>
              </a:rPr>
              <a:t>La tasa de tabaquismo en adultos estadounidenses se correlaciona con el incendio provocado en Estados Unidos (r=0,945)</a:t>
            </a:r>
            <a:endParaRPr lang="es-CO" sz="500" dirty="0"/>
          </a:p>
        </p:txBody>
      </p:sp>
    </p:spTree>
    <p:extLst>
      <p:ext uri="{BB962C8B-B14F-4D97-AF65-F5344CB8AC3E}">
        <p14:creationId xmlns:p14="http://schemas.microsoft.com/office/powerpoint/2010/main" val="36657196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0C160FE-FEAA-47B3-913D-68B71435AC59}"/>
              </a:ext>
            </a:extLst>
          </p:cNvPr>
          <p:cNvSpPr/>
          <p:nvPr/>
        </p:nvSpPr>
        <p:spPr>
          <a:xfrm>
            <a:off x="0" y="0"/>
            <a:ext cx="9144000" cy="762000"/>
          </a:xfrm>
          <a:prstGeom prst="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C288278D-1A55-45AC-B9D6-0C5BDA99164C}"/>
              </a:ext>
            </a:extLst>
          </p:cNvPr>
          <p:cNvSpPr txBox="1"/>
          <p:nvPr/>
        </p:nvSpPr>
        <p:spPr>
          <a:xfrm>
            <a:off x="368300" y="180945"/>
            <a:ext cx="8407400" cy="400110"/>
          </a:xfrm>
          <a:prstGeom prst="rect">
            <a:avLst/>
          </a:prstGeom>
          <a:noFill/>
        </p:spPr>
        <p:txBody>
          <a:bodyPr vertOverflow="overflow" vert="horz" wrap="square" rtlCol="0" anchor="ctr" anchorCtr="0">
            <a:spAutoFit/>
          </a:bodyPr>
          <a:lstStyle/>
          <a:p>
            <a:pPr algn="l"/>
            <a:r>
              <a:rPr lang="es-ES" sz="2000" b="1" dirty="0">
                <a:solidFill>
                  <a:srgbClr val="FFFFFF"/>
                </a:solidFill>
                <a:latin typeface="Calibri"/>
                <a:ea typeface="Calibri"/>
                <a:cs typeface="Calibri"/>
              </a:rPr>
              <a:t>ECUACIÓN DE LA RECTA</a:t>
            </a:r>
            <a:endParaRPr lang="es-CO" sz="2000" b="1" dirty="0">
              <a:solidFill>
                <a:srgbClr val="FFFFFF"/>
              </a:solidFill>
              <a:latin typeface="Calibri"/>
              <a:ea typeface="Calibri"/>
              <a:cs typeface="Calibri"/>
            </a:endParaRPr>
          </a:p>
        </p:txBody>
      </p:sp>
      <p:sp>
        <p:nvSpPr>
          <p:cNvPr id="4" name="Rectángulo: esquinas redondeadas 3">
            <a:extLst>
              <a:ext uri="{FF2B5EF4-FFF2-40B4-BE49-F238E27FC236}">
                <a16:creationId xmlns:a16="http://schemas.microsoft.com/office/drawing/2014/main" id="{33DD496A-920F-4AC8-9ADA-EAD55FA98F06}"/>
              </a:ext>
            </a:extLst>
          </p:cNvPr>
          <p:cNvSpPr/>
          <p:nvPr/>
        </p:nvSpPr>
        <p:spPr>
          <a:xfrm>
            <a:off x="228600" y="863600"/>
            <a:ext cx="2857500" cy="41275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esquinas redondeadas 4">
            <a:extLst>
              <a:ext uri="{FF2B5EF4-FFF2-40B4-BE49-F238E27FC236}">
                <a16:creationId xmlns:a16="http://schemas.microsoft.com/office/drawing/2014/main" id="{6BA77FA8-37FF-4474-B18C-CC582897D1AB}"/>
              </a:ext>
            </a:extLst>
          </p:cNvPr>
          <p:cNvSpPr/>
          <p:nvPr/>
        </p:nvSpPr>
        <p:spPr>
          <a:xfrm>
            <a:off x="228600" y="863600"/>
            <a:ext cx="2857500" cy="381000"/>
          </a:xfrm>
          <a:prstGeom prst="roundRect">
            <a:avLst/>
          </a:prstGeom>
          <a:solidFill>
            <a:srgbClr val="0D737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04BA6C0A-9180-439F-8638-9E907F2D3ACC}"/>
              </a:ext>
            </a:extLst>
          </p:cNvPr>
          <p:cNvSpPr txBox="1"/>
          <p:nvPr/>
        </p:nvSpPr>
        <p:spPr>
          <a:xfrm>
            <a:off x="317500" y="889000"/>
            <a:ext cx="2667000" cy="330200"/>
          </a:xfrm>
          <a:prstGeom prst="rect">
            <a:avLst/>
          </a:prstGeom>
          <a:noFill/>
        </p:spPr>
        <p:txBody>
          <a:bodyPr vertOverflow="overflow" vert="horz" wrap="square" rtlCol="0" anchor="ctr" anchorCtr="0">
            <a:spAutoFit/>
          </a:bodyPr>
          <a:lstStyle/>
          <a:p>
            <a:pPr algn="l"/>
            <a:r>
              <a:rPr lang="es-CO" sz="1400" b="1">
                <a:solidFill>
                  <a:srgbClr val="FFFFFF"/>
                </a:solidFill>
                <a:latin typeface="Calibri"/>
                <a:ea typeface="Calibri"/>
                <a:cs typeface="Calibri"/>
              </a:rPr>
              <a:t>Definición</a:t>
            </a:r>
          </a:p>
        </p:txBody>
      </p:sp>
      <p:sp>
        <p:nvSpPr>
          <p:cNvPr id="7" name="CuadroTexto 6">
            <a:extLst>
              <a:ext uri="{FF2B5EF4-FFF2-40B4-BE49-F238E27FC236}">
                <a16:creationId xmlns:a16="http://schemas.microsoft.com/office/drawing/2014/main" id="{658FCD83-F9B6-4456-B40C-406CBDDCD446}"/>
              </a:ext>
            </a:extLst>
          </p:cNvPr>
          <p:cNvSpPr txBox="1"/>
          <p:nvPr/>
        </p:nvSpPr>
        <p:spPr>
          <a:xfrm>
            <a:off x="317500" y="1295400"/>
            <a:ext cx="2667000" cy="16510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La ecuación de la recta describe la relación lineal entre dos variables. En el plano cartesiano, una recta queda definida por su pendiente (m) y su intersección con el eje Y (b).
La pendiente indica cuánto cambia Y por cada unidad de cambio en X. Si m &gt; 0, la recta es creciente; si m &lt; 0, decreciente; si m = 0, horizontal.</a:t>
            </a:r>
            <a:endParaRPr lang="es-CO" sz="1000">
              <a:solidFill>
                <a:srgbClr val="1E293B"/>
              </a:solidFill>
              <a:latin typeface="Calibri"/>
              <a:ea typeface="Calibri"/>
              <a:cs typeface="Calibri"/>
            </a:endParaRPr>
          </a:p>
        </p:txBody>
      </p:sp>
      <p:sp>
        <p:nvSpPr>
          <p:cNvPr id="8" name="CuadroTexto 7">
            <a:extLst>
              <a:ext uri="{FF2B5EF4-FFF2-40B4-BE49-F238E27FC236}">
                <a16:creationId xmlns:a16="http://schemas.microsoft.com/office/drawing/2014/main" id="{5334CA18-550C-4A5C-8D72-73894B4D65AF}"/>
              </a:ext>
            </a:extLst>
          </p:cNvPr>
          <p:cNvSpPr txBox="1"/>
          <p:nvPr/>
        </p:nvSpPr>
        <p:spPr>
          <a:xfrm>
            <a:off x="317500" y="2971800"/>
            <a:ext cx="2667000" cy="203200"/>
          </a:xfrm>
          <a:prstGeom prst="rect">
            <a:avLst/>
          </a:prstGeom>
          <a:noFill/>
        </p:spPr>
        <p:txBody>
          <a:bodyPr vertOverflow="overflow" vert="horz" wrap="square" rtlCol="0" anchor="t">
            <a:spAutoFit/>
          </a:bodyPr>
          <a:lstStyle/>
          <a:p>
            <a:pPr algn="l"/>
            <a:r>
              <a:rPr lang="es-CO" sz="1000" b="1">
                <a:solidFill>
                  <a:srgbClr val="0D7377"/>
                </a:solidFill>
                <a:latin typeface="Calibri"/>
                <a:ea typeface="Calibri"/>
                <a:cs typeface="Calibri"/>
              </a:rPr>
              <a:t>Interpretación:</a:t>
            </a:r>
          </a:p>
        </p:txBody>
      </p:sp>
      <p:sp>
        <p:nvSpPr>
          <p:cNvPr id="9" name="CuadroTexto 8">
            <a:extLst>
              <a:ext uri="{FF2B5EF4-FFF2-40B4-BE49-F238E27FC236}">
                <a16:creationId xmlns:a16="http://schemas.microsoft.com/office/drawing/2014/main" id="{72D7A14E-DD37-4573-800D-8ADF96217CD5}"/>
              </a:ext>
            </a:extLst>
          </p:cNvPr>
          <p:cNvSpPr txBox="1"/>
          <p:nvPr/>
        </p:nvSpPr>
        <p:spPr>
          <a:xfrm>
            <a:off x="317500" y="3200400"/>
            <a:ext cx="2667000" cy="698500"/>
          </a:xfrm>
          <a:prstGeom prst="rect">
            <a:avLst/>
          </a:prstGeom>
          <a:noFill/>
        </p:spPr>
        <p:txBody>
          <a:bodyPr vertOverflow="overflow" vert="horz" wrap="square" rtlCol="0" anchor="t">
            <a:noAutofit/>
          </a:bodyPr>
          <a:lstStyle/>
          <a:p>
            <a:pPr algn="l"/>
            <a:r>
              <a:rPr lang="es-ES" sz="1000">
                <a:solidFill>
                  <a:srgbClr val="64748B"/>
                </a:solidFill>
                <a:latin typeface="Calibri"/>
                <a:ea typeface="Calibri"/>
                <a:cs typeface="Calibri"/>
              </a:rPr>
              <a:t>• m (pendiente) = tasa de cambio
• b (intercepto) = valor de Y cuando X = 0
• f(x) predice Y para cualquier X</a:t>
            </a:r>
            <a:endParaRPr lang="es-CO" sz="1000">
              <a:solidFill>
                <a:srgbClr val="64748B"/>
              </a:solidFill>
              <a:latin typeface="Calibri"/>
              <a:ea typeface="Calibri"/>
              <a:cs typeface="Calibri"/>
            </a:endParaRPr>
          </a:p>
        </p:txBody>
      </p:sp>
      <p:sp>
        <p:nvSpPr>
          <p:cNvPr id="10" name="Rectángulo: esquinas redondeadas 9">
            <a:extLst>
              <a:ext uri="{FF2B5EF4-FFF2-40B4-BE49-F238E27FC236}">
                <a16:creationId xmlns:a16="http://schemas.microsoft.com/office/drawing/2014/main" id="{1803BC4C-1893-4AE8-8B75-EDDCBE217C6D}"/>
              </a:ext>
            </a:extLst>
          </p:cNvPr>
          <p:cNvSpPr/>
          <p:nvPr/>
        </p:nvSpPr>
        <p:spPr>
          <a:xfrm>
            <a:off x="317500" y="3937000"/>
            <a:ext cx="2667000" cy="952500"/>
          </a:xfrm>
          <a:prstGeom prst="roundRect">
            <a:avLst/>
          </a:prstGeom>
          <a:solidFill>
            <a:srgbClr val="1E1E2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CuadroTexto 10">
            <a:extLst>
              <a:ext uri="{FF2B5EF4-FFF2-40B4-BE49-F238E27FC236}">
                <a16:creationId xmlns:a16="http://schemas.microsoft.com/office/drawing/2014/main" id="{9ECD0149-8575-4A0B-8369-6E5CDD43A9D6}"/>
              </a:ext>
            </a:extLst>
          </p:cNvPr>
          <p:cNvSpPr txBox="1"/>
          <p:nvPr/>
        </p:nvSpPr>
        <p:spPr>
          <a:xfrm>
            <a:off x="368300" y="3987800"/>
            <a:ext cx="2565400" cy="850900"/>
          </a:xfrm>
          <a:prstGeom prst="rect">
            <a:avLst/>
          </a:prstGeom>
          <a:noFill/>
        </p:spPr>
        <p:txBody>
          <a:bodyPr vertOverflow="overflow" vert="horz" wrap="square" rtlCol="0" anchor="t">
            <a:noAutofit/>
          </a:bodyPr>
          <a:lstStyle/>
          <a:p>
            <a:pPr algn="l"/>
            <a:r>
              <a:rPr lang="es-ES" sz="800">
                <a:solidFill>
                  <a:srgbClr val="FFD43B"/>
                </a:solidFill>
                <a:latin typeface="Consolas"/>
              </a:rPr>
              <a:t># Definir función de la recta
def recta(x, m, b):
    return m * x + b
# Ejemplo: y = 2x + 3
print(recta(5, 2, 3))  # → 13</a:t>
            </a:r>
            <a:endParaRPr lang="es-CO" sz="800">
              <a:solidFill>
                <a:srgbClr val="FFD43B"/>
              </a:solidFill>
              <a:latin typeface="Consolas"/>
            </a:endParaRPr>
          </a:p>
        </p:txBody>
      </p:sp>
      <p:sp>
        <p:nvSpPr>
          <p:cNvPr id="12" name="Rectángulo: esquinas redondeadas 11">
            <a:extLst>
              <a:ext uri="{FF2B5EF4-FFF2-40B4-BE49-F238E27FC236}">
                <a16:creationId xmlns:a16="http://schemas.microsoft.com/office/drawing/2014/main" id="{4B6B19D8-A4AA-4DA1-8BD3-AC9A4D71E51D}"/>
              </a:ext>
            </a:extLst>
          </p:cNvPr>
          <p:cNvSpPr/>
          <p:nvPr/>
        </p:nvSpPr>
        <p:spPr>
          <a:xfrm>
            <a:off x="3213100" y="863600"/>
            <a:ext cx="2730500" cy="1524000"/>
          </a:xfrm>
          <a:prstGeom prst="roundRect">
            <a:avLst/>
          </a:prstGeom>
          <a:solidFill>
            <a:srgbClr val="F0F9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Rectángulo: esquinas redondeadas 12">
            <a:extLst>
              <a:ext uri="{FF2B5EF4-FFF2-40B4-BE49-F238E27FC236}">
                <a16:creationId xmlns:a16="http://schemas.microsoft.com/office/drawing/2014/main" id="{0BC2CE07-5089-44F2-8F7E-FDB020CB71EF}"/>
              </a:ext>
            </a:extLst>
          </p:cNvPr>
          <p:cNvSpPr/>
          <p:nvPr/>
        </p:nvSpPr>
        <p:spPr>
          <a:xfrm>
            <a:off x="3213100" y="863600"/>
            <a:ext cx="2730500" cy="381000"/>
          </a:xfrm>
          <a:prstGeom prst="roundRect">
            <a:avLst/>
          </a:prstGeom>
          <a:solidFill>
            <a:srgbClr val="3776A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4" name="CuadroTexto 13">
            <a:extLst>
              <a:ext uri="{FF2B5EF4-FFF2-40B4-BE49-F238E27FC236}">
                <a16:creationId xmlns:a16="http://schemas.microsoft.com/office/drawing/2014/main" id="{DD9BA331-1DCE-42BA-A91B-C6F46DE07212}"/>
              </a:ext>
            </a:extLst>
          </p:cNvPr>
          <p:cNvSpPr txBox="1"/>
          <p:nvPr/>
        </p:nvSpPr>
        <p:spPr>
          <a:xfrm>
            <a:off x="3302000" y="889000"/>
            <a:ext cx="2540000" cy="330200"/>
          </a:xfrm>
          <a:prstGeom prst="rect">
            <a:avLst/>
          </a:prstGeom>
          <a:noFill/>
        </p:spPr>
        <p:txBody>
          <a:bodyPr vertOverflow="overflow" vert="horz" wrap="square" rtlCol="0" anchor="ctr" anchorCtr="0">
            <a:spAutoFit/>
          </a:bodyPr>
          <a:lstStyle/>
          <a:p>
            <a:pPr algn="l"/>
            <a:r>
              <a:rPr lang="es-CO" sz="1400" b="1">
                <a:solidFill>
                  <a:srgbClr val="FFFFFF"/>
                </a:solidFill>
                <a:latin typeface="Calibri"/>
                <a:ea typeface="Calibri"/>
                <a:cs typeface="Calibri"/>
              </a:rPr>
              <a:t>Forma general</a:t>
            </a:r>
          </a:p>
        </p:txBody>
      </p:sp>
      <p:sp>
        <p:nvSpPr>
          <p:cNvPr id="15" name="CuadroTexto 14">
            <a:extLst>
              <a:ext uri="{FF2B5EF4-FFF2-40B4-BE49-F238E27FC236}">
                <a16:creationId xmlns:a16="http://schemas.microsoft.com/office/drawing/2014/main" id="{5D2DD8DC-8AAA-4CD6-B1AE-59E6640FC8E9}"/>
              </a:ext>
            </a:extLst>
          </p:cNvPr>
          <p:cNvSpPr txBox="1"/>
          <p:nvPr/>
        </p:nvSpPr>
        <p:spPr>
          <a:xfrm>
            <a:off x="3213100" y="1270000"/>
            <a:ext cx="2730500" cy="508000"/>
          </a:xfrm>
          <a:prstGeom prst="rect">
            <a:avLst/>
          </a:prstGeom>
          <a:noFill/>
        </p:spPr>
        <p:txBody>
          <a:bodyPr vertOverflow="overflow" vert="horz" wrap="square" rtlCol="0" anchor="ctr" anchorCtr="0">
            <a:spAutoFit/>
          </a:bodyPr>
          <a:lstStyle/>
          <a:p>
            <a:pPr algn="l"/>
            <a:r>
              <a:rPr lang="es-CO" sz="2800" b="1">
                <a:solidFill>
                  <a:srgbClr val="0D7377"/>
                </a:solidFill>
                <a:latin typeface="Calibri"/>
                <a:ea typeface="Calibri"/>
                <a:cs typeface="Calibri"/>
              </a:rPr>
              <a:t>y = mx + b</a:t>
            </a:r>
          </a:p>
        </p:txBody>
      </p:sp>
      <p:sp>
        <p:nvSpPr>
          <p:cNvPr id="16" name="CuadroTexto 15">
            <a:extLst>
              <a:ext uri="{FF2B5EF4-FFF2-40B4-BE49-F238E27FC236}">
                <a16:creationId xmlns:a16="http://schemas.microsoft.com/office/drawing/2014/main" id="{C011E189-35AD-49A1-A47B-B9F81EAF9A66}"/>
              </a:ext>
            </a:extLst>
          </p:cNvPr>
          <p:cNvSpPr txBox="1"/>
          <p:nvPr/>
        </p:nvSpPr>
        <p:spPr>
          <a:xfrm>
            <a:off x="3213100" y="1778000"/>
            <a:ext cx="2730500" cy="381000"/>
          </a:xfrm>
          <a:prstGeom prst="rect">
            <a:avLst/>
          </a:prstGeom>
          <a:noFill/>
        </p:spPr>
        <p:txBody>
          <a:bodyPr vertOverflow="overflow" vert="horz" wrap="square" rtlCol="0" anchor="ctr" anchorCtr="0">
            <a:spAutoFit/>
          </a:bodyPr>
          <a:lstStyle/>
          <a:p>
            <a:pPr algn="l"/>
            <a:r>
              <a:rPr lang="es-CO" b="1">
                <a:solidFill>
                  <a:srgbClr val="3776AB"/>
                </a:solidFill>
                <a:latin typeface="Calibri"/>
                <a:ea typeface="Calibri"/>
                <a:cs typeface="Calibri"/>
              </a:rPr>
              <a:t>f(x) = mx + b</a:t>
            </a:r>
          </a:p>
        </p:txBody>
      </p:sp>
      <p:sp>
        <p:nvSpPr>
          <p:cNvPr id="17" name="Rectángulo: esquinas redondeadas 16">
            <a:extLst>
              <a:ext uri="{FF2B5EF4-FFF2-40B4-BE49-F238E27FC236}">
                <a16:creationId xmlns:a16="http://schemas.microsoft.com/office/drawing/2014/main" id="{C8F4119D-E4A9-4636-9DE1-74784C4AEADC}"/>
              </a:ext>
            </a:extLst>
          </p:cNvPr>
          <p:cNvSpPr/>
          <p:nvPr/>
        </p:nvSpPr>
        <p:spPr>
          <a:xfrm>
            <a:off x="3213100" y="2514600"/>
            <a:ext cx="2730500" cy="1270000"/>
          </a:xfrm>
          <a:prstGeom prst="round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8" name="CuadroTexto 17">
            <a:extLst>
              <a:ext uri="{FF2B5EF4-FFF2-40B4-BE49-F238E27FC236}">
                <a16:creationId xmlns:a16="http://schemas.microsoft.com/office/drawing/2014/main" id="{8CE8387C-A657-4EA3-9D73-F513FAC1AEDA}"/>
              </a:ext>
            </a:extLst>
          </p:cNvPr>
          <p:cNvSpPr txBox="1"/>
          <p:nvPr/>
        </p:nvSpPr>
        <p:spPr>
          <a:xfrm>
            <a:off x="3302000" y="2590800"/>
            <a:ext cx="2540000" cy="1117600"/>
          </a:xfrm>
          <a:prstGeom prst="rect">
            <a:avLst/>
          </a:prstGeom>
          <a:noFill/>
        </p:spPr>
        <p:txBody>
          <a:bodyPr vertOverflow="overflow" vert="horz" wrap="square" rtlCol="0" anchor="t">
            <a:noAutofit/>
          </a:bodyPr>
          <a:lstStyle/>
          <a:p>
            <a:pPr algn="l"/>
            <a:r>
              <a:rPr lang="es-ES" sz="1000">
                <a:solidFill>
                  <a:srgbClr val="1E293B"/>
                </a:solidFill>
                <a:latin typeface="Calibri"/>
                <a:ea typeface="Calibri"/>
                <a:cs typeface="Calibri"/>
              </a:rPr>
              <a:t>Donde:
  y = variable dependiente (respuesta)
  x = variable independiente (predictor)
  m = pendiente de la recta
  b = intercepto (corte con eje Y)</a:t>
            </a:r>
            <a:endParaRPr lang="es-CO" sz="1000">
              <a:solidFill>
                <a:srgbClr val="1E293B"/>
              </a:solidFill>
              <a:latin typeface="Calibri"/>
              <a:ea typeface="Calibri"/>
              <a:cs typeface="Calibri"/>
            </a:endParaRPr>
          </a:p>
        </p:txBody>
      </p:sp>
      <p:sp>
        <p:nvSpPr>
          <p:cNvPr id="19" name="Rectángulo: esquinas redondeadas 18">
            <a:extLst>
              <a:ext uri="{FF2B5EF4-FFF2-40B4-BE49-F238E27FC236}">
                <a16:creationId xmlns:a16="http://schemas.microsoft.com/office/drawing/2014/main" id="{AEDE2C6E-E380-4F50-AE70-8A4ACCC1D352}"/>
              </a:ext>
            </a:extLst>
          </p:cNvPr>
          <p:cNvSpPr/>
          <p:nvPr/>
        </p:nvSpPr>
        <p:spPr>
          <a:xfrm>
            <a:off x="3213100" y="3911600"/>
            <a:ext cx="2730500" cy="1041400"/>
          </a:xfrm>
          <a:prstGeom prst="roundRect">
            <a:avLst/>
          </a:prstGeom>
          <a:solidFill>
            <a:srgbClr val="FFF8E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0" name="CuadroTexto 19">
            <a:extLst>
              <a:ext uri="{FF2B5EF4-FFF2-40B4-BE49-F238E27FC236}">
                <a16:creationId xmlns:a16="http://schemas.microsoft.com/office/drawing/2014/main" id="{C7A3EF51-9E5C-4FEB-B628-F50C865DB11C}"/>
              </a:ext>
            </a:extLst>
          </p:cNvPr>
          <p:cNvSpPr txBox="1"/>
          <p:nvPr/>
        </p:nvSpPr>
        <p:spPr>
          <a:xfrm>
            <a:off x="3302000" y="3937000"/>
            <a:ext cx="2540000" cy="254000"/>
          </a:xfrm>
          <a:prstGeom prst="rect">
            <a:avLst/>
          </a:prstGeom>
          <a:noFill/>
        </p:spPr>
        <p:txBody>
          <a:bodyPr vertOverflow="overflow" vert="horz" wrap="square" rtlCol="0" anchor="t">
            <a:spAutoFit/>
          </a:bodyPr>
          <a:lstStyle/>
          <a:p>
            <a:pPr algn="l"/>
            <a:r>
              <a:rPr lang="es-CO" sz="1100" b="1">
                <a:solidFill>
                  <a:srgbClr val="E8A838"/>
                </a:solidFill>
                <a:latin typeface="Calibri"/>
                <a:ea typeface="Calibri"/>
                <a:cs typeface="Calibri"/>
              </a:rPr>
              <a:t>Ejemplo numérico</a:t>
            </a:r>
          </a:p>
        </p:txBody>
      </p:sp>
      <p:sp>
        <p:nvSpPr>
          <p:cNvPr id="21" name="CuadroTexto 20">
            <a:extLst>
              <a:ext uri="{FF2B5EF4-FFF2-40B4-BE49-F238E27FC236}">
                <a16:creationId xmlns:a16="http://schemas.microsoft.com/office/drawing/2014/main" id="{5985EC22-EC56-4081-9FB8-6FBD0639DC03}"/>
              </a:ext>
            </a:extLst>
          </p:cNvPr>
          <p:cNvSpPr txBox="1"/>
          <p:nvPr/>
        </p:nvSpPr>
        <p:spPr>
          <a:xfrm>
            <a:off x="3302000" y="4216400"/>
            <a:ext cx="2540000" cy="698500"/>
          </a:xfrm>
          <a:prstGeom prst="rect">
            <a:avLst/>
          </a:prstGeom>
          <a:noFill/>
        </p:spPr>
        <p:txBody>
          <a:bodyPr vertOverflow="overflow" vert="horz" wrap="square" rtlCol="0" anchor="t">
            <a:noAutofit/>
          </a:bodyPr>
          <a:lstStyle/>
          <a:p>
            <a:pPr algn="l"/>
            <a:r>
              <a:rPr lang="fr-FR" sz="1000">
                <a:solidFill>
                  <a:srgbClr val="1E293B"/>
                </a:solidFill>
                <a:latin typeface="Calibri"/>
                <a:ea typeface="Calibri"/>
                <a:cs typeface="Calibri"/>
              </a:rPr>
              <a:t>Si m = 2 y b = 3 → f(x) = 2x + 3
  f(0) = 3      f(1) = 5
  f(2) = 7      f(5) = 13
  f(10) = 23    f(-1) = 1</a:t>
            </a:r>
            <a:endParaRPr lang="es-CO" sz="1000">
              <a:solidFill>
                <a:srgbClr val="1E293B"/>
              </a:solidFill>
              <a:latin typeface="Calibri"/>
              <a:ea typeface="Calibri"/>
              <a:cs typeface="Calibri"/>
            </a:endParaRPr>
          </a:p>
        </p:txBody>
      </p:sp>
      <p:graphicFrame>
        <p:nvGraphicFramePr>
          <p:cNvPr id="101" name="Chart Recta"/>
          <p:cNvGraphicFramePr/>
          <p:nvPr/>
        </p:nvGraphicFramePr>
        <p:xfrm>
          <a:off x="6083300" y="863600"/>
          <a:ext cx="2857500" cy="4089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440112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5C"/>
          </a:solidFill>
          <a:ln w="12700">
            <a:solidFill>
              <a:srgbClr val="1A3A5C"/>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¿QUÉ ES LA REGRESIÓN LINEAL?</a:t>
            </a:r>
            <a:endParaRPr lang="en-US" sz="2200" dirty="0"/>
          </a:p>
        </p:txBody>
      </p:sp>
      <p:sp>
        <p:nvSpPr>
          <p:cNvPr id="4" name="Shape 2"/>
          <p:cNvSpPr/>
          <p:nvPr/>
        </p:nvSpPr>
        <p:spPr>
          <a:xfrm>
            <a:off x="0" y="914400"/>
            <a:ext cx="9144000" cy="54864"/>
          </a:xfrm>
          <a:prstGeom prst="rect">
            <a:avLst/>
          </a:prstGeom>
          <a:solidFill>
            <a:srgbClr val="0D7377"/>
          </a:solidFill>
          <a:ln w="12700">
            <a:solidFill>
              <a:srgbClr val="0D7377"/>
            </a:solidFill>
            <a:prstDash val="solid"/>
          </a:ln>
        </p:spPr>
        <p:txBody>
          <a:bodyPr/>
          <a:lstStyle/>
          <a:p>
            <a:endParaRPr lang="es-CO"/>
          </a:p>
        </p:txBody>
      </p:sp>
      <p:sp>
        <p:nvSpPr>
          <p:cNvPr id="5" name="Text 3"/>
          <p:cNvSpPr/>
          <p:nvPr/>
        </p:nvSpPr>
        <p:spPr>
          <a:xfrm>
            <a:off x="365760" y="1188720"/>
            <a:ext cx="4114800" cy="365760"/>
          </a:xfrm>
          <a:prstGeom prst="rect">
            <a:avLst/>
          </a:prstGeom>
          <a:noFill/>
          <a:ln/>
        </p:spPr>
        <p:txBody>
          <a:bodyPr wrap="square" rtlCol="0" anchor="ctr"/>
          <a:lstStyle/>
          <a:p>
            <a:pPr marL="0" indent="0">
              <a:buNone/>
            </a:pPr>
            <a:r>
              <a:rPr lang="en-US" sz="1400" b="1" dirty="0">
                <a:solidFill>
                  <a:srgbClr val="0D7377"/>
                </a:solidFill>
                <a:latin typeface="Calibri" pitchFamily="34" charset="0"/>
                <a:ea typeface="Calibri" pitchFamily="34" charset="-122"/>
                <a:cs typeface="Calibri" pitchFamily="34" charset="-120"/>
              </a:rPr>
              <a:t>Definición</a:t>
            </a:r>
            <a:endParaRPr lang="en-US" sz="1400" dirty="0"/>
          </a:p>
        </p:txBody>
      </p:sp>
      <p:sp>
        <p:nvSpPr>
          <p:cNvPr id="6" name="Text 4"/>
          <p:cNvSpPr/>
          <p:nvPr/>
        </p:nvSpPr>
        <p:spPr>
          <a:xfrm>
            <a:off x="365760" y="1600200"/>
            <a:ext cx="4114800" cy="137160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Técnica estadística que modela la relación lineal entre una variable dependiente (Y) y una o más variables independientes (X).</a:t>
            </a:r>
            <a:endParaRPr lang="en-US" sz="1200" dirty="0"/>
          </a:p>
          <a:p>
            <a:pPr marL="0" indent="0">
              <a:buNone/>
            </a:pP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Objetivo: </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Predecir Y y cuantificar el efecto de X sobre Y.</a:t>
            </a:r>
            <a:endParaRPr lang="en-US" sz="1200" dirty="0"/>
          </a:p>
          <a:p>
            <a:pPr marL="0" indent="0">
              <a:buNone/>
            </a:pP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Formula: </a:t>
            </a:r>
            <a:endParaRPr lang="en-US" sz="1200" dirty="0"/>
          </a:p>
        </p:txBody>
      </p:sp>
      <p:sp>
        <p:nvSpPr>
          <p:cNvPr id="7" name="Shape 5"/>
          <p:cNvSpPr/>
          <p:nvPr/>
        </p:nvSpPr>
        <p:spPr>
          <a:xfrm>
            <a:off x="365760" y="2834640"/>
            <a:ext cx="4114800" cy="914400"/>
          </a:xfrm>
          <a:prstGeom prst="rect">
            <a:avLst/>
          </a:prstGeom>
          <a:solidFill>
            <a:srgbClr val="1A3A5C"/>
          </a:solidFill>
          <a:ln w="12700">
            <a:solidFill>
              <a:srgbClr val="1A3A5C"/>
            </a:solidFill>
            <a:prstDash val="solid"/>
          </a:ln>
          <a:effectLst>
            <a:outerShdw blurRad="101600" dist="38100" dir="8100000" algn="bl" rotWithShape="0">
              <a:srgbClr val="000000">
                <a:alpha val="12000"/>
              </a:srgbClr>
            </a:outerShdw>
          </a:effectLst>
        </p:spPr>
        <p:txBody>
          <a:bodyPr/>
          <a:lstStyle/>
          <a:p>
            <a:endParaRPr lang="es-CO"/>
          </a:p>
        </p:txBody>
      </p:sp>
      <p:sp>
        <p:nvSpPr>
          <p:cNvPr id="8" name="Text 6"/>
          <p:cNvSpPr/>
          <p:nvPr/>
        </p:nvSpPr>
        <p:spPr>
          <a:xfrm>
            <a:off x="365760" y="2834640"/>
            <a:ext cx="4114800" cy="502920"/>
          </a:xfrm>
          <a:prstGeom prst="rect">
            <a:avLst/>
          </a:prstGeom>
          <a:noFill/>
          <a:ln/>
        </p:spPr>
        <p:txBody>
          <a:bodyPr wrap="square" rtlCol="0" anchor="ctr"/>
          <a:lstStyle/>
          <a:p>
            <a:pPr marL="0" indent="0" algn="ctr">
              <a:buNone/>
            </a:pPr>
            <a:r>
              <a:rPr lang="en-US" sz="2200" b="1" dirty="0">
                <a:solidFill>
                  <a:srgbClr val="E8A838"/>
                </a:solidFill>
                <a:latin typeface="Calibri" pitchFamily="34" charset="0"/>
                <a:ea typeface="Calibri" pitchFamily="34" charset="-122"/>
                <a:cs typeface="Calibri" pitchFamily="34" charset="-120"/>
              </a:rPr>
              <a:t>Ŷ = β₀ + β₁X + ε</a:t>
            </a:r>
            <a:endParaRPr lang="en-US" sz="2200" dirty="0"/>
          </a:p>
        </p:txBody>
      </p:sp>
      <p:sp>
        <p:nvSpPr>
          <p:cNvPr id="9" name="Text 7"/>
          <p:cNvSpPr/>
          <p:nvPr/>
        </p:nvSpPr>
        <p:spPr>
          <a:xfrm>
            <a:off x="365760" y="3291840"/>
            <a:ext cx="4114800" cy="411480"/>
          </a:xfrm>
          <a:prstGeom prst="rect">
            <a:avLst/>
          </a:prstGeom>
          <a:noFill/>
          <a:ln/>
        </p:spPr>
        <p:txBody>
          <a:bodyPr wrap="square" rtlCol="0" anchor="ctr"/>
          <a:lstStyle/>
          <a:p>
            <a:pPr marL="0" indent="0" algn="ctr">
              <a:buNone/>
            </a:pPr>
            <a:r>
              <a:rPr lang="en-US" sz="1000" b="1" dirty="0">
                <a:solidFill>
                  <a:srgbClr val="E8A838"/>
                </a:solidFill>
                <a:latin typeface="Calibri" pitchFamily="34" charset="0"/>
                <a:ea typeface="Calibri" pitchFamily="34" charset="-122"/>
                <a:cs typeface="Calibri" pitchFamily="34" charset="-120"/>
              </a:rPr>
              <a:t>β₀</a:t>
            </a:r>
            <a:r>
              <a:rPr lang="en-US" sz="1000" dirty="0">
                <a:solidFill>
                  <a:srgbClr val="FFFFFF"/>
                </a:solidFill>
                <a:latin typeface="Calibri" pitchFamily="34" charset="0"/>
                <a:ea typeface="Calibri" pitchFamily="34" charset="-122"/>
                <a:cs typeface="Calibri" pitchFamily="34" charset="-120"/>
              </a:rPr>
              <a:t> = intercepto   </a:t>
            </a:r>
            <a:r>
              <a:rPr lang="en-US" sz="1000" b="1" dirty="0">
                <a:solidFill>
                  <a:srgbClr val="E8A838"/>
                </a:solidFill>
                <a:latin typeface="Calibri" pitchFamily="34" charset="0"/>
                <a:ea typeface="Calibri" pitchFamily="34" charset="-122"/>
                <a:cs typeface="Calibri" pitchFamily="34" charset="-120"/>
              </a:rPr>
              <a:t>β₁</a:t>
            </a:r>
            <a:r>
              <a:rPr lang="en-US" sz="1000" dirty="0">
                <a:solidFill>
                  <a:srgbClr val="FFFFFF"/>
                </a:solidFill>
                <a:latin typeface="Calibri" pitchFamily="34" charset="0"/>
                <a:ea typeface="Calibri" pitchFamily="34" charset="-122"/>
                <a:cs typeface="Calibri" pitchFamily="34" charset="-120"/>
              </a:rPr>
              <a:t> = pendiente   </a:t>
            </a:r>
            <a:r>
              <a:rPr lang="en-US" sz="1000" b="1" dirty="0">
                <a:solidFill>
                  <a:srgbClr val="E8A838"/>
                </a:solidFill>
                <a:latin typeface="Calibri" pitchFamily="34" charset="0"/>
                <a:ea typeface="Calibri" pitchFamily="34" charset="-122"/>
                <a:cs typeface="Calibri" pitchFamily="34" charset="-120"/>
              </a:rPr>
              <a:t>ε</a:t>
            </a:r>
            <a:r>
              <a:rPr lang="en-US" sz="1000" dirty="0">
                <a:solidFill>
                  <a:srgbClr val="FFFFFF"/>
                </a:solidFill>
                <a:latin typeface="Calibri" pitchFamily="34" charset="0"/>
                <a:ea typeface="Calibri" pitchFamily="34" charset="-122"/>
                <a:cs typeface="Calibri" pitchFamily="34" charset="-120"/>
              </a:rPr>
              <a:t> = error</a:t>
            </a:r>
            <a:endParaRPr lang="en-US" sz="1000" dirty="0"/>
          </a:p>
        </p:txBody>
      </p:sp>
      <p:graphicFrame>
        <p:nvGraphicFramePr>
          <p:cNvPr id="10" name="Chart 0"/>
          <p:cNvGraphicFramePr/>
          <p:nvPr/>
        </p:nvGraphicFramePr>
        <p:xfrm>
          <a:off x="4754880" y="1097280"/>
          <a:ext cx="41148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365760" y="3931920"/>
            <a:ext cx="1325880" cy="914400"/>
          </a:xfrm>
          <a:prstGeom prst="rect">
            <a:avLst/>
          </a:prstGeom>
          <a:solidFill>
            <a:srgbClr val="F0F4F8"/>
          </a:solidFill>
          <a:ln w="12700">
            <a:solidFill>
              <a:srgbClr val="E2E8F0"/>
            </a:solidFill>
            <a:prstDash val="solid"/>
          </a:ln>
        </p:spPr>
        <p:txBody>
          <a:bodyPr/>
          <a:lstStyle/>
          <a:p>
            <a:endParaRPr lang="es-CO"/>
          </a:p>
        </p:txBody>
      </p:sp>
      <p:sp>
        <p:nvSpPr>
          <p:cNvPr id="12" name="Text 9"/>
          <p:cNvSpPr/>
          <p:nvPr/>
        </p:nvSpPr>
        <p:spPr>
          <a:xfrm>
            <a:off x="365760" y="3950208"/>
            <a:ext cx="1325880" cy="320040"/>
          </a:xfrm>
          <a:prstGeom prst="rect">
            <a:avLst/>
          </a:prstGeom>
          <a:noFill/>
          <a:ln/>
        </p:spPr>
        <p:txBody>
          <a:bodyPr wrap="square" rtlCol="0" anchor="ctr"/>
          <a:lstStyle/>
          <a:p>
            <a:pPr marL="0" indent="0" algn="ctr">
              <a:buNone/>
            </a:pPr>
            <a:r>
              <a:rPr lang="en-US" sz="1000" b="1" dirty="0">
                <a:solidFill>
                  <a:srgbClr val="1A3A5C"/>
                </a:solidFill>
                <a:latin typeface="Calibri" pitchFamily="34" charset="0"/>
                <a:ea typeface="Calibri" pitchFamily="34" charset="-122"/>
                <a:cs typeface="Calibri" pitchFamily="34" charset="-120"/>
              </a:rPr>
              <a:t>Intercepto (β₀)</a:t>
            </a:r>
            <a:endParaRPr lang="en-US" sz="1000" dirty="0"/>
          </a:p>
        </p:txBody>
      </p:sp>
      <p:sp>
        <p:nvSpPr>
          <p:cNvPr id="13" name="Text 10"/>
          <p:cNvSpPr/>
          <p:nvPr/>
        </p:nvSpPr>
        <p:spPr>
          <a:xfrm>
            <a:off x="365760" y="4270248"/>
            <a:ext cx="13258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Valor esperado de Y cuando X=0</a:t>
            </a:r>
            <a:endParaRPr lang="en-US" sz="900" dirty="0"/>
          </a:p>
        </p:txBody>
      </p:sp>
      <p:sp>
        <p:nvSpPr>
          <p:cNvPr id="14" name="Shape 11"/>
          <p:cNvSpPr/>
          <p:nvPr/>
        </p:nvSpPr>
        <p:spPr>
          <a:xfrm>
            <a:off x="1828800" y="3931920"/>
            <a:ext cx="1325880" cy="914400"/>
          </a:xfrm>
          <a:prstGeom prst="rect">
            <a:avLst/>
          </a:prstGeom>
          <a:solidFill>
            <a:srgbClr val="F0F4F8"/>
          </a:solidFill>
          <a:ln w="12700">
            <a:solidFill>
              <a:srgbClr val="E2E8F0"/>
            </a:solidFill>
            <a:prstDash val="solid"/>
          </a:ln>
        </p:spPr>
        <p:txBody>
          <a:bodyPr/>
          <a:lstStyle/>
          <a:p>
            <a:endParaRPr lang="es-CO"/>
          </a:p>
        </p:txBody>
      </p:sp>
      <p:sp>
        <p:nvSpPr>
          <p:cNvPr id="15" name="Text 12"/>
          <p:cNvSpPr/>
          <p:nvPr/>
        </p:nvSpPr>
        <p:spPr>
          <a:xfrm>
            <a:off x="1828800" y="3950208"/>
            <a:ext cx="1325880" cy="320040"/>
          </a:xfrm>
          <a:prstGeom prst="rect">
            <a:avLst/>
          </a:prstGeom>
          <a:noFill/>
          <a:ln/>
        </p:spPr>
        <p:txBody>
          <a:bodyPr wrap="square" rtlCol="0" anchor="ctr"/>
          <a:lstStyle/>
          <a:p>
            <a:pPr marL="0" indent="0" algn="ctr">
              <a:buNone/>
            </a:pPr>
            <a:r>
              <a:rPr lang="en-US" sz="1000" b="1" dirty="0">
                <a:solidFill>
                  <a:srgbClr val="1A3A5C"/>
                </a:solidFill>
                <a:latin typeface="Calibri" pitchFamily="34" charset="0"/>
                <a:ea typeface="Calibri" pitchFamily="34" charset="-122"/>
                <a:cs typeface="Calibri" pitchFamily="34" charset="-120"/>
              </a:rPr>
              <a:t>Pendiente (β₁)</a:t>
            </a:r>
            <a:endParaRPr lang="en-US" sz="1000" dirty="0"/>
          </a:p>
        </p:txBody>
      </p:sp>
      <p:sp>
        <p:nvSpPr>
          <p:cNvPr id="16" name="Text 13"/>
          <p:cNvSpPr/>
          <p:nvPr/>
        </p:nvSpPr>
        <p:spPr>
          <a:xfrm>
            <a:off x="1828800" y="4270248"/>
            <a:ext cx="13258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Cambio en Y por una unidad de X</a:t>
            </a:r>
            <a:endParaRPr lang="en-US" sz="900" dirty="0"/>
          </a:p>
        </p:txBody>
      </p:sp>
      <p:sp>
        <p:nvSpPr>
          <p:cNvPr id="17" name="Shape 14"/>
          <p:cNvSpPr/>
          <p:nvPr/>
        </p:nvSpPr>
        <p:spPr>
          <a:xfrm>
            <a:off x="3291840" y="3931920"/>
            <a:ext cx="1325880" cy="914400"/>
          </a:xfrm>
          <a:prstGeom prst="rect">
            <a:avLst/>
          </a:prstGeom>
          <a:solidFill>
            <a:srgbClr val="F0F4F8"/>
          </a:solidFill>
          <a:ln w="12700">
            <a:solidFill>
              <a:srgbClr val="E2E8F0"/>
            </a:solidFill>
            <a:prstDash val="solid"/>
          </a:ln>
        </p:spPr>
        <p:txBody>
          <a:bodyPr/>
          <a:lstStyle/>
          <a:p>
            <a:endParaRPr lang="es-CO"/>
          </a:p>
        </p:txBody>
      </p:sp>
      <p:sp>
        <p:nvSpPr>
          <p:cNvPr id="18" name="Text 15"/>
          <p:cNvSpPr/>
          <p:nvPr/>
        </p:nvSpPr>
        <p:spPr>
          <a:xfrm>
            <a:off x="3291840" y="3950208"/>
            <a:ext cx="1325880" cy="320040"/>
          </a:xfrm>
          <a:prstGeom prst="rect">
            <a:avLst/>
          </a:prstGeom>
          <a:noFill/>
          <a:ln/>
        </p:spPr>
        <p:txBody>
          <a:bodyPr wrap="square" rtlCol="0" anchor="ctr"/>
          <a:lstStyle/>
          <a:p>
            <a:pPr marL="0" indent="0" algn="ctr">
              <a:buNone/>
            </a:pPr>
            <a:r>
              <a:rPr lang="en-US" sz="1000" b="1" dirty="0">
                <a:solidFill>
                  <a:srgbClr val="1A3A5C"/>
                </a:solidFill>
                <a:latin typeface="Calibri" pitchFamily="34" charset="0"/>
                <a:ea typeface="Calibri" pitchFamily="34" charset="-122"/>
                <a:cs typeface="Calibri" pitchFamily="34" charset="-120"/>
              </a:rPr>
              <a:t>Bondad de Ajuste</a:t>
            </a:r>
            <a:endParaRPr lang="en-US" sz="1000" dirty="0"/>
          </a:p>
        </p:txBody>
      </p:sp>
      <p:sp>
        <p:nvSpPr>
          <p:cNvPr id="19" name="Text 16"/>
          <p:cNvSpPr/>
          <p:nvPr/>
        </p:nvSpPr>
        <p:spPr>
          <a:xfrm>
            <a:off x="3291840" y="4270248"/>
            <a:ext cx="1325880" cy="548640"/>
          </a:xfrm>
          <a:prstGeom prst="rect">
            <a:avLst/>
          </a:prstGeom>
          <a:noFill/>
          <a:ln/>
        </p:spPr>
        <p:txBody>
          <a:bodyPr wrap="square"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R² mide qué tan bien ajusta el modelo</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7377"/>
          </a:solidFill>
          <a:ln w="12700">
            <a:solidFill>
              <a:srgbClr val="0D7377"/>
            </a:solidFill>
            <a:prstDash val="solid"/>
          </a:ln>
        </p:spPr>
        <p:txBody>
          <a:bodyPr/>
          <a:lstStyle/>
          <a:p>
            <a:endParaRPr lang="es-CO"/>
          </a:p>
        </p:txBody>
      </p:sp>
      <p:sp>
        <p:nvSpPr>
          <p:cNvPr id="3" name="Text 1"/>
          <p:cNvSpPr/>
          <p:nvPr/>
        </p:nvSpPr>
        <p:spPr>
          <a:xfrm>
            <a:off x="365760" y="91440"/>
            <a:ext cx="8412480" cy="7315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REGRESIÓN SIMPLE — Ejemplo: Ingreso vs. Gasto en Educación</a:t>
            </a:r>
            <a:endParaRPr lang="en-US" sz="2000" dirty="0"/>
          </a:p>
        </p:txBody>
      </p:sp>
      <p:sp>
        <p:nvSpPr>
          <p:cNvPr id="4" name="Shape 2"/>
          <p:cNvSpPr/>
          <p:nvPr/>
        </p:nvSpPr>
        <p:spPr>
          <a:xfrm>
            <a:off x="274320" y="1005840"/>
            <a:ext cx="3474720" cy="384048"/>
          </a:xfrm>
          <a:prstGeom prst="rect">
            <a:avLst/>
          </a:prstGeom>
          <a:solidFill>
            <a:srgbClr val="1A3A5C"/>
          </a:solidFill>
          <a:ln w="12700">
            <a:solidFill>
              <a:srgbClr val="1A3A5C"/>
            </a:solidFill>
            <a:prstDash val="solid"/>
          </a:ln>
        </p:spPr>
        <p:txBody>
          <a:bodyPr/>
          <a:lstStyle/>
          <a:p>
            <a:endParaRPr lang="es-CO"/>
          </a:p>
        </p:txBody>
      </p:sp>
      <p:sp>
        <p:nvSpPr>
          <p:cNvPr id="5" name="Text 3"/>
          <p:cNvSpPr/>
          <p:nvPr/>
        </p:nvSpPr>
        <p:spPr>
          <a:xfrm>
            <a:off x="274320" y="1005840"/>
            <a:ext cx="347472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Datos muestra (miles COP)</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274320" y="1389888"/>
          <a:ext cx="3474720" cy="2285997"/>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6571">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Familia</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737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Ingreso X</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737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Gasto Y</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D7377"/>
                    </a:solidFill>
                  </a:tcPr>
                </a:tc>
                <a:extLst>
                  <a:ext uri="{0D108BD9-81ED-4DB2-BD59-A6C34878D82A}">
                    <a16:rowId xmlns:a16="http://schemas.microsoft.com/office/drawing/2014/main" val="10000"/>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42</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7.1</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11.3</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26571">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13.5</a:t>
                      </a:r>
                      <a:endParaRPr lang="en-US" sz="11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274320" y="3840480"/>
            <a:ext cx="0" cy="0"/>
          </a:xfrm>
          <a:prstGeom prst="rect">
            <a:avLst/>
          </a:prstGeom>
          <a:noFill/>
          <a:ln/>
        </p:spPr>
        <p:txBody>
          <a:bodyPr/>
          <a:lstStyle/>
          <a:p>
            <a:endParaRPr lang="es-CO"/>
          </a:p>
        </p:txBody>
      </p:sp>
      <p:sp>
        <p:nvSpPr>
          <p:cNvPr id="8" name="Shape 5"/>
          <p:cNvSpPr/>
          <p:nvPr/>
        </p:nvSpPr>
        <p:spPr>
          <a:xfrm>
            <a:off x="274320" y="3840480"/>
            <a:ext cx="0" cy="0"/>
          </a:xfrm>
          <a:prstGeom prst="rect">
            <a:avLst/>
          </a:prstGeom>
          <a:noFill/>
          <a:ln/>
        </p:spPr>
        <p:txBody>
          <a:bodyPr/>
          <a:lstStyle/>
          <a:p>
            <a:endParaRPr lang="es-CO"/>
          </a:p>
        </p:txBody>
      </p:sp>
      <p:sp>
        <p:nvSpPr>
          <p:cNvPr id="9" name="Shape 6"/>
          <p:cNvSpPr/>
          <p:nvPr/>
        </p:nvSpPr>
        <p:spPr>
          <a:xfrm>
            <a:off x="274320" y="3840480"/>
            <a:ext cx="0" cy="0"/>
          </a:xfrm>
          <a:prstGeom prst="rect">
            <a:avLst/>
          </a:prstGeom>
          <a:noFill/>
          <a:ln/>
        </p:spPr>
        <p:txBody>
          <a:bodyPr/>
          <a:lstStyle/>
          <a:p>
            <a:endParaRPr lang="es-CO"/>
          </a:p>
        </p:txBody>
      </p:sp>
      <p:sp>
        <p:nvSpPr>
          <p:cNvPr id="10" name="Shape 7"/>
          <p:cNvSpPr/>
          <p:nvPr/>
        </p:nvSpPr>
        <p:spPr>
          <a:xfrm>
            <a:off x="274320" y="3840480"/>
            <a:ext cx="0" cy="0"/>
          </a:xfrm>
          <a:prstGeom prst="rect">
            <a:avLst/>
          </a:prstGeom>
          <a:noFill/>
          <a:ln/>
        </p:spPr>
        <p:txBody>
          <a:bodyPr/>
          <a:lstStyle/>
          <a:p>
            <a:endParaRPr lang="es-CO"/>
          </a:p>
        </p:txBody>
      </p:sp>
      <p:sp>
        <p:nvSpPr>
          <p:cNvPr id="11" name="Shape 8"/>
          <p:cNvSpPr/>
          <p:nvPr/>
        </p:nvSpPr>
        <p:spPr>
          <a:xfrm>
            <a:off x="274320" y="3767328"/>
            <a:ext cx="3474720" cy="1261872"/>
          </a:xfrm>
          <a:prstGeom prst="rect">
            <a:avLst/>
          </a:prstGeom>
          <a:solidFill>
            <a:srgbClr val="1A3A5C"/>
          </a:solidFill>
          <a:ln w="12700">
            <a:solidFill>
              <a:srgbClr val="1A3A5C"/>
            </a:solidFill>
            <a:prstDash val="solid"/>
          </a:ln>
          <a:effectLst>
            <a:outerShdw blurRad="101600" dist="38100" dir="8100000" algn="bl" rotWithShape="0">
              <a:srgbClr val="000000">
                <a:alpha val="12000"/>
              </a:srgbClr>
            </a:outerShdw>
          </a:effectLst>
        </p:spPr>
        <p:txBody>
          <a:bodyPr/>
          <a:lstStyle/>
          <a:p>
            <a:endParaRPr lang="es-CO"/>
          </a:p>
        </p:txBody>
      </p:sp>
      <p:sp>
        <p:nvSpPr>
          <p:cNvPr id="12" name="Text 9"/>
          <p:cNvSpPr/>
          <p:nvPr/>
        </p:nvSpPr>
        <p:spPr>
          <a:xfrm>
            <a:off x="384048" y="3803904"/>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Ecuación: </a:t>
            </a:r>
            <a:r>
              <a:rPr lang="en-US" sz="1050" dirty="0">
                <a:solidFill>
                  <a:srgbClr val="FFFFFF"/>
                </a:solidFill>
                <a:latin typeface="Calibri" pitchFamily="34" charset="0"/>
                <a:ea typeface="Calibri" pitchFamily="34" charset="-122"/>
                <a:cs typeface="Calibri" pitchFamily="34" charset="-120"/>
              </a:rPr>
              <a:t>Ŷ = 0.52 + 0.163X</a:t>
            </a:r>
            <a:endParaRPr lang="en-US" sz="1050" dirty="0"/>
          </a:p>
        </p:txBody>
      </p:sp>
      <p:sp>
        <p:nvSpPr>
          <p:cNvPr id="13" name="Text 10"/>
          <p:cNvSpPr/>
          <p:nvPr/>
        </p:nvSpPr>
        <p:spPr>
          <a:xfrm>
            <a:off x="384048" y="4096512"/>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β₁: </a:t>
            </a:r>
            <a:r>
              <a:rPr lang="en-US" sz="1050" dirty="0">
                <a:solidFill>
                  <a:srgbClr val="FFFFFF"/>
                </a:solidFill>
                <a:latin typeface="Calibri" pitchFamily="34" charset="0"/>
                <a:ea typeface="Calibri" pitchFamily="34" charset="-122"/>
                <a:cs typeface="Calibri" pitchFamily="34" charset="-120"/>
              </a:rPr>
              <a:t>+$163 por cada $1,000 de ingreso</a:t>
            </a:r>
            <a:endParaRPr lang="en-US" sz="1050" dirty="0"/>
          </a:p>
        </p:txBody>
      </p:sp>
      <p:sp>
        <p:nvSpPr>
          <p:cNvPr id="14" name="Text 11"/>
          <p:cNvSpPr/>
          <p:nvPr/>
        </p:nvSpPr>
        <p:spPr>
          <a:xfrm>
            <a:off x="384048" y="4389120"/>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R² = 0.989: </a:t>
            </a:r>
            <a:r>
              <a:rPr lang="en-US" sz="1050" dirty="0">
                <a:solidFill>
                  <a:srgbClr val="FFFFFF"/>
                </a:solidFill>
                <a:latin typeface="Calibri" pitchFamily="34" charset="0"/>
                <a:ea typeface="Calibri" pitchFamily="34" charset="-122"/>
                <a:cs typeface="Calibri" pitchFamily="34" charset="-120"/>
              </a:rPr>
              <a:t>Explica el 98.9% de la variación</a:t>
            </a:r>
            <a:endParaRPr lang="en-US" sz="1050" dirty="0"/>
          </a:p>
        </p:txBody>
      </p:sp>
      <p:sp>
        <p:nvSpPr>
          <p:cNvPr id="6" name="Text 12"/>
          <p:cNvSpPr/>
          <p:nvPr/>
        </p:nvSpPr>
        <p:spPr>
          <a:xfrm>
            <a:off x="384048" y="4681728"/>
            <a:ext cx="3291840" cy="274320"/>
          </a:xfrm>
          <a:prstGeom prst="rect">
            <a:avLst/>
          </a:prstGeom>
          <a:noFill/>
          <a:ln/>
        </p:spPr>
        <p:txBody>
          <a:bodyPr wrap="square"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p-valor β₁: </a:t>
            </a:r>
            <a:r>
              <a:rPr lang="en-US" sz="1050" dirty="0">
                <a:solidFill>
                  <a:srgbClr val="FFFFFF"/>
                </a:solidFill>
                <a:latin typeface="Calibri" pitchFamily="34" charset="0"/>
                <a:ea typeface="Calibri" pitchFamily="34" charset="-122"/>
                <a:cs typeface="Calibri" pitchFamily="34" charset="-120"/>
              </a:rPr>
              <a:t>&lt; 0.001 → Significativo</a:t>
            </a:r>
            <a:endParaRPr lang="en-US" sz="1050" dirty="0"/>
          </a:p>
        </p:txBody>
      </p:sp>
      <p:graphicFrame>
        <p:nvGraphicFramePr>
          <p:cNvPr id="16" name="Chart 0"/>
          <p:cNvGraphicFramePr/>
          <p:nvPr/>
        </p:nvGraphicFramePr>
        <p:xfrm>
          <a:off x="4114800" y="960120"/>
          <a:ext cx="470916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3"/>
          <p:cNvSpPr/>
          <p:nvPr/>
        </p:nvSpPr>
        <p:spPr>
          <a:xfrm>
            <a:off x="4114800" y="4572000"/>
            <a:ext cx="4709160" cy="502920"/>
          </a:xfrm>
          <a:prstGeom prst="rect">
            <a:avLst/>
          </a:prstGeom>
          <a:solidFill>
            <a:srgbClr val="1E1E2E"/>
          </a:solidFill>
          <a:ln w="12700">
            <a:solidFill>
              <a:srgbClr val="1E1E2E"/>
            </a:solidFill>
            <a:prstDash val="solid"/>
          </a:ln>
        </p:spPr>
        <p:txBody>
          <a:bodyPr/>
          <a:lstStyle/>
          <a:p>
            <a:endParaRPr lang="es-CO"/>
          </a:p>
        </p:txBody>
      </p:sp>
      <p:sp>
        <p:nvSpPr>
          <p:cNvPr id="18" name="Text 14"/>
          <p:cNvSpPr/>
          <p:nvPr/>
        </p:nvSpPr>
        <p:spPr>
          <a:xfrm>
            <a:off x="4206240" y="4572000"/>
            <a:ext cx="4572000" cy="502920"/>
          </a:xfrm>
          <a:prstGeom prst="rect">
            <a:avLst/>
          </a:prstGeom>
          <a:noFill/>
          <a:ln/>
        </p:spPr>
        <p:txBody>
          <a:bodyPr wrap="square" rtlCol="0" anchor="ctr"/>
          <a:lstStyle/>
          <a:p>
            <a:pPr marL="0" indent="0">
              <a:buNone/>
            </a:pPr>
            <a:r>
              <a:rPr lang="en-US" sz="900" dirty="0">
                <a:solidFill>
                  <a:srgbClr val="FFD43B"/>
                </a:solidFill>
                <a:latin typeface="Consolas" pitchFamily="34" charset="0"/>
                <a:ea typeface="Consolas" pitchFamily="34" charset="-122"/>
                <a:cs typeface="Consolas" pitchFamily="34" charset="-120"/>
              </a:rPr>
              <a:t>🐍  modelo = sm.OLS(y, sm.add_constant(X)).fit()  →  print(modelo.summary())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3FE696D-9C2E-4780-9DAA-AE98CB99F6FE}">
  <we:reference id="wa200010001" version="1.0.0.1" store="en-US" storeType="OMEX"/>
  <we:alternateReferences>
    <we:reference id="wa200010001" version="1.0.0.1" store="en-US" storeType="OMEX"/>
  </we:alternateReferences>
  <we:properties>
    <we:property name="claude.fileId" value="&quot;a43c097d-8aed-4b70-b8a5-2342e4d0899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880</TotalTime>
  <Words>2709</Words>
  <Application>Microsoft Office PowerPoint</Application>
  <PresentationFormat>Presentación en pantalla (16:9)</PresentationFormat>
  <Paragraphs>361</Paragraphs>
  <Slides>18</Slides>
  <Notes>16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Consolas</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Modelos Predictivos con Python</dc:title>
  <dc:subject>PptxGenJS Presentation</dc:subject>
  <dc:creator>PptxGenJS</dc:creator>
  <cp:lastModifiedBy>Ricardo Navarro</cp:lastModifiedBy>
  <cp:revision>2</cp:revision>
  <dcterms:created xsi:type="dcterms:W3CDTF">2026-05-03T18:51:22Z</dcterms:created>
  <dcterms:modified xsi:type="dcterms:W3CDTF">2026-05-04T12:33:52Z</dcterms:modified>
</cp:coreProperties>
</file>