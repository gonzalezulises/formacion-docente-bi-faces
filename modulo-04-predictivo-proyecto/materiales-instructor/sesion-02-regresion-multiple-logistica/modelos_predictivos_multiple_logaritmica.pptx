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6.xml" ContentType="application/vnd.openxmlformats-officedocument.drawingml.chart+xml"/>
  <Override PartName="/ppt/notesSlides/notesSlide16.xml" ContentType="application/vnd.openxmlformats-officedocument.presentationml.notesSlide+xml"/>
  <Override PartName="/ppt/charts/chart7.xml" ContentType="application/vnd.openxmlformats-officedocument.drawingml.chart+xml"/>
  <Override PartName="/ppt/notesSlides/notesSlide17.xml" ContentType="application/vnd.openxmlformats-officedocument.presentationml.notesSlide+xml"/>
  <Override PartName="/ppt/charts/chart8.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84" r:id="rId3"/>
    <p:sldId id="257" r:id="rId4"/>
    <p:sldId id="258" r:id="rId5"/>
    <p:sldId id="274" r:id="rId6"/>
    <p:sldId id="259" r:id="rId7"/>
    <p:sldId id="260" r:id="rId8"/>
    <p:sldId id="261" r:id="rId9"/>
    <p:sldId id="262" r:id="rId10"/>
    <p:sldId id="281" r:id="rId11"/>
    <p:sldId id="263" r:id="rId12"/>
    <p:sldId id="282" r:id="rId13"/>
    <p:sldId id="265" r:id="rId14"/>
    <p:sldId id="288" r:id="rId15"/>
    <p:sldId id="264" r:id="rId16"/>
    <p:sldId id="283" r:id="rId17"/>
    <p:sldId id="291" r:id="rId18"/>
    <p:sldId id="292" r:id="rId19"/>
    <p:sldId id="269" r:id="rId20"/>
    <p:sldId id="270" r:id="rId21"/>
    <p:sldId id="293" r:id="rId22"/>
    <p:sldId id="271" r:id="rId23"/>
    <p:sldId id="298" r:id="rId24"/>
    <p:sldId id="300" r:id="rId25"/>
    <p:sldId id="294" r:id="rId26"/>
    <p:sldId id="296" r:id="rId27"/>
    <p:sldId id="297" r:id="rId28"/>
    <p:sldId id="277" r:id="rId29"/>
    <p:sldId id="278" r:id="rId30"/>
    <p:sldId id="279" r:id="rId31"/>
    <p:sldId id="280"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CA3EFA-EE0E-44DD-AD1B-48E4567D8449}" v="1" dt="2026-05-07T02:15:19.42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ardo Navarro" userId="d8b7ef95239a90b6" providerId="LiveId" clId="{6AD52B52-E32E-41FE-BB31-E7D63DCF4FBB}"/>
    <pc:docChg chg="custSel delSld modSld">
      <pc:chgData name="Ricardo Navarro" userId="d8b7ef95239a90b6" providerId="LiveId" clId="{6AD52B52-E32E-41FE-BB31-E7D63DCF4FBB}" dt="2026-05-07T02:21:02.361" v="134" actId="6549"/>
      <pc:docMkLst>
        <pc:docMk/>
      </pc:docMkLst>
      <pc:sldChg chg="modSp mod">
        <pc:chgData name="Ricardo Navarro" userId="d8b7ef95239a90b6" providerId="LiveId" clId="{6AD52B52-E32E-41FE-BB31-E7D63DCF4FBB}" dt="2026-05-07T02:14:42.917" v="31" actId="313"/>
        <pc:sldMkLst>
          <pc:docMk/>
          <pc:sldMk cId="0" sldId="270"/>
        </pc:sldMkLst>
        <pc:spChg chg="mod">
          <ac:chgData name="Ricardo Navarro" userId="d8b7ef95239a90b6" providerId="LiveId" clId="{6AD52B52-E32E-41FE-BB31-E7D63DCF4FBB}" dt="2026-05-07T02:14:42.917" v="31" actId="313"/>
          <ac:spMkLst>
            <pc:docMk/>
            <pc:sldMk cId="0" sldId="270"/>
            <ac:spMk id="5" creationId="{00000000-0000-0000-0000-000000000000}"/>
          </ac:spMkLst>
        </pc:spChg>
      </pc:sldChg>
      <pc:sldChg chg="modSp mod">
        <pc:chgData name="Ricardo Navarro" userId="d8b7ef95239a90b6" providerId="LiveId" clId="{6AD52B52-E32E-41FE-BB31-E7D63DCF4FBB}" dt="2026-05-07T02:18:22.413" v="35" actId="20577"/>
        <pc:sldMkLst>
          <pc:docMk/>
          <pc:sldMk cId="0" sldId="277"/>
        </pc:sldMkLst>
        <pc:spChg chg="mod">
          <ac:chgData name="Ricardo Navarro" userId="d8b7ef95239a90b6" providerId="LiveId" clId="{6AD52B52-E32E-41FE-BB31-E7D63DCF4FBB}" dt="2026-05-07T02:18:22.413" v="35" actId="20577"/>
          <ac:spMkLst>
            <pc:docMk/>
            <pc:sldMk cId="0" sldId="277"/>
            <ac:spMk id="5" creationId="{00000000-0000-0000-0000-000000000000}"/>
          </ac:spMkLst>
        </pc:spChg>
      </pc:sldChg>
      <pc:sldChg chg="modSp mod">
        <pc:chgData name="Ricardo Navarro" userId="d8b7ef95239a90b6" providerId="LiveId" clId="{6AD52B52-E32E-41FE-BB31-E7D63DCF4FBB}" dt="2026-05-07T02:21:02.361" v="134" actId="6549"/>
        <pc:sldMkLst>
          <pc:docMk/>
          <pc:sldMk cId="0" sldId="279"/>
        </pc:sldMkLst>
        <pc:graphicFrameChg chg="modGraphic">
          <ac:chgData name="Ricardo Navarro" userId="d8b7ef95239a90b6" providerId="LiveId" clId="{6AD52B52-E32E-41FE-BB31-E7D63DCF4FBB}" dt="2026-05-07T02:21:02.361" v="134" actId="6549"/>
          <ac:graphicFrameMkLst>
            <pc:docMk/>
            <pc:sldMk cId="0" sldId="279"/>
            <ac:graphicFrameMk id="25" creationId="{00000000-0000-0000-0000-000000000000}"/>
          </ac:graphicFrameMkLst>
        </pc:graphicFrameChg>
      </pc:sldChg>
      <pc:sldChg chg="del">
        <pc:chgData name="Ricardo Navarro" userId="d8b7ef95239a90b6" providerId="LiveId" clId="{6AD52B52-E32E-41FE-BB31-E7D63DCF4FBB}" dt="2026-05-07T02:16:30.765" v="32" actId="47"/>
        <pc:sldMkLst>
          <pc:docMk/>
          <pc:sldMk cId="94724184" sldId="301"/>
        </pc:sldMkLst>
      </pc:sldChg>
      <pc:sldChg chg="del">
        <pc:chgData name="Ricardo Navarro" userId="d8b7ef95239a90b6" providerId="LiveId" clId="{6AD52B52-E32E-41FE-BB31-E7D63DCF4FBB}" dt="2026-05-07T02:16:30.765" v="32" actId="47"/>
        <pc:sldMkLst>
          <pc:docMk/>
          <pc:sldMk cId="1482192128" sldId="304"/>
        </pc:sldMkLst>
      </pc:sldChg>
      <pc:sldChg chg="del">
        <pc:chgData name="Ricardo Navarro" userId="d8b7ef95239a90b6" providerId="LiveId" clId="{6AD52B52-E32E-41FE-BB31-E7D63DCF4FBB}" dt="2026-05-07T02:16:30.765" v="32" actId="47"/>
        <pc:sldMkLst>
          <pc:docMk/>
          <pc:sldMk cId="2103954568" sldId="305"/>
        </pc:sldMkLst>
      </pc:sldChg>
      <pc:sldChg chg="del">
        <pc:chgData name="Ricardo Navarro" userId="d8b7ef95239a90b6" providerId="LiveId" clId="{6AD52B52-E32E-41FE-BB31-E7D63DCF4FBB}" dt="2026-05-07T02:16:30.765" v="32" actId="47"/>
        <pc:sldMkLst>
          <pc:docMk/>
          <pc:sldMk cId="2094142027" sldId="306"/>
        </pc:sldMkLst>
      </pc:sldChg>
      <pc:sldChg chg="del">
        <pc:chgData name="Ricardo Navarro" userId="d8b7ef95239a90b6" providerId="LiveId" clId="{6AD52B52-E32E-41FE-BB31-E7D63DCF4FBB}" dt="2026-05-07T02:16:30.765" v="32" actId="47"/>
        <pc:sldMkLst>
          <pc:docMk/>
          <pc:sldMk cId="806119237" sldId="307"/>
        </pc:sldMkLst>
      </pc:sldChg>
    </pc:docChg>
  </pc:docChgLst>
</pc:chgInfo>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pPr>
              <a:defRPr sz="1200" b="1">
                <a:solidFill>
                  <a:srgbClr val="1E293B"/>
                </a:solidFill>
                <a:latin typeface="Calibri"/>
              </a:defRPr>
            </a:pPr>
            <a:r>
              <a:rPr lang="es-ES" sz="1200" b="1" dirty="0">
                <a:solidFill>
                  <a:srgbClr val="1E293B"/>
                </a:solidFill>
                <a:latin typeface="Calibri"/>
              </a:rPr>
              <a:t>Precio Vivienda vs m²</a:t>
            </a:r>
          </a:p>
        </c:rich>
      </c:tx>
      <c:overlay val="0"/>
    </c:title>
    <c:autoTitleDeleted val="0"/>
    <c:plotArea>
      <c:layout/>
      <c:scatterChart>
        <c:scatterStyle val="lineMarker"/>
        <c:varyColors val="1"/>
        <c:ser>
          <c:idx val="0"/>
          <c:order val="0"/>
          <c:tx>
            <c:v>Viviendas</c:v>
          </c:tx>
          <c:spPr>
            <a:ln w="0">
              <a:noFill/>
            </a:ln>
          </c:spPr>
          <c:marker>
            <c:symbol val="circle"/>
            <c:size val="5"/>
            <c:spPr>
              <a:solidFill>
                <a:srgbClr val="0D7377"/>
              </a:solidFill>
              <a:ln>
                <a:noFill/>
              </a:ln>
            </c:spPr>
          </c:marker>
          <c:xVal>
            <c:numLit>
              <c:formatCode>General</c:formatCode>
              <c:ptCount val="15"/>
              <c:pt idx="0">
                <c:v>45</c:v>
              </c:pt>
              <c:pt idx="1">
                <c:v>55</c:v>
              </c:pt>
              <c:pt idx="2">
                <c:v>60</c:v>
              </c:pt>
              <c:pt idx="3">
                <c:v>70</c:v>
              </c:pt>
              <c:pt idx="4">
                <c:v>75</c:v>
              </c:pt>
              <c:pt idx="5">
                <c:v>80</c:v>
              </c:pt>
              <c:pt idx="6">
                <c:v>85</c:v>
              </c:pt>
              <c:pt idx="7">
                <c:v>90</c:v>
              </c:pt>
              <c:pt idx="8">
                <c:v>95</c:v>
              </c:pt>
              <c:pt idx="9">
                <c:v>100</c:v>
              </c:pt>
              <c:pt idx="10">
                <c:v>110</c:v>
              </c:pt>
              <c:pt idx="11">
                <c:v>120</c:v>
              </c:pt>
              <c:pt idx="12">
                <c:v>130</c:v>
              </c:pt>
              <c:pt idx="13">
                <c:v>140</c:v>
              </c:pt>
              <c:pt idx="14">
                <c:v>150</c:v>
              </c:pt>
            </c:numLit>
          </c:xVal>
          <c:yVal>
            <c:numLit>
              <c:formatCode>General</c:formatCode>
              <c:ptCount val="15"/>
              <c:pt idx="0">
                <c:v>85000</c:v>
              </c:pt>
              <c:pt idx="1">
                <c:v>105000</c:v>
              </c:pt>
              <c:pt idx="2">
                <c:v>115000</c:v>
              </c:pt>
              <c:pt idx="3">
                <c:v>140000</c:v>
              </c:pt>
              <c:pt idx="4">
                <c:v>155000</c:v>
              </c:pt>
              <c:pt idx="5">
                <c:v>160000</c:v>
              </c:pt>
              <c:pt idx="6">
                <c:v>175000</c:v>
              </c:pt>
              <c:pt idx="7">
                <c:v>190000</c:v>
              </c:pt>
              <c:pt idx="8">
                <c:v>200000</c:v>
              </c:pt>
              <c:pt idx="9">
                <c:v>215000</c:v>
              </c:pt>
              <c:pt idx="10">
                <c:v>240000</c:v>
              </c:pt>
              <c:pt idx="11">
                <c:v>265000</c:v>
              </c:pt>
              <c:pt idx="12">
                <c:v>280000</c:v>
              </c:pt>
              <c:pt idx="13">
                <c:v>310000</c:v>
              </c:pt>
              <c:pt idx="14">
                <c:v>340000</c:v>
              </c:pt>
            </c:numLit>
          </c:yVal>
          <c:smooth val="1"/>
          <c:extLst>
            <c:ext xmlns:c16="http://schemas.microsoft.com/office/drawing/2014/chart" uri="{C3380CC4-5D6E-409C-BE32-E72D297353CC}">
              <c16:uniqueId val="{00000000-2708-4772-891D-CB47BAFAC9D3}"/>
            </c:ext>
          </c:extLst>
        </c:ser>
        <c:dLbls>
          <c:showLegendKey val="0"/>
          <c:showVal val="0"/>
          <c:showCatName val="0"/>
          <c:showSerName val="0"/>
          <c:showPercent val="0"/>
          <c:showBubbleSize val="0"/>
        </c:dLbls>
        <c:axId val="1"/>
        <c:axId val="2"/>
      </c:scatterChart>
      <c:valAx>
        <c:axId val="1"/>
        <c:scaling>
          <c:orientation val="minMax"/>
        </c:scaling>
        <c:delete val="0"/>
        <c:axPos val="b"/>
        <c:title>
          <c:tx>
            <c:rich>
              <a:bodyPr/>
              <a:lstStyle/>
              <a:p>
                <a:pPr>
                  <a:defRPr sz="1000">
                    <a:solidFill>
                      <a:srgbClr val="64748B"/>
                    </a:solidFill>
                    <a:latin typeface="Calibri"/>
                  </a:defRPr>
                </a:pPr>
                <a:r>
                  <a:rPr lang="es-ES" sz="1000" dirty="0">
                    <a:solidFill>
                      <a:srgbClr val="64748B"/>
                    </a:solidFill>
                    <a:latin typeface="Calibri"/>
                  </a:rPr>
                  <a:t>m²</a:t>
                </a:r>
              </a:p>
            </c:rich>
          </c:tx>
          <c:overlay val="0"/>
        </c:title>
        <c:numFmt formatCode="General" sourceLinked="1"/>
        <c:majorTickMark val="out"/>
        <c:minorTickMark val="none"/>
        <c:tickLblPos val="nextTo"/>
        <c:txPr>
          <a:bodyPr/>
          <a:lstStyle/>
          <a:p>
            <a:pPr>
              <a:defRPr sz="900">
                <a:solidFill>
                  <a:srgbClr val="64748B"/>
                </a:solidFill>
                <a:latin typeface="Calibri"/>
              </a:defRPr>
            </a:pPr>
            <a:endParaRPr lang="es-ES"/>
          </a:p>
        </c:txPr>
        <c:crossAx val="2"/>
        <c:crosses val="autoZero"/>
        <c:crossBetween val="midCat"/>
      </c:valAx>
      <c:valAx>
        <c:axId val="2"/>
        <c:scaling>
          <c:orientation val="minMax"/>
        </c:scaling>
        <c:delete val="0"/>
        <c:axPos val="l"/>
        <c:title>
          <c:tx>
            <c:rich>
              <a:bodyPr rot="-5400000" vert="horz"/>
              <a:lstStyle/>
              <a:p>
                <a:pPr>
                  <a:defRPr sz="1000">
                    <a:solidFill>
                      <a:srgbClr val="64748B"/>
                    </a:solidFill>
                    <a:latin typeface="Calibri"/>
                  </a:defRPr>
                </a:pPr>
                <a:r>
                  <a:rPr lang="es-ES" sz="1000" dirty="0">
                    <a:solidFill>
                      <a:srgbClr val="64748B"/>
                    </a:solidFill>
                    <a:latin typeface="Calibri"/>
                  </a:rPr>
                  <a:t>Precio (€)</a:t>
                </a:r>
              </a:p>
            </c:rich>
          </c:tx>
          <c:overlay val="0"/>
        </c:title>
        <c:numFmt formatCode="General" sourceLinked="1"/>
        <c:majorTickMark val="out"/>
        <c:minorTickMark val="none"/>
        <c:tickLblPos val="nextTo"/>
        <c:txPr>
          <a:bodyPr/>
          <a:lstStyle/>
          <a:p>
            <a:pPr>
              <a:defRPr sz="900">
                <a:solidFill>
                  <a:srgbClr val="64748B"/>
                </a:solidFill>
                <a:latin typeface="Calibri"/>
              </a:defRPr>
            </a:pPr>
            <a:endParaRPr lang="es-ES"/>
          </a:p>
        </c:txPr>
        <c:crossAx val="1"/>
        <c:crosses val="autoZero"/>
        <c:crossBetween val="midCat"/>
      </c:valAx>
    </c:plotArea>
    <c:legend>
      <c:legendPos val="t"/>
      <c:overlay val="0"/>
      <c:txPr>
        <a:bodyPr/>
        <a:lstStyle/>
        <a:p>
          <a:pPr>
            <a:defRPr sz="1000">
              <a:latin typeface="Calibri"/>
            </a:defRPr>
          </a:pPr>
          <a:endParaRPr lang="es-ES"/>
        </a:p>
      </c:txPr>
    </c:legend>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pPr>
              <a:defRPr sz="800" b="1">
                <a:solidFill>
                  <a:srgbClr val="1E293B"/>
                </a:solidFill>
                <a:latin typeface="Calibri"/>
              </a:defRPr>
            </a:pPr>
            <a:r>
              <a:rPr lang="es-ES" sz="800" b="1" dirty="0">
                <a:solidFill>
                  <a:srgbClr val="1E293B"/>
                </a:solidFill>
                <a:latin typeface="Calibri"/>
              </a:rPr>
              <a:t>m2 vs Precio</a:t>
            </a:r>
          </a:p>
        </c:rich>
      </c:tx>
      <c:overlay val="0"/>
    </c:title>
    <c:autoTitleDeleted val="0"/>
    <c:plotArea>
      <c:layout/>
      <c:scatterChart>
        <c:scatterStyle val="lineMarker"/>
        <c:varyColors val="1"/>
        <c:ser>
          <c:idx val="0"/>
          <c:order val="0"/>
          <c:spPr>
            <a:ln w="0">
              <a:noFill/>
            </a:ln>
          </c:spPr>
          <c:marker>
            <c:symbol val="circle"/>
            <c:size val="4"/>
            <c:spPr>
              <a:solidFill>
                <a:srgbClr val="8E44AD"/>
              </a:solidFill>
              <a:ln>
                <a:noFill/>
              </a:ln>
            </c:spPr>
          </c:marker>
          <c:xVal>
            <c:numLit>
              <c:formatCode>General</c:formatCode>
              <c:ptCount val="9"/>
              <c:pt idx="0">
                <c:v>45</c:v>
              </c:pt>
              <c:pt idx="1">
                <c:v>55</c:v>
              </c:pt>
              <c:pt idx="2">
                <c:v>60</c:v>
              </c:pt>
              <c:pt idx="3">
                <c:v>70</c:v>
              </c:pt>
              <c:pt idx="4">
                <c:v>80</c:v>
              </c:pt>
              <c:pt idx="5">
                <c:v>90</c:v>
              </c:pt>
              <c:pt idx="6">
                <c:v>100</c:v>
              </c:pt>
              <c:pt idx="7">
                <c:v>120</c:v>
              </c:pt>
              <c:pt idx="8">
                <c:v>140</c:v>
              </c:pt>
            </c:numLit>
          </c:xVal>
          <c:yVal>
            <c:numLit>
              <c:formatCode>General</c:formatCode>
              <c:ptCount val="9"/>
              <c:pt idx="0">
                <c:v>85</c:v>
              </c:pt>
              <c:pt idx="1">
                <c:v>105</c:v>
              </c:pt>
              <c:pt idx="2">
                <c:v>115</c:v>
              </c:pt>
              <c:pt idx="3">
                <c:v>140</c:v>
              </c:pt>
              <c:pt idx="4">
                <c:v>160</c:v>
              </c:pt>
              <c:pt idx="5">
                <c:v>190</c:v>
              </c:pt>
              <c:pt idx="6">
                <c:v>215</c:v>
              </c:pt>
              <c:pt idx="7">
                <c:v>265</c:v>
              </c:pt>
              <c:pt idx="8">
                <c:v>310</c:v>
              </c:pt>
            </c:numLit>
          </c:yVal>
          <c:smooth val="1"/>
          <c:extLst>
            <c:ext xmlns:c16="http://schemas.microsoft.com/office/drawing/2014/chart" uri="{C3380CC4-5D6E-409C-BE32-E72D297353CC}">
              <c16:uniqueId val="{00000000-A14E-4867-80D3-1E2D25C49D71}"/>
            </c:ext>
          </c:extLst>
        </c:ser>
        <c:dLbls>
          <c:showLegendKey val="0"/>
          <c:showVal val="0"/>
          <c:showCatName val="0"/>
          <c:showSerName val="0"/>
          <c:showPercent val="0"/>
          <c:showBubbleSize val="0"/>
        </c:dLbls>
        <c:axId val="1"/>
        <c:axId val="2"/>
      </c:scatterChart>
      <c:valAx>
        <c:axId val="1"/>
        <c:scaling>
          <c:orientation val="minMax"/>
        </c:scaling>
        <c:delete val="1"/>
        <c:axPos val="b"/>
        <c:numFmt formatCode="General" sourceLinked="1"/>
        <c:majorTickMark val="none"/>
        <c:minorTickMark val="none"/>
        <c:tickLblPos val="none"/>
        <c:crossAx val="2"/>
        <c:crosses val="autoZero"/>
        <c:crossBetween val="midCat"/>
      </c:valAx>
      <c:valAx>
        <c:axId val="2"/>
        <c:scaling>
          <c:orientation val="minMax"/>
        </c:scaling>
        <c:delete val="1"/>
        <c:axPos val="l"/>
        <c:numFmt formatCode="General" sourceLinked="1"/>
        <c:majorTickMark val="none"/>
        <c:minorTickMark val="none"/>
        <c:tickLblPos val="none"/>
        <c:crossAx val="1"/>
        <c:crosses val="autoZero"/>
        <c:crossBetween val="midCat"/>
      </c:valAx>
    </c:plotArea>
    <c:plotVisOnly val="1"/>
    <c:dispBlanksAs val="zero"/>
    <c:showDLblsOverMax val="1"/>
  </c:char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pPr>
              <a:defRPr sz="800" b="1">
                <a:solidFill>
                  <a:srgbClr val="1E293B"/>
                </a:solidFill>
                <a:latin typeface="Calibri"/>
              </a:defRPr>
            </a:pPr>
            <a:r>
              <a:rPr lang="es-ES" sz="800" b="1" dirty="0">
                <a:solidFill>
                  <a:srgbClr val="1E293B"/>
                </a:solidFill>
                <a:latin typeface="Calibri"/>
              </a:rPr>
              <a:t>Habitac. vs Precio</a:t>
            </a:r>
          </a:p>
        </c:rich>
      </c:tx>
      <c:overlay val="0"/>
    </c:title>
    <c:autoTitleDeleted val="0"/>
    <c:plotArea>
      <c:layout/>
      <c:scatterChart>
        <c:scatterStyle val="lineMarker"/>
        <c:varyColors val="1"/>
        <c:ser>
          <c:idx val="0"/>
          <c:order val="0"/>
          <c:spPr>
            <a:ln w="0">
              <a:noFill/>
            </a:ln>
          </c:spPr>
          <c:marker>
            <c:symbol val="circle"/>
            <c:size val="4"/>
            <c:spPr>
              <a:solidFill>
                <a:srgbClr val="AF69C7"/>
              </a:solidFill>
              <a:ln>
                <a:noFill/>
              </a:ln>
            </c:spPr>
          </c:marker>
          <c:xVal>
            <c:numLit>
              <c:formatCode>General</c:formatCode>
              <c:ptCount val="9"/>
              <c:pt idx="0">
                <c:v>1</c:v>
              </c:pt>
              <c:pt idx="1">
                <c:v>2</c:v>
              </c:pt>
              <c:pt idx="2">
                <c:v>2</c:v>
              </c:pt>
              <c:pt idx="3">
                <c:v>3</c:v>
              </c:pt>
              <c:pt idx="4">
                <c:v>3</c:v>
              </c:pt>
              <c:pt idx="5">
                <c:v>3</c:v>
              </c:pt>
              <c:pt idx="6">
                <c:v>4</c:v>
              </c:pt>
              <c:pt idx="7">
                <c:v>4</c:v>
              </c:pt>
              <c:pt idx="8">
                <c:v>5</c:v>
              </c:pt>
            </c:numLit>
          </c:xVal>
          <c:yVal>
            <c:numLit>
              <c:formatCode>General</c:formatCode>
              <c:ptCount val="9"/>
              <c:pt idx="0">
                <c:v>85</c:v>
              </c:pt>
              <c:pt idx="1">
                <c:v>105</c:v>
              </c:pt>
              <c:pt idx="2">
                <c:v>115</c:v>
              </c:pt>
              <c:pt idx="3">
                <c:v>140</c:v>
              </c:pt>
              <c:pt idx="4">
                <c:v>155</c:v>
              </c:pt>
              <c:pt idx="5">
                <c:v>175</c:v>
              </c:pt>
              <c:pt idx="6">
                <c:v>215</c:v>
              </c:pt>
              <c:pt idx="7">
                <c:v>265</c:v>
              </c:pt>
              <c:pt idx="8">
                <c:v>310</c:v>
              </c:pt>
            </c:numLit>
          </c:yVal>
          <c:smooth val="1"/>
          <c:extLst>
            <c:ext xmlns:c16="http://schemas.microsoft.com/office/drawing/2014/chart" uri="{C3380CC4-5D6E-409C-BE32-E72D297353CC}">
              <c16:uniqueId val="{00000000-947F-4EC8-8C40-1FA13F39FE42}"/>
            </c:ext>
          </c:extLst>
        </c:ser>
        <c:dLbls>
          <c:showLegendKey val="0"/>
          <c:showVal val="0"/>
          <c:showCatName val="0"/>
          <c:showSerName val="0"/>
          <c:showPercent val="0"/>
          <c:showBubbleSize val="0"/>
        </c:dLbls>
        <c:axId val="1"/>
        <c:axId val="2"/>
      </c:scatterChart>
      <c:valAx>
        <c:axId val="1"/>
        <c:scaling>
          <c:orientation val="minMax"/>
        </c:scaling>
        <c:delete val="1"/>
        <c:axPos val="b"/>
        <c:numFmt formatCode="General" sourceLinked="1"/>
        <c:majorTickMark val="none"/>
        <c:minorTickMark val="none"/>
        <c:tickLblPos val="none"/>
        <c:crossAx val="2"/>
        <c:crosses val="autoZero"/>
        <c:crossBetween val="midCat"/>
      </c:valAx>
      <c:valAx>
        <c:axId val="2"/>
        <c:scaling>
          <c:orientation val="minMax"/>
        </c:scaling>
        <c:delete val="1"/>
        <c:axPos val="l"/>
        <c:numFmt formatCode="General" sourceLinked="1"/>
        <c:majorTickMark val="none"/>
        <c:minorTickMark val="none"/>
        <c:tickLblPos val="none"/>
        <c:crossAx val="1"/>
        <c:crosses val="autoZero"/>
        <c:crossBetween val="midCat"/>
      </c:valAx>
    </c:plotArea>
    <c:plotVisOnly val="1"/>
    <c:dispBlanksAs val="zero"/>
    <c:showDLblsOverMax val="1"/>
  </c:char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pPr>
              <a:defRPr sz="800" b="1">
                <a:solidFill>
                  <a:srgbClr val="1E293B"/>
                </a:solidFill>
                <a:latin typeface="Calibri"/>
              </a:defRPr>
            </a:pPr>
            <a:r>
              <a:rPr lang="es-ES" sz="800" b="1" dirty="0">
                <a:solidFill>
                  <a:srgbClr val="1E293B"/>
                </a:solidFill>
                <a:latin typeface="Calibri"/>
              </a:rPr>
              <a:t>m2 vs Habitac.</a:t>
            </a:r>
          </a:p>
        </c:rich>
      </c:tx>
      <c:overlay val="0"/>
    </c:title>
    <c:autoTitleDeleted val="0"/>
    <c:plotArea>
      <c:layout/>
      <c:scatterChart>
        <c:scatterStyle val="lineMarker"/>
        <c:varyColors val="1"/>
        <c:ser>
          <c:idx val="0"/>
          <c:order val="0"/>
          <c:spPr>
            <a:ln w="0">
              <a:noFill/>
            </a:ln>
          </c:spPr>
          <c:marker>
            <c:symbol val="circle"/>
            <c:size val="4"/>
            <c:spPr>
              <a:solidFill>
                <a:srgbClr val="C39BD3"/>
              </a:solidFill>
              <a:ln>
                <a:noFill/>
              </a:ln>
            </c:spPr>
          </c:marker>
          <c:xVal>
            <c:numLit>
              <c:formatCode>General</c:formatCode>
              <c:ptCount val="9"/>
              <c:pt idx="0">
                <c:v>45</c:v>
              </c:pt>
              <c:pt idx="1">
                <c:v>55</c:v>
              </c:pt>
              <c:pt idx="2">
                <c:v>60</c:v>
              </c:pt>
              <c:pt idx="3">
                <c:v>70</c:v>
              </c:pt>
              <c:pt idx="4">
                <c:v>80</c:v>
              </c:pt>
              <c:pt idx="5">
                <c:v>90</c:v>
              </c:pt>
              <c:pt idx="6">
                <c:v>100</c:v>
              </c:pt>
              <c:pt idx="7">
                <c:v>120</c:v>
              </c:pt>
              <c:pt idx="8">
                <c:v>140</c:v>
              </c:pt>
            </c:numLit>
          </c:xVal>
          <c:yVal>
            <c:numLit>
              <c:formatCode>General</c:formatCode>
              <c:ptCount val="9"/>
              <c:pt idx="0">
                <c:v>1</c:v>
              </c:pt>
              <c:pt idx="1">
                <c:v>2</c:v>
              </c:pt>
              <c:pt idx="2">
                <c:v>2</c:v>
              </c:pt>
              <c:pt idx="3">
                <c:v>3</c:v>
              </c:pt>
              <c:pt idx="4">
                <c:v>3</c:v>
              </c:pt>
              <c:pt idx="5">
                <c:v>3</c:v>
              </c:pt>
              <c:pt idx="6">
                <c:v>4</c:v>
              </c:pt>
              <c:pt idx="7">
                <c:v>4</c:v>
              </c:pt>
              <c:pt idx="8">
                <c:v>5</c:v>
              </c:pt>
            </c:numLit>
          </c:yVal>
          <c:smooth val="1"/>
          <c:extLst>
            <c:ext xmlns:c16="http://schemas.microsoft.com/office/drawing/2014/chart" uri="{C3380CC4-5D6E-409C-BE32-E72D297353CC}">
              <c16:uniqueId val="{00000000-299A-4D80-845A-CA07327CBDB5}"/>
            </c:ext>
          </c:extLst>
        </c:ser>
        <c:dLbls>
          <c:showLegendKey val="0"/>
          <c:showVal val="0"/>
          <c:showCatName val="0"/>
          <c:showSerName val="0"/>
          <c:showPercent val="0"/>
          <c:showBubbleSize val="0"/>
        </c:dLbls>
        <c:axId val="1"/>
        <c:axId val="2"/>
      </c:scatterChart>
      <c:valAx>
        <c:axId val="1"/>
        <c:scaling>
          <c:orientation val="minMax"/>
        </c:scaling>
        <c:delete val="1"/>
        <c:axPos val="b"/>
        <c:numFmt formatCode="General" sourceLinked="1"/>
        <c:majorTickMark val="none"/>
        <c:minorTickMark val="none"/>
        <c:tickLblPos val="none"/>
        <c:crossAx val="2"/>
        <c:crosses val="autoZero"/>
        <c:crossBetween val="midCat"/>
      </c:valAx>
      <c:valAx>
        <c:axId val="2"/>
        <c:scaling>
          <c:orientation val="minMax"/>
        </c:scaling>
        <c:delete val="1"/>
        <c:axPos val="l"/>
        <c:numFmt formatCode="General" sourceLinked="1"/>
        <c:majorTickMark val="none"/>
        <c:minorTickMark val="none"/>
        <c:tickLblPos val="none"/>
        <c:crossAx val="1"/>
        <c:crosses val="autoZero"/>
        <c:crossBetween val="midCat"/>
      </c:valAx>
    </c:plotArea>
    <c:plotVisOnly val="1"/>
    <c:dispBlanksAs val="zero"/>
    <c:showDLblsOverMax val="1"/>
  </c:char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pPr>
              <a:defRPr sz="800" b="1">
                <a:solidFill>
                  <a:srgbClr val="1E293B"/>
                </a:solidFill>
                <a:latin typeface="Calibri"/>
              </a:defRPr>
            </a:pPr>
            <a:r>
              <a:rPr lang="es-ES" sz="800" b="1" dirty="0">
                <a:solidFill>
                  <a:srgbClr val="1E293B"/>
                </a:solidFill>
                <a:latin typeface="Calibri"/>
              </a:rPr>
              <a:t>Antig. vs Precio</a:t>
            </a:r>
          </a:p>
        </c:rich>
      </c:tx>
      <c:overlay val="0"/>
    </c:title>
    <c:autoTitleDeleted val="0"/>
    <c:plotArea>
      <c:layout/>
      <c:scatterChart>
        <c:scatterStyle val="lineMarker"/>
        <c:varyColors val="1"/>
        <c:ser>
          <c:idx val="0"/>
          <c:order val="0"/>
          <c:spPr>
            <a:ln w="0">
              <a:noFill/>
            </a:ln>
          </c:spPr>
          <c:marker>
            <c:symbol val="circle"/>
            <c:size val="4"/>
            <c:spPr>
              <a:solidFill>
                <a:srgbClr val="D2B4DE"/>
              </a:solidFill>
              <a:ln>
                <a:noFill/>
              </a:ln>
            </c:spPr>
          </c:marker>
          <c:xVal>
            <c:numLit>
              <c:formatCode>General</c:formatCode>
              <c:ptCount val="9"/>
              <c:pt idx="0">
                <c:v>2</c:v>
              </c:pt>
              <c:pt idx="1">
                <c:v>5</c:v>
              </c:pt>
              <c:pt idx="2">
                <c:v>8</c:v>
              </c:pt>
              <c:pt idx="3">
                <c:v>10</c:v>
              </c:pt>
              <c:pt idx="4">
                <c:v>15</c:v>
              </c:pt>
              <c:pt idx="5">
                <c:v>18</c:v>
              </c:pt>
              <c:pt idx="6">
                <c:v>22</c:v>
              </c:pt>
              <c:pt idx="7">
                <c:v>25</c:v>
              </c:pt>
              <c:pt idx="8">
                <c:v>30</c:v>
              </c:pt>
            </c:numLit>
          </c:xVal>
          <c:yVal>
            <c:numLit>
              <c:formatCode>General</c:formatCode>
              <c:ptCount val="9"/>
              <c:pt idx="0">
                <c:v>310</c:v>
              </c:pt>
              <c:pt idx="1">
                <c:v>265</c:v>
              </c:pt>
              <c:pt idx="2">
                <c:v>215</c:v>
              </c:pt>
              <c:pt idx="3">
                <c:v>190</c:v>
              </c:pt>
              <c:pt idx="4">
                <c:v>160</c:v>
              </c:pt>
              <c:pt idx="5">
                <c:v>140</c:v>
              </c:pt>
              <c:pt idx="6">
                <c:v>115</c:v>
              </c:pt>
              <c:pt idx="7">
                <c:v>105</c:v>
              </c:pt>
              <c:pt idx="8">
                <c:v>85</c:v>
              </c:pt>
            </c:numLit>
          </c:yVal>
          <c:smooth val="1"/>
          <c:extLst>
            <c:ext xmlns:c16="http://schemas.microsoft.com/office/drawing/2014/chart" uri="{C3380CC4-5D6E-409C-BE32-E72D297353CC}">
              <c16:uniqueId val="{00000000-1662-4A96-AECC-E534E0CE8674}"/>
            </c:ext>
          </c:extLst>
        </c:ser>
        <c:dLbls>
          <c:showLegendKey val="0"/>
          <c:showVal val="0"/>
          <c:showCatName val="0"/>
          <c:showSerName val="0"/>
          <c:showPercent val="0"/>
          <c:showBubbleSize val="0"/>
        </c:dLbls>
        <c:axId val="1"/>
        <c:axId val="2"/>
      </c:scatterChart>
      <c:valAx>
        <c:axId val="1"/>
        <c:scaling>
          <c:orientation val="minMax"/>
        </c:scaling>
        <c:delete val="1"/>
        <c:axPos val="b"/>
        <c:numFmt formatCode="General" sourceLinked="1"/>
        <c:majorTickMark val="none"/>
        <c:minorTickMark val="none"/>
        <c:tickLblPos val="none"/>
        <c:crossAx val="2"/>
        <c:crosses val="autoZero"/>
        <c:crossBetween val="midCat"/>
      </c:valAx>
      <c:valAx>
        <c:axId val="2"/>
        <c:scaling>
          <c:orientation val="minMax"/>
        </c:scaling>
        <c:delete val="1"/>
        <c:axPos val="l"/>
        <c:numFmt formatCode="General" sourceLinked="1"/>
        <c:majorTickMark val="none"/>
        <c:minorTickMark val="none"/>
        <c:tickLblPos val="none"/>
        <c:crossAx val="1"/>
        <c:crosses val="autoZero"/>
        <c:crossBetween val="midCat"/>
      </c:valAx>
    </c:plotArea>
    <c:plotVisOnly val="1"/>
    <c:dispBlanksAs val="zero"/>
    <c:showDLblsOverMax val="1"/>
  </c:char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pPr>
              <a:defRPr sz="1400" b="1">
                <a:solidFill>
                  <a:srgbClr val="1E293B"/>
                </a:solidFill>
                <a:latin typeface="Calibri"/>
              </a:defRPr>
            </a:pPr>
            <a:r>
              <a:rPr lang="es-ES" sz="1400" b="1" dirty="0">
                <a:solidFill>
                  <a:srgbClr val="1E293B"/>
                </a:solidFill>
                <a:latin typeface="Calibri"/>
              </a:rPr>
              <a:t>f(x) = 2x + 3</a:t>
            </a:r>
          </a:p>
        </c:rich>
      </c:tx>
      <c:overlay val="0"/>
    </c:title>
    <c:autoTitleDeleted val="0"/>
    <c:plotArea>
      <c:layout/>
      <c:scatterChart>
        <c:scatterStyle val="smoothMarker"/>
        <c:varyColors val="1"/>
        <c:ser>
          <c:idx val="0"/>
          <c:order val="0"/>
          <c:tx>
            <c:v>y = 2x + 3</c:v>
          </c:tx>
          <c:spPr>
            <a:ln w="25400">
              <a:solidFill>
                <a:srgbClr val="0D7377"/>
              </a:solidFill>
            </a:ln>
          </c:spPr>
          <c:marker>
            <c:symbol val="circle"/>
            <c:size val="6"/>
            <c:spPr>
              <a:solidFill>
                <a:srgbClr val="0D7377"/>
              </a:solidFill>
              <a:ln>
                <a:noFill/>
              </a:ln>
            </c:spPr>
          </c:marker>
          <c:dLbls>
            <c:spPr>
              <a:noFill/>
              <a:ln>
                <a:noFill/>
              </a:ln>
              <a:effectLst/>
            </c:spPr>
            <c:txPr>
              <a:bodyPr/>
              <a:lstStyle/>
              <a:p>
                <a:pPr>
                  <a:defRPr sz="1000">
                    <a:solidFill>
                      <a:srgbClr val="1E293B"/>
                    </a:solidFill>
                    <a:latin typeface="Calibri"/>
                  </a:defRPr>
                </a:pPr>
                <a:endParaRPr lang="es-ES"/>
              </a:p>
            </c:tx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xVal>
            <c:numLit>
              <c:formatCode>General</c:formatCode>
              <c:ptCount val="7"/>
              <c:pt idx="0">
                <c:v>-1</c:v>
              </c:pt>
              <c:pt idx="1">
                <c:v>0</c:v>
              </c:pt>
              <c:pt idx="2">
                <c:v>1</c:v>
              </c:pt>
              <c:pt idx="3">
                <c:v>2</c:v>
              </c:pt>
              <c:pt idx="4">
                <c:v>3</c:v>
              </c:pt>
              <c:pt idx="5">
                <c:v>5</c:v>
              </c:pt>
              <c:pt idx="6">
                <c:v>10</c:v>
              </c:pt>
            </c:numLit>
          </c:xVal>
          <c:yVal>
            <c:numLit>
              <c:formatCode>General</c:formatCode>
              <c:ptCount val="7"/>
              <c:pt idx="0">
                <c:v>1</c:v>
              </c:pt>
              <c:pt idx="1">
                <c:v>3</c:v>
              </c:pt>
              <c:pt idx="2">
                <c:v>5</c:v>
              </c:pt>
              <c:pt idx="3">
                <c:v>7</c:v>
              </c:pt>
              <c:pt idx="4">
                <c:v>9</c:v>
              </c:pt>
              <c:pt idx="5">
                <c:v>13</c:v>
              </c:pt>
              <c:pt idx="6">
                <c:v>23</c:v>
              </c:pt>
            </c:numLit>
          </c:yVal>
          <c:smooth val="1"/>
          <c:extLst>
            <c:ext xmlns:c16="http://schemas.microsoft.com/office/drawing/2014/chart" uri="{C3380CC4-5D6E-409C-BE32-E72D297353CC}">
              <c16:uniqueId val="{00000000-BEA6-4C16-BA4D-3B48B89C6787}"/>
            </c:ext>
          </c:extLst>
        </c:ser>
        <c:dLbls>
          <c:showLegendKey val="0"/>
          <c:showVal val="0"/>
          <c:showCatName val="0"/>
          <c:showSerName val="0"/>
          <c:showPercent val="0"/>
          <c:showBubbleSize val="0"/>
        </c:dLbls>
        <c:axId val="1"/>
        <c:axId val="2"/>
      </c:scatterChart>
      <c:valAx>
        <c:axId val="1"/>
        <c:scaling>
          <c:orientation val="minMax"/>
        </c:scaling>
        <c:delete val="0"/>
        <c:axPos val="b"/>
        <c:title>
          <c:tx>
            <c:rich>
              <a:bodyPr/>
              <a:lstStyle/>
              <a:p>
                <a:pPr>
                  <a:defRPr sz="1100">
                    <a:solidFill>
                      <a:srgbClr val="64748B"/>
                    </a:solidFill>
                    <a:latin typeface="Calibri"/>
                  </a:defRPr>
                </a:pPr>
                <a:r>
                  <a:rPr lang="es-ES" sz="1100" dirty="0">
                    <a:solidFill>
                      <a:srgbClr val="64748B"/>
                    </a:solidFill>
                    <a:latin typeface="Calibri"/>
                  </a:rPr>
                  <a:t>x</a:t>
                </a:r>
              </a:p>
            </c:rich>
          </c:tx>
          <c:overlay val="0"/>
        </c:title>
        <c:numFmt formatCode="General" sourceLinked="1"/>
        <c:majorTickMark val="out"/>
        <c:minorTickMark val="none"/>
        <c:tickLblPos val="nextTo"/>
        <c:txPr>
          <a:bodyPr/>
          <a:lstStyle/>
          <a:p>
            <a:pPr>
              <a:defRPr sz="1000">
                <a:solidFill>
                  <a:srgbClr val="64748B"/>
                </a:solidFill>
                <a:latin typeface="Calibri"/>
              </a:defRPr>
            </a:pPr>
            <a:endParaRPr lang="es-ES"/>
          </a:p>
        </c:txPr>
        <c:crossAx val="2"/>
        <c:crosses val="autoZero"/>
        <c:crossBetween val="midCat"/>
      </c:valAx>
      <c:valAx>
        <c:axId val="2"/>
        <c:scaling>
          <c:orientation val="minMax"/>
        </c:scaling>
        <c:delete val="0"/>
        <c:axPos val="l"/>
        <c:title>
          <c:tx>
            <c:rich>
              <a:bodyPr rot="-5400000" vert="horz"/>
              <a:lstStyle/>
              <a:p>
                <a:pPr>
                  <a:defRPr sz="1100">
                    <a:solidFill>
                      <a:srgbClr val="64748B"/>
                    </a:solidFill>
                    <a:latin typeface="Calibri"/>
                  </a:defRPr>
                </a:pPr>
                <a:r>
                  <a:rPr lang="es-ES" sz="1100" dirty="0">
                    <a:solidFill>
                      <a:srgbClr val="64748B"/>
                    </a:solidFill>
                    <a:latin typeface="Calibri"/>
                  </a:rPr>
                  <a:t>f(x)</a:t>
                </a:r>
              </a:p>
            </c:rich>
          </c:tx>
          <c:overlay val="0"/>
        </c:title>
        <c:numFmt formatCode="General" sourceLinked="1"/>
        <c:majorTickMark val="out"/>
        <c:minorTickMark val="none"/>
        <c:tickLblPos val="nextTo"/>
        <c:txPr>
          <a:bodyPr/>
          <a:lstStyle/>
          <a:p>
            <a:pPr>
              <a:defRPr sz="1000">
                <a:solidFill>
                  <a:srgbClr val="64748B"/>
                </a:solidFill>
                <a:latin typeface="Calibri"/>
              </a:defRPr>
            </a:pPr>
            <a:endParaRPr lang="es-ES"/>
          </a:p>
        </c:txPr>
        <c:crossAx val="1"/>
        <c:crosses val="autoZero"/>
        <c:crossBetween val="midCat"/>
      </c:valAx>
    </c:plotArea>
    <c:legend>
      <c:legendPos val="t"/>
      <c:overlay val="0"/>
      <c:txPr>
        <a:bodyPr/>
        <a:lstStyle/>
        <a:p>
          <a:pPr>
            <a:defRPr sz="1000">
              <a:latin typeface="Calibri"/>
            </a:defRPr>
          </a:pPr>
          <a:endParaRPr lang="es-ES"/>
        </a:p>
      </c:txPr>
    </c:legend>
    <c:plotVisOnly val="1"/>
    <c:dispBlanksAs val="zero"/>
    <c:showDLblsOverMax val="1"/>
  </c:char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800" b="0" i="0" u="none" strike="noStrike">
                <a:solidFill>
                  <a:srgbClr val="000000"/>
                </a:solidFill>
                <a:latin typeface="Arial"/>
              </a:defRPr>
            </a:pPr>
            <a:r>
              <a:rPr lang="es-CO" sz="1800" b="0" i="0" u="none" strike="noStrike">
                <a:solidFill>
                  <a:srgbClr val="000000"/>
                </a:solidFill>
                <a:latin typeface="Arial"/>
              </a:rPr>
              <a:t>Ejemplo: Ingreso vs. Consumo</a:t>
            </a:r>
          </a:p>
        </c:rich>
      </c:tx>
      <c:overlay val="0"/>
    </c:title>
    <c:autoTitleDeleted val="0"/>
    <c:plotArea>
      <c:layout/>
      <c:scatterChart>
        <c:scatterStyle val="lineMarker"/>
        <c:varyColors val="0"/>
        <c:ser>
          <c:idx val="0"/>
          <c:order val="0"/>
          <c:tx>
            <c:strRef>
              <c:f>Sheet1!$B$1</c:f>
              <c:strCache>
                <c:ptCount val="1"/>
                <c:pt idx="0">
                  <c:v>Línea de regresión</c:v>
                </c:pt>
              </c:strCache>
            </c:strRef>
          </c:tx>
          <c:spPr>
            <a:ln w="25400" cap="flat">
              <a:solidFill>
                <a:srgbClr val="0D7377"/>
              </a:solidFill>
              <a:prstDash val="solid"/>
              <a:round/>
            </a:ln>
            <a:effectLst/>
          </c:spPr>
          <c:marker>
            <c:symbol val="circle"/>
            <c:size val="6"/>
            <c:spPr>
              <a:solidFill>
                <a:srgbClr val="0D7377"/>
              </a:solidFill>
              <a:ln w="9525" cap="flat">
                <a:solidFill>
                  <a:srgbClr val="0D7377"/>
                </a:solidFill>
                <a:prstDash val="solid"/>
                <a:round/>
              </a:ln>
              <a:effectLst/>
            </c:spPr>
          </c:marker>
          <c:xVal>
            <c:numRef>
              <c:f>Sheet1!$A$2:$A$11</c:f>
              <c:numCache>
                <c:formatCode>General</c:formatCode>
                <c:ptCount val="10"/>
                <c:pt idx="0">
                  <c:v>45</c:v>
                </c:pt>
                <c:pt idx="1">
                  <c:v>68</c:v>
                </c:pt>
                <c:pt idx="2">
                  <c:v>72</c:v>
                </c:pt>
                <c:pt idx="3">
                  <c:v>85</c:v>
                </c:pt>
                <c:pt idx="4">
                  <c:v>91</c:v>
                </c:pt>
                <c:pt idx="5">
                  <c:v>105</c:v>
                </c:pt>
                <c:pt idx="6">
                  <c:v>112</c:v>
                </c:pt>
                <c:pt idx="7">
                  <c:v>98</c:v>
                </c:pt>
                <c:pt idx="8">
                  <c:v>78</c:v>
                </c:pt>
                <c:pt idx="9">
                  <c:v>120</c:v>
                </c:pt>
              </c:numCache>
            </c:numRef>
          </c:xVal>
          <c:yVal>
            <c:numRef>
              <c:f>Sheet1!$B$2:$B$11</c:f>
              <c:numCache>
                <c:formatCode>General</c:formatCode>
                <c:ptCount val="10"/>
                <c:pt idx="0">
                  <c:v>50</c:v>
                </c:pt>
                <c:pt idx="1">
                  <c:v>62</c:v>
                </c:pt>
                <c:pt idx="2">
                  <c:v>70</c:v>
                </c:pt>
                <c:pt idx="3">
                  <c:v>78</c:v>
                </c:pt>
                <c:pt idx="4">
                  <c:v>86</c:v>
                </c:pt>
                <c:pt idx="5">
                  <c:v>98</c:v>
                </c:pt>
                <c:pt idx="6">
                  <c:v>108</c:v>
                </c:pt>
                <c:pt idx="7">
                  <c:v>95</c:v>
                </c:pt>
                <c:pt idx="8">
                  <c:v>75</c:v>
                </c:pt>
                <c:pt idx="9">
                  <c:v>118</c:v>
                </c:pt>
              </c:numCache>
            </c:numRef>
          </c:yVal>
          <c:smooth val="0"/>
          <c:extLst>
            <c:ext xmlns:c16="http://schemas.microsoft.com/office/drawing/2014/chart" uri="{C3380CC4-5D6E-409C-BE32-E72D297353CC}">
              <c16:uniqueId val="{00000000-16EA-45C9-80CB-6B948BC47AD1}"/>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crossBetween val="midCat"/>
      </c:val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midCat"/>
      </c:valAx>
      <c:spPr>
        <a:noFill/>
        <a:ln>
          <a:noFill/>
        </a:ln>
        <a:effectLst/>
      </c:spPr>
    </c:plotArea>
    <c:legend>
      <c:legendPos val="b"/>
      <c:overlay val="0"/>
    </c:legend>
    <c:plotVisOnly val="1"/>
    <c:dispBlanksAs val="span"/>
    <c:showDLblsOverMax val="1"/>
  </c:chart>
  <c:spPr>
    <a:solidFill>
      <a:srgbClr val="F8FAFC"/>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800" b="0" i="0" u="none" strike="noStrike">
                <a:solidFill>
                  <a:srgbClr val="000000"/>
                </a:solidFill>
                <a:latin typeface="Arial"/>
              </a:defRPr>
            </a:pPr>
            <a:r>
              <a:rPr lang="es-CO" sz="1800" b="0" i="0" u="none" strike="noStrike">
                <a:solidFill>
                  <a:srgbClr val="000000"/>
                </a:solidFill>
                <a:latin typeface="Arial"/>
              </a:rPr>
              <a:t>Dispersión + Línea de Regresión</a:t>
            </a:r>
          </a:p>
        </c:rich>
      </c:tx>
      <c:overlay val="0"/>
    </c:title>
    <c:autoTitleDeleted val="0"/>
    <c:plotArea>
      <c:layout/>
      <c:scatterChart>
        <c:scatterStyle val="lineMarker"/>
        <c:varyColors val="0"/>
        <c:ser>
          <c:idx val="0"/>
          <c:order val="0"/>
          <c:tx>
            <c:strRef>
              <c:f>Sheet1!$B$1</c:f>
              <c:strCache>
                <c:ptCount val="1"/>
                <c:pt idx="0">
                  <c:v>Regresión</c:v>
                </c:pt>
              </c:strCache>
            </c:strRef>
          </c:tx>
          <c:spPr>
            <a:ln w="25400" cap="flat">
              <a:solidFill>
                <a:srgbClr val="0D7377"/>
              </a:solidFill>
              <a:prstDash val="solid"/>
              <a:round/>
            </a:ln>
            <a:effectLst/>
          </c:spPr>
          <c:marker>
            <c:symbol val="circle"/>
            <c:size val="6"/>
            <c:spPr>
              <a:solidFill>
                <a:srgbClr val="0D7377"/>
              </a:solidFill>
              <a:ln w="9525" cap="flat">
                <a:solidFill>
                  <a:srgbClr val="0D7377"/>
                </a:solidFill>
                <a:prstDash val="solid"/>
                <a:round/>
              </a:ln>
              <a:effectLst/>
            </c:spPr>
          </c:marker>
          <c:xVal>
            <c:numRef>
              <c:f>Sheet1!$A$2:$A$7</c:f>
              <c:numCache>
                <c:formatCode>General</c:formatCode>
                <c:ptCount val="6"/>
                <c:pt idx="0">
                  <c:v>4.2</c:v>
                </c:pt>
                <c:pt idx="1">
                  <c:v>5.8</c:v>
                </c:pt>
                <c:pt idx="2">
                  <c:v>7.1</c:v>
                </c:pt>
                <c:pt idx="3">
                  <c:v>9</c:v>
                </c:pt>
                <c:pt idx="4">
                  <c:v>11.3</c:v>
                </c:pt>
                <c:pt idx="5">
                  <c:v>13.5</c:v>
                </c:pt>
              </c:numCache>
            </c:numRef>
          </c:xVal>
          <c:yVal>
            <c:numRef>
              <c:f>Sheet1!$B$2:$B$7</c:f>
              <c:numCache>
                <c:formatCode>General</c:formatCode>
                <c:ptCount val="6"/>
                <c:pt idx="0">
                  <c:v>4.1493244808152561</c:v>
                </c:pt>
                <c:pt idx="1">
                  <c:v>5.8270053269512863</c:v>
                </c:pt>
                <c:pt idx="2">
                  <c:v>7.0013819192465077</c:v>
                </c:pt>
                <c:pt idx="3">
                  <c:v>9.1823670192233475</c:v>
                </c:pt>
                <c:pt idx="4">
                  <c:v>11.363352119200187</c:v>
                </c:pt>
                <c:pt idx="5">
                  <c:v>13.376569134563423</c:v>
                </c:pt>
              </c:numCache>
            </c:numRef>
          </c:yVal>
          <c:smooth val="0"/>
          <c:extLst>
            <c:ext xmlns:c16="http://schemas.microsoft.com/office/drawing/2014/chart" uri="{C3380CC4-5D6E-409C-BE32-E72D297353CC}">
              <c16:uniqueId val="{00000000-75CF-437A-B146-9A61BCF77A12}"/>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crossBetween val="midCat"/>
      </c:val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midCat"/>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pPr>
              <a:defRPr sz="1200" b="1">
                <a:solidFill>
                  <a:srgbClr val="1E293B"/>
                </a:solidFill>
                <a:latin typeface="Calibri"/>
              </a:defRPr>
            </a:pPr>
            <a:r>
              <a:rPr lang="es-ES" sz="1200" b="1" dirty="0">
                <a:solidFill>
                  <a:srgbClr val="1E293B"/>
                </a:solidFill>
                <a:latin typeface="Calibri"/>
              </a:rPr>
              <a:t>Curva Sigmoide</a:t>
            </a:r>
          </a:p>
        </c:rich>
      </c:tx>
      <c:overlay val="0"/>
    </c:title>
    <c:autoTitleDeleted val="0"/>
    <c:plotArea>
      <c:layout/>
      <c:scatterChart>
        <c:scatterStyle val="smoothMarker"/>
        <c:varyColors val="1"/>
        <c:ser>
          <c:idx val="0"/>
          <c:order val="0"/>
          <c:tx>
            <c:v>P(aprobar)</c:v>
          </c:tx>
          <c:spPr>
            <a:ln w="28575">
              <a:solidFill>
                <a:srgbClr val="0D7377"/>
              </a:solidFill>
            </a:ln>
          </c:spPr>
          <c:marker>
            <c:symbol val="circle"/>
            <c:size val="5"/>
            <c:spPr>
              <a:solidFill>
                <a:srgbClr val="0D7377"/>
              </a:solidFill>
              <a:ln>
                <a:noFill/>
              </a:ln>
            </c:spPr>
          </c:marker>
          <c:xVal>
            <c:numLit>
              <c:formatCode>General</c:formatCode>
              <c:ptCount val="11"/>
              <c:pt idx="0">
                <c:v>0</c:v>
              </c:pt>
              <c:pt idx="1">
                <c:v>1</c:v>
              </c:pt>
              <c:pt idx="2">
                <c:v>2</c:v>
              </c:pt>
              <c:pt idx="3">
                <c:v>3</c:v>
              </c:pt>
              <c:pt idx="4">
                <c:v>4</c:v>
              </c:pt>
              <c:pt idx="5">
                <c:v>5</c:v>
              </c:pt>
              <c:pt idx="6">
                <c:v>6</c:v>
              </c:pt>
              <c:pt idx="7">
                <c:v>7</c:v>
              </c:pt>
              <c:pt idx="8">
                <c:v>8</c:v>
              </c:pt>
              <c:pt idx="9">
                <c:v>9</c:v>
              </c:pt>
              <c:pt idx="10">
                <c:v>10</c:v>
              </c:pt>
            </c:numLit>
          </c:xVal>
          <c:yVal>
            <c:numLit>
              <c:formatCode>General</c:formatCode>
              <c:ptCount val="11"/>
              <c:pt idx="0">
                <c:v>0.02</c:v>
              </c:pt>
              <c:pt idx="1">
                <c:v>0.05</c:v>
              </c:pt>
              <c:pt idx="2">
                <c:v>0.12</c:v>
              </c:pt>
              <c:pt idx="3">
                <c:v>0.27</c:v>
              </c:pt>
              <c:pt idx="4">
                <c:v>0.5</c:v>
              </c:pt>
              <c:pt idx="5">
                <c:v>0.73</c:v>
              </c:pt>
              <c:pt idx="6">
                <c:v>0.88</c:v>
              </c:pt>
              <c:pt idx="7">
                <c:v>0.95</c:v>
              </c:pt>
              <c:pt idx="8">
                <c:v>0.97</c:v>
              </c:pt>
              <c:pt idx="9">
                <c:v>0.99</c:v>
              </c:pt>
              <c:pt idx="10">
                <c:v>0.99</c:v>
              </c:pt>
            </c:numLit>
          </c:yVal>
          <c:smooth val="1"/>
          <c:extLst>
            <c:ext xmlns:c16="http://schemas.microsoft.com/office/drawing/2014/chart" uri="{C3380CC4-5D6E-409C-BE32-E72D297353CC}">
              <c16:uniqueId val="{00000000-CC68-4805-BC64-7B9B972044DB}"/>
            </c:ext>
          </c:extLst>
        </c:ser>
        <c:dLbls>
          <c:showLegendKey val="0"/>
          <c:showVal val="0"/>
          <c:showCatName val="0"/>
          <c:showSerName val="0"/>
          <c:showPercent val="0"/>
          <c:showBubbleSize val="0"/>
        </c:dLbls>
        <c:axId val="1"/>
        <c:axId val="2"/>
      </c:scatterChart>
      <c:valAx>
        <c:axId val="1"/>
        <c:scaling>
          <c:orientation val="minMax"/>
        </c:scaling>
        <c:delete val="0"/>
        <c:axPos val="b"/>
        <c:title>
          <c:tx>
            <c:rich>
              <a:bodyPr/>
              <a:lstStyle/>
              <a:p>
                <a:pPr>
                  <a:defRPr sz="1000">
                    <a:solidFill>
                      <a:srgbClr val="64748B"/>
                    </a:solidFill>
                    <a:latin typeface="Calibri"/>
                  </a:defRPr>
                </a:pPr>
                <a:r>
                  <a:rPr lang="es-ES" sz="1000" dirty="0">
                    <a:solidFill>
                      <a:srgbClr val="64748B"/>
                    </a:solidFill>
                    <a:latin typeface="Calibri"/>
                  </a:rPr>
                  <a:t>Horas de estudio</a:t>
                </a:r>
              </a:p>
            </c:rich>
          </c:tx>
          <c:overlay val="0"/>
        </c:title>
        <c:numFmt formatCode="General" sourceLinked="1"/>
        <c:majorTickMark val="out"/>
        <c:minorTickMark val="none"/>
        <c:tickLblPos val="nextTo"/>
        <c:txPr>
          <a:bodyPr/>
          <a:lstStyle/>
          <a:p>
            <a:pPr>
              <a:defRPr sz="900">
                <a:solidFill>
                  <a:srgbClr val="64748B"/>
                </a:solidFill>
                <a:latin typeface="Calibri"/>
              </a:defRPr>
            </a:pPr>
            <a:endParaRPr lang="es-ES"/>
          </a:p>
        </c:txPr>
        <c:crossAx val="2"/>
        <c:crosses val="autoZero"/>
        <c:crossBetween val="midCat"/>
      </c:valAx>
      <c:valAx>
        <c:axId val="2"/>
        <c:scaling>
          <c:orientation val="minMax"/>
          <c:max val="1"/>
          <c:min val="0"/>
        </c:scaling>
        <c:delete val="0"/>
        <c:axPos val="l"/>
        <c:title>
          <c:tx>
            <c:rich>
              <a:bodyPr rot="-5400000" vert="horz"/>
              <a:lstStyle/>
              <a:p>
                <a:pPr>
                  <a:defRPr sz="1000">
                    <a:solidFill>
                      <a:srgbClr val="64748B"/>
                    </a:solidFill>
                    <a:latin typeface="Calibri"/>
                  </a:defRPr>
                </a:pPr>
                <a:r>
                  <a:rPr lang="es-ES" sz="1000" dirty="0">
                    <a:solidFill>
                      <a:srgbClr val="64748B"/>
                    </a:solidFill>
                    <a:latin typeface="Calibri"/>
                  </a:rPr>
                  <a:t>P(aprobar)</a:t>
                </a:r>
              </a:p>
            </c:rich>
          </c:tx>
          <c:overlay val="0"/>
        </c:title>
        <c:numFmt formatCode="General" sourceLinked="1"/>
        <c:majorTickMark val="out"/>
        <c:minorTickMark val="none"/>
        <c:tickLblPos val="nextTo"/>
        <c:txPr>
          <a:bodyPr/>
          <a:lstStyle/>
          <a:p>
            <a:pPr>
              <a:defRPr sz="900">
                <a:solidFill>
                  <a:srgbClr val="64748B"/>
                </a:solidFill>
                <a:latin typeface="Calibri"/>
              </a:defRPr>
            </a:pPr>
            <a:endParaRPr lang="es-ES"/>
          </a:p>
        </c:txPr>
        <c:crossAx val="1"/>
        <c:crosses val="autoZero"/>
        <c:crossBetween val="midCat"/>
      </c:valAx>
    </c:plotArea>
    <c:legend>
      <c:legendPos val="t"/>
      <c:overlay val="0"/>
      <c:txPr>
        <a:bodyPr/>
        <a:lstStyle/>
        <a:p>
          <a:pPr>
            <a:defRPr sz="1000">
              <a:latin typeface="Calibri"/>
            </a:defRPr>
          </a:pPr>
          <a:endParaRPr lang="es-ES"/>
        </a:p>
      </c:txPr>
    </c:legend>
    <c:plotVisOnly val="1"/>
    <c:dispBlanksAs val="zero"/>
    <c:showDLblsOverMax val="1"/>
  </c:char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pPr>
              <a:defRPr sz="1200" b="1">
                <a:solidFill>
                  <a:srgbClr val="1E293B"/>
                </a:solidFill>
                <a:latin typeface="Calibri"/>
              </a:defRPr>
            </a:pPr>
            <a:r>
              <a:rPr lang="es-ES" sz="1200" b="1" dirty="0">
                <a:solidFill>
                  <a:srgbClr val="1E293B"/>
                </a:solidFill>
                <a:latin typeface="Calibri"/>
              </a:rPr>
              <a:t>y = 40 + 15·ln(x)</a:t>
            </a:r>
          </a:p>
        </c:rich>
      </c:tx>
      <c:overlay val="0"/>
    </c:title>
    <c:autoTitleDeleted val="0"/>
    <c:plotArea>
      <c:layout/>
      <c:scatterChart>
        <c:scatterStyle val="smoothMarker"/>
        <c:varyColors val="1"/>
        <c:ser>
          <c:idx val="0"/>
          <c:order val="0"/>
          <c:tx>
            <c:v>Nota</c:v>
          </c:tx>
          <c:spPr>
            <a:ln w="25400">
              <a:solidFill>
                <a:srgbClr val="0D7377"/>
              </a:solidFill>
            </a:ln>
          </c:spPr>
          <c:marker>
            <c:symbol val="circle"/>
            <c:size val="5"/>
            <c:spPr>
              <a:solidFill>
                <a:srgbClr val="0D7377"/>
              </a:solidFill>
              <a:ln>
                <a:noFill/>
              </a:ln>
            </c:spPr>
          </c:marker>
          <c:xVal>
            <c:numLit>
              <c:formatCode>General</c:formatCode>
              <c:ptCount val="10"/>
              <c:pt idx="0">
                <c:v>1</c:v>
              </c:pt>
              <c:pt idx="1">
                <c:v>2</c:v>
              </c:pt>
              <c:pt idx="2">
                <c:v>5</c:v>
              </c:pt>
              <c:pt idx="3">
                <c:v>8</c:v>
              </c:pt>
              <c:pt idx="4">
                <c:v>10</c:v>
              </c:pt>
              <c:pt idx="5">
                <c:v>15</c:v>
              </c:pt>
              <c:pt idx="6">
                <c:v>20</c:v>
              </c:pt>
              <c:pt idx="7">
                <c:v>30</c:v>
              </c:pt>
              <c:pt idx="8">
                <c:v>40</c:v>
              </c:pt>
              <c:pt idx="9">
                <c:v>50</c:v>
              </c:pt>
            </c:numLit>
          </c:xVal>
          <c:yVal>
            <c:numLit>
              <c:formatCode>General</c:formatCode>
              <c:ptCount val="10"/>
              <c:pt idx="0">
                <c:v>40</c:v>
              </c:pt>
              <c:pt idx="1">
                <c:v>50.4</c:v>
              </c:pt>
              <c:pt idx="2">
                <c:v>64.099999999999994</c:v>
              </c:pt>
              <c:pt idx="3">
                <c:v>71.2</c:v>
              </c:pt>
              <c:pt idx="4">
                <c:v>74.5</c:v>
              </c:pt>
              <c:pt idx="5">
                <c:v>80.599999999999994</c:v>
              </c:pt>
              <c:pt idx="6">
                <c:v>84.9</c:v>
              </c:pt>
              <c:pt idx="7">
                <c:v>91</c:v>
              </c:pt>
              <c:pt idx="8">
                <c:v>95.4</c:v>
              </c:pt>
              <c:pt idx="9">
                <c:v>98.7</c:v>
              </c:pt>
            </c:numLit>
          </c:yVal>
          <c:smooth val="1"/>
          <c:extLst>
            <c:ext xmlns:c16="http://schemas.microsoft.com/office/drawing/2014/chart" uri="{C3380CC4-5D6E-409C-BE32-E72D297353CC}">
              <c16:uniqueId val="{00000000-5190-426C-A711-E3E7CAAA38A8}"/>
            </c:ext>
          </c:extLst>
        </c:ser>
        <c:dLbls>
          <c:showLegendKey val="0"/>
          <c:showVal val="0"/>
          <c:showCatName val="0"/>
          <c:showSerName val="0"/>
          <c:showPercent val="0"/>
          <c:showBubbleSize val="0"/>
        </c:dLbls>
        <c:axId val="1"/>
        <c:axId val="2"/>
      </c:scatterChart>
      <c:valAx>
        <c:axId val="1"/>
        <c:scaling>
          <c:orientation val="minMax"/>
        </c:scaling>
        <c:delete val="0"/>
        <c:axPos val="b"/>
        <c:title>
          <c:tx>
            <c:rich>
              <a:bodyPr/>
              <a:lstStyle/>
              <a:p>
                <a:pPr>
                  <a:defRPr sz="1000">
                    <a:solidFill>
                      <a:srgbClr val="64748B"/>
                    </a:solidFill>
                    <a:latin typeface="Calibri"/>
                  </a:defRPr>
                </a:pPr>
                <a:r>
                  <a:rPr lang="es-ES" sz="1000" dirty="0">
                    <a:solidFill>
                      <a:srgbClr val="64748B"/>
                    </a:solidFill>
                    <a:latin typeface="Calibri"/>
                  </a:rPr>
                  <a:t>Horas de estudio</a:t>
                </a:r>
              </a:p>
            </c:rich>
          </c:tx>
          <c:overlay val="0"/>
        </c:title>
        <c:numFmt formatCode="General" sourceLinked="1"/>
        <c:majorTickMark val="out"/>
        <c:minorTickMark val="none"/>
        <c:tickLblPos val="nextTo"/>
        <c:txPr>
          <a:bodyPr/>
          <a:lstStyle/>
          <a:p>
            <a:pPr>
              <a:defRPr sz="900">
                <a:solidFill>
                  <a:srgbClr val="64748B"/>
                </a:solidFill>
                <a:latin typeface="Calibri"/>
              </a:defRPr>
            </a:pPr>
            <a:endParaRPr lang="es-ES"/>
          </a:p>
        </c:txPr>
        <c:crossAx val="2"/>
        <c:crosses val="autoZero"/>
        <c:crossBetween val="midCat"/>
      </c:valAx>
      <c:valAx>
        <c:axId val="2"/>
        <c:scaling>
          <c:orientation val="minMax"/>
        </c:scaling>
        <c:delete val="0"/>
        <c:axPos val="l"/>
        <c:title>
          <c:tx>
            <c:rich>
              <a:bodyPr rot="-5400000" vert="horz"/>
              <a:lstStyle/>
              <a:p>
                <a:pPr>
                  <a:defRPr sz="1000">
                    <a:solidFill>
                      <a:srgbClr val="64748B"/>
                    </a:solidFill>
                    <a:latin typeface="Calibri"/>
                  </a:defRPr>
                </a:pPr>
                <a:r>
                  <a:rPr lang="es-ES" sz="1000" dirty="0">
                    <a:solidFill>
                      <a:srgbClr val="64748B"/>
                    </a:solidFill>
                    <a:latin typeface="Calibri"/>
                  </a:rPr>
                  <a:t>Nota</a:t>
                </a:r>
              </a:p>
            </c:rich>
          </c:tx>
          <c:overlay val="0"/>
        </c:title>
        <c:numFmt formatCode="General" sourceLinked="1"/>
        <c:majorTickMark val="out"/>
        <c:minorTickMark val="none"/>
        <c:tickLblPos val="nextTo"/>
        <c:txPr>
          <a:bodyPr/>
          <a:lstStyle/>
          <a:p>
            <a:pPr>
              <a:defRPr sz="900">
                <a:solidFill>
                  <a:srgbClr val="64748B"/>
                </a:solidFill>
                <a:latin typeface="Calibri"/>
              </a:defRPr>
            </a:pPr>
            <a:endParaRPr lang="es-ES"/>
          </a:p>
        </c:txPr>
        <c:crossAx val="1"/>
        <c:crosses val="autoZero"/>
        <c:crossBetween val="midCat"/>
      </c:valAx>
    </c:plotArea>
    <c:legend>
      <c:legendPos val="t"/>
      <c:overlay val="0"/>
      <c:txPr>
        <a:bodyPr/>
        <a:lstStyle/>
        <a:p>
          <a:pPr>
            <a:defRPr sz="1000">
              <a:latin typeface="Calibri"/>
            </a:defRPr>
          </a:pPr>
          <a:endParaRPr lang="es-ES"/>
        </a:p>
      </c:txPr>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0345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0E867-5A78-F70A-7CFB-B6777E865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5A9F6-2581-3C04-1196-5B96A6960B41}"/>
              </a:ext>
            </a:extLst>
          </p:cNvPr>
          <p:cNvSpPr>
            <a:spLocks noGrp="1" noRot="1" noChangeAspect="1"/>
          </p:cNvSpPr>
          <p:nvPr>
            <p:ph type="sldImg"/>
          </p:nvPr>
        </p:nvSpPr>
        <p:spPr/>
        <p:txBody>
          <a:bodyPr/>
          <a:lstStyle/>
          <a:p>
            <a:endParaRPr lang="es-CO"/>
          </a:p>
        </p:txBody>
      </p:sp>
      <p:sp>
        <p:nvSpPr>
          <p:cNvPr id="3" name="Notes Placeholder 2">
            <a:extLst>
              <a:ext uri="{FF2B5EF4-FFF2-40B4-BE49-F238E27FC236}">
                <a16:creationId xmlns:a16="http://schemas.microsoft.com/office/drawing/2014/main" id="{CF7B3ADA-8830-192C-4D1D-1F3424C7AC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E8EBDD-611D-6D8A-9BCA-E8F4019C25A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717844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6C1B8-8333-7FEE-DEBF-89A562D33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CD392-765A-0067-8135-92041B0CB717}"/>
              </a:ext>
            </a:extLst>
          </p:cNvPr>
          <p:cNvSpPr>
            <a:spLocks noGrp="1" noRot="1" noChangeAspect="1"/>
          </p:cNvSpPr>
          <p:nvPr>
            <p:ph type="sldImg"/>
          </p:nvPr>
        </p:nvSpPr>
        <p:spPr/>
        <p:txBody>
          <a:bodyPr/>
          <a:lstStyle/>
          <a:p>
            <a:endParaRPr lang="es-CO"/>
          </a:p>
        </p:txBody>
      </p:sp>
      <p:sp>
        <p:nvSpPr>
          <p:cNvPr id="3" name="Notes Placeholder 2">
            <a:extLst>
              <a:ext uri="{FF2B5EF4-FFF2-40B4-BE49-F238E27FC236}">
                <a16:creationId xmlns:a16="http://schemas.microsoft.com/office/drawing/2014/main" id="{EEACF36F-CA3E-AA0A-4A0A-85E0DC2668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E14EC6-796F-8DB3-0DE9-4C448491C13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9085365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E3418-9552-3BDC-172E-4526C7DB5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64C96-137B-DD0D-B9A6-B396CDAF82C4}"/>
              </a:ext>
            </a:extLst>
          </p:cNvPr>
          <p:cNvSpPr>
            <a:spLocks noGrp="1" noRot="1" noChangeAspect="1"/>
          </p:cNvSpPr>
          <p:nvPr>
            <p:ph type="sldImg"/>
          </p:nvPr>
        </p:nvSpPr>
        <p:spPr/>
        <p:txBody>
          <a:bodyPr/>
          <a:lstStyle/>
          <a:p>
            <a:endParaRPr lang="es-CO"/>
          </a:p>
        </p:txBody>
      </p:sp>
      <p:sp>
        <p:nvSpPr>
          <p:cNvPr id="3" name="Notes Placeholder 2">
            <a:extLst>
              <a:ext uri="{FF2B5EF4-FFF2-40B4-BE49-F238E27FC236}">
                <a16:creationId xmlns:a16="http://schemas.microsoft.com/office/drawing/2014/main" id="{DC47596D-F7B6-2B48-8B4D-861AA280F5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10267A-3B57-2A92-BEDA-3E5296AE827D}"/>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813160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www.tylervigen.com/spurious/correlation/2601_cigarette-smoking-rate-for-us-adults_correlates-with_arson-in-united-states" TargetMode="External"/><Relationship Id="rId5" Type="http://schemas.openxmlformats.org/officeDocument/2006/relationships/image" Target="../media/image13.png"/><Relationship Id="rId4" Type="http://schemas.openxmlformats.org/officeDocument/2006/relationships/hyperlink" Target="https://www.tylervigen.com/spurious/correlation/1205_divorce-rates-in-the-united-kingdom_correlates-with_disney-movies-released" TargetMode="External"/></Relationships>
</file>

<file path=ppt/slides/_rels/slide17.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D7377"/>
          </a:solidFill>
          <a:ln w="12700">
            <a:solidFill>
              <a:srgbClr val="0D7377"/>
            </a:solidFill>
            <a:prstDash val="solid"/>
          </a:ln>
        </p:spPr>
        <p:txBody>
          <a:bodyPr/>
          <a:lstStyle/>
          <a:p>
            <a:endParaRPr lang="es-CO"/>
          </a:p>
        </p:txBody>
      </p:sp>
      <p:sp>
        <p:nvSpPr>
          <p:cNvPr id="3" name="Shape 1"/>
          <p:cNvSpPr/>
          <p:nvPr/>
        </p:nvSpPr>
        <p:spPr>
          <a:xfrm>
            <a:off x="457200" y="2331720"/>
            <a:ext cx="5486400" cy="54864"/>
          </a:xfrm>
          <a:prstGeom prst="rect">
            <a:avLst/>
          </a:prstGeom>
          <a:solidFill>
            <a:srgbClr val="E8A838"/>
          </a:solidFill>
          <a:ln w="12700">
            <a:solidFill>
              <a:srgbClr val="E8A838"/>
            </a:solidFill>
            <a:prstDash val="solid"/>
          </a:ln>
        </p:spPr>
        <p:txBody>
          <a:bodyPr/>
          <a:lstStyle/>
          <a:p>
            <a:endParaRPr lang="es-CO"/>
          </a:p>
        </p:txBody>
      </p:sp>
      <p:sp>
        <p:nvSpPr>
          <p:cNvPr id="4" name="Shape 2"/>
          <p:cNvSpPr/>
          <p:nvPr/>
        </p:nvSpPr>
        <p:spPr>
          <a:xfrm>
            <a:off x="6217920" y="365760"/>
            <a:ext cx="2560320" cy="502920"/>
          </a:xfrm>
          <a:prstGeom prst="rect">
            <a:avLst/>
          </a:prstGeom>
          <a:solidFill>
            <a:srgbClr val="3776AB"/>
          </a:solidFill>
          <a:ln w="12700">
            <a:solidFill>
              <a:srgbClr val="3776AB"/>
            </a:solidFill>
            <a:prstDash val="solid"/>
          </a:ln>
        </p:spPr>
        <p:txBody>
          <a:bodyPr/>
          <a:lstStyle/>
          <a:p>
            <a:endParaRPr lang="es-CO"/>
          </a:p>
        </p:txBody>
      </p:sp>
      <p:sp>
        <p:nvSpPr>
          <p:cNvPr id="5" name="Text 3"/>
          <p:cNvSpPr/>
          <p:nvPr/>
        </p:nvSpPr>
        <p:spPr>
          <a:xfrm>
            <a:off x="6217920" y="365760"/>
            <a:ext cx="256032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Analítica con Python</a:t>
            </a:r>
            <a:endParaRPr lang="en-US" sz="1100" dirty="0"/>
          </a:p>
        </p:txBody>
      </p:sp>
      <p:sp>
        <p:nvSpPr>
          <p:cNvPr id="6" name="Text 4"/>
          <p:cNvSpPr/>
          <p:nvPr/>
        </p:nvSpPr>
        <p:spPr>
          <a:xfrm>
            <a:off x="731520" y="548640"/>
            <a:ext cx="8046720" cy="91440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MODELOS PREDICTIVOS SIMPLES</a:t>
            </a:r>
            <a:endParaRPr lang="en-US" sz="3200" dirty="0"/>
          </a:p>
        </p:txBody>
      </p:sp>
      <p:sp>
        <p:nvSpPr>
          <p:cNvPr id="7" name="Text 5"/>
          <p:cNvSpPr/>
          <p:nvPr/>
        </p:nvSpPr>
        <p:spPr>
          <a:xfrm>
            <a:off x="731520" y="1463040"/>
            <a:ext cx="7772400" cy="777240"/>
          </a:xfrm>
          <a:prstGeom prst="rect">
            <a:avLst/>
          </a:prstGeom>
          <a:noFill/>
          <a:ln/>
        </p:spPr>
        <p:txBody>
          <a:bodyPr wrap="square" rtlCol="0" anchor="ctr"/>
          <a:lstStyle/>
          <a:p>
            <a:pPr marL="0" indent="0">
              <a:buNone/>
            </a:pPr>
            <a:r>
              <a:rPr lang="es-CO" sz="1500" noProof="0" dirty="0">
                <a:solidFill>
                  <a:srgbClr val="A8C8E8"/>
                </a:solidFill>
                <a:latin typeface="Calibri" pitchFamily="34" charset="0"/>
                <a:ea typeface="Calibri" pitchFamily="34" charset="-122"/>
                <a:cs typeface="Calibri" pitchFamily="34" charset="-120"/>
              </a:rPr>
              <a:t>Aplicaciones en Economía, Administración y Ciencias Sociales</a:t>
            </a:r>
            <a:endParaRPr lang="es-CO" sz="1500" noProof="0" dirty="0"/>
          </a:p>
          <a:p>
            <a:pPr marL="0" indent="0">
              <a:buNone/>
            </a:pPr>
            <a:r>
              <a:rPr lang="es-CO" sz="1500" noProof="0" dirty="0">
                <a:solidFill>
                  <a:srgbClr val="A8C8E8"/>
                </a:solidFill>
                <a:latin typeface="Calibri" pitchFamily="34" charset="0"/>
                <a:ea typeface="Calibri" pitchFamily="34" charset="-122"/>
                <a:cs typeface="Calibri" pitchFamily="34" charset="-120"/>
              </a:rPr>
              <a:t>Enfoque en Analítica Avanzada Básica</a:t>
            </a:r>
            <a:endParaRPr lang="es-CO" sz="1500" noProof="0" dirty="0"/>
          </a:p>
        </p:txBody>
      </p:sp>
      <p:sp>
        <p:nvSpPr>
          <p:cNvPr id="8" name="Text 6"/>
          <p:cNvSpPr/>
          <p:nvPr/>
        </p:nvSpPr>
        <p:spPr>
          <a:xfrm>
            <a:off x="731520" y="2514600"/>
            <a:ext cx="6400800" cy="365760"/>
          </a:xfrm>
          <a:prstGeom prst="rect">
            <a:avLst/>
          </a:prstGeom>
          <a:noFill/>
          <a:ln/>
        </p:spPr>
        <p:txBody>
          <a:bodyPr wrap="square" rtlCol="0" anchor="ctr"/>
          <a:lstStyle/>
          <a:p>
            <a:pPr marL="0" indent="0">
              <a:buNone/>
            </a:pPr>
            <a:r>
              <a:rPr lang="en-US" sz="1300" b="1" dirty="0">
                <a:solidFill>
                  <a:srgbClr val="E8A838"/>
                </a:solidFill>
                <a:latin typeface="Calibri" pitchFamily="34" charset="0"/>
                <a:ea typeface="Calibri" pitchFamily="34" charset="-122"/>
                <a:cs typeface="Calibri" pitchFamily="34" charset="-120"/>
              </a:rPr>
              <a:t>Curso Completo · 4 Sesiones · 8 Horas</a:t>
            </a:r>
            <a:endParaRPr lang="en-US" sz="1300" dirty="0"/>
          </a:p>
        </p:txBody>
      </p:sp>
      <p:sp>
        <p:nvSpPr>
          <p:cNvPr id="9" name="Shape 7"/>
          <p:cNvSpPr/>
          <p:nvPr/>
        </p:nvSpPr>
        <p:spPr>
          <a:xfrm>
            <a:off x="731520" y="3291840"/>
            <a:ext cx="1874520" cy="1463040"/>
          </a:xfrm>
          <a:prstGeom prst="rect">
            <a:avLst/>
          </a:prstGeom>
          <a:solidFill>
            <a:srgbClr val="0D7377"/>
          </a:solidFill>
          <a:ln w="12700">
            <a:solidFill>
              <a:srgbClr val="0D7377"/>
            </a:solidFill>
            <a:prstDash val="solid"/>
          </a:ln>
          <a:effectLst>
            <a:outerShdw blurRad="101600" dist="38100" dir="8100000" algn="bl" rotWithShape="0">
              <a:srgbClr val="000000">
                <a:alpha val="12000"/>
              </a:srgbClr>
            </a:outerShdw>
          </a:effectLst>
        </p:spPr>
        <p:txBody>
          <a:bodyPr/>
          <a:lstStyle/>
          <a:p>
            <a:endParaRPr lang="es-CO" noProof="0"/>
          </a:p>
        </p:txBody>
      </p:sp>
      <p:sp>
        <p:nvSpPr>
          <p:cNvPr id="10" name="Text 8"/>
          <p:cNvSpPr/>
          <p:nvPr/>
        </p:nvSpPr>
        <p:spPr>
          <a:xfrm>
            <a:off x="731520" y="3310128"/>
            <a:ext cx="1874520" cy="1426464"/>
          </a:xfrm>
          <a:prstGeom prst="rect">
            <a:avLst/>
          </a:prstGeom>
          <a:noFill/>
          <a:ln/>
        </p:spPr>
        <p:txBody>
          <a:bodyPr wrap="square" rtlCol="0" anchor="ctr"/>
          <a:lstStyle/>
          <a:p>
            <a:pPr marL="0" indent="0" algn="ctr">
              <a:buNone/>
            </a:pPr>
            <a:r>
              <a:rPr lang="es-CO" sz="1100" b="1" noProof="0" dirty="0">
                <a:solidFill>
                  <a:srgbClr val="FFFFFF"/>
                </a:solidFill>
                <a:latin typeface="Calibri" pitchFamily="34" charset="0"/>
                <a:ea typeface="Calibri" pitchFamily="34" charset="-122"/>
                <a:cs typeface="Calibri" pitchFamily="34" charset="-120"/>
              </a:rPr>
              <a:t>Sesión 1</a:t>
            </a:r>
            <a:endParaRPr lang="es-CO" sz="1100" noProof="0" dirty="0"/>
          </a:p>
          <a:p>
            <a:pPr marL="0" indent="0" algn="ctr">
              <a:buNone/>
            </a:pPr>
            <a:r>
              <a:rPr lang="es-CO" sz="1100" b="1" noProof="0" dirty="0">
                <a:solidFill>
                  <a:srgbClr val="FFFFFF"/>
                </a:solidFill>
                <a:latin typeface="Calibri" pitchFamily="34" charset="0"/>
                <a:ea typeface="Calibri" pitchFamily="34" charset="-122"/>
                <a:cs typeface="Calibri" pitchFamily="34" charset="-120"/>
              </a:rPr>
              <a:t>Fundamentos – Regresión Lineal</a:t>
            </a:r>
            <a:endParaRPr lang="es-CO" sz="1100" noProof="0" dirty="0"/>
          </a:p>
        </p:txBody>
      </p:sp>
      <p:sp>
        <p:nvSpPr>
          <p:cNvPr id="11" name="Shape 9"/>
          <p:cNvSpPr/>
          <p:nvPr/>
        </p:nvSpPr>
        <p:spPr>
          <a:xfrm>
            <a:off x="2743200" y="3291840"/>
            <a:ext cx="1874520" cy="1463040"/>
          </a:xfrm>
          <a:prstGeom prst="rect">
            <a:avLst/>
          </a:prstGeom>
          <a:solidFill>
            <a:srgbClr val="0D5E75"/>
          </a:solidFill>
          <a:ln w="12700">
            <a:solidFill>
              <a:srgbClr val="0D5E75"/>
            </a:solidFill>
            <a:prstDash val="solid"/>
          </a:ln>
          <a:effectLst>
            <a:outerShdw blurRad="101600" dist="38100" dir="8100000" algn="bl" rotWithShape="0">
              <a:srgbClr val="000000">
                <a:alpha val="12000"/>
              </a:srgbClr>
            </a:outerShdw>
          </a:effectLst>
        </p:spPr>
        <p:txBody>
          <a:bodyPr/>
          <a:lstStyle/>
          <a:p>
            <a:endParaRPr lang="es-CO"/>
          </a:p>
        </p:txBody>
      </p:sp>
      <p:sp>
        <p:nvSpPr>
          <p:cNvPr id="12" name="Text 10"/>
          <p:cNvSpPr/>
          <p:nvPr/>
        </p:nvSpPr>
        <p:spPr>
          <a:xfrm>
            <a:off x="2743200" y="3310128"/>
            <a:ext cx="1874520" cy="142646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Sesión 2</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Regresión Múltiple</a:t>
            </a:r>
            <a:endParaRPr lang="en-US" sz="1100" dirty="0"/>
          </a:p>
        </p:txBody>
      </p:sp>
      <p:sp>
        <p:nvSpPr>
          <p:cNvPr id="13" name="Shape 11"/>
          <p:cNvSpPr/>
          <p:nvPr/>
        </p:nvSpPr>
        <p:spPr>
          <a:xfrm>
            <a:off x="4754880" y="3291840"/>
            <a:ext cx="1874520" cy="1463040"/>
          </a:xfrm>
          <a:prstGeom prst="rect">
            <a:avLst/>
          </a:prstGeom>
          <a:solidFill>
            <a:srgbClr val="0A4A5C"/>
          </a:solidFill>
          <a:ln w="12700">
            <a:solidFill>
              <a:srgbClr val="0A4A5C"/>
            </a:solidFill>
            <a:prstDash val="solid"/>
          </a:ln>
          <a:effectLst>
            <a:outerShdw blurRad="101600" dist="38100" dir="8100000" algn="bl" rotWithShape="0">
              <a:srgbClr val="000000">
                <a:alpha val="12000"/>
              </a:srgbClr>
            </a:outerShdw>
          </a:effectLst>
        </p:spPr>
        <p:txBody>
          <a:bodyPr/>
          <a:lstStyle/>
          <a:p>
            <a:endParaRPr lang="es-CO"/>
          </a:p>
        </p:txBody>
      </p:sp>
      <p:sp>
        <p:nvSpPr>
          <p:cNvPr id="14" name="Text 12"/>
          <p:cNvSpPr/>
          <p:nvPr/>
        </p:nvSpPr>
        <p:spPr>
          <a:xfrm>
            <a:off x="4754880" y="3310128"/>
            <a:ext cx="1874520" cy="142646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Sesión 3</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Interpretación Crítica</a:t>
            </a:r>
            <a:endParaRPr lang="en-US" sz="1100" dirty="0"/>
          </a:p>
        </p:txBody>
      </p:sp>
      <p:sp>
        <p:nvSpPr>
          <p:cNvPr id="15" name="Shape 13"/>
          <p:cNvSpPr/>
          <p:nvPr/>
        </p:nvSpPr>
        <p:spPr>
          <a:xfrm>
            <a:off x="6766560" y="3291840"/>
            <a:ext cx="1874520" cy="1463040"/>
          </a:xfrm>
          <a:prstGeom prst="rect">
            <a:avLst/>
          </a:prstGeom>
          <a:solidFill>
            <a:srgbClr val="083A47"/>
          </a:solidFill>
          <a:ln w="12700">
            <a:solidFill>
              <a:srgbClr val="083A47"/>
            </a:solidFill>
            <a:prstDash val="solid"/>
          </a:ln>
          <a:effectLst>
            <a:outerShdw blurRad="101600" dist="38100" dir="8100000" algn="bl" rotWithShape="0">
              <a:srgbClr val="000000">
                <a:alpha val="12000"/>
              </a:srgbClr>
            </a:outerShdw>
          </a:effectLst>
        </p:spPr>
        <p:txBody>
          <a:bodyPr/>
          <a:lstStyle/>
          <a:p>
            <a:endParaRPr lang="es-CO"/>
          </a:p>
        </p:txBody>
      </p:sp>
      <p:sp>
        <p:nvSpPr>
          <p:cNvPr id="16" name="Text 14"/>
          <p:cNvSpPr/>
          <p:nvPr/>
        </p:nvSpPr>
        <p:spPr>
          <a:xfrm>
            <a:off x="6766560" y="3310128"/>
            <a:ext cx="1874520" cy="142646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Sesión 4</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Proyecto Integrador</a:t>
            </a:r>
            <a:endParaRPr lang="en-US" sz="1100" dirty="0"/>
          </a:p>
        </p:txBody>
      </p:sp>
      <p:sp>
        <p:nvSpPr>
          <p:cNvPr id="17" name="Text 15"/>
          <p:cNvSpPr/>
          <p:nvPr/>
        </p:nvSpPr>
        <p:spPr>
          <a:xfrm>
            <a:off x="731520" y="4892040"/>
            <a:ext cx="8046720" cy="201168"/>
          </a:xfrm>
          <a:prstGeom prst="rect">
            <a:avLst/>
          </a:prstGeom>
          <a:noFill/>
          <a:ln/>
        </p:spPr>
        <p:txBody>
          <a:bodyPr wrap="square" rtlCol="0" anchor="ctr"/>
          <a:lstStyle/>
          <a:p>
            <a:pPr marL="0" indent="0">
              <a:buNone/>
            </a:pPr>
            <a:r>
              <a:rPr lang="en-US" sz="900" dirty="0">
                <a:solidFill>
                  <a:srgbClr val="4A7FA5"/>
                </a:solidFill>
                <a:latin typeface="Consolas" pitchFamily="34" charset="0"/>
                <a:ea typeface="Consolas" pitchFamily="34" charset="-122"/>
                <a:cs typeface="Consolas" pitchFamily="34" charset="-120"/>
              </a:rPr>
              <a:t>Mayo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8A838"/>
          </a:solidFill>
          <a:ln w="12700">
            <a:solidFill>
              <a:srgbClr val="E8A838"/>
            </a:solidFill>
            <a:prstDash val="solid"/>
          </a:ln>
        </p:spPr>
        <p:txBody>
          <a:bodyPr/>
          <a:lstStyle/>
          <a:p>
            <a:endParaRPr lang="es-CO"/>
          </a:p>
        </p:txBody>
      </p:sp>
      <p:sp>
        <p:nvSpPr>
          <p:cNvPr id="3" name="Shape 1"/>
          <p:cNvSpPr/>
          <p:nvPr/>
        </p:nvSpPr>
        <p:spPr>
          <a:xfrm>
            <a:off x="0" y="5029200"/>
            <a:ext cx="9144000" cy="109728"/>
          </a:xfrm>
          <a:prstGeom prst="rect">
            <a:avLst/>
          </a:prstGeom>
          <a:solidFill>
            <a:srgbClr val="E8A838"/>
          </a:solidFill>
          <a:ln w="12700">
            <a:solidFill>
              <a:srgbClr val="E8A838"/>
            </a:solidFill>
            <a:prstDash val="solid"/>
          </a:ln>
        </p:spPr>
        <p:txBody>
          <a:bodyPr/>
          <a:lstStyle/>
          <a:p>
            <a:endParaRPr lang="es-CO"/>
          </a:p>
        </p:txBody>
      </p:sp>
      <p:sp>
        <p:nvSpPr>
          <p:cNvPr id="4" name="Shape 2"/>
          <p:cNvSpPr/>
          <p:nvPr/>
        </p:nvSpPr>
        <p:spPr>
          <a:xfrm>
            <a:off x="0" y="109728"/>
            <a:ext cx="3108960" cy="4919472"/>
          </a:xfrm>
          <a:prstGeom prst="rect">
            <a:avLst/>
          </a:prstGeom>
          <a:solidFill>
            <a:srgbClr val="152A45"/>
          </a:solidFill>
          <a:ln w="12700">
            <a:solidFill>
              <a:srgbClr val="152A45"/>
            </a:solidFill>
            <a:prstDash val="solid"/>
          </a:ln>
        </p:spPr>
        <p:txBody>
          <a:bodyPr/>
          <a:lstStyle/>
          <a:p>
            <a:endParaRPr lang="es-CO"/>
          </a:p>
        </p:txBody>
      </p:sp>
      <p:pic>
        <p:nvPicPr>
          <p:cNvPr id="5" name="Image 0" descr="preencoded.png"/>
          <p:cNvPicPr>
            <a:picLocks noChangeAspect="1"/>
          </p:cNvPicPr>
          <p:nvPr/>
        </p:nvPicPr>
        <p:blipFill>
          <a:blip r:embed="rId3"/>
          <a:stretch>
            <a:fillRect/>
          </a:stretch>
        </p:blipFill>
        <p:spPr>
          <a:xfrm>
            <a:off x="411480" y="274320"/>
            <a:ext cx="2286000" cy="2286000"/>
          </a:xfrm>
          <a:prstGeom prst="rect">
            <a:avLst/>
          </a:prstGeom>
        </p:spPr>
      </p:pic>
      <p:sp>
        <p:nvSpPr>
          <p:cNvPr id="6" name="Text 3"/>
          <p:cNvSpPr/>
          <p:nvPr/>
        </p:nvSpPr>
        <p:spPr>
          <a:xfrm>
            <a:off x="109728" y="2651760"/>
            <a:ext cx="2880360" cy="47548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Ricardo Navarro</a:t>
            </a:r>
            <a:endParaRPr lang="en-US" sz="1800" dirty="0"/>
          </a:p>
        </p:txBody>
      </p:sp>
      <p:sp>
        <p:nvSpPr>
          <p:cNvPr id="7" name="Text 4"/>
          <p:cNvSpPr/>
          <p:nvPr/>
        </p:nvSpPr>
        <p:spPr>
          <a:xfrm>
            <a:off x="109728" y="3108960"/>
            <a:ext cx="2880360" cy="292608"/>
          </a:xfrm>
          <a:prstGeom prst="rect">
            <a:avLst/>
          </a:prstGeom>
          <a:noFill/>
          <a:ln/>
        </p:spPr>
        <p:txBody>
          <a:bodyPr wrap="square" rtlCol="0" anchor="ctr"/>
          <a:lstStyle/>
          <a:p>
            <a:pPr marL="0" indent="0" algn="ctr">
              <a:buNone/>
            </a:pPr>
            <a:r>
              <a:rPr lang="en-US" sz="1100" b="1" dirty="0" err="1">
                <a:solidFill>
                  <a:srgbClr val="E8A838"/>
                </a:solidFill>
                <a:latin typeface="Calibri" pitchFamily="34" charset="0"/>
                <a:ea typeface="Calibri" pitchFamily="34" charset="-122"/>
                <a:cs typeface="Calibri" pitchFamily="34" charset="-120"/>
              </a:rPr>
              <a:t>Líder</a:t>
            </a:r>
            <a:r>
              <a:rPr lang="en-US" sz="1100" b="1" dirty="0">
                <a:solidFill>
                  <a:srgbClr val="E8A838"/>
                </a:solidFill>
                <a:latin typeface="Calibri" pitchFamily="34" charset="0"/>
                <a:ea typeface="Calibri" pitchFamily="34" charset="-122"/>
                <a:cs typeface="Calibri" pitchFamily="34" charset="-120"/>
              </a:rPr>
              <a:t> de </a:t>
            </a:r>
            <a:r>
              <a:rPr lang="en-US" sz="1100" b="1" dirty="0" err="1">
                <a:solidFill>
                  <a:srgbClr val="E8A838"/>
                </a:solidFill>
                <a:latin typeface="Calibri" pitchFamily="34" charset="0"/>
                <a:ea typeface="Calibri" pitchFamily="34" charset="-122"/>
                <a:cs typeface="Calibri" pitchFamily="34" charset="-120"/>
              </a:rPr>
              <a:t>Gobierno</a:t>
            </a:r>
            <a:r>
              <a:rPr lang="en-US" sz="1100" b="1" dirty="0">
                <a:solidFill>
                  <a:srgbClr val="E8A838"/>
                </a:solidFill>
                <a:latin typeface="Calibri" pitchFamily="34" charset="0"/>
                <a:ea typeface="Calibri" pitchFamily="34" charset="-122"/>
                <a:cs typeface="Calibri" pitchFamily="34" charset="-120"/>
              </a:rPr>
              <a:t> de Datos, BI &amp; Analítica</a:t>
            </a:r>
            <a:endParaRPr lang="en-US" sz="1100" dirty="0"/>
          </a:p>
        </p:txBody>
      </p:sp>
      <p:sp>
        <p:nvSpPr>
          <p:cNvPr id="8" name="Text 5"/>
          <p:cNvSpPr/>
          <p:nvPr/>
        </p:nvSpPr>
        <p:spPr>
          <a:xfrm>
            <a:off x="109728" y="3392424"/>
            <a:ext cx="2880360" cy="256032"/>
          </a:xfrm>
          <a:prstGeom prst="rect">
            <a:avLst/>
          </a:prstGeom>
          <a:noFill/>
          <a:ln/>
        </p:spPr>
        <p:txBody>
          <a:bodyPr wrap="square" rtlCol="0" anchor="ctr"/>
          <a:lstStyle/>
          <a:p>
            <a:pPr marL="0" indent="0" algn="ctr">
              <a:buNone/>
            </a:pPr>
            <a:r>
              <a:rPr lang="en-US" sz="950" dirty="0">
                <a:solidFill>
                  <a:srgbClr val="8AB8D4"/>
                </a:solidFill>
                <a:latin typeface="Calibri" pitchFamily="34" charset="0"/>
                <a:ea typeface="Calibri" pitchFamily="34" charset="-122"/>
                <a:cs typeface="Calibri" pitchFamily="34" charset="-120"/>
              </a:rPr>
              <a:t>Gobierno de Datos  ·  Gerencia de Proyectos</a:t>
            </a:r>
            <a:endParaRPr lang="en-US" sz="950" dirty="0"/>
          </a:p>
        </p:txBody>
      </p:sp>
      <p:sp>
        <p:nvSpPr>
          <p:cNvPr id="9" name="Shape 6"/>
          <p:cNvSpPr/>
          <p:nvPr/>
        </p:nvSpPr>
        <p:spPr>
          <a:xfrm>
            <a:off x="182880" y="3767328"/>
            <a:ext cx="594360" cy="274320"/>
          </a:xfrm>
          <a:prstGeom prst="roundRect">
            <a:avLst>
              <a:gd name="adj" fmla="val 26667"/>
            </a:avLst>
          </a:prstGeom>
          <a:solidFill>
            <a:srgbClr val="0D7377"/>
          </a:solidFill>
          <a:ln w="12700">
            <a:solidFill>
              <a:srgbClr val="0D7377"/>
            </a:solidFill>
            <a:prstDash val="solid"/>
          </a:ln>
        </p:spPr>
        <p:txBody>
          <a:bodyPr/>
          <a:lstStyle/>
          <a:p>
            <a:endParaRPr lang="es-CO"/>
          </a:p>
        </p:txBody>
      </p:sp>
      <p:sp>
        <p:nvSpPr>
          <p:cNvPr id="10" name="Text 7"/>
          <p:cNvSpPr/>
          <p:nvPr/>
        </p:nvSpPr>
        <p:spPr>
          <a:xfrm>
            <a:off x="182880" y="3767328"/>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CSM®</a:t>
            </a:r>
            <a:endParaRPr lang="en-US" sz="900" dirty="0"/>
          </a:p>
        </p:txBody>
      </p:sp>
      <p:sp>
        <p:nvSpPr>
          <p:cNvPr id="11" name="Shape 8"/>
          <p:cNvSpPr/>
          <p:nvPr/>
        </p:nvSpPr>
        <p:spPr>
          <a:xfrm>
            <a:off x="850392" y="3767328"/>
            <a:ext cx="594360" cy="274320"/>
          </a:xfrm>
          <a:prstGeom prst="roundRect">
            <a:avLst>
              <a:gd name="adj" fmla="val 26667"/>
            </a:avLst>
          </a:prstGeom>
          <a:solidFill>
            <a:srgbClr val="0D7377"/>
          </a:solidFill>
          <a:ln w="12700">
            <a:solidFill>
              <a:srgbClr val="0D7377"/>
            </a:solidFill>
            <a:prstDash val="solid"/>
          </a:ln>
        </p:spPr>
        <p:txBody>
          <a:bodyPr/>
          <a:lstStyle/>
          <a:p>
            <a:endParaRPr lang="es-CO"/>
          </a:p>
        </p:txBody>
      </p:sp>
      <p:sp>
        <p:nvSpPr>
          <p:cNvPr id="12" name="Text 9"/>
          <p:cNvSpPr/>
          <p:nvPr/>
        </p:nvSpPr>
        <p:spPr>
          <a:xfrm>
            <a:off x="850392" y="3767328"/>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CDMP®</a:t>
            </a:r>
            <a:endParaRPr lang="en-US" sz="900" dirty="0"/>
          </a:p>
        </p:txBody>
      </p:sp>
      <p:sp>
        <p:nvSpPr>
          <p:cNvPr id="13" name="Shape 10"/>
          <p:cNvSpPr/>
          <p:nvPr/>
        </p:nvSpPr>
        <p:spPr>
          <a:xfrm>
            <a:off x="1517904" y="3767328"/>
            <a:ext cx="594360" cy="274320"/>
          </a:xfrm>
          <a:prstGeom prst="roundRect">
            <a:avLst>
              <a:gd name="adj" fmla="val 26667"/>
            </a:avLst>
          </a:prstGeom>
          <a:solidFill>
            <a:srgbClr val="0D7377"/>
          </a:solidFill>
          <a:ln w="12700">
            <a:solidFill>
              <a:srgbClr val="0D7377"/>
            </a:solidFill>
            <a:prstDash val="solid"/>
          </a:ln>
        </p:spPr>
        <p:txBody>
          <a:bodyPr/>
          <a:lstStyle/>
          <a:p>
            <a:endParaRPr lang="es-CO"/>
          </a:p>
        </p:txBody>
      </p:sp>
      <p:sp>
        <p:nvSpPr>
          <p:cNvPr id="14" name="Text 11"/>
          <p:cNvSpPr/>
          <p:nvPr/>
        </p:nvSpPr>
        <p:spPr>
          <a:xfrm>
            <a:off x="1517904" y="3767328"/>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PMP®</a:t>
            </a:r>
            <a:endParaRPr lang="en-US" sz="900" dirty="0"/>
          </a:p>
        </p:txBody>
      </p:sp>
      <p:sp>
        <p:nvSpPr>
          <p:cNvPr id="15" name="Shape 12"/>
          <p:cNvSpPr/>
          <p:nvPr/>
        </p:nvSpPr>
        <p:spPr>
          <a:xfrm>
            <a:off x="2185416" y="3767328"/>
            <a:ext cx="594360" cy="274320"/>
          </a:xfrm>
          <a:prstGeom prst="roundRect">
            <a:avLst>
              <a:gd name="adj" fmla="val 26667"/>
            </a:avLst>
          </a:prstGeom>
          <a:solidFill>
            <a:srgbClr val="0D7377"/>
          </a:solidFill>
          <a:ln w="12700">
            <a:solidFill>
              <a:srgbClr val="0D7377"/>
            </a:solidFill>
            <a:prstDash val="solid"/>
          </a:ln>
        </p:spPr>
        <p:txBody>
          <a:bodyPr/>
          <a:lstStyle/>
          <a:p>
            <a:endParaRPr lang="es-CO"/>
          </a:p>
        </p:txBody>
      </p:sp>
      <p:sp>
        <p:nvSpPr>
          <p:cNvPr id="16" name="Text 13"/>
          <p:cNvSpPr/>
          <p:nvPr/>
        </p:nvSpPr>
        <p:spPr>
          <a:xfrm>
            <a:off x="2185416" y="3767328"/>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IPMA®</a:t>
            </a:r>
            <a:endParaRPr lang="en-US" sz="900" dirty="0"/>
          </a:p>
        </p:txBody>
      </p:sp>
      <p:sp>
        <p:nvSpPr>
          <p:cNvPr id="17" name="Shape 14"/>
          <p:cNvSpPr/>
          <p:nvPr/>
        </p:nvSpPr>
        <p:spPr>
          <a:xfrm>
            <a:off x="182880" y="4114800"/>
            <a:ext cx="2697480" cy="274320"/>
          </a:xfrm>
          <a:prstGeom prst="roundRect">
            <a:avLst>
              <a:gd name="adj" fmla="val 26667"/>
            </a:avLst>
          </a:prstGeom>
          <a:solidFill>
            <a:srgbClr val="1A7A5E"/>
          </a:solidFill>
          <a:ln w="12700">
            <a:solidFill>
              <a:srgbClr val="1A7A5E"/>
            </a:solidFill>
            <a:prstDash val="solid"/>
          </a:ln>
        </p:spPr>
        <p:txBody>
          <a:bodyPr/>
          <a:lstStyle/>
          <a:p>
            <a:endParaRPr lang="es-CO"/>
          </a:p>
        </p:txBody>
      </p:sp>
      <p:sp>
        <p:nvSpPr>
          <p:cNvPr id="18" name="Text 15"/>
          <p:cNvSpPr/>
          <p:nvPr/>
        </p:nvSpPr>
        <p:spPr>
          <a:xfrm>
            <a:off x="182880" y="4114800"/>
            <a:ext cx="269748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Lean Six Sigma  ·  Scrum Master</a:t>
            </a:r>
            <a:endParaRPr lang="en-US" sz="900" dirty="0"/>
          </a:p>
        </p:txBody>
      </p:sp>
      <p:sp>
        <p:nvSpPr>
          <p:cNvPr id="19" name="Text 16"/>
          <p:cNvSpPr/>
          <p:nvPr/>
        </p:nvSpPr>
        <p:spPr>
          <a:xfrm>
            <a:off x="109728" y="4498848"/>
            <a:ext cx="2880360" cy="228600"/>
          </a:xfrm>
          <a:prstGeom prst="rect">
            <a:avLst/>
          </a:prstGeom>
          <a:noFill/>
          <a:ln/>
        </p:spPr>
        <p:txBody>
          <a:bodyPr wrap="square" rtlCol="0" anchor="ctr"/>
          <a:lstStyle/>
          <a:p>
            <a:pPr marL="0" indent="0" algn="ctr">
              <a:buNone/>
            </a:pPr>
            <a:r>
              <a:rPr lang="en-US" sz="950" dirty="0">
                <a:solidFill>
                  <a:srgbClr val="7AA8CC"/>
                </a:solidFill>
                <a:latin typeface="Calibri" pitchFamily="34" charset="0"/>
                <a:ea typeface="Calibri" pitchFamily="34" charset="-122"/>
                <a:cs typeface="Calibri" pitchFamily="34" charset="-120"/>
              </a:rPr>
              <a:t>📍  Bogotá, Colombia</a:t>
            </a:r>
            <a:endParaRPr lang="en-US" sz="950" dirty="0"/>
          </a:p>
        </p:txBody>
      </p:sp>
      <p:sp>
        <p:nvSpPr>
          <p:cNvPr id="20" name="Text 17"/>
          <p:cNvSpPr/>
          <p:nvPr/>
        </p:nvSpPr>
        <p:spPr>
          <a:xfrm>
            <a:off x="109728" y="4709160"/>
            <a:ext cx="2880360" cy="228600"/>
          </a:xfrm>
          <a:prstGeom prst="rect">
            <a:avLst/>
          </a:prstGeom>
          <a:noFill/>
          <a:ln/>
        </p:spPr>
        <p:txBody>
          <a:bodyPr wrap="square" rtlCol="0" anchor="ctr"/>
          <a:lstStyle/>
          <a:p>
            <a:pPr marL="0" indent="0" algn="ctr">
              <a:buNone/>
            </a:pPr>
            <a:r>
              <a:rPr lang="en-US" sz="900" dirty="0">
                <a:solidFill>
                  <a:srgbClr val="5A8FAF"/>
                </a:solidFill>
                <a:latin typeface="Calibri" pitchFamily="34" charset="0"/>
                <a:ea typeface="Calibri" pitchFamily="34" charset="-122"/>
                <a:cs typeface="Calibri" pitchFamily="34" charset="-120"/>
              </a:rPr>
              <a:t>🔗  linkedin.com/in/navarroricardoa</a:t>
            </a:r>
            <a:endParaRPr lang="en-US" sz="900" dirty="0"/>
          </a:p>
        </p:txBody>
      </p:sp>
      <p:sp>
        <p:nvSpPr>
          <p:cNvPr id="21" name="Shape 18"/>
          <p:cNvSpPr/>
          <p:nvPr/>
        </p:nvSpPr>
        <p:spPr>
          <a:xfrm>
            <a:off x="3246120" y="164592"/>
            <a:ext cx="5760720" cy="1353312"/>
          </a:xfrm>
          <a:prstGeom prst="rect">
            <a:avLst/>
          </a:prstGeom>
          <a:solidFill>
            <a:srgbClr val="1A2F48"/>
          </a:solidFill>
          <a:ln w="12700">
            <a:solidFill>
              <a:srgbClr val="253F5C"/>
            </a:solidFill>
            <a:prstDash val="solid"/>
          </a:ln>
          <a:effectLst>
            <a:outerShdw blurRad="101600" dist="38100" dir="8100000" algn="bl" rotWithShape="0">
              <a:srgbClr val="000000">
                <a:alpha val="12000"/>
              </a:srgbClr>
            </a:outerShdw>
          </a:effectLst>
        </p:spPr>
        <p:txBody>
          <a:bodyPr/>
          <a:lstStyle/>
          <a:p>
            <a:endParaRPr lang="es-CO"/>
          </a:p>
        </p:txBody>
      </p:sp>
      <p:sp>
        <p:nvSpPr>
          <p:cNvPr id="22" name="Text 19"/>
          <p:cNvSpPr/>
          <p:nvPr/>
        </p:nvSpPr>
        <p:spPr>
          <a:xfrm>
            <a:off x="3383280" y="201168"/>
            <a:ext cx="5486400" cy="256032"/>
          </a:xfrm>
          <a:prstGeom prst="rect">
            <a:avLst/>
          </a:prstGeom>
          <a:noFill/>
          <a:ln/>
        </p:spPr>
        <p:txBody>
          <a:bodyPr wrap="square" rtlCol="0" anchor="ctr"/>
          <a:lstStyle/>
          <a:p>
            <a:pPr marL="0" indent="0">
              <a:buNone/>
            </a:pPr>
            <a:r>
              <a:rPr lang="en-US" sz="1000" b="1" kern="0" spc="300" dirty="0">
                <a:solidFill>
                  <a:srgbClr val="E8A838"/>
                </a:solidFill>
                <a:latin typeface="Calibri" pitchFamily="34" charset="0"/>
                <a:ea typeface="Calibri" pitchFamily="34" charset="-122"/>
                <a:cs typeface="Calibri" pitchFamily="34" charset="-120"/>
              </a:rPr>
              <a:t>SOBRE EL INSTRUCTOR</a:t>
            </a:r>
            <a:endParaRPr lang="en-US" sz="1000" dirty="0"/>
          </a:p>
        </p:txBody>
      </p:sp>
      <p:sp>
        <p:nvSpPr>
          <p:cNvPr id="23" name="Text 20"/>
          <p:cNvSpPr/>
          <p:nvPr/>
        </p:nvSpPr>
        <p:spPr>
          <a:xfrm>
            <a:off x="3364992" y="475488"/>
            <a:ext cx="5577840" cy="987552"/>
          </a:xfrm>
          <a:prstGeom prst="rect">
            <a:avLst/>
          </a:prstGeom>
          <a:noFill/>
          <a:ln/>
        </p:spPr>
        <p:txBody>
          <a:bodyPr wrap="square" rtlCol="0" anchor="ctr"/>
          <a:lstStyle/>
          <a:p>
            <a:pPr marL="0" indent="0">
              <a:buNone/>
            </a:pPr>
            <a:r>
              <a:rPr lang="en-US" sz="1050" dirty="0">
                <a:solidFill>
                  <a:srgbClr val="C8DCF0"/>
                </a:solidFill>
                <a:latin typeface="Calibri" pitchFamily="34" charset="0"/>
                <a:ea typeface="Calibri" pitchFamily="34" charset="-122"/>
                <a:cs typeface="Calibri" pitchFamily="34" charset="-120"/>
              </a:rPr>
              <a:t>Líder en BI y Analítica con más de 10 años de experiencia en implementaciones de Inteligencia de Negocios, Big Data, Modelos Predictivos y Gobierno de Datos. Trayectoria multisectorial en Retail, Sector Público, Energía, Banca, Seguros y Oil &amp; Gas </a:t>
            </a:r>
            <a:r>
              <a:rPr lang="en-US" sz="1050" dirty="0" err="1">
                <a:solidFill>
                  <a:srgbClr val="C8DCF0"/>
                </a:solidFill>
                <a:latin typeface="Calibri" pitchFamily="34" charset="0"/>
                <a:ea typeface="Calibri" pitchFamily="34" charset="-122"/>
                <a:cs typeface="Calibri" pitchFamily="34" charset="-120"/>
              </a:rPr>
              <a:t>en</a:t>
            </a:r>
            <a:r>
              <a:rPr lang="en-US" sz="1050" dirty="0">
                <a:solidFill>
                  <a:srgbClr val="C8DCF0"/>
                </a:solidFill>
                <a:latin typeface="Calibri" pitchFamily="34" charset="0"/>
                <a:ea typeface="Calibri" pitchFamily="34" charset="-122"/>
                <a:cs typeface="Calibri" pitchFamily="34" charset="-120"/>
              </a:rPr>
              <a:t> Colombia, Venezuela, Perú y Panamá.</a:t>
            </a:r>
            <a:endParaRPr lang="en-US" sz="1050" dirty="0"/>
          </a:p>
        </p:txBody>
      </p:sp>
      <p:sp>
        <p:nvSpPr>
          <p:cNvPr id="24" name="Text 21"/>
          <p:cNvSpPr/>
          <p:nvPr/>
        </p:nvSpPr>
        <p:spPr>
          <a:xfrm>
            <a:off x="3246120" y="1600200"/>
            <a:ext cx="5760720" cy="256032"/>
          </a:xfrm>
          <a:prstGeom prst="rect">
            <a:avLst/>
          </a:prstGeom>
          <a:noFill/>
          <a:ln/>
        </p:spPr>
        <p:txBody>
          <a:bodyPr wrap="square" rtlCol="0" anchor="ctr"/>
          <a:lstStyle/>
          <a:p>
            <a:pPr marL="0" indent="0">
              <a:buNone/>
            </a:pPr>
            <a:r>
              <a:rPr lang="en-US" sz="1000" b="1" kern="0" spc="300" dirty="0">
                <a:solidFill>
                  <a:srgbClr val="E8A838"/>
                </a:solidFill>
                <a:latin typeface="Calibri" pitchFamily="34" charset="0"/>
                <a:ea typeface="Calibri" pitchFamily="34" charset="-122"/>
                <a:cs typeface="Calibri" pitchFamily="34" charset="-120"/>
              </a:rPr>
              <a:t>EXPERIENCIA MULTISECTORIAL</a:t>
            </a:r>
            <a:endParaRPr lang="en-US" sz="1000" dirty="0"/>
          </a:p>
        </p:txBody>
      </p:sp>
      <p:sp>
        <p:nvSpPr>
          <p:cNvPr id="25" name="Shape 22"/>
          <p:cNvSpPr/>
          <p:nvPr/>
        </p:nvSpPr>
        <p:spPr>
          <a:xfrm>
            <a:off x="3246120" y="2002536"/>
            <a:ext cx="182880" cy="182880"/>
          </a:xfrm>
          <a:prstGeom prst="ellipse">
            <a:avLst/>
          </a:prstGeom>
          <a:solidFill>
            <a:srgbClr val="0D7377"/>
          </a:solidFill>
          <a:ln w="12700">
            <a:solidFill>
              <a:srgbClr val="0D7377"/>
            </a:solidFill>
            <a:prstDash val="solid"/>
          </a:ln>
        </p:spPr>
        <p:txBody>
          <a:bodyPr/>
          <a:lstStyle/>
          <a:p>
            <a:endParaRPr lang="es-CO"/>
          </a:p>
        </p:txBody>
      </p:sp>
      <p:sp>
        <p:nvSpPr>
          <p:cNvPr id="26" name="Shape 23"/>
          <p:cNvSpPr/>
          <p:nvPr/>
        </p:nvSpPr>
        <p:spPr>
          <a:xfrm>
            <a:off x="3337560" y="2185416"/>
            <a:ext cx="0" cy="475488"/>
          </a:xfrm>
          <a:prstGeom prst="line">
            <a:avLst/>
          </a:prstGeom>
          <a:noFill/>
          <a:ln w="19050">
            <a:solidFill>
              <a:srgbClr val="2A4A6A"/>
            </a:solidFill>
            <a:prstDash val="solid"/>
          </a:ln>
        </p:spPr>
        <p:txBody>
          <a:bodyPr/>
          <a:lstStyle/>
          <a:p>
            <a:endParaRPr lang="es-CO"/>
          </a:p>
        </p:txBody>
      </p:sp>
      <p:sp>
        <p:nvSpPr>
          <p:cNvPr id="27" name="Shape 24"/>
          <p:cNvSpPr/>
          <p:nvPr/>
        </p:nvSpPr>
        <p:spPr>
          <a:xfrm>
            <a:off x="3520440" y="1920240"/>
            <a:ext cx="5440680" cy="576072"/>
          </a:xfrm>
          <a:prstGeom prst="rect">
            <a:avLst/>
          </a:prstGeom>
          <a:solidFill>
            <a:srgbClr val="1A2F48"/>
          </a:solidFill>
          <a:ln w="12700">
            <a:solidFill>
              <a:srgbClr val="253F5C"/>
            </a:solidFill>
            <a:prstDash val="solid"/>
          </a:ln>
          <a:effectLst>
            <a:outerShdw blurRad="101600" dist="38100" dir="8100000" algn="bl" rotWithShape="0">
              <a:srgbClr val="000000">
                <a:alpha val="12000"/>
              </a:srgbClr>
            </a:outerShdw>
          </a:effectLst>
        </p:spPr>
        <p:txBody>
          <a:bodyPr/>
          <a:lstStyle/>
          <a:p>
            <a:endParaRPr lang="es-CO"/>
          </a:p>
        </p:txBody>
      </p:sp>
      <p:sp>
        <p:nvSpPr>
          <p:cNvPr id="28" name="Shape 25"/>
          <p:cNvSpPr/>
          <p:nvPr/>
        </p:nvSpPr>
        <p:spPr>
          <a:xfrm>
            <a:off x="8229600" y="2011680"/>
            <a:ext cx="685800" cy="365760"/>
          </a:xfrm>
          <a:prstGeom prst="rect">
            <a:avLst/>
          </a:prstGeom>
          <a:solidFill>
            <a:srgbClr val="0D7377"/>
          </a:solidFill>
          <a:ln w="12700">
            <a:solidFill>
              <a:srgbClr val="0D7377"/>
            </a:solidFill>
            <a:prstDash val="solid"/>
          </a:ln>
        </p:spPr>
        <p:txBody>
          <a:bodyPr/>
          <a:lstStyle/>
          <a:p>
            <a:endParaRPr lang="es-CO"/>
          </a:p>
        </p:txBody>
      </p:sp>
      <p:sp>
        <p:nvSpPr>
          <p:cNvPr id="29" name="Text 26"/>
          <p:cNvSpPr/>
          <p:nvPr/>
        </p:nvSpPr>
        <p:spPr>
          <a:xfrm>
            <a:off x="8229600" y="2011680"/>
            <a:ext cx="685800" cy="36576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Retail</a:t>
            </a:r>
            <a:endParaRPr lang="en-US" sz="800" dirty="0"/>
          </a:p>
        </p:txBody>
      </p:sp>
      <p:sp>
        <p:nvSpPr>
          <p:cNvPr id="30" name="Text 27"/>
          <p:cNvSpPr/>
          <p:nvPr/>
        </p:nvSpPr>
        <p:spPr>
          <a:xfrm>
            <a:off x="3602736" y="1956816"/>
            <a:ext cx="4553712"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Líder de Datos</a:t>
            </a:r>
            <a:endParaRPr lang="en-US" sz="1150" dirty="0"/>
          </a:p>
        </p:txBody>
      </p:sp>
      <p:sp>
        <p:nvSpPr>
          <p:cNvPr id="31" name="Text 28"/>
          <p:cNvSpPr/>
          <p:nvPr/>
        </p:nvSpPr>
        <p:spPr>
          <a:xfrm>
            <a:off x="3602736" y="2231136"/>
            <a:ext cx="4553712" cy="219456"/>
          </a:xfrm>
          <a:prstGeom prst="rect">
            <a:avLst/>
          </a:prstGeom>
          <a:noFill/>
          <a:ln/>
        </p:spPr>
        <p:txBody>
          <a:bodyPr wrap="square" lIns="0" tIns="0" rIns="0" bIns="0" rtlCol="0" anchor="ctr"/>
          <a:lstStyle/>
          <a:p>
            <a:pPr marL="0" indent="0">
              <a:buNone/>
            </a:pPr>
            <a:r>
              <a:rPr lang="en-US" sz="950" dirty="0">
                <a:solidFill>
                  <a:srgbClr val="7AA8CC"/>
                </a:solidFill>
                <a:latin typeface="Calibri" pitchFamily="34" charset="0"/>
                <a:ea typeface="Calibri" pitchFamily="34" charset="-122"/>
                <a:cs typeface="Calibri" pitchFamily="34" charset="-120"/>
              </a:rPr>
              <a:t>Colombiana de Comercio / Alkosto  ·  2025 – Pres.</a:t>
            </a:r>
            <a:endParaRPr lang="en-US" sz="950" dirty="0"/>
          </a:p>
        </p:txBody>
      </p:sp>
      <p:sp>
        <p:nvSpPr>
          <p:cNvPr id="32" name="Shape 29"/>
          <p:cNvSpPr/>
          <p:nvPr/>
        </p:nvSpPr>
        <p:spPr>
          <a:xfrm>
            <a:off x="3246120" y="2670048"/>
            <a:ext cx="182880" cy="182880"/>
          </a:xfrm>
          <a:prstGeom prst="ellipse">
            <a:avLst/>
          </a:prstGeom>
          <a:solidFill>
            <a:srgbClr val="1A7A5E"/>
          </a:solidFill>
          <a:ln w="12700">
            <a:solidFill>
              <a:srgbClr val="1A7A5E"/>
            </a:solidFill>
            <a:prstDash val="solid"/>
          </a:ln>
        </p:spPr>
        <p:txBody>
          <a:bodyPr/>
          <a:lstStyle/>
          <a:p>
            <a:endParaRPr lang="es-CO"/>
          </a:p>
        </p:txBody>
      </p:sp>
      <p:sp>
        <p:nvSpPr>
          <p:cNvPr id="33" name="Shape 30"/>
          <p:cNvSpPr/>
          <p:nvPr/>
        </p:nvSpPr>
        <p:spPr>
          <a:xfrm>
            <a:off x="3337560" y="2852928"/>
            <a:ext cx="0" cy="475488"/>
          </a:xfrm>
          <a:prstGeom prst="line">
            <a:avLst/>
          </a:prstGeom>
          <a:noFill/>
          <a:ln w="19050">
            <a:solidFill>
              <a:srgbClr val="2A4A6A"/>
            </a:solidFill>
            <a:prstDash val="solid"/>
          </a:ln>
        </p:spPr>
        <p:txBody>
          <a:bodyPr/>
          <a:lstStyle/>
          <a:p>
            <a:endParaRPr lang="es-CO"/>
          </a:p>
        </p:txBody>
      </p:sp>
      <p:sp>
        <p:nvSpPr>
          <p:cNvPr id="34" name="Shape 31"/>
          <p:cNvSpPr/>
          <p:nvPr/>
        </p:nvSpPr>
        <p:spPr>
          <a:xfrm>
            <a:off x="3520440" y="2587752"/>
            <a:ext cx="5440680" cy="576072"/>
          </a:xfrm>
          <a:prstGeom prst="rect">
            <a:avLst/>
          </a:prstGeom>
          <a:solidFill>
            <a:srgbClr val="1A2F48"/>
          </a:solidFill>
          <a:ln w="12700">
            <a:solidFill>
              <a:srgbClr val="253F5C"/>
            </a:solidFill>
            <a:prstDash val="solid"/>
          </a:ln>
          <a:effectLst>
            <a:outerShdw blurRad="101600" dist="38100" dir="8100000" algn="bl" rotWithShape="0">
              <a:srgbClr val="000000">
                <a:alpha val="12000"/>
              </a:srgbClr>
            </a:outerShdw>
          </a:effectLst>
        </p:spPr>
        <p:txBody>
          <a:bodyPr/>
          <a:lstStyle/>
          <a:p>
            <a:endParaRPr lang="es-CO"/>
          </a:p>
        </p:txBody>
      </p:sp>
      <p:sp>
        <p:nvSpPr>
          <p:cNvPr id="35" name="Shape 32"/>
          <p:cNvSpPr/>
          <p:nvPr/>
        </p:nvSpPr>
        <p:spPr>
          <a:xfrm>
            <a:off x="8229600" y="2679192"/>
            <a:ext cx="685800" cy="365760"/>
          </a:xfrm>
          <a:prstGeom prst="rect">
            <a:avLst/>
          </a:prstGeom>
          <a:solidFill>
            <a:srgbClr val="1A7A5E"/>
          </a:solidFill>
          <a:ln w="12700">
            <a:solidFill>
              <a:srgbClr val="1A7A5E"/>
            </a:solidFill>
            <a:prstDash val="solid"/>
          </a:ln>
        </p:spPr>
        <p:txBody>
          <a:bodyPr/>
          <a:lstStyle/>
          <a:p>
            <a:endParaRPr lang="es-CO"/>
          </a:p>
        </p:txBody>
      </p:sp>
      <p:sp>
        <p:nvSpPr>
          <p:cNvPr id="36" name="Text 33"/>
          <p:cNvSpPr/>
          <p:nvPr/>
        </p:nvSpPr>
        <p:spPr>
          <a:xfrm>
            <a:off x="8229600" y="2679192"/>
            <a:ext cx="685800" cy="36576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Energía</a:t>
            </a:r>
            <a:endParaRPr lang="en-US" sz="800" dirty="0"/>
          </a:p>
        </p:txBody>
      </p:sp>
      <p:sp>
        <p:nvSpPr>
          <p:cNvPr id="37" name="Text 34"/>
          <p:cNvSpPr/>
          <p:nvPr/>
        </p:nvSpPr>
        <p:spPr>
          <a:xfrm>
            <a:off x="3602736" y="2624328"/>
            <a:ext cx="4553712"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Arquitecto de Soluciones BI</a:t>
            </a:r>
            <a:endParaRPr lang="en-US" sz="1150" dirty="0"/>
          </a:p>
        </p:txBody>
      </p:sp>
      <p:sp>
        <p:nvSpPr>
          <p:cNvPr id="38" name="Text 35"/>
          <p:cNvSpPr/>
          <p:nvPr/>
        </p:nvSpPr>
        <p:spPr>
          <a:xfrm>
            <a:off x="3602736" y="2898648"/>
            <a:ext cx="4553712" cy="219456"/>
          </a:xfrm>
          <a:prstGeom prst="rect">
            <a:avLst/>
          </a:prstGeom>
          <a:noFill/>
          <a:ln/>
        </p:spPr>
        <p:txBody>
          <a:bodyPr wrap="square" lIns="0" tIns="0" rIns="0" bIns="0" rtlCol="0" anchor="ctr"/>
          <a:lstStyle/>
          <a:p>
            <a:pPr marL="0" indent="0">
              <a:buNone/>
            </a:pPr>
            <a:r>
              <a:rPr lang="en-US" sz="950" dirty="0">
                <a:solidFill>
                  <a:srgbClr val="7AA8CC"/>
                </a:solidFill>
                <a:latin typeface="Calibri" pitchFamily="34" charset="0"/>
                <a:ea typeface="Calibri" pitchFamily="34" charset="-122"/>
                <a:cs typeface="Calibri" pitchFamily="34" charset="-120"/>
              </a:rPr>
              <a:t>ENSA – Elektra Noreste S.A.  ·  2021 – 2025</a:t>
            </a:r>
            <a:endParaRPr lang="en-US" sz="950" dirty="0"/>
          </a:p>
        </p:txBody>
      </p:sp>
      <p:sp>
        <p:nvSpPr>
          <p:cNvPr id="39" name="Shape 36"/>
          <p:cNvSpPr/>
          <p:nvPr/>
        </p:nvSpPr>
        <p:spPr>
          <a:xfrm>
            <a:off x="3246120" y="3337560"/>
            <a:ext cx="182880" cy="182880"/>
          </a:xfrm>
          <a:prstGeom prst="ellipse">
            <a:avLst/>
          </a:prstGeom>
          <a:solidFill>
            <a:srgbClr val="3776AB"/>
          </a:solidFill>
          <a:ln w="12700">
            <a:solidFill>
              <a:srgbClr val="3776AB"/>
            </a:solidFill>
            <a:prstDash val="solid"/>
          </a:ln>
        </p:spPr>
        <p:txBody>
          <a:bodyPr/>
          <a:lstStyle/>
          <a:p>
            <a:endParaRPr lang="es-CO"/>
          </a:p>
        </p:txBody>
      </p:sp>
      <p:sp>
        <p:nvSpPr>
          <p:cNvPr id="40" name="Shape 37"/>
          <p:cNvSpPr/>
          <p:nvPr/>
        </p:nvSpPr>
        <p:spPr>
          <a:xfrm>
            <a:off x="3337560" y="3520440"/>
            <a:ext cx="0" cy="475488"/>
          </a:xfrm>
          <a:prstGeom prst="line">
            <a:avLst/>
          </a:prstGeom>
          <a:noFill/>
          <a:ln w="19050">
            <a:solidFill>
              <a:srgbClr val="2A4A6A"/>
            </a:solidFill>
            <a:prstDash val="solid"/>
          </a:ln>
        </p:spPr>
        <p:txBody>
          <a:bodyPr/>
          <a:lstStyle/>
          <a:p>
            <a:endParaRPr lang="es-CO"/>
          </a:p>
        </p:txBody>
      </p:sp>
      <p:sp>
        <p:nvSpPr>
          <p:cNvPr id="41" name="Shape 38"/>
          <p:cNvSpPr/>
          <p:nvPr/>
        </p:nvSpPr>
        <p:spPr>
          <a:xfrm>
            <a:off x="3520440" y="3255264"/>
            <a:ext cx="5440680" cy="576072"/>
          </a:xfrm>
          <a:prstGeom prst="rect">
            <a:avLst/>
          </a:prstGeom>
          <a:solidFill>
            <a:srgbClr val="1A2F48"/>
          </a:solidFill>
          <a:ln w="12700">
            <a:solidFill>
              <a:srgbClr val="253F5C"/>
            </a:solidFill>
            <a:prstDash val="solid"/>
          </a:ln>
          <a:effectLst>
            <a:outerShdw blurRad="101600" dist="38100" dir="8100000" algn="bl" rotWithShape="0">
              <a:srgbClr val="000000">
                <a:alpha val="12000"/>
              </a:srgbClr>
            </a:outerShdw>
          </a:effectLst>
        </p:spPr>
        <p:txBody>
          <a:bodyPr/>
          <a:lstStyle/>
          <a:p>
            <a:endParaRPr lang="es-CO"/>
          </a:p>
        </p:txBody>
      </p:sp>
      <p:sp>
        <p:nvSpPr>
          <p:cNvPr id="42" name="Shape 39"/>
          <p:cNvSpPr/>
          <p:nvPr/>
        </p:nvSpPr>
        <p:spPr>
          <a:xfrm>
            <a:off x="8229600" y="3346704"/>
            <a:ext cx="685800" cy="365760"/>
          </a:xfrm>
          <a:prstGeom prst="rect">
            <a:avLst/>
          </a:prstGeom>
          <a:solidFill>
            <a:srgbClr val="3776AB"/>
          </a:solidFill>
          <a:ln w="12700">
            <a:solidFill>
              <a:srgbClr val="3776AB"/>
            </a:solidFill>
            <a:prstDash val="solid"/>
          </a:ln>
        </p:spPr>
        <p:txBody>
          <a:bodyPr/>
          <a:lstStyle/>
          <a:p>
            <a:endParaRPr lang="es-CO"/>
          </a:p>
        </p:txBody>
      </p:sp>
      <p:sp>
        <p:nvSpPr>
          <p:cNvPr id="43" name="Text 40"/>
          <p:cNvSpPr/>
          <p:nvPr/>
        </p:nvSpPr>
        <p:spPr>
          <a:xfrm>
            <a:off x="8229600" y="3346704"/>
            <a:ext cx="685800" cy="36576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Banca/Seg</a:t>
            </a:r>
            <a:endParaRPr lang="en-US" sz="800" dirty="0"/>
          </a:p>
        </p:txBody>
      </p:sp>
      <p:sp>
        <p:nvSpPr>
          <p:cNvPr id="44" name="Text 41"/>
          <p:cNvSpPr/>
          <p:nvPr/>
        </p:nvSpPr>
        <p:spPr>
          <a:xfrm>
            <a:off x="3602736" y="3291840"/>
            <a:ext cx="4553712"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Adm. Proyectos &amp; Consultor BI</a:t>
            </a:r>
            <a:endParaRPr lang="en-US" sz="1150" dirty="0"/>
          </a:p>
        </p:txBody>
      </p:sp>
      <p:sp>
        <p:nvSpPr>
          <p:cNvPr id="45" name="Text 42"/>
          <p:cNvSpPr/>
          <p:nvPr/>
        </p:nvSpPr>
        <p:spPr>
          <a:xfrm>
            <a:off x="3602736" y="3566160"/>
            <a:ext cx="4553712" cy="219456"/>
          </a:xfrm>
          <a:prstGeom prst="rect">
            <a:avLst/>
          </a:prstGeom>
          <a:noFill/>
          <a:ln/>
        </p:spPr>
        <p:txBody>
          <a:bodyPr wrap="square" lIns="0" tIns="0" rIns="0" bIns="0" rtlCol="0" anchor="ctr"/>
          <a:lstStyle/>
          <a:p>
            <a:pPr marL="0" indent="0">
              <a:buNone/>
            </a:pPr>
            <a:r>
              <a:rPr lang="en-US" sz="950" dirty="0">
                <a:solidFill>
                  <a:srgbClr val="7AA8CC"/>
                </a:solidFill>
                <a:latin typeface="Calibri" pitchFamily="34" charset="0"/>
                <a:ea typeface="Calibri" pitchFamily="34" charset="-122"/>
                <a:cs typeface="Calibri" pitchFamily="34" charset="-120"/>
              </a:rPr>
              <a:t>MSTech  ·  2017 – 2021</a:t>
            </a:r>
            <a:endParaRPr lang="en-US" sz="950" dirty="0"/>
          </a:p>
        </p:txBody>
      </p:sp>
      <p:sp>
        <p:nvSpPr>
          <p:cNvPr id="46" name="Shape 43"/>
          <p:cNvSpPr/>
          <p:nvPr/>
        </p:nvSpPr>
        <p:spPr>
          <a:xfrm>
            <a:off x="3246120" y="4005072"/>
            <a:ext cx="182880" cy="182880"/>
          </a:xfrm>
          <a:prstGeom prst="ellipse">
            <a:avLst/>
          </a:prstGeom>
          <a:solidFill>
            <a:srgbClr val="7D3C98"/>
          </a:solidFill>
          <a:ln w="12700">
            <a:solidFill>
              <a:srgbClr val="7D3C98"/>
            </a:solidFill>
            <a:prstDash val="solid"/>
          </a:ln>
        </p:spPr>
        <p:txBody>
          <a:bodyPr/>
          <a:lstStyle/>
          <a:p>
            <a:endParaRPr lang="es-CO"/>
          </a:p>
        </p:txBody>
      </p:sp>
      <p:sp>
        <p:nvSpPr>
          <p:cNvPr id="47" name="Shape 44"/>
          <p:cNvSpPr/>
          <p:nvPr/>
        </p:nvSpPr>
        <p:spPr>
          <a:xfrm>
            <a:off x="3520440" y="3922776"/>
            <a:ext cx="5440680" cy="576072"/>
          </a:xfrm>
          <a:prstGeom prst="rect">
            <a:avLst/>
          </a:prstGeom>
          <a:solidFill>
            <a:srgbClr val="1A2F48"/>
          </a:solidFill>
          <a:ln w="12700">
            <a:solidFill>
              <a:srgbClr val="253F5C"/>
            </a:solidFill>
            <a:prstDash val="solid"/>
          </a:ln>
          <a:effectLst>
            <a:outerShdw blurRad="101600" dist="38100" dir="8100000" algn="bl" rotWithShape="0">
              <a:srgbClr val="000000">
                <a:alpha val="12000"/>
              </a:srgbClr>
            </a:outerShdw>
          </a:effectLst>
        </p:spPr>
        <p:txBody>
          <a:bodyPr/>
          <a:lstStyle/>
          <a:p>
            <a:endParaRPr lang="es-CO"/>
          </a:p>
        </p:txBody>
      </p:sp>
      <p:sp>
        <p:nvSpPr>
          <p:cNvPr id="48" name="Shape 45"/>
          <p:cNvSpPr/>
          <p:nvPr/>
        </p:nvSpPr>
        <p:spPr>
          <a:xfrm>
            <a:off x="8229600" y="4014216"/>
            <a:ext cx="685800" cy="365760"/>
          </a:xfrm>
          <a:prstGeom prst="rect">
            <a:avLst/>
          </a:prstGeom>
          <a:solidFill>
            <a:srgbClr val="7D3C98"/>
          </a:solidFill>
          <a:ln w="12700">
            <a:solidFill>
              <a:srgbClr val="7D3C98"/>
            </a:solidFill>
            <a:prstDash val="solid"/>
          </a:ln>
        </p:spPr>
        <p:txBody>
          <a:bodyPr/>
          <a:lstStyle/>
          <a:p>
            <a:endParaRPr lang="es-CO"/>
          </a:p>
        </p:txBody>
      </p:sp>
      <p:sp>
        <p:nvSpPr>
          <p:cNvPr id="49" name="Text 46"/>
          <p:cNvSpPr/>
          <p:nvPr/>
        </p:nvSpPr>
        <p:spPr>
          <a:xfrm>
            <a:off x="8229600" y="4014216"/>
            <a:ext cx="685800" cy="36576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Oil &amp; Gas</a:t>
            </a:r>
            <a:endParaRPr lang="en-US" sz="800" dirty="0"/>
          </a:p>
        </p:txBody>
      </p:sp>
      <p:sp>
        <p:nvSpPr>
          <p:cNvPr id="50" name="Text 47"/>
          <p:cNvSpPr/>
          <p:nvPr/>
        </p:nvSpPr>
        <p:spPr>
          <a:xfrm>
            <a:off x="3602736" y="3959352"/>
            <a:ext cx="4553712"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SAP BI Consultant</a:t>
            </a:r>
            <a:endParaRPr lang="en-US" sz="1150" dirty="0"/>
          </a:p>
        </p:txBody>
      </p:sp>
      <p:sp>
        <p:nvSpPr>
          <p:cNvPr id="51" name="Text 48"/>
          <p:cNvSpPr/>
          <p:nvPr/>
        </p:nvSpPr>
        <p:spPr>
          <a:xfrm>
            <a:off x="3602736" y="4233672"/>
            <a:ext cx="4553712" cy="219456"/>
          </a:xfrm>
          <a:prstGeom prst="rect">
            <a:avLst/>
          </a:prstGeom>
          <a:noFill/>
          <a:ln/>
        </p:spPr>
        <p:txBody>
          <a:bodyPr wrap="square" lIns="0" tIns="0" rIns="0" bIns="0" rtlCol="0" anchor="ctr"/>
          <a:lstStyle/>
          <a:p>
            <a:pPr marL="0" indent="0">
              <a:buNone/>
            </a:pPr>
            <a:r>
              <a:rPr lang="en-US" sz="950" dirty="0">
                <a:solidFill>
                  <a:srgbClr val="7AA8CC"/>
                </a:solidFill>
                <a:latin typeface="Calibri" pitchFamily="34" charset="0"/>
                <a:ea typeface="Calibri" pitchFamily="34" charset="-122"/>
                <a:cs typeface="Calibri" pitchFamily="34" charset="-120"/>
              </a:rPr>
              <a:t>MQA Americas / Everis  ·  2013 – 2017</a:t>
            </a:r>
            <a:endParaRPr lang="en-US" sz="950" dirty="0"/>
          </a:p>
        </p:txBody>
      </p:sp>
      <p:sp>
        <p:nvSpPr>
          <p:cNvPr id="52" name="Text 49"/>
          <p:cNvSpPr/>
          <p:nvPr/>
        </p:nvSpPr>
        <p:spPr>
          <a:xfrm>
            <a:off x="3246120" y="4626864"/>
            <a:ext cx="3200400" cy="201168"/>
          </a:xfrm>
          <a:prstGeom prst="rect">
            <a:avLst/>
          </a:prstGeom>
          <a:noFill/>
          <a:ln/>
        </p:spPr>
        <p:txBody>
          <a:bodyPr wrap="square" rtlCol="0" anchor="ctr"/>
          <a:lstStyle/>
          <a:p>
            <a:pPr marL="0" indent="0">
              <a:buNone/>
            </a:pPr>
            <a:r>
              <a:rPr lang="en-US" sz="1000" b="1" kern="0" spc="300" dirty="0">
                <a:solidFill>
                  <a:srgbClr val="E8A838"/>
                </a:solidFill>
                <a:latin typeface="Calibri" pitchFamily="34" charset="0"/>
                <a:ea typeface="Calibri" pitchFamily="34" charset="-122"/>
                <a:cs typeface="Calibri" pitchFamily="34" charset="-120"/>
              </a:rPr>
              <a:t>STACK TECNOLÓGICO</a:t>
            </a:r>
            <a:endParaRPr lang="en-US" sz="1000" dirty="0"/>
          </a:p>
        </p:txBody>
      </p:sp>
      <p:sp>
        <p:nvSpPr>
          <p:cNvPr id="53" name="Text 50"/>
          <p:cNvSpPr/>
          <p:nvPr/>
        </p:nvSpPr>
        <p:spPr>
          <a:xfrm>
            <a:off x="3246120" y="4818888"/>
            <a:ext cx="5760720" cy="201168"/>
          </a:xfrm>
          <a:prstGeom prst="rect">
            <a:avLst/>
          </a:prstGeom>
          <a:noFill/>
          <a:ln/>
        </p:spPr>
        <p:txBody>
          <a:bodyPr wrap="square" rtlCol="0" anchor="ctr"/>
          <a:lstStyle/>
          <a:p>
            <a:pPr marL="0" indent="0">
              <a:buNone/>
            </a:pPr>
            <a:r>
              <a:rPr lang="en-US" sz="950" dirty="0">
                <a:solidFill>
                  <a:srgbClr val="8AB8D4"/>
                </a:solidFill>
                <a:latin typeface="Calibri" pitchFamily="34" charset="0"/>
                <a:ea typeface="Calibri" pitchFamily="34" charset="-122"/>
                <a:cs typeface="Calibri" pitchFamily="34" charset="-120"/>
              </a:rPr>
              <a:t>Power BI  ·  Databricks  ·  Azure Synapse  ·  SPSS Modeler  ·  SAP HANA  ·  Tableau  ·  Python 🐍  ·  SQL Server</a:t>
            </a:r>
            <a:endParaRPr lang="en-US" sz="950" dirty="0"/>
          </a:p>
        </p:txBody>
      </p:sp>
      <p:sp>
        <p:nvSpPr>
          <p:cNvPr id="54" name="Text 51"/>
          <p:cNvSpPr/>
          <p:nvPr/>
        </p:nvSpPr>
        <p:spPr>
          <a:xfrm>
            <a:off x="3246120" y="4974336"/>
            <a:ext cx="5760720" cy="201168"/>
          </a:xfrm>
          <a:prstGeom prst="rect">
            <a:avLst/>
          </a:prstGeom>
          <a:noFill/>
          <a:ln/>
        </p:spPr>
        <p:txBody>
          <a:bodyPr wrap="square" rtlCol="0" anchor="ctr"/>
          <a:lstStyle/>
          <a:p>
            <a:pPr marL="0" indent="0">
              <a:buNone/>
            </a:pPr>
            <a:r>
              <a:rPr lang="en-US" sz="850" dirty="0">
                <a:solidFill>
                  <a:srgbClr val="506A88"/>
                </a:solidFill>
                <a:latin typeface="Calibri" pitchFamily="34" charset="0"/>
                <a:ea typeface="Calibri" pitchFamily="34" charset="-122"/>
                <a:cs typeface="Calibri" pitchFamily="34" charset="-120"/>
              </a:rPr>
              <a:t>🎓  MSc Business Intelligence (OBS)   ·   MSc Gerencia de Proyectos (UIP Panamá)   ·   Diplomado ML &amp; Data Science (UNAL)</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EVALUACIÓN FORMATIVA DEL MÓDULO</a:t>
            </a:r>
            <a:endParaRPr lang="en-US" sz="2000" dirty="0"/>
          </a:p>
        </p:txBody>
      </p:sp>
      <p:sp>
        <p:nvSpPr>
          <p:cNvPr id="4" name="Shape 2"/>
          <p:cNvSpPr/>
          <p:nvPr/>
        </p:nvSpPr>
        <p:spPr>
          <a:xfrm>
            <a:off x="365760" y="1005840"/>
            <a:ext cx="2651760" cy="1188720"/>
          </a:xfrm>
          <a:prstGeom prst="rect">
            <a:avLst/>
          </a:prstGeom>
          <a:solidFill>
            <a:srgbClr val="0D7377"/>
          </a:solidFill>
          <a:ln w="12700">
            <a:solidFill>
              <a:srgbClr val="0D7377"/>
            </a:solidFill>
            <a:prstDash val="solid"/>
          </a:ln>
          <a:effectLst>
            <a:outerShdw blurRad="101600" dist="38100" dir="8100000" algn="bl" rotWithShape="0">
              <a:srgbClr val="000000">
                <a:alpha val="12000"/>
              </a:srgbClr>
            </a:outerShdw>
          </a:effectLst>
        </p:spPr>
        <p:txBody>
          <a:bodyPr/>
          <a:lstStyle/>
          <a:p>
            <a:endParaRPr lang="es-CO"/>
          </a:p>
        </p:txBody>
      </p:sp>
      <p:sp>
        <p:nvSpPr>
          <p:cNvPr id="5" name="Text 3"/>
          <p:cNvSpPr/>
          <p:nvPr/>
        </p:nvSpPr>
        <p:spPr>
          <a:xfrm>
            <a:off x="365760" y="1024128"/>
            <a:ext cx="265176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Participación</a:t>
            </a:r>
            <a:endParaRPr lang="en-US" sz="1400" dirty="0"/>
          </a:p>
        </p:txBody>
      </p:sp>
      <p:sp>
        <p:nvSpPr>
          <p:cNvPr id="6" name="Text 4"/>
          <p:cNvSpPr/>
          <p:nvPr/>
        </p:nvSpPr>
        <p:spPr>
          <a:xfrm>
            <a:off x="365760" y="1481328"/>
            <a:ext cx="2651760" cy="6858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20%</a:t>
            </a:r>
            <a:endParaRPr lang="en-US" sz="3600" dirty="0"/>
          </a:p>
        </p:txBody>
      </p:sp>
      <p:sp>
        <p:nvSpPr>
          <p:cNvPr id="7" name="Shape 5"/>
          <p:cNvSpPr/>
          <p:nvPr/>
        </p:nvSpPr>
        <p:spPr>
          <a:xfrm>
            <a:off x="3200400" y="1005840"/>
            <a:ext cx="2651760" cy="1188720"/>
          </a:xfrm>
          <a:prstGeom prst="rect">
            <a:avLst/>
          </a:prstGeom>
          <a:solidFill>
            <a:srgbClr val="3776AB"/>
          </a:solidFill>
          <a:ln w="12700">
            <a:solidFill>
              <a:srgbClr val="3776AB"/>
            </a:solidFill>
            <a:prstDash val="solid"/>
          </a:ln>
          <a:effectLst>
            <a:outerShdw blurRad="101600" dist="38100" dir="8100000" algn="bl" rotWithShape="0">
              <a:srgbClr val="000000">
                <a:alpha val="12000"/>
              </a:srgbClr>
            </a:outerShdw>
          </a:effectLst>
        </p:spPr>
        <p:txBody>
          <a:bodyPr/>
          <a:lstStyle/>
          <a:p>
            <a:endParaRPr lang="es-CO"/>
          </a:p>
        </p:txBody>
      </p:sp>
      <p:sp>
        <p:nvSpPr>
          <p:cNvPr id="8" name="Text 6"/>
          <p:cNvSpPr/>
          <p:nvPr/>
        </p:nvSpPr>
        <p:spPr>
          <a:xfrm>
            <a:off x="3200400" y="1024128"/>
            <a:ext cx="265176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Proyecto</a:t>
            </a:r>
            <a:endParaRPr lang="en-US" sz="1400" dirty="0"/>
          </a:p>
        </p:txBody>
      </p:sp>
      <p:sp>
        <p:nvSpPr>
          <p:cNvPr id="9" name="Text 7"/>
          <p:cNvSpPr/>
          <p:nvPr/>
        </p:nvSpPr>
        <p:spPr>
          <a:xfrm>
            <a:off x="3200400" y="1481328"/>
            <a:ext cx="2651760" cy="6858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30%</a:t>
            </a:r>
            <a:endParaRPr lang="en-US" sz="3600" dirty="0"/>
          </a:p>
        </p:txBody>
      </p:sp>
      <p:sp>
        <p:nvSpPr>
          <p:cNvPr id="10" name="Shape 8"/>
          <p:cNvSpPr/>
          <p:nvPr/>
        </p:nvSpPr>
        <p:spPr>
          <a:xfrm>
            <a:off x="6035040" y="1005840"/>
            <a:ext cx="2651760" cy="1188720"/>
          </a:xfrm>
          <a:prstGeom prst="rect">
            <a:avLst/>
          </a:prstGeom>
          <a:solidFill>
            <a:srgbClr val="E8A838"/>
          </a:solidFill>
          <a:ln w="12700">
            <a:solidFill>
              <a:srgbClr val="E8A838"/>
            </a:solidFill>
            <a:prstDash val="solid"/>
          </a:ln>
          <a:effectLst>
            <a:outerShdw blurRad="101600" dist="38100" dir="8100000" algn="bl" rotWithShape="0">
              <a:srgbClr val="000000">
                <a:alpha val="12000"/>
              </a:srgbClr>
            </a:outerShdw>
          </a:effectLst>
        </p:spPr>
        <p:txBody>
          <a:bodyPr/>
          <a:lstStyle/>
          <a:p>
            <a:endParaRPr lang="es-CO"/>
          </a:p>
        </p:txBody>
      </p:sp>
      <p:sp>
        <p:nvSpPr>
          <p:cNvPr id="11" name="Text 9"/>
          <p:cNvSpPr/>
          <p:nvPr/>
        </p:nvSpPr>
        <p:spPr>
          <a:xfrm>
            <a:off x="6035040" y="1024128"/>
            <a:ext cx="265176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Tareas</a:t>
            </a:r>
            <a:endParaRPr lang="en-US" sz="1400" dirty="0"/>
          </a:p>
        </p:txBody>
      </p:sp>
      <p:sp>
        <p:nvSpPr>
          <p:cNvPr id="12" name="Text 10"/>
          <p:cNvSpPr/>
          <p:nvPr/>
        </p:nvSpPr>
        <p:spPr>
          <a:xfrm>
            <a:off x="6035040" y="1481328"/>
            <a:ext cx="2651760" cy="6858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50%</a:t>
            </a:r>
            <a:endParaRPr lang="en-US" sz="3600" dirty="0"/>
          </a:p>
        </p:txBody>
      </p:sp>
      <p:sp>
        <p:nvSpPr>
          <p:cNvPr id="13" name="Shape 11"/>
          <p:cNvSpPr/>
          <p:nvPr/>
        </p:nvSpPr>
        <p:spPr>
          <a:xfrm>
            <a:off x="365760" y="2331720"/>
            <a:ext cx="3931920" cy="25603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4" name="Shape 12"/>
          <p:cNvSpPr/>
          <p:nvPr/>
        </p:nvSpPr>
        <p:spPr>
          <a:xfrm>
            <a:off x="365760" y="2331720"/>
            <a:ext cx="3931920" cy="411480"/>
          </a:xfrm>
          <a:prstGeom prst="rect">
            <a:avLst/>
          </a:prstGeom>
          <a:solidFill>
            <a:srgbClr val="0D7377"/>
          </a:solidFill>
          <a:ln w="12700">
            <a:solidFill>
              <a:srgbClr val="0D7377"/>
            </a:solidFill>
            <a:prstDash val="solid"/>
          </a:ln>
        </p:spPr>
        <p:txBody>
          <a:bodyPr/>
          <a:lstStyle/>
          <a:p>
            <a:endParaRPr lang="es-CO"/>
          </a:p>
        </p:txBody>
      </p:sp>
      <p:sp>
        <p:nvSpPr>
          <p:cNvPr id="15" name="Text 13"/>
          <p:cNvSpPr/>
          <p:nvPr/>
        </p:nvSpPr>
        <p:spPr>
          <a:xfrm>
            <a:off x="457200" y="2331720"/>
            <a:ext cx="374904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Participación — Detalle</a:t>
            </a:r>
            <a:endParaRPr lang="en-US" sz="1300" dirty="0"/>
          </a:p>
        </p:txBody>
      </p:sp>
      <p:sp>
        <p:nvSpPr>
          <p:cNvPr id="16" name="Text 14"/>
          <p:cNvSpPr/>
          <p:nvPr/>
        </p:nvSpPr>
        <p:spPr>
          <a:xfrm>
            <a:off x="502920" y="2807208"/>
            <a:ext cx="3749040" cy="36576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Objetivo: Asumir un rol activo en el proceso de formación.</a:t>
            </a:r>
            <a:endParaRPr lang="en-US" sz="1100" dirty="0"/>
          </a:p>
        </p:txBody>
      </p:sp>
      <p:sp>
        <p:nvSpPr>
          <p:cNvPr id="17" name="Text 15"/>
          <p:cNvSpPr/>
          <p:nvPr/>
        </p:nvSpPr>
        <p:spPr>
          <a:xfrm>
            <a:off x="502920" y="3182112"/>
            <a:ext cx="3749040" cy="320040"/>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Formas de participar:</a:t>
            </a:r>
            <a:endParaRPr lang="en-US" sz="1100" dirty="0"/>
          </a:p>
        </p:txBody>
      </p:sp>
      <p:sp>
        <p:nvSpPr>
          <p:cNvPr id="18" name="Text 16"/>
          <p:cNvSpPr/>
          <p:nvPr/>
        </p:nvSpPr>
        <p:spPr>
          <a:xfrm>
            <a:off x="502920" y="3529584"/>
            <a:ext cx="374904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Trabajar de manera temprana en la tarea</a:t>
            </a:r>
            <a:endParaRPr lang="en-US" sz="1100" dirty="0"/>
          </a:p>
        </p:txBody>
      </p:sp>
      <p:sp>
        <p:nvSpPr>
          <p:cNvPr id="19" name="Text 17"/>
          <p:cNvSpPr/>
          <p:nvPr/>
        </p:nvSpPr>
        <p:spPr>
          <a:xfrm>
            <a:off x="502920" y="3877056"/>
            <a:ext cx="374904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Participar activamente en las sesiones</a:t>
            </a:r>
            <a:endParaRPr lang="en-US" sz="1100" dirty="0"/>
          </a:p>
        </p:txBody>
      </p:sp>
      <p:sp>
        <p:nvSpPr>
          <p:cNvPr id="20" name="Shape 18"/>
          <p:cNvSpPr/>
          <p:nvPr/>
        </p:nvSpPr>
        <p:spPr>
          <a:xfrm>
            <a:off x="4663440" y="2331720"/>
            <a:ext cx="4114800" cy="25603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1" name="Shape 19"/>
          <p:cNvSpPr/>
          <p:nvPr/>
        </p:nvSpPr>
        <p:spPr>
          <a:xfrm>
            <a:off x="4663440" y="2331720"/>
            <a:ext cx="4114800" cy="411480"/>
          </a:xfrm>
          <a:prstGeom prst="rect">
            <a:avLst/>
          </a:prstGeom>
          <a:solidFill>
            <a:srgbClr val="1A3A5C"/>
          </a:solidFill>
          <a:ln w="12700">
            <a:solidFill>
              <a:srgbClr val="1A3A5C"/>
            </a:solidFill>
            <a:prstDash val="solid"/>
          </a:ln>
        </p:spPr>
        <p:txBody>
          <a:bodyPr/>
          <a:lstStyle/>
          <a:p>
            <a:endParaRPr lang="es-CO"/>
          </a:p>
        </p:txBody>
      </p:sp>
      <p:sp>
        <p:nvSpPr>
          <p:cNvPr id="22" name="Text 20"/>
          <p:cNvSpPr/>
          <p:nvPr/>
        </p:nvSpPr>
        <p:spPr>
          <a:xfrm>
            <a:off x="4754880" y="2331720"/>
            <a:ext cx="393192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Puntos por Actividad</a:t>
            </a:r>
            <a:endParaRPr lang="en-US" sz="1300" dirty="0"/>
          </a:p>
        </p:txBody>
      </p:sp>
      <p:sp>
        <p:nvSpPr>
          <p:cNvPr id="23" name="Shape 21"/>
          <p:cNvSpPr/>
          <p:nvPr/>
        </p:nvSpPr>
        <p:spPr>
          <a:xfrm>
            <a:off x="4754880" y="2834640"/>
            <a:ext cx="3931920" cy="685800"/>
          </a:xfrm>
          <a:prstGeom prst="rect">
            <a:avLst/>
          </a:prstGeom>
          <a:solidFill>
            <a:srgbClr val="F0F4F8"/>
          </a:solidFill>
          <a:ln w="12700">
            <a:solidFill>
              <a:srgbClr val="E2E8F0"/>
            </a:solidFill>
            <a:prstDash val="solid"/>
          </a:ln>
        </p:spPr>
        <p:txBody>
          <a:bodyPr/>
          <a:lstStyle/>
          <a:p>
            <a:endParaRPr lang="es-CO"/>
          </a:p>
        </p:txBody>
      </p:sp>
      <p:sp>
        <p:nvSpPr>
          <p:cNvPr id="24" name="Text 22"/>
          <p:cNvSpPr/>
          <p:nvPr/>
        </p:nvSpPr>
        <p:spPr>
          <a:xfrm>
            <a:off x="4846320" y="2871216"/>
            <a:ext cx="2743200" cy="320040"/>
          </a:xfrm>
          <a:prstGeom prst="rect">
            <a:avLst/>
          </a:prstGeom>
          <a:noFill/>
          <a:ln/>
        </p:spPr>
        <p:txBody>
          <a:bodyPr wrap="square" rtlCol="0" anchor="ctr"/>
          <a:lstStyle/>
          <a:p>
            <a:pPr marL="0" indent="0">
              <a:buNone/>
            </a:pPr>
            <a:r>
              <a:rPr lang="en-US" sz="1050" b="1" dirty="0">
                <a:solidFill>
                  <a:srgbClr val="1A3A5C"/>
                </a:solidFill>
                <a:latin typeface="Calibri" pitchFamily="34" charset="0"/>
                <a:ea typeface="Calibri" pitchFamily="34" charset="-122"/>
                <a:cs typeface="Calibri" pitchFamily="34" charset="-120"/>
              </a:rPr>
              <a:t>Tarea anticipada (antes viernes medianoche)</a:t>
            </a:r>
            <a:endParaRPr lang="en-US" sz="1050" dirty="0"/>
          </a:p>
        </p:txBody>
      </p:sp>
      <p:sp>
        <p:nvSpPr>
          <p:cNvPr id="25" name="Text 23"/>
          <p:cNvSpPr/>
          <p:nvPr/>
        </p:nvSpPr>
        <p:spPr>
          <a:xfrm>
            <a:off x="4846320" y="3182112"/>
            <a:ext cx="2743200" cy="27432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≥20% completado · 25 pts total</a:t>
            </a:r>
            <a:endParaRPr lang="en-US" sz="950" dirty="0"/>
          </a:p>
        </p:txBody>
      </p:sp>
      <p:sp>
        <p:nvSpPr>
          <p:cNvPr id="26" name="Shape 24"/>
          <p:cNvSpPr/>
          <p:nvPr/>
        </p:nvSpPr>
        <p:spPr>
          <a:xfrm>
            <a:off x="7589520" y="2926080"/>
            <a:ext cx="1005840" cy="502920"/>
          </a:xfrm>
          <a:prstGeom prst="rect">
            <a:avLst/>
          </a:prstGeom>
          <a:solidFill>
            <a:srgbClr val="E8A838"/>
          </a:solidFill>
          <a:ln w="12700">
            <a:solidFill>
              <a:srgbClr val="E8A838"/>
            </a:solidFill>
            <a:prstDash val="solid"/>
          </a:ln>
        </p:spPr>
        <p:txBody>
          <a:bodyPr/>
          <a:lstStyle/>
          <a:p>
            <a:endParaRPr lang="es-CO"/>
          </a:p>
        </p:txBody>
      </p:sp>
      <p:sp>
        <p:nvSpPr>
          <p:cNvPr id="27" name="Text 25"/>
          <p:cNvSpPr/>
          <p:nvPr/>
        </p:nvSpPr>
        <p:spPr>
          <a:xfrm>
            <a:off x="7589520" y="2926080"/>
            <a:ext cx="1005840" cy="502920"/>
          </a:xfrm>
          <a:prstGeom prst="rect">
            <a:avLst/>
          </a:prstGeom>
          <a:noFill/>
          <a:ln/>
        </p:spPr>
        <p:txBody>
          <a:bodyPr wrap="square"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5 pts</a:t>
            </a:r>
            <a:endParaRPr lang="en-US" sz="1100" dirty="0"/>
          </a:p>
        </p:txBody>
      </p:sp>
      <p:sp>
        <p:nvSpPr>
          <p:cNvPr id="28" name="Shape 26"/>
          <p:cNvSpPr/>
          <p:nvPr/>
        </p:nvSpPr>
        <p:spPr>
          <a:xfrm>
            <a:off x="4754880" y="3657600"/>
            <a:ext cx="3931920" cy="685800"/>
          </a:xfrm>
          <a:prstGeom prst="rect">
            <a:avLst/>
          </a:prstGeom>
          <a:solidFill>
            <a:srgbClr val="F0F4F8"/>
          </a:solidFill>
          <a:ln w="12700">
            <a:solidFill>
              <a:srgbClr val="E2E8F0"/>
            </a:solidFill>
            <a:prstDash val="solid"/>
          </a:ln>
        </p:spPr>
        <p:txBody>
          <a:bodyPr/>
          <a:lstStyle/>
          <a:p>
            <a:endParaRPr lang="es-CO"/>
          </a:p>
        </p:txBody>
      </p:sp>
      <p:sp>
        <p:nvSpPr>
          <p:cNvPr id="29" name="Text 27"/>
          <p:cNvSpPr/>
          <p:nvPr/>
        </p:nvSpPr>
        <p:spPr>
          <a:xfrm>
            <a:off x="4846320" y="3694176"/>
            <a:ext cx="2743200" cy="320040"/>
          </a:xfrm>
          <a:prstGeom prst="rect">
            <a:avLst/>
          </a:prstGeom>
          <a:noFill/>
          <a:ln/>
        </p:spPr>
        <p:txBody>
          <a:bodyPr wrap="square" rtlCol="0" anchor="ctr"/>
          <a:lstStyle/>
          <a:p>
            <a:pPr marL="0" indent="0">
              <a:buNone/>
            </a:pPr>
            <a:r>
              <a:rPr lang="en-US" sz="1050" b="1" dirty="0">
                <a:solidFill>
                  <a:srgbClr val="1A3A5C"/>
                </a:solidFill>
                <a:latin typeface="Calibri" pitchFamily="34" charset="0"/>
                <a:ea typeface="Calibri" pitchFamily="34" charset="-122"/>
                <a:cs typeface="Calibri" pitchFamily="34" charset="-120"/>
              </a:rPr>
              <a:t>Participación activa en sesiones</a:t>
            </a:r>
            <a:endParaRPr lang="en-US" sz="1050" dirty="0"/>
          </a:p>
        </p:txBody>
      </p:sp>
      <p:sp>
        <p:nvSpPr>
          <p:cNvPr id="30" name="Text 28"/>
          <p:cNvSpPr/>
          <p:nvPr/>
        </p:nvSpPr>
        <p:spPr>
          <a:xfrm>
            <a:off x="4846320" y="4005072"/>
            <a:ext cx="2743200" cy="27432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Calidad e interacción</a:t>
            </a:r>
            <a:endParaRPr lang="en-US" sz="950" dirty="0"/>
          </a:p>
        </p:txBody>
      </p:sp>
      <p:sp>
        <p:nvSpPr>
          <p:cNvPr id="31" name="Shape 29"/>
          <p:cNvSpPr/>
          <p:nvPr/>
        </p:nvSpPr>
        <p:spPr>
          <a:xfrm>
            <a:off x="7589520" y="3749040"/>
            <a:ext cx="1005840" cy="502920"/>
          </a:xfrm>
          <a:prstGeom prst="rect">
            <a:avLst/>
          </a:prstGeom>
          <a:solidFill>
            <a:srgbClr val="E8A838"/>
          </a:solidFill>
          <a:ln w="12700">
            <a:solidFill>
              <a:srgbClr val="E8A838"/>
            </a:solidFill>
            <a:prstDash val="solid"/>
          </a:ln>
        </p:spPr>
        <p:txBody>
          <a:bodyPr/>
          <a:lstStyle/>
          <a:p>
            <a:endParaRPr lang="es-CO"/>
          </a:p>
        </p:txBody>
      </p:sp>
      <p:sp>
        <p:nvSpPr>
          <p:cNvPr id="32" name="Text 30"/>
          <p:cNvSpPr/>
          <p:nvPr/>
        </p:nvSpPr>
        <p:spPr>
          <a:xfrm>
            <a:off x="7589520" y="3749040"/>
            <a:ext cx="1005840" cy="502920"/>
          </a:xfrm>
          <a:prstGeom prst="rect">
            <a:avLst/>
          </a:prstGeom>
          <a:noFill/>
          <a:ln/>
        </p:spPr>
        <p:txBody>
          <a:bodyPr wrap="square"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≤25 pts</a:t>
            </a:r>
            <a:endParaRPr lang="en-US" sz="1100" dirty="0"/>
          </a:p>
        </p:txBody>
      </p:sp>
      <p:sp>
        <p:nvSpPr>
          <p:cNvPr id="33" name="Shape 31"/>
          <p:cNvSpPr/>
          <p:nvPr/>
        </p:nvSpPr>
        <p:spPr>
          <a:xfrm>
            <a:off x="4663440" y="4480560"/>
            <a:ext cx="4114800" cy="384048"/>
          </a:xfrm>
          <a:prstGeom prst="rect">
            <a:avLst/>
          </a:prstGeom>
          <a:solidFill>
            <a:srgbClr val="27AE60"/>
          </a:solidFill>
          <a:ln w="12700">
            <a:solidFill>
              <a:srgbClr val="27AE60"/>
            </a:solidFill>
            <a:prstDash val="solid"/>
          </a:ln>
        </p:spPr>
        <p:txBody>
          <a:bodyPr/>
          <a:lstStyle/>
          <a:p>
            <a:endParaRPr lang="es-CO"/>
          </a:p>
        </p:txBody>
      </p:sp>
      <p:sp>
        <p:nvSpPr>
          <p:cNvPr id="34" name="Text 32"/>
          <p:cNvSpPr/>
          <p:nvPr/>
        </p:nvSpPr>
        <p:spPr>
          <a:xfrm>
            <a:off x="4663440" y="4480560"/>
            <a:ext cx="41148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50 puntos o más = Nota 5.0</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ESTRUCTURA DEL CURSO — 4 Sesiones · 8 Horas</a:t>
            </a:r>
            <a:endParaRPr lang="en-US" sz="2000" dirty="0"/>
          </a:p>
        </p:txBody>
      </p:sp>
      <p:sp>
        <p:nvSpPr>
          <p:cNvPr id="4" name="Shape 2"/>
          <p:cNvSpPr/>
          <p:nvPr/>
        </p:nvSpPr>
        <p:spPr>
          <a:xfrm>
            <a:off x="274320" y="1069848"/>
            <a:ext cx="621792" cy="621792"/>
          </a:xfrm>
          <a:prstGeom prst="ellipse">
            <a:avLst/>
          </a:prstGeom>
          <a:solidFill>
            <a:srgbClr val="0D7377"/>
          </a:solidFill>
          <a:ln w="12700">
            <a:solidFill>
              <a:srgbClr val="0D7377"/>
            </a:solidFill>
            <a:prstDash val="solid"/>
          </a:ln>
        </p:spPr>
        <p:txBody>
          <a:bodyPr/>
          <a:lstStyle/>
          <a:p>
            <a:endParaRPr lang="es-CO"/>
          </a:p>
        </p:txBody>
      </p:sp>
      <p:sp>
        <p:nvSpPr>
          <p:cNvPr id="5" name="Text 3"/>
          <p:cNvSpPr/>
          <p:nvPr/>
        </p:nvSpPr>
        <p:spPr>
          <a:xfrm>
            <a:off x="274320" y="1069848"/>
            <a:ext cx="621792"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Shape 4"/>
          <p:cNvSpPr/>
          <p:nvPr/>
        </p:nvSpPr>
        <p:spPr>
          <a:xfrm>
            <a:off x="1005840" y="1005840"/>
            <a:ext cx="7772400" cy="8046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7" name="Shape 5"/>
          <p:cNvSpPr/>
          <p:nvPr/>
        </p:nvSpPr>
        <p:spPr>
          <a:xfrm>
            <a:off x="7955280" y="1069848"/>
            <a:ext cx="777240" cy="384048"/>
          </a:xfrm>
          <a:prstGeom prst="rect">
            <a:avLst/>
          </a:prstGeom>
          <a:solidFill>
            <a:srgbClr val="E8A838"/>
          </a:solidFill>
          <a:ln w="12700">
            <a:solidFill>
              <a:srgbClr val="E8A838"/>
            </a:solidFill>
            <a:prstDash val="solid"/>
          </a:ln>
        </p:spPr>
        <p:txBody>
          <a:bodyPr/>
          <a:lstStyle/>
          <a:p>
            <a:endParaRPr lang="es-CO"/>
          </a:p>
        </p:txBody>
      </p:sp>
      <p:sp>
        <p:nvSpPr>
          <p:cNvPr id="8" name="Text 6"/>
          <p:cNvSpPr/>
          <p:nvPr/>
        </p:nvSpPr>
        <p:spPr>
          <a:xfrm>
            <a:off x="7955280" y="1069848"/>
            <a:ext cx="777240" cy="384048"/>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 hrs</a:t>
            </a:r>
            <a:endParaRPr lang="en-US" sz="1000" dirty="0"/>
          </a:p>
        </p:txBody>
      </p:sp>
      <p:sp>
        <p:nvSpPr>
          <p:cNvPr id="9" name="Text 7"/>
          <p:cNvSpPr/>
          <p:nvPr/>
        </p:nvSpPr>
        <p:spPr>
          <a:xfrm>
            <a:off x="1097280" y="1033272"/>
            <a:ext cx="6766560" cy="365760"/>
          </a:xfrm>
          <a:prstGeom prst="rect">
            <a:avLst/>
          </a:prstGeom>
          <a:noFill/>
          <a:ln/>
        </p:spPr>
        <p:txBody>
          <a:bodyPr wrap="square" lIns="0" tIns="0" rIns="0" bIns="0"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Fundamentos + </a:t>
            </a:r>
            <a:r>
              <a:rPr lang="en-US" sz="1300" b="1" dirty="0" err="1">
                <a:solidFill>
                  <a:srgbClr val="1A3A5C"/>
                </a:solidFill>
                <a:latin typeface="Calibri" pitchFamily="34" charset="0"/>
                <a:ea typeface="Calibri" pitchFamily="34" charset="-122"/>
                <a:cs typeface="Calibri" pitchFamily="34" charset="-120"/>
              </a:rPr>
              <a:t>Regresión</a:t>
            </a:r>
            <a:r>
              <a:rPr lang="en-US" sz="1300" b="1" dirty="0">
                <a:solidFill>
                  <a:srgbClr val="1A3A5C"/>
                </a:solidFill>
                <a:latin typeface="Calibri" pitchFamily="34" charset="0"/>
                <a:ea typeface="Calibri" pitchFamily="34" charset="-122"/>
                <a:cs typeface="Calibri" pitchFamily="34" charset="-120"/>
              </a:rPr>
              <a:t> Lineal</a:t>
            </a:r>
            <a:endParaRPr lang="en-US" sz="1300" dirty="0"/>
          </a:p>
        </p:txBody>
      </p:sp>
      <p:sp>
        <p:nvSpPr>
          <p:cNvPr id="10" name="Text 8"/>
          <p:cNvSpPr/>
          <p:nvPr/>
        </p:nvSpPr>
        <p:spPr>
          <a:xfrm>
            <a:off x="1097280" y="1399032"/>
            <a:ext cx="676656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CRISP-DM · Regresión simple · Estadística descriptiva · pandas/statsmodels · EDA</a:t>
            </a:r>
            <a:endParaRPr lang="en-US" sz="1000" dirty="0"/>
          </a:p>
        </p:txBody>
      </p:sp>
      <p:sp>
        <p:nvSpPr>
          <p:cNvPr id="11" name="Shape 9"/>
          <p:cNvSpPr/>
          <p:nvPr/>
        </p:nvSpPr>
        <p:spPr>
          <a:xfrm>
            <a:off x="274320" y="2057400"/>
            <a:ext cx="621792" cy="621792"/>
          </a:xfrm>
          <a:prstGeom prst="ellipse">
            <a:avLst/>
          </a:prstGeom>
          <a:solidFill>
            <a:srgbClr val="0D7377"/>
          </a:solidFill>
          <a:ln w="12700">
            <a:solidFill>
              <a:srgbClr val="0D7377"/>
            </a:solidFill>
            <a:prstDash val="solid"/>
          </a:ln>
        </p:spPr>
        <p:txBody>
          <a:bodyPr/>
          <a:lstStyle/>
          <a:p>
            <a:endParaRPr lang="es-CO"/>
          </a:p>
        </p:txBody>
      </p:sp>
      <p:sp>
        <p:nvSpPr>
          <p:cNvPr id="12" name="Text 10"/>
          <p:cNvSpPr/>
          <p:nvPr/>
        </p:nvSpPr>
        <p:spPr>
          <a:xfrm>
            <a:off x="274320" y="2057400"/>
            <a:ext cx="621792"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Shape 11"/>
          <p:cNvSpPr/>
          <p:nvPr/>
        </p:nvSpPr>
        <p:spPr>
          <a:xfrm>
            <a:off x="1005840" y="1993392"/>
            <a:ext cx="7772400" cy="8046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4" name="Shape 12"/>
          <p:cNvSpPr/>
          <p:nvPr/>
        </p:nvSpPr>
        <p:spPr>
          <a:xfrm>
            <a:off x="7955280" y="2057400"/>
            <a:ext cx="777240" cy="384048"/>
          </a:xfrm>
          <a:prstGeom prst="rect">
            <a:avLst/>
          </a:prstGeom>
          <a:solidFill>
            <a:srgbClr val="E8A838"/>
          </a:solidFill>
          <a:ln w="12700">
            <a:solidFill>
              <a:srgbClr val="E8A838"/>
            </a:solidFill>
            <a:prstDash val="solid"/>
          </a:ln>
        </p:spPr>
        <p:txBody>
          <a:bodyPr/>
          <a:lstStyle/>
          <a:p>
            <a:endParaRPr lang="es-CO"/>
          </a:p>
        </p:txBody>
      </p:sp>
      <p:sp>
        <p:nvSpPr>
          <p:cNvPr id="15" name="Text 13"/>
          <p:cNvSpPr/>
          <p:nvPr/>
        </p:nvSpPr>
        <p:spPr>
          <a:xfrm>
            <a:off x="7955280" y="2057400"/>
            <a:ext cx="777240" cy="384048"/>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 hrs</a:t>
            </a:r>
            <a:endParaRPr lang="en-US" sz="1000" dirty="0"/>
          </a:p>
        </p:txBody>
      </p:sp>
      <p:sp>
        <p:nvSpPr>
          <p:cNvPr id="16" name="Text 14"/>
          <p:cNvSpPr/>
          <p:nvPr/>
        </p:nvSpPr>
        <p:spPr>
          <a:xfrm>
            <a:off x="1097280" y="2020824"/>
            <a:ext cx="6766560" cy="365760"/>
          </a:xfrm>
          <a:prstGeom prst="rect">
            <a:avLst/>
          </a:prstGeom>
          <a:noFill/>
          <a:ln/>
        </p:spPr>
        <p:txBody>
          <a:bodyPr wrap="square" lIns="0" tIns="0" rIns="0" bIns="0" rtlCol="0" anchor="ctr"/>
          <a:lstStyle/>
          <a:p>
            <a:pPr marL="0" indent="0">
              <a:buNone/>
            </a:pPr>
            <a:r>
              <a:rPr lang="en-US" sz="1300" b="1" dirty="0" err="1">
                <a:solidFill>
                  <a:srgbClr val="1A3A5C"/>
                </a:solidFill>
                <a:latin typeface="Calibri" pitchFamily="34" charset="0"/>
                <a:ea typeface="Calibri" pitchFamily="34" charset="-122"/>
                <a:cs typeface="Calibri" pitchFamily="34" charset="-120"/>
              </a:rPr>
              <a:t>Regresión</a:t>
            </a:r>
            <a:r>
              <a:rPr lang="en-US" sz="1300" b="1" dirty="0">
                <a:solidFill>
                  <a:srgbClr val="1A3A5C"/>
                </a:solidFill>
                <a:latin typeface="Calibri" pitchFamily="34" charset="0"/>
                <a:ea typeface="Calibri" pitchFamily="34" charset="-122"/>
                <a:cs typeface="Calibri" pitchFamily="34" charset="-120"/>
              </a:rPr>
              <a:t> </a:t>
            </a:r>
            <a:r>
              <a:rPr lang="en-US" sz="1300" b="1" dirty="0" err="1">
                <a:solidFill>
                  <a:srgbClr val="1A3A5C"/>
                </a:solidFill>
                <a:latin typeface="Calibri" pitchFamily="34" charset="0"/>
                <a:ea typeface="Calibri" pitchFamily="34" charset="-122"/>
                <a:cs typeface="Calibri" pitchFamily="34" charset="-120"/>
              </a:rPr>
              <a:t>Múltiple</a:t>
            </a:r>
            <a:endParaRPr lang="en-US" sz="1300" dirty="0"/>
          </a:p>
        </p:txBody>
      </p:sp>
      <p:sp>
        <p:nvSpPr>
          <p:cNvPr id="17" name="Text 15"/>
          <p:cNvSpPr/>
          <p:nvPr/>
        </p:nvSpPr>
        <p:spPr>
          <a:xfrm>
            <a:off x="1097280" y="2386584"/>
            <a:ext cx="676656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Múltiples variables · Correlaciones · Outliers · sklearn · Interpretación coeficientes</a:t>
            </a:r>
            <a:endParaRPr lang="en-US" sz="1000" dirty="0"/>
          </a:p>
        </p:txBody>
      </p:sp>
      <p:sp>
        <p:nvSpPr>
          <p:cNvPr id="18" name="Shape 16"/>
          <p:cNvSpPr/>
          <p:nvPr/>
        </p:nvSpPr>
        <p:spPr>
          <a:xfrm>
            <a:off x="274320" y="3044952"/>
            <a:ext cx="621792" cy="621792"/>
          </a:xfrm>
          <a:prstGeom prst="ellipse">
            <a:avLst/>
          </a:prstGeom>
          <a:solidFill>
            <a:srgbClr val="0D7377"/>
          </a:solidFill>
          <a:ln w="12700">
            <a:solidFill>
              <a:srgbClr val="0D7377"/>
            </a:solidFill>
            <a:prstDash val="solid"/>
          </a:ln>
        </p:spPr>
        <p:txBody>
          <a:bodyPr/>
          <a:lstStyle/>
          <a:p>
            <a:endParaRPr lang="es-CO"/>
          </a:p>
        </p:txBody>
      </p:sp>
      <p:sp>
        <p:nvSpPr>
          <p:cNvPr id="19" name="Text 17"/>
          <p:cNvSpPr/>
          <p:nvPr/>
        </p:nvSpPr>
        <p:spPr>
          <a:xfrm>
            <a:off x="274320" y="3044952"/>
            <a:ext cx="621792"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0" name="Shape 18"/>
          <p:cNvSpPr/>
          <p:nvPr/>
        </p:nvSpPr>
        <p:spPr>
          <a:xfrm>
            <a:off x="1005840" y="2980944"/>
            <a:ext cx="7772400" cy="8046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1" name="Shape 19"/>
          <p:cNvSpPr/>
          <p:nvPr/>
        </p:nvSpPr>
        <p:spPr>
          <a:xfrm>
            <a:off x="7955280" y="3044952"/>
            <a:ext cx="777240" cy="384048"/>
          </a:xfrm>
          <a:prstGeom prst="rect">
            <a:avLst/>
          </a:prstGeom>
          <a:solidFill>
            <a:srgbClr val="E8A838"/>
          </a:solidFill>
          <a:ln w="12700">
            <a:solidFill>
              <a:srgbClr val="E8A838"/>
            </a:solidFill>
            <a:prstDash val="solid"/>
          </a:ln>
        </p:spPr>
        <p:txBody>
          <a:bodyPr/>
          <a:lstStyle/>
          <a:p>
            <a:endParaRPr lang="es-CO"/>
          </a:p>
        </p:txBody>
      </p:sp>
      <p:sp>
        <p:nvSpPr>
          <p:cNvPr id="22" name="Text 20"/>
          <p:cNvSpPr/>
          <p:nvPr/>
        </p:nvSpPr>
        <p:spPr>
          <a:xfrm>
            <a:off x="7955280" y="3044952"/>
            <a:ext cx="777240" cy="384048"/>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 hrs</a:t>
            </a:r>
            <a:endParaRPr lang="en-US" sz="1000" dirty="0"/>
          </a:p>
        </p:txBody>
      </p:sp>
      <p:sp>
        <p:nvSpPr>
          <p:cNvPr id="23" name="Text 21"/>
          <p:cNvSpPr/>
          <p:nvPr/>
        </p:nvSpPr>
        <p:spPr>
          <a:xfrm>
            <a:off x="1097280" y="3008376"/>
            <a:ext cx="6766560" cy="365760"/>
          </a:xfrm>
          <a:prstGeom prst="rect">
            <a:avLst/>
          </a:prstGeom>
          <a:noFill/>
          <a:ln/>
        </p:spPr>
        <p:txBody>
          <a:bodyPr wrap="square" lIns="0" tIns="0" rIns="0" bIns="0" rtlCol="0" anchor="ctr"/>
          <a:lstStyle/>
          <a:p>
            <a:pPr marL="0" indent="0">
              <a:buNone/>
            </a:pPr>
            <a:r>
              <a:rPr lang="en-US" sz="1300" b="1" dirty="0" err="1">
                <a:solidFill>
                  <a:srgbClr val="1A3A5C"/>
                </a:solidFill>
                <a:latin typeface="Calibri" pitchFamily="34" charset="0"/>
                <a:ea typeface="Calibri" pitchFamily="34" charset="-122"/>
                <a:cs typeface="Calibri" pitchFamily="34" charset="-120"/>
              </a:rPr>
              <a:t>Interpretación</a:t>
            </a:r>
            <a:r>
              <a:rPr lang="en-US" sz="1300" b="1" dirty="0">
                <a:solidFill>
                  <a:srgbClr val="1A3A5C"/>
                </a:solidFill>
                <a:latin typeface="Calibri" pitchFamily="34" charset="0"/>
                <a:ea typeface="Calibri" pitchFamily="34" charset="-122"/>
                <a:cs typeface="Calibri" pitchFamily="34" charset="-120"/>
              </a:rPr>
              <a:t> Prudente</a:t>
            </a:r>
            <a:endParaRPr lang="en-US" sz="1300" dirty="0"/>
          </a:p>
        </p:txBody>
      </p:sp>
      <p:sp>
        <p:nvSpPr>
          <p:cNvPr id="24" name="Text 22"/>
          <p:cNvSpPr/>
          <p:nvPr/>
        </p:nvSpPr>
        <p:spPr>
          <a:xfrm>
            <a:off x="1097280" y="3374136"/>
            <a:ext cx="676656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Significancia · Supuestos MCO · Aprendizaje computacional · Casos ciencias sociales</a:t>
            </a:r>
            <a:endParaRPr lang="en-US" sz="1000" dirty="0"/>
          </a:p>
        </p:txBody>
      </p:sp>
      <p:sp>
        <p:nvSpPr>
          <p:cNvPr id="25" name="Shape 23"/>
          <p:cNvSpPr/>
          <p:nvPr/>
        </p:nvSpPr>
        <p:spPr>
          <a:xfrm>
            <a:off x="274320" y="4032504"/>
            <a:ext cx="621792" cy="621792"/>
          </a:xfrm>
          <a:prstGeom prst="ellipse">
            <a:avLst/>
          </a:prstGeom>
          <a:solidFill>
            <a:srgbClr val="0D7377"/>
          </a:solidFill>
          <a:ln w="12700">
            <a:solidFill>
              <a:srgbClr val="0D7377"/>
            </a:solidFill>
            <a:prstDash val="solid"/>
          </a:ln>
        </p:spPr>
        <p:txBody>
          <a:bodyPr/>
          <a:lstStyle/>
          <a:p>
            <a:endParaRPr lang="es-CO"/>
          </a:p>
        </p:txBody>
      </p:sp>
      <p:sp>
        <p:nvSpPr>
          <p:cNvPr id="26" name="Text 24"/>
          <p:cNvSpPr/>
          <p:nvPr/>
        </p:nvSpPr>
        <p:spPr>
          <a:xfrm>
            <a:off x="274320" y="4032504"/>
            <a:ext cx="621792"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hape 25"/>
          <p:cNvSpPr/>
          <p:nvPr/>
        </p:nvSpPr>
        <p:spPr>
          <a:xfrm>
            <a:off x="1005840" y="3968496"/>
            <a:ext cx="7772400" cy="8046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8" name="Shape 26"/>
          <p:cNvSpPr/>
          <p:nvPr/>
        </p:nvSpPr>
        <p:spPr>
          <a:xfrm>
            <a:off x="7955280" y="4032504"/>
            <a:ext cx="777240" cy="384048"/>
          </a:xfrm>
          <a:prstGeom prst="rect">
            <a:avLst/>
          </a:prstGeom>
          <a:solidFill>
            <a:srgbClr val="E8A838"/>
          </a:solidFill>
          <a:ln w="12700">
            <a:solidFill>
              <a:srgbClr val="E8A838"/>
            </a:solidFill>
            <a:prstDash val="solid"/>
          </a:ln>
        </p:spPr>
        <p:txBody>
          <a:bodyPr/>
          <a:lstStyle/>
          <a:p>
            <a:endParaRPr lang="es-CO"/>
          </a:p>
        </p:txBody>
      </p:sp>
      <p:sp>
        <p:nvSpPr>
          <p:cNvPr id="29" name="Text 27"/>
          <p:cNvSpPr/>
          <p:nvPr/>
        </p:nvSpPr>
        <p:spPr>
          <a:xfrm>
            <a:off x="7955280" y="4032504"/>
            <a:ext cx="777240" cy="384048"/>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 hrs</a:t>
            </a:r>
            <a:endParaRPr lang="en-US" sz="1000" dirty="0"/>
          </a:p>
        </p:txBody>
      </p:sp>
      <p:sp>
        <p:nvSpPr>
          <p:cNvPr id="30" name="Text 28"/>
          <p:cNvSpPr/>
          <p:nvPr/>
        </p:nvSpPr>
        <p:spPr>
          <a:xfrm>
            <a:off x="1097280" y="3995928"/>
            <a:ext cx="6766560" cy="365760"/>
          </a:xfrm>
          <a:prstGeom prst="rect">
            <a:avLst/>
          </a:prstGeom>
          <a:noFill/>
          <a:ln/>
        </p:spPr>
        <p:txBody>
          <a:bodyPr wrap="square" lIns="0" tIns="0" rIns="0" bIns="0"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Proyecto Integrador</a:t>
            </a:r>
            <a:endParaRPr lang="en-US" sz="1300" dirty="0"/>
          </a:p>
        </p:txBody>
      </p:sp>
      <p:sp>
        <p:nvSpPr>
          <p:cNvPr id="31" name="Text 29"/>
          <p:cNvSpPr/>
          <p:nvPr/>
        </p:nvSpPr>
        <p:spPr>
          <a:xfrm>
            <a:off x="1097280" y="4361688"/>
            <a:ext cx="676656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Pregunta real · Dataset completo · Reporte en Jupyter · Presentación de resultados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3776AB"/>
          </a:solidFill>
          <a:ln w="12700">
            <a:solidFill>
              <a:srgbClr val="3776AB"/>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¿POR QUÉ MODELOS PREDICTIVOS PARA PROFESORES DE CIENCIAS SOCIALES, ECONOMÍA Y ADMINISTRACIÓN?</a:t>
            </a:r>
            <a:endParaRPr lang="en-US" sz="2000" dirty="0"/>
          </a:p>
        </p:txBody>
      </p:sp>
      <p:sp>
        <p:nvSpPr>
          <p:cNvPr id="4" name="Shape 2"/>
          <p:cNvSpPr/>
          <p:nvPr/>
        </p:nvSpPr>
        <p:spPr>
          <a:xfrm>
            <a:off x="274320" y="1005840"/>
            <a:ext cx="411480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5" name="Shape 3"/>
          <p:cNvSpPr/>
          <p:nvPr/>
        </p:nvSpPr>
        <p:spPr>
          <a:xfrm>
            <a:off x="274320" y="1005840"/>
            <a:ext cx="4114800" cy="438912"/>
          </a:xfrm>
          <a:prstGeom prst="rect">
            <a:avLst/>
          </a:prstGeom>
          <a:solidFill>
            <a:srgbClr val="0D7377"/>
          </a:solidFill>
          <a:ln w="12700">
            <a:solidFill>
              <a:srgbClr val="0D7377"/>
            </a:solidFill>
            <a:prstDash val="solid"/>
          </a:ln>
        </p:spPr>
        <p:txBody>
          <a:bodyPr/>
          <a:lstStyle/>
          <a:p>
            <a:endParaRPr lang="es-CO"/>
          </a:p>
        </p:txBody>
      </p:sp>
      <p:sp>
        <p:nvSpPr>
          <p:cNvPr id="6" name="Text 4"/>
          <p:cNvSpPr/>
          <p:nvPr/>
        </p:nvSpPr>
        <p:spPr>
          <a:xfrm>
            <a:off x="365760" y="1005840"/>
            <a:ext cx="393192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Ciencias Sociales</a:t>
            </a:r>
            <a:endParaRPr lang="en-US" sz="1300" dirty="0"/>
          </a:p>
        </p:txBody>
      </p:sp>
      <p:sp>
        <p:nvSpPr>
          <p:cNvPr id="7" name="Text 5"/>
          <p:cNvSpPr/>
          <p:nvPr/>
        </p:nvSpPr>
        <p:spPr>
          <a:xfrm>
            <a:off x="411480" y="149961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Identificar factores asociados a pobreza, crimen o participación política</a:t>
            </a:r>
            <a:endParaRPr lang="en-US" sz="1050" dirty="0"/>
          </a:p>
        </p:txBody>
      </p:sp>
      <p:sp>
        <p:nvSpPr>
          <p:cNvPr id="8" name="Text 6"/>
          <p:cNvSpPr/>
          <p:nvPr/>
        </p:nvSpPr>
        <p:spPr>
          <a:xfrm>
            <a:off x="411480" y="191109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Cuantificar el efecto de políticas públicas sobre indicadores sociales</a:t>
            </a:r>
            <a:endParaRPr lang="en-US" sz="1050" dirty="0"/>
          </a:p>
        </p:txBody>
      </p:sp>
      <p:sp>
        <p:nvSpPr>
          <p:cNvPr id="9" name="Text 7"/>
          <p:cNvSpPr/>
          <p:nvPr/>
        </p:nvSpPr>
        <p:spPr>
          <a:xfrm>
            <a:off x="411480" y="232257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Superar el análisis meramente descriptivo de encuestas DANE/ICFES</a:t>
            </a:r>
            <a:endParaRPr lang="en-US" sz="1050" dirty="0"/>
          </a:p>
        </p:txBody>
      </p:sp>
      <p:sp>
        <p:nvSpPr>
          <p:cNvPr id="10" name="Shape 8"/>
          <p:cNvSpPr/>
          <p:nvPr/>
        </p:nvSpPr>
        <p:spPr>
          <a:xfrm>
            <a:off x="4709160" y="1005840"/>
            <a:ext cx="411480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1" name="Shape 9"/>
          <p:cNvSpPr/>
          <p:nvPr/>
        </p:nvSpPr>
        <p:spPr>
          <a:xfrm>
            <a:off x="4709160" y="1005840"/>
            <a:ext cx="4114800" cy="438912"/>
          </a:xfrm>
          <a:prstGeom prst="rect">
            <a:avLst/>
          </a:prstGeom>
          <a:solidFill>
            <a:srgbClr val="3776AB"/>
          </a:solidFill>
          <a:ln w="12700">
            <a:solidFill>
              <a:srgbClr val="3776AB"/>
            </a:solidFill>
            <a:prstDash val="solid"/>
          </a:ln>
        </p:spPr>
        <p:txBody>
          <a:bodyPr/>
          <a:lstStyle/>
          <a:p>
            <a:endParaRPr lang="es-CO"/>
          </a:p>
        </p:txBody>
      </p:sp>
      <p:sp>
        <p:nvSpPr>
          <p:cNvPr id="12" name="Text 10"/>
          <p:cNvSpPr/>
          <p:nvPr/>
        </p:nvSpPr>
        <p:spPr>
          <a:xfrm>
            <a:off x="4800600" y="1005840"/>
            <a:ext cx="393192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Economía</a:t>
            </a:r>
            <a:endParaRPr lang="en-US" sz="1300" dirty="0"/>
          </a:p>
        </p:txBody>
      </p:sp>
      <p:sp>
        <p:nvSpPr>
          <p:cNvPr id="13" name="Text 11"/>
          <p:cNvSpPr/>
          <p:nvPr/>
        </p:nvSpPr>
        <p:spPr>
          <a:xfrm>
            <a:off x="4846320" y="149961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Estimar funciones de demanda, oferta y producción con datos reales</a:t>
            </a:r>
            <a:endParaRPr lang="en-US" sz="1050" dirty="0"/>
          </a:p>
        </p:txBody>
      </p:sp>
      <p:sp>
        <p:nvSpPr>
          <p:cNvPr id="14" name="Text 12"/>
          <p:cNvSpPr/>
          <p:nvPr/>
        </p:nvSpPr>
        <p:spPr>
          <a:xfrm>
            <a:off x="4846320" y="191109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Analizar determinantes de variables macroeconómicas (inflación, PIB)</a:t>
            </a:r>
            <a:endParaRPr lang="en-US" sz="1050" dirty="0"/>
          </a:p>
        </p:txBody>
      </p:sp>
      <p:sp>
        <p:nvSpPr>
          <p:cNvPr id="15" name="Text 13"/>
          <p:cNvSpPr/>
          <p:nvPr/>
        </p:nvSpPr>
        <p:spPr>
          <a:xfrm>
            <a:off x="4846320" y="232257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Evaluar impacto de variables de política con evidencia cuantitativa</a:t>
            </a:r>
            <a:endParaRPr lang="en-US" sz="1050" dirty="0"/>
          </a:p>
        </p:txBody>
      </p:sp>
      <p:sp>
        <p:nvSpPr>
          <p:cNvPr id="16" name="Shape 14"/>
          <p:cNvSpPr/>
          <p:nvPr/>
        </p:nvSpPr>
        <p:spPr>
          <a:xfrm>
            <a:off x="274320" y="2971800"/>
            <a:ext cx="411480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7" name="Shape 15"/>
          <p:cNvSpPr/>
          <p:nvPr/>
        </p:nvSpPr>
        <p:spPr>
          <a:xfrm>
            <a:off x="274320" y="2971800"/>
            <a:ext cx="4114800" cy="438912"/>
          </a:xfrm>
          <a:prstGeom prst="rect">
            <a:avLst/>
          </a:prstGeom>
          <a:solidFill>
            <a:srgbClr val="8E44AD"/>
          </a:solidFill>
          <a:ln w="12700">
            <a:solidFill>
              <a:srgbClr val="8E44AD"/>
            </a:solidFill>
            <a:prstDash val="solid"/>
          </a:ln>
        </p:spPr>
        <p:txBody>
          <a:bodyPr/>
          <a:lstStyle/>
          <a:p>
            <a:endParaRPr lang="es-CO"/>
          </a:p>
        </p:txBody>
      </p:sp>
      <p:sp>
        <p:nvSpPr>
          <p:cNvPr id="18" name="Text 16"/>
          <p:cNvSpPr/>
          <p:nvPr/>
        </p:nvSpPr>
        <p:spPr>
          <a:xfrm>
            <a:off x="365760" y="2971800"/>
            <a:ext cx="393192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Administración</a:t>
            </a:r>
            <a:endParaRPr lang="en-US" sz="1300" dirty="0"/>
          </a:p>
        </p:txBody>
      </p:sp>
      <p:sp>
        <p:nvSpPr>
          <p:cNvPr id="19" name="Text 17"/>
          <p:cNvSpPr/>
          <p:nvPr/>
        </p:nvSpPr>
        <p:spPr>
          <a:xfrm>
            <a:off x="411480" y="346557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Predecir ventas, deserción de clientes o rentabilidad de proyectos</a:t>
            </a:r>
            <a:endParaRPr lang="en-US" sz="1050" dirty="0"/>
          </a:p>
        </p:txBody>
      </p:sp>
      <p:sp>
        <p:nvSpPr>
          <p:cNvPr id="20" name="Text 18"/>
          <p:cNvSpPr/>
          <p:nvPr/>
        </p:nvSpPr>
        <p:spPr>
          <a:xfrm>
            <a:off x="411480" y="387705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Tomar decisiones basadas en datos (evidence-based management)</a:t>
            </a:r>
            <a:endParaRPr lang="en-US" sz="1050" dirty="0"/>
          </a:p>
        </p:txBody>
      </p:sp>
      <p:sp>
        <p:nvSpPr>
          <p:cNvPr id="21" name="Text 19"/>
          <p:cNvSpPr/>
          <p:nvPr/>
        </p:nvSpPr>
        <p:spPr>
          <a:xfrm>
            <a:off x="411480" y="428853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Identificar variables críticas en el desempeño organizacional</a:t>
            </a:r>
            <a:endParaRPr lang="en-US" sz="1050" dirty="0"/>
          </a:p>
        </p:txBody>
      </p:sp>
      <p:sp>
        <p:nvSpPr>
          <p:cNvPr id="22" name="Shape 20"/>
          <p:cNvSpPr/>
          <p:nvPr/>
        </p:nvSpPr>
        <p:spPr>
          <a:xfrm>
            <a:off x="4709160" y="2971800"/>
            <a:ext cx="411480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3" name="Shape 21"/>
          <p:cNvSpPr/>
          <p:nvPr/>
        </p:nvSpPr>
        <p:spPr>
          <a:xfrm>
            <a:off x="4709160" y="2971800"/>
            <a:ext cx="4114800" cy="438912"/>
          </a:xfrm>
          <a:prstGeom prst="rect">
            <a:avLst/>
          </a:prstGeom>
          <a:solidFill>
            <a:srgbClr val="E67E22"/>
          </a:solidFill>
          <a:ln w="12700">
            <a:solidFill>
              <a:srgbClr val="E67E22"/>
            </a:solidFill>
            <a:prstDash val="solid"/>
          </a:ln>
        </p:spPr>
        <p:txBody>
          <a:bodyPr/>
          <a:lstStyle/>
          <a:p>
            <a:endParaRPr lang="es-CO"/>
          </a:p>
        </p:txBody>
      </p:sp>
      <p:sp>
        <p:nvSpPr>
          <p:cNvPr id="24" name="Text 22"/>
          <p:cNvSpPr/>
          <p:nvPr/>
        </p:nvSpPr>
        <p:spPr>
          <a:xfrm>
            <a:off x="4800600" y="2971800"/>
            <a:ext cx="393192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Con Python — Ventaja adicional</a:t>
            </a:r>
            <a:endParaRPr lang="en-US" sz="1300" dirty="0"/>
          </a:p>
        </p:txBody>
      </p:sp>
      <p:sp>
        <p:nvSpPr>
          <p:cNvPr id="25" name="Text 23"/>
          <p:cNvSpPr/>
          <p:nvPr/>
        </p:nvSpPr>
        <p:spPr>
          <a:xfrm>
            <a:off x="4846320" y="346557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Reproducibilidad: compartir notebooks con colegas y estudiantes</a:t>
            </a:r>
            <a:endParaRPr lang="en-US" sz="1050" dirty="0"/>
          </a:p>
        </p:txBody>
      </p:sp>
      <p:sp>
        <p:nvSpPr>
          <p:cNvPr id="26" name="Text 24"/>
          <p:cNvSpPr/>
          <p:nvPr/>
        </p:nvSpPr>
        <p:spPr>
          <a:xfrm>
            <a:off x="4846320" y="387705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Datos abiertos: DANE, Banco Mundial, Kaggle — análisis en tiempo real</a:t>
            </a:r>
            <a:endParaRPr lang="en-US" sz="1050" dirty="0"/>
          </a:p>
        </p:txBody>
      </p:sp>
      <p:sp>
        <p:nvSpPr>
          <p:cNvPr id="27" name="Text 25"/>
          <p:cNvSpPr/>
          <p:nvPr/>
        </p:nvSpPr>
        <p:spPr>
          <a:xfrm>
            <a:off x="4846320" y="428853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Puente hacia ML avanzado: misma herramienta, mayor profundidad gradual</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3776AB"/>
          </a:solidFill>
          <a:ln w="12700">
            <a:solidFill>
              <a:srgbClr val="3776AB"/>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¿POR QUÉ PYTHON PARA MODELOS PREDICTIVOS?</a:t>
            </a:r>
            <a:endParaRPr lang="en-US" sz="2000" dirty="0"/>
          </a:p>
        </p:txBody>
      </p:sp>
      <p:sp>
        <p:nvSpPr>
          <p:cNvPr id="4" name="Shape 2"/>
          <p:cNvSpPr/>
          <p:nvPr/>
        </p:nvSpPr>
        <p:spPr>
          <a:xfrm>
            <a:off x="274320" y="100584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5" name="Shape 3"/>
          <p:cNvSpPr/>
          <p:nvPr/>
        </p:nvSpPr>
        <p:spPr>
          <a:xfrm>
            <a:off x="274320" y="1005840"/>
            <a:ext cx="4114800" cy="411480"/>
          </a:xfrm>
          <a:prstGeom prst="rect">
            <a:avLst/>
          </a:prstGeom>
          <a:solidFill>
            <a:srgbClr val="3776AB"/>
          </a:solidFill>
          <a:ln w="12700">
            <a:solidFill>
              <a:srgbClr val="3776AB"/>
            </a:solidFill>
            <a:prstDash val="solid"/>
          </a:ln>
        </p:spPr>
        <p:txBody>
          <a:bodyPr/>
          <a:lstStyle/>
          <a:p>
            <a:endParaRPr lang="es-CO"/>
          </a:p>
        </p:txBody>
      </p:sp>
      <p:sp>
        <p:nvSpPr>
          <p:cNvPr id="6" name="Text 4"/>
          <p:cNvSpPr/>
          <p:nvPr/>
        </p:nvSpPr>
        <p:spPr>
          <a:xfrm>
            <a:off x="365760" y="1005840"/>
            <a:ext cx="3931920" cy="411480"/>
          </a:xfrm>
          <a:prstGeom prst="rect">
            <a:avLst/>
          </a:prstGeom>
          <a:noFill/>
          <a:ln/>
        </p:spPr>
        <p:txBody>
          <a:bodyPr wrap="square"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pandas</a:t>
            </a:r>
            <a:endParaRPr lang="en-US" sz="1400" dirty="0"/>
          </a:p>
        </p:txBody>
      </p:sp>
      <p:sp>
        <p:nvSpPr>
          <p:cNvPr id="7" name="Text 5"/>
          <p:cNvSpPr/>
          <p:nvPr/>
        </p:nvSpPr>
        <p:spPr>
          <a:xfrm>
            <a:off x="365760" y="1481328"/>
            <a:ext cx="3931920" cy="47548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Manipulación y limpieza de datos. DataFrames similares a hojas de cálculo.</a:t>
            </a:r>
            <a:endParaRPr lang="en-US" sz="1050" dirty="0"/>
          </a:p>
        </p:txBody>
      </p:sp>
      <p:sp>
        <p:nvSpPr>
          <p:cNvPr id="8" name="Shape 6"/>
          <p:cNvSpPr/>
          <p:nvPr/>
        </p:nvSpPr>
        <p:spPr>
          <a:xfrm>
            <a:off x="365760" y="1993392"/>
            <a:ext cx="3931920" cy="749808"/>
          </a:xfrm>
          <a:prstGeom prst="rect">
            <a:avLst/>
          </a:prstGeom>
          <a:solidFill>
            <a:srgbClr val="1E1E2E"/>
          </a:solidFill>
          <a:ln w="12700">
            <a:solidFill>
              <a:srgbClr val="1E1E2E"/>
            </a:solidFill>
            <a:prstDash val="solid"/>
          </a:ln>
        </p:spPr>
        <p:txBody>
          <a:bodyPr/>
          <a:lstStyle/>
          <a:p>
            <a:endParaRPr lang="es-CO"/>
          </a:p>
        </p:txBody>
      </p:sp>
      <p:sp>
        <p:nvSpPr>
          <p:cNvPr id="9" name="Text 7"/>
          <p:cNvSpPr/>
          <p:nvPr/>
        </p:nvSpPr>
        <p:spPr>
          <a:xfrm>
            <a:off x="457200" y="2011680"/>
            <a:ext cx="3749040" cy="713232"/>
          </a:xfrm>
          <a:prstGeom prst="rect">
            <a:avLst/>
          </a:prstGeom>
          <a:noFill/>
          <a:ln/>
        </p:spPr>
        <p:txBody>
          <a:bodyPr wrap="square" rtlCol="0" anchor="t"/>
          <a:lstStyle/>
          <a:p>
            <a:pPr marL="0" indent="0">
              <a:buNone/>
            </a:pPr>
            <a:r>
              <a:rPr lang="en-US" sz="850" dirty="0">
                <a:solidFill>
                  <a:srgbClr val="FFD43B"/>
                </a:solidFill>
                <a:latin typeface="Consolas" pitchFamily="34" charset="0"/>
                <a:ea typeface="Consolas" pitchFamily="34" charset="-122"/>
                <a:cs typeface="Consolas" pitchFamily="34" charset="-120"/>
              </a:rPr>
              <a:t>import pandas as pd</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df = pd.read_csv('datos.csv')</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df.describe()</a:t>
            </a:r>
            <a:endParaRPr lang="en-US" sz="850" dirty="0"/>
          </a:p>
        </p:txBody>
      </p:sp>
      <p:sp>
        <p:nvSpPr>
          <p:cNvPr id="10" name="Shape 8"/>
          <p:cNvSpPr/>
          <p:nvPr/>
        </p:nvSpPr>
        <p:spPr>
          <a:xfrm>
            <a:off x="4709160" y="100584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1" name="Shape 9"/>
          <p:cNvSpPr/>
          <p:nvPr/>
        </p:nvSpPr>
        <p:spPr>
          <a:xfrm>
            <a:off x="4709160" y="1005840"/>
            <a:ext cx="4114800" cy="411480"/>
          </a:xfrm>
          <a:prstGeom prst="rect">
            <a:avLst/>
          </a:prstGeom>
          <a:solidFill>
            <a:srgbClr val="0D7377"/>
          </a:solidFill>
          <a:ln w="12700">
            <a:solidFill>
              <a:srgbClr val="0D7377"/>
            </a:solidFill>
            <a:prstDash val="solid"/>
          </a:ln>
        </p:spPr>
        <p:txBody>
          <a:bodyPr/>
          <a:lstStyle/>
          <a:p>
            <a:endParaRPr lang="es-CO"/>
          </a:p>
        </p:txBody>
      </p:sp>
      <p:sp>
        <p:nvSpPr>
          <p:cNvPr id="12" name="Text 10"/>
          <p:cNvSpPr/>
          <p:nvPr/>
        </p:nvSpPr>
        <p:spPr>
          <a:xfrm>
            <a:off x="4800600" y="1005840"/>
            <a:ext cx="3931920" cy="411480"/>
          </a:xfrm>
          <a:prstGeom prst="rect">
            <a:avLst/>
          </a:prstGeom>
          <a:noFill/>
          <a:ln/>
        </p:spPr>
        <p:txBody>
          <a:bodyPr wrap="square"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statsmodels</a:t>
            </a:r>
            <a:endParaRPr lang="en-US" sz="1400" dirty="0"/>
          </a:p>
        </p:txBody>
      </p:sp>
      <p:sp>
        <p:nvSpPr>
          <p:cNvPr id="13" name="Text 11"/>
          <p:cNvSpPr/>
          <p:nvPr/>
        </p:nvSpPr>
        <p:spPr>
          <a:xfrm>
            <a:off x="4800600" y="1481328"/>
            <a:ext cx="3931920" cy="47548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Regresión con salida estadística completa: p-valores, IC, R², pruebas.</a:t>
            </a:r>
            <a:endParaRPr lang="en-US" sz="1050" dirty="0"/>
          </a:p>
        </p:txBody>
      </p:sp>
      <p:sp>
        <p:nvSpPr>
          <p:cNvPr id="14" name="Shape 12"/>
          <p:cNvSpPr/>
          <p:nvPr/>
        </p:nvSpPr>
        <p:spPr>
          <a:xfrm>
            <a:off x="4800600" y="1993392"/>
            <a:ext cx="3931920" cy="749808"/>
          </a:xfrm>
          <a:prstGeom prst="rect">
            <a:avLst/>
          </a:prstGeom>
          <a:solidFill>
            <a:srgbClr val="1E1E2E"/>
          </a:solidFill>
          <a:ln w="12700">
            <a:solidFill>
              <a:srgbClr val="1E1E2E"/>
            </a:solidFill>
            <a:prstDash val="solid"/>
          </a:ln>
        </p:spPr>
        <p:txBody>
          <a:bodyPr/>
          <a:lstStyle/>
          <a:p>
            <a:endParaRPr lang="es-CO"/>
          </a:p>
        </p:txBody>
      </p:sp>
      <p:sp>
        <p:nvSpPr>
          <p:cNvPr id="15" name="Text 13"/>
          <p:cNvSpPr/>
          <p:nvPr/>
        </p:nvSpPr>
        <p:spPr>
          <a:xfrm>
            <a:off x="4892040" y="2011680"/>
            <a:ext cx="3749040" cy="713232"/>
          </a:xfrm>
          <a:prstGeom prst="rect">
            <a:avLst/>
          </a:prstGeom>
          <a:noFill/>
          <a:ln/>
        </p:spPr>
        <p:txBody>
          <a:bodyPr wrap="square" rtlCol="0" anchor="t"/>
          <a:lstStyle/>
          <a:p>
            <a:pPr marL="0" indent="0">
              <a:buNone/>
            </a:pPr>
            <a:r>
              <a:rPr lang="en-US" sz="850" dirty="0">
                <a:solidFill>
                  <a:srgbClr val="FFD43B"/>
                </a:solidFill>
                <a:latin typeface="Consolas" pitchFamily="34" charset="0"/>
                <a:ea typeface="Consolas" pitchFamily="34" charset="-122"/>
                <a:cs typeface="Consolas" pitchFamily="34" charset="-120"/>
              </a:rPr>
              <a:t>import statsmodels.api as sm</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model = sm.OLS(y, X).fit()</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print(model.summary())</a:t>
            </a:r>
            <a:endParaRPr lang="en-US" sz="850" dirty="0"/>
          </a:p>
        </p:txBody>
      </p:sp>
      <p:sp>
        <p:nvSpPr>
          <p:cNvPr id="16" name="Shape 14"/>
          <p:cNvSpPr/>
          <p:nvPr/>
        </p:nvSpPr>
        <p:spPr>
          <a:xfrm>
            <a:off x="274320" y="301752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7" name="Shape 15"/>
          <p:cNvSpPr/>
          <p:nvPr/>
        </p:nvSpPr>
        <p:spPr>
          <a:xfrm>
            <a:off x="274320" y="3017520"/>
            <a:ext cx="4114800" cy="411480"/>
          </a:xfrm>
          <a:prstGeom prst="rect">
            <a:avLst/>
          </a:prstGeom>
          <a:solidFill>
            <a:srgbClr val="8E44AD"/>
          </a:solidFill>
          <a:ln w="12700">
            <a:solidFill>
              <a:srgbClr val="8E44AD"/>
            </a:solidFill>
            <a:prstDash val="solid"/>
          </a:ln>
        </p:spPr>
        <p:txBody>
          <a:bodyPr/>
          <a:lstStyle/>
          <a:p>
            <a:endParaRPr lang="es-CO"/>
          </a:p>
        </p:txBody>
      </p:sp>
      <p:sp>
        <p:nvSpPr>
          <p:cNvPr id="18" name="Text 16"/>
          <p:cNvSpPr/>
          <p:nvPr/>
        </p:nvSpPr>
        <p:spPr>
          <a:xfrm>
            <a:off x="365760" y="3017520"/>
            <a:ext cx="3931920" cy="411480"/>
          </a:xfrm>
          <a:prstGeom prst="rect">
            <a:avLst/>
          </a:prstGeom>
          <a:noFill/>
          <a:ln/>
        </p:spPr>
        <p:txBody>
          <a:bodyPr wrap="square"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scikit-learn</a:t>
            </a:r>
            <a:endParaRPr lang="en-US" sz="1400" dirty="0"/>
          </a:p>
        </p:txBody>
      </p:sp>
      <p:sp>
        <p:nvSpPr>
          <p:cNvPr id="19" name="Text 17"/>
          <p:cNvSpPr/>
          <p:nvPr/>
        </p:nvSpPr>
        <p:spPr>
          <a:xfrm>
            <a:off x="365760" y="3493008"/>
            <a:ext cx="3931920" cy="47548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Machine Learning: pipelines, validación cruzada, métricas predictivas.</a:t>
            </a:r>
            <a:endParaRPr lang="en-US" sz="1050" dirty="0"/>
          </a:p>
        </p:txBody>
      </p:sp>
      <p:sp>
        <p:nvSpPr>
          <p:cNvPr id="20" name="Shape 18"/>
          <p:cNvSpPr/>
          <p:nvPr/>
        </p:nvSpPr>
        <p:spPr>
          <a:xfrm>
            <a:off x="365760" y="4005072"/>
            <a:ext cx="3931920" cy="749808"/>
          </a:xfrm>
          <a:prstGeom prst="rect">
            <a:avLst/>
          </a:prstGeom>
          <a:solidFill>
            <a:srgbClr val="1E1E2E"/>
          </a:solidFill>
          <a:ln w="12700">
            <a:solidFill>
              <a:srgbClr val="1E1E2E"/>
            </a:solidFill>
            <a:prstDash val="solid"/>
          </a:ln>
        </p:spPr>
        <p:txBody>
          <a:bodyPr/>
          <a:lstStyle/>
          <a:p>
            <a:endParaRPr lang="es-CO"/>
          </a:p>
        </p:txBody>
      </p:sp>
      <p:sp>
        <p:nvSpPr>
          <p:cNvPr id="21" name="Text 19"/>
          <p:cNvSpPr/>
          <p:nvPr/>
        </p:nvSpPr>
        <p:spPr>
          <a:xfrm>
            <a:off x="457200" y="4023360"/>
            <a:ext cx="3749040" cy="713232"/>
          </a:xfrm>
          <a:prstGeom prst="rect">
            <a:avLst/>
          </a:prstGeom>
          <a:noFill/>
          <a:ln/>
        </p:spPr>
        <p:txBody>
          <a:bodyPr wrap="square" rtlCol="0" anchor="t"/>
          <a:lstStyle/>
          <a:p>
            <a:pPr marL="0" indent="0">
              <a:buNone/>
            </a:pPr>
            <a:r>
              <a:rPr lang="en-US" sz="850" dirty="0">
                <a:solidFill>
                  <a:srgbClr val="FFD43B"/>
                </a:solidFill>
                <a:latin typeface="Consolas" pitchFamily="34" charset="0"/>
                <a:ea typeface="Consolas" pitchFamily="34" charset="-122"/>
                <a:cs typeface="Consolas" pitchFamily="34" charset="-120"/>
              </a:rPr>
              <a:t>from sklearn.linear_model import LinearRegression</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lr = LinearRegression().fit(X, y)</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print(lr.coef_)</a:t>
            </a:r>
            <a:endParaRPr lang="en-US" sz="850" dirty="0"/>
          </a:p>
        </p:txBody>
      </p:sp>
      <p:sp>
        <p:nvSpPr>
          <p:cNvPr id="22" name="Shape 20"/>
          <p:cNvSpPr/>
          <p:nvPr/>
        </p:nvSpPr>
        <p:spPr>
          <a:xfrm>
            <a:off x="4709160" y="301752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3" name="Shape 21"/>
          <p:cNvSpPr/>
          <p:nvPr/>
        </p:nvSpPr>
        <p:spPr>
          <a:xfrm>
            <a:off x="4709160" y="3017520"/>
            <a:ext cx="4114800" cy="411480"/>
          </a:xfrm>
          <a:prstGeom prst="rect">
            <a:avLst/>
          </a:prstGeom>
          <a:solidFill>
            <a:srgbClr val="E67E22"/>
          </a:solidFill>
          <a:ln w="12700">
            <a:solidFill>
              <a:srgbClr val="E67E22"/>
            </a:solidFill>
            <a:prstDash val="solid"/>
          </a:ln>
        </p:spPr>
        <p:txBody>
          <a:bodyPr/>
          <a:lstStyle/>
          <a:p>
            <a:endParaRPr lang="es-CO"/>
          </a:p>
        </p:txBody>
      </p:sp>
      <p:sp>
        <p:nvSpPr>
          <p:cNvPr id="24" name="Text 22"/>
          <p:cNvSpPr/>
          <p:nvPr/>
        </p:nvSpPr>
        <p:spPr>
          <a:xfrm>
            <a:off x="4800600" y="3017520"/>
            <a:ext cx="3931920" cy="411480"/>
          </a:xfrm>
          <a:prstGeom prst="rect">
            <a:avLst/>
          </a:prstGeom>
          <a:noFill/>
          <a:ln/>
        </p:spPr>
        <p:txBody>
          <a:bodyPr wrap="square"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matplotlib / seaborn</a:t>
            </a:r>
            <a:endParaRPr lang="en-US" sz="1400" dirty="0"/>
          </a:p>
        </p:txBody>
      </p:sp>
      <p:sp>
        <p:nvSpPr>
          <p:cNvPr id="25" name="Text 23"/>
          <p:cNvSpPr/>
          <p:nvPr/>
        </p:nvSpPr>
        <p:spPr>
          <a:xfrm>
            <a:off x="4800600" y="3493008"/>
            <a:ext cx="3931920" cy="47548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Visualización profesional: diagramas de dispersión, residuos, correlaciones.</a:t>
            </a:r>
            <a:endParaRPr lang="en-US" sz="1050" dirty="0"/>
          </a:p>
        </p:txBody>
      </p:sp>
      <p:sp>
        <p:nvSpPr>
          <p:cNvPr id="26" name="Shape 24"/>
          <p:cNvSpPr/>
          <p:nvPr/>
        </p:nvSpPr>
        <p:spPr>
          <a:xfrm>
            <a:off x="4800600" y="4005072"/>
            <a:ext cx="3931920" cy="749808"/>
          </a:xfrm>
          <a:prstGeom prst="rect">
            <a:avLst/>
          </a:prstGeom>
          <a:solidFill>
            <a:srgbClr val="1E1E2E"/>
          </a:solidFill>
          <a:ln w="12700">
            <a:solidFill>
              <a:srgbClr val="1E1E2E"/>
            </a:solidFill>
            <a:prstDash val="solid"/>
          </a:ln>
        </p:spPr>
        <p:txBody>
          <a:bodyPr/>
          <a:lstStyle/>
          <a:p>
            <a:endParaRPr lang="es-CO"/>
          </a:p>
        </p:txBody>
      </p:sp>
      <p:sp>
        <p:nvSpPr>
          <p:cNvPr id="27" name="Text 25"/>
          <p:cNvSpPr/>
          <p:nvPr/>
        </p:nvSpPr>
        <p:spPr>
          <a:xfrm>
            <a:off x="4892040" y="4023360"/>
            <a:ext cx="3749040" cy="713232"/>
          </a:xfrm>
          <a:prstGeom prst="rect">
            <a:avLst/>
          </a:prstGeom>
          <a:noFill/>
          <a:ln/>
        </p:spPr>
        <p:txBody>
          <a:bodyPr wrap="square" rtlCol="0" anchor="t"/>
          <a:lstStyle/>
          <a:p>
            <a:pPr marL="0" indent="0">
              <a:buNone/>
            </a:pPr>
            <a:r>
              <a:rPr lang="en-US" sz="850" dirty="0">
                <a:solidFill>
                  <a:srgbClr val="FFD43B"/>
                </a:solidFill>
                <a:latin typeface="Consolas" pitchFamily="34" charset="0"/>
                <a:ea typeface="Consolas" pitchFamily="34" charset="-122"/>
                <a:cs typeface="Consolas" pitchFamily="34" charset="-120"/>
              </a:rPr>
              <a:t>import seaborn as sns</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sns.heatmap(df.corr(), annot=True)</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sns.regplot(x='X', y='Y', data=df)</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METODOLOGÍA CRISP-DM — Cross-Industry Standard Process for Data Mining</a:t>
            </a:r>
            <a:endParaRPr lang="en-US" sz="2000" dirty="0"/>
          </a:p>
        </p:txBody>
      </p:sp>
      <p:sp>
        <p:nvSpPr>
          <p:cNvPr id="4" name="Text 2"/>
          <p:cNvSpPr/>
          <p:nvPr/>
        </p:nvSpPr>
        <p:spPr>
          <a:xfrm>
            <a:off x="365760" y="1005840"/>
            <a:ext cx="8412480" cy="34747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Marco de referencia estándar para proyectos de analítica de datos y modelos predictivos</a:t>
            </a:r>
            <a:endParaRPr lang="en-US" sz="1200" dirty="0"/>
          </a:p>
        </p:txBody>
      </p:sp>
      <p:sp>
        <p:nvSpPr>
          <p:cNvPr id="5" name="Shape 3"/>
          <p:cNvSpPr/>
          <p:nvPr/>
        </p:nvSpPr>
        <p:spPr>
          <a:xfrm>
            <a:off x="3442764" y="1499924"/>
            <a:ext cx="1846764" cy="1088136"/>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6" name="Shape 4"/>
          <p:cNvSpPr/>
          <p:nvPr/>
        </p:nvSpPr>
        <p:spPr>
          <a:xfrm>
            <a:off x="3442764" y="1499924"/>
            <a:ext cx="1846764" cy="438912"/>
          </a:xfrm>
          <a:prstGeom prst="rect">
            <a:avLst/>
          </a:prstGeom>
          <a:solidFill>
            <a:srgbClr val="0D7377"/>
          </a:solidFill>
          <a:ln w="12700">
            <a:solidFill>
              <a:srgbClr val="0D7377"/>
            </a:solidFill>
            <a:prstDash val="solid"/>
          </a:ln>
        </p:spPr>
        <p:txBody>
          <a:bodyPr/>
          <a:lstStyle/>
          <a:p>
            <a:endParaRPr lang="es-CO"/>
          </a:p>
        </p:txBody>
      </p:sp>
      <p:sp>
        <p:nvSpPr>
          <p:cNvPr id="7" name="Text 5"/>
          <p:cNvSpPr/>
          <p:nvPr/>
        </p:nvSpPr>
        <p:spPr>
          <a:xfrm>
            <a:off x="3534205" y="1499924"/>
            <a:ext cx="1755324" cy="438912"/>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1.  Comprensión del Negocio</a:t>
            </a:r>
            <a:endParaRPr lang="en-US" sz="1150" dirty="0"/>
          </a:p>
        </p:txBody>
      </p:sp>
      <p:sp>
        <p:nvSpPr>
          <p:cNvPr id="8" name="Text 6"/>
          <p:cNvSpPr/>
          <p:nvPr/>
        </p:nvSpPr>
        <p:spPr>
          <a:xfrm>
            <a:off x="3534205" y="1993700"/>
            <a:ext cx="1755324" cy="59436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Definir el objetivo, preguntas de investigación y criterios de éxito</a:t>
            </a:r>
            <a:endParaRPr lang="en-US" sz="1000" dirty="0"/>
          </a:p>
        </p:txBody>
      </p:sp>
      <p:sp>
        <p:nvSpPr>
          <p:cNvPr id="11" name="Shape 9"/>
          <p:cNvSpPr/>
          <p:nvPr/>
        </p:nvSpPr>
        <p:spPr>
          <a:xfrm>
            <a:off x="5380968" y="1509376"/>
            <a:ext cx="1827508" cy="1088136"/>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2" name="Shape 10"/>
          <p:cNvSpPr/>
          <p:nvPr/>
        </p:nvSpPr>
        <p:spPr>
          <a:xfrm>
            <a:off x="5380968" y="1509376"/>
            <a:ext cx="1827508" cy="338380"/>
          </a:xfrm>
          <a:prstGeom prst="rect">
            <a:avLst/>
          </a:prstGeom>
          <a:solidFill>
            <a:srgbClr val="3776AB"/>
          </a:solidFill>
          <a:ln w="12700">
            <a:solidFill>
              <a:srgbClr val="3776AB"/>
            </a:solidFill>
            <a:prstDash val="solid"/>
          </a:ln>
        </p:spPr>
        <p:txBody>
          <a:bodyPr/>
          <a:lstStyle/>
          <a:p>
            <a:endParaRPr lang="es-CO"/>
          </a:p>
        </p:txBody>
      </p:sp>
      <p:sp>
        <p:nvSpPr>
          <p:cNvPr id="13" name="Text 11"/>
          <p:cNvSpPr/>
          <p:nvPr/>
        </p:nvSpPr>
        <p:spPr>
          <a:xfrm>
            <a:off x="5472408" y="1509376"/>
            <a:ext cx="1557927" cy="33838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2.  Comprensión de los Datos</a:t>
            </a:r>
            <a:endParaRPr lang="en-US" sz="1150" dirty="0"/>
          </a:p>
        </p:txBody>
      </p:sp>
      <p:sp>
        <p:nvSpPr>
          <p:cNvPr id="14" name="Text 12"/>
          <p:cNvSpPr/>
          <p:nvPr/>
        </p:nvSpPr>
        <p:spPr>
          <a:xfrm>
            <a:off x="5472408" y="2003152"/>
            <a:ext cx="1701712" cy="458223"/>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Recolección, exploración inicial, calidad y descripción de variables</a:t>
            </a:r>
            <a:endParaRPr lang="en-US" sz="1000" dirty="0"/>
          </a:p>
        </p:txBody>
      </p:sp>
      <p:sp>
        <p:nvSpPr>
          <p:cNvPr id="17" name="Shape 15"/>
          <p:cNvSpPr/>
          <p:nvPr/>
        </p:nvSpPr>
        <p:spPr>
          <a:xfrm>
            <a:off x="7299934" y="1495446"/>
            <a:ext cx="1827509" cy="1111591"/>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8" name="Shape 16"/>
          <p:cNvSpPr/>
          <p:nvPr/>
        </p:nvSpPr>
        <p:spPr>
          <a:xfrm>
            <a:off x="7299934" y="1495446"/>
            <a:ext cx="1827510" cy="334403"/>
          </a:xfrm>
          <a:prstGeom prst="rect">
            <a:avLst/>
          </a:prstGeom>
          <a:solidFill>
            <a:srgbClr val="8E44AD"/>
          </a:solidFill>
          <a:ln w="12700">
            <a:solidFill>
              <a:srgbClr val="8E44AD"/>
            </a:solidFill>
            <a:prstDash val="solid"/>
          </a:ln>
        </p:spPr>
        <p:txBody>
          <a:bodyPr/>
          <a:lstStyle/>
          <a:p>
            <a:endParaRPr lang="es-CO"/>
          </a:p>
        </p:txBody>
      </p:sp>
      <p:sp>
        <p:nvSpPr>
          <p:cNvPr id="19" name="Text 17"/>
          <p:cNvSpPr/>
          <p:nvPr/>
        </p:nvSpPr>
        <p:spPr>
          <a:xfrm>
            <a:off x="7260840" y="1495446"/>
            <a:ext cx="1827508" cy="334403"/>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3.  Preparación de Datos</a:t>
            </a:r>
            <a:endParaRPr lang="en-US" sz="1150" dirty="0"/>
          </a:p>
        </p:txBody>
      </p:sp>
      <p:sp>
        <p:nvSpPr>
          <p:cNvPr id="20" name="Text 18"/>
          <p:cNvSpPr/>
          <p:nvPr/>
        </p:nvSpPr>
        <p:spPr>
          <a:xfrm>
            <a:off x="7260840" y="1989222"/>
            <a:ext cx="1827508" cy="45283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Limpieza, transformación, tratamiento de outliers y valores faltantes</a:t>
            </a:r>
            <a:endParaRPr lang="en-US" sz="1000" dirty="0"/>
          </a:p>
        </p:txBody>
      </p:sp>
      <p:sp>
        <p:nvSpPr>
          <p:cNvPr id="23" name="Shape 21"/>
          <p:cNvSpPr/>
          <p:nvPr/>
        </p:nvSpPr>
        <p:spPr>
          <a:xfrm>
            <a:off x="3442764" y="3004576"/>
            <a:ext cx="1880705" cy="1134117"/>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4" name="Shape 22"/>
          <p:cNvSpPr/>
          <p:nvPr/>
        </p:nvSpPr>
        <p:spPr>
          <a:xfrm>
            <a:off x="3442764" y="3004576"/>
            <a:ext cx="1880705" cy="400178"/>
          </a:xfrm>
          <a:prstGeom prst="rect">
            <a:avLst/>
          </a:prstGeom>
          <a:solidFill>
            <a:srgbClr val="E67E22"/>
          </a:solidFill>
          <a:ln w="12700">
            <a:solidFill>
              <a:srgbClr val="E67E22"/>
            </a:solidFill>
            <a:prstDash val="solid"/>
          </a:ln>
        </p:spPr>
        <p:txBody>
          <a:bodyPr/>
          <a:lstStyle/>
          <a:p>
            <a:endParaRPr lang="es-CO"/>
          </a:p>
        </p:txBody>
      </p:sp>
      <p:sp>
        <p:nvSpPr>
          <p:cNvPr id="25" name="Text 23"/>
          <p:cNvSpPr/>
          <p:nvPr/>
        </p:nvSpPr>
        <p:spPr>
          <a:xfrm>
            <a:off x="3534205" y="3004576"/>
            <a:ext cx="1755324" cy="40017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4.  Modelado</a:t>
            </a:r>
            <a:endParaRPr lang="en-US" sz="1150" dirty="0"/>
          </a:p>
        </p:txBody>
      </p:sp>
      <p:sp>
        <p:nvSpPr>
          <p:cNvPr id="26" name="Text 24"/>
          <p:cNvSpPr/>
          <p:nvPr/>
        </p:nvSpPr>
        <p:spPr>
          <a:xfrm>
            <a:off x="3534205" y="3498352"/>
            <a:ext cx="1755324" cy="54190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Selección de técnica, entrenamiento y ajuste del modelo predictivo</a:t>
            </a:r>
            <a:endParaRPr lang="en-US" sz="1000" dirty="0"/>
          </a:p>
        </p:txBody>
      </p:sp>
      <p:sp>
        <p:nvSpPr>
          <p:cNvPr id="29" name="Shape 27"/>
          <p:cNvSpPr/>
          <p:nvPr/>
        </p:nvSpPr>
        <p:spPr>
          <a:xfrm>
            <a:off x="5380969" y="2993763"/>
            <a:ext cx="1827508" cy="114493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30" name="Shape 28"/>
          <p:cNvSpPr/>
          <p:nvPr/>
        </p:nvSpPr>
        <p:spPr>
          <a:xfrm>
            <a:off x="5380969" y="2993763"/>
            <a:ext cx="1827508" cy="400178"/>
          </a:xfrm>
          <a:prstGeom prst="rect">
            <a:avLst/>
          </a:prstGeom>
          <a:solidFill>
            <a:srgbClr val="C0392B"/>
          </a:solidFill>
          <a:ln w="12700">
            <a:solidFill>
              <a:srgbClr val="C0392B"/>
            </a:solidFill>
            <a:prstDash val="solid"/>
          </a:ln>
        </p:spPr>
        <p:txBody>
          <a:bodyPr/>
          <a:lstStyle/>
          <a:p>
            <a:endParaRPr lang="es-CO"/>
          </a:p>
        </p:txBody>
      </p:sp>
      <p:sp>
        <p:nvSpPr>
          <p:cNvPr id="31" name="Text 29"/>
          <p:cNvSpPr/>
          <p:nvPr/>
        </p:nvSpPr>
        <p:spPr>
          <a:xfrm>
            <a:off x="5472409" y="2993763"/>
            <a:ext cx="1450898" cy="40017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5.  Evaluación</a:t>
            </a:r>
            <a:endParaRPr lang="en-US" sz="1150" dirty="0"/>
          </a:p>
        </p:txBody>
      </p:sp>
      <p:sp>
        <p:nvSpPr>
          <p:cNvPr id="32" name="Text 30"/>
          <p:cNvSpPr/>
          <p:nvPr/>
        </p:nvSpPr>
        <p:spPr>
          <a:xfrm>
            <a:off x="5472409" y="3487539"/>
            <a:ext cx="1736068" cy="54190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Validar resultados contra objetivos, verificar </a:t>
            </a:r>
            <a:r>
              <a:rPr lang="en-US" sz="1000" dirty="0" err="1">
                <a:solidFill>
                  <a:srgbClr val="1E293B"/>
                </a:solidFill>
                <a:latin typeface="Calibri" pitchFamily="34" charset="0"/>
                <a:ea typeface="Calibri" pitchFamily="34" charset="-122"/>
                <a:cs typeface="Calibri" pitchFamily="34" charset="-120"/>
              </a:rPr>
              <a:t>supuestos</a:t>
            </a:r>
            <a:r>
              <a:rPr lang="en-US" sz="1000" dirty="0">
                <a:solidFill>
                  <a:srgbClr val="1E293B"/>
                </a:solidFill>
                <a:latin typeface="Calibri" pitchFamily="34" charset="0"/>
                <a:ea typeface="Calibri" pitchFamily="34" charset="-122"/>
                <a:cs typeface="Calibri" pitchFamily="34" charset="-120"/>
              </a:rPr>
              <a:t>, R², RMSE</a:t>
            </a:r>
            <a:endParaRPr lang="en-US" sz="1000" dirty="0"/>
          </a:p>
        </p:txBody>
      </p:sp>
      <p:sp>
        <p:nvSpPr>
          <p:cNvPr id="35" name="Shape 33"/>
          <p:cNvSpPr/>
          <p:nvPr/>
        </p:nvSpPr>
        <p:spPr>
          <a:xfrm>
            <a:off x="7260841" y="2986669"/>
            <a:ext cx="1827508" cy="1152024"/>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36" name="Shape 34"/>
          <p:cNvSpPr/>
          <p:nvPr/>
        </p:nvSpPr>
        <p:spPr>
          <a:xfrm>
            <a:off x="7260841" y="2986669"/>
            <a:ext cx="1827508" cy="400178"/>
          </a:xfrm>
          <a:prstGeom prst="rect">
            <a:avLst/>
          </a:prstGeom>
          <a:solidFill>
            <a:srgbClr val="27AE60"/>
          </a:solidFill>
          <a:ln w="12700">
            <a:solidFill>
              <a:srgbClr val="27AE60"/>
            </a:solidFill>
            <a:prstDash val="solid"/>
          </a:ln>
        </p:spPr>
        <p:txBody>
          <a:bodyPr/>
          <a:lstStyle/>
          <a:p>
            <a:endParaRPr lang="es-CO"/>
          </a:p>
        </p:txBody>
      </p:sp>
      <p:sp>
        <p:nvSpPr>
          <p:cNvPr id="37" name="Text 35"/>
          <p:cNvSpPr/>
          <p:nvPr/>
        </p:nvSpPr>
        <p:spPr>
          <a:xfrm>
            <a:off x="7352281" y="2986669"/>
            <a:ext cx="1450898" cy="40017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6.  Despliegue</a:t>
            </a:r>
            <a:endParaRPr lang="en-US" sz="1150" dirty="0"/>
          </a:p>
        </p:txBody>
      </p:sp>
      <p:sp>
        <p:nvSpPr>
          <p:cNvPr id="38" name="Text 36"/>
          <p:cNvSpPr/>
          <p:nvPr/>
        </p:nvSpPr>
        <p:spPr>
          <a:xfrm>
            <a:off x="7352281" y="3480445"/>
            <a:ext cx="1639320" cy="54190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Comunicar hallazgos, reportes, recomendaciones de política o negocio</a:t>
            </a:r>
            <a:endParaRPr lang="en-US" sz="1000" dirty="0"/>
          </a:p>
        </p:txBody>
      </p:sp>
      <p:sp>
        <p:nvSpPr>
          <p:cNvPr id="41" name="Shape 39"/>
          <p:cNvSpPr/>
          <p:nvPr/>
        </p:nvSpPr>
        <p:spPr>
          <a:xfrm>
            <a:off x="274320" y="4828032"/>
            <a:ext cx="8595360" cy="256032"/>
          </a:xfrm>
          <a:prstGeom prst="rect">
            <a:avLst/>
          </a:prstGeom>
          <a:solidFill>
            <a:srgbClr val="1A3A5C"/>
          </a:solidFill>
          <a:ln w="12700">
            <a:solidFill>
              <a:srgbClr val="1A3A5C"/>
            </a:solidFill>
            <a:prstDash val="solid"/>
          </a:ln>
        </p:spPr>
        <p:txBody>
          <a:bodyPr/>
          <a:lstStyle/>
          <a:p>
            <a:endParaRPr lang="es-CO"/>
          </a:p>
        </p:txBody>
      </p:sp>
      <p:sp>
        <p:nvSpPr>
          <p:cNvPr id="42" name="Text 40"/>
          <p:cNvSpPr/>
          <p:nvPr/>
        </p:nvSpPr>
        <p:spPr>
          <a:xfrm>
            <a:off x="274320" y="4828032"/>
            <a:ext cx="8595360" cy="256032"/>
          </a:xfrm>
          <a:prstGeom prst="rect">
            <a:avLst/>
          </a:prstGeom>
          <a:noFill/>
          <a:ln/>
        </p:spPr>
        <p:txBody>
          <a:bodyPr wrap="square" rtlCol="0" anchor="ctr"/>
          <a:lstStyle/>
          <a:p>
            <a:pPr marL="0" indent="0" algn="ctr">
              <a:buNone/>
            </a:pPr>
            <a:r>
              <a:rPr lang="en-US" sz="1000" dirty="0">
                <a:solidFill>
                  <a:srgbClr val="E8A838"/>
                </a:solidFill>
                <a:latin typeface="Calibri" pitchFamily="34" charset="0"/>
                <a:ea typeface="Calibri" pitchFamily="34" charset="-122"/>
                <a:cs typeface="Calibri" pitchFamily="34" charset="-120"/>
              </a:rPr>
              <a:t>⟳  El proceso es iterativo — los hallazgos en evaluación pueden llevar a redefinir el negocio o preparar nuevamente los datos</a:t>
            </a:r>
            <a:endParaRPr lang="en-US" sz="1000" dirty="0"/>
          </a:p>
        </p:txBody>
      </p:sp>
      <p:pic>
        <p:nvPicPr>
          <p:cNvPr id="49" name="Imagen 48">
            <a:extLst>
              <a:ext uri="{FF2B5EF4-FFF2-40B4-BE49-F238E27FC236}">
                <a16:creationId xmlns:a16="http://schemas.microsoft.com/office/drawing/2014/main" id="{6D5B761A-8C5A-2204-06F5-526ECFD40464}"/>
              </a:ext>
            </a:extLst>
          </p:cNvPr>
          <p:cNvPicPr>
            <a:picLocks noChangeAspect="1"/>
          </p:cNvPicPr>
          <p:nvPr/>
        </p:nvPicPr>
        <p:blipFill>
          <a:blip r:embed="rId3"/>
          <a:stretch>
            <a:fillRect/>
          </a:stretch>
        </p:blipFill>
        <p:spPr>
          <a:xfrm>
            <a:off x="274320" y="1444752"/>
            <a:ext cx="3077004" cy="30674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7377"/>
          </a:solidFill>
          <a:ln w="12700">
            <a:solidFill>
              <a:srgbClr val="0D7377"/>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ESTADÍSTICA DESCRIPTIVA E INFERENCIAL — Definiciones Clave</a:t>
            </a:r>
            <a:endParaRPr lang="en-US" sz="2000" dirty="0"/>
          </a:p>
        </p:txBody>
      </p:sp>
      <p:sp>
        <p:nvSpPr>
          <p:cNvPr id="4" name="Shape 2"/>
          <p:cNvSpPr/>
          <p:nvPr/>
        </p:nvSpPr>
        <p:spPr>
          <a:xfrm>
            <a:off x="274320" y="1005840"/>
            <a:ext cx="4114800" cy="3977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5" name="Shape 3"/>
          <p:cNvSpPr/>
          <p:nvPr/>
        </p:nvSpPr>
        <p:spPr>
          <a:xfrm>
            <a:off x="274320" y="1005840"/>
            <a:ext cx="4114800" cy="502920"/>
          </a:xfrm>
          <a:prstGeom prst="rect">
            <a:avLst/>
          </a:prstGeom>
          <a:solidFill>
            <a:srgbClr val="0D7377"/>
          </a:solidFill>
          <a:ln w="12700">
            <a:solidFill>
              <a:srgbClr val="0D7377"/>
            </a:solidFill>
            <a:prstDash val="solid"/>
          </a:ln>
        </p:spPr>
        <p:txBody>
          <a:bodyPr/>
          <a:lstStyle/>
          <a:p>
            <a:endParaRPr lang="es-CO"/>
          </a:p>
        </p:txBody>
      </p:sp>
      <p:sp>
        <p:nvSpPr>
          <p:cNvPr id="6" name="Text 4"/>
          <p:cNvSpPr/>
          <p:nvPr/>
        </p:nvSpPr>
        <p:spPr>
          <a:xfrm>
            <a:off x="365760" y="1005840"/>
            <a:ext cx="393192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Estadística DESCRIPTIVA</a:t>
            </a:r>
            <a:endParaRPr lang="en-US" sz="1300" dirty="0"/>
          </a:p>
        </p:txBody>
      </p:sp>
      <p:sp>
        <p:nvSpPr>
          <p:cNvPr id="7" name="Text 5"/>
          <p:cNvSpPr/>
          <p:nvPr/>
        </p:nvSpPr>
        <p:spPr>
          <a:xfrm>
            <a:off x="411480" y="1600200"/>
            <a:ext cx="3840480" cy="274320"/>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Definición:</a:t>
            </a:r>
            <a:endParaRPr lang="en-US" sz="1100" dirty="0"/>
          </a:p>
        </p:txBody>
      </p:sp>
      <p:sp>
        <p:nvSpPr>
          <p:cNvPr id="8" name="Text 6"/>
          <p:cNvSpPr/>
          <p:nvPr/>
        </p:nvSpPr>
        <p:spPr>
          <a:xfrm>
            <a:off x="411480" y="1883664"/>
            <a:ext cx="3840480" cy="9144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Rama que resume, organiza y describe las características de un conjunto de datos observado. No generaliza más allá de los datos disponibles.</a:t>
            </a:r>
            <a:endParaRPr lang="en-US" sz="1100" dirty="0"/>
          </a:p>
        </p:txBody>
      </p:sp>
      <p:sp>
        <p:nvSpPr>
          <p:cNvPr id="9" name="Text 7"/>
          <p:cNvSpPr/>
          <p:nvPr/>
        </p:nvSpPr>
        <p:spPr>
          <a:xfrm>
            <a:off x="411480" y="2852928"/>
            <a:ext cx="3840480" cy="274320"/>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Ejemplos:</a:t>
            </a:r>
            <a:endParaRPr lang="en-US" sz="1100" dirty="0"/>
          </a:p>
        </p:txBody>
      </p:sp>
      <p:sp>
        <p:nvSpPr>
          <p:cNvPr id="10" name="Text 8"/>
          <p:cNvSpPr/>
          <p:nvPr/>
        </p:nvSpPr>
        <p:spPr>
          <a:xfrm>
            <a:off x="457200" y="3154680"/>
            <a:ext cx="3749040" cy="292608"/>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Media, mediana, moda de salarios</a:t>
            </a:r>
            <a:endParaRPr lang="en-US" sz="1050" dirty="0"/>
          </a:p>
        </p:txBody>
      </p:sp>
      <p:sp>
        <p:nvSpPr>
          <p:cNvPr id="11" name="Text 9"/>
          <p:cNvSpPr/>
          <p:nvPr/>
        </p:nvSpPr>
        <p:spPr>
          <a:xfrm>
            <a:off x="457200" y="3474720"/>
            <a:ext cx="3749040" cy="292608"/>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Histograma de edades de una empresa</a:t>
            </a:r>
            <a:endParaRPr lang="en-US" sz="1050" dirty="0"/>
          </a:p>
        </p:txBody>
      </p:sp>
      <p:sp>
        <p:nvSpPr>
          <p:cNvPr id="12" name="Text 10"/>
          <p:cNvSpPr/>
          <p:nvPr/>
        </p:nvSpPr>
        <p:spPr>
          <a:xfrm>
            <a:off x="457200" y="3794760"/>
            <a:ext cx="3749040" cy="292608"/>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Tabla de frecuencias de sectores económicos</a:t>
            </a:r>
            <a:endParaRPr lang="en-US" sz="1050" dirty="0"/>
          </a:p>
        </p:txBody>
      </p:sp>
      <p:sp>
        <p:nvSpPr>
          <p:cNvPr id="13" name="Shape 11"/>
          <p:cNvSpPr/>
          <p:nvPr/>
        </p:nvSpPr>
        <p:spPr>
          <a:xfrm>
            <a:off x="4709160" y="1005840"/>
            <a:ext cx="4114800" cy="3977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4" name="Shape 12"/>
          <p:cNvSpPr/>
          <p:nvPr/>
        </p:nvSpPr>
        <p:spPr>
          <a:xfrm>
            <a:off x="4709160" y="1005840"/>
            <a:ext cx="4114800" cy="502920"/>
          </a:xfrm>
          <a:prstGeom prst="rect">
            <a:avLst/>
          </a:prstGeom>
          <a:solidFill>
            <a:srgbClr val="3776AB"/>
          </a:solidFill>
          <a:ln w="12700">
            <a:solidFill>
              <a:srgbClr val="3776AB"/>
            </a:solidFill>
            <a:prstDash val="solid"/>
          </a:ln>
        </p:spPr>
        <p:txBody>
          <a:bodyPr/>
          <a:lstStyle/>
          <a:p>
            <a:endParaRPr lang="es-CO"/>
          </a:p>
        </p:txBody>
      </p:sp>
      <p:sp>
        <p:nvSpPr>
          <p:cNvPr id="15" name="Text 13"/>
          <p:cNvSpPr/>
          <p:nvPr/>
        </p:nvSpPr>
        <p:spPr>
          <a:xfrm>
            <a:off x="4800600" y="1005840"/>
            <a:ext cx="393192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Estadística INFERENCIAL</a:t>
            </a:r>
            <a:endParaRPr lang="en-US" sz="1300" dirty="0"/>
          </a:p>
        </p:txBody>
      </p:sp>
      <p:sp>
        <p:nvSpPr>
          <p:cNvPr id="16" name="Text 14"/>
          <p:cNvSpPr/>
          <p:nvPr/>
        </p:nvSpPr>
        <p:spPr>
          <a:xfrm>
            <a:off x="4846320" y="1600200"/>
            <a:ext cx="3840480" cy="274320"/>
          </a:xfrm>
          <a:prstGeom prst="rect">
            <a:avLst/>
          </a:prstGeom>
          <a:noFill/>
          <a:ln/>
        </p:spPr>
        <p:txBody>
          <a:bodyPr wrap="square" rtlCol="0" anchor="ctr"/>
          <a:lstStyle/>
          <a:p>
            <a:pPr marL="0" indent="0">
              <a:buNone/>
            </a:pPr>
            <a:r>
              <a:rPr lang="en-US" sz="1100" b="1" dirty="0">
                <a:solidFill>
                  <a:srgbClr val="3776AB"/>
                </a:solidFill>
                <a:latin typeface="Calibri" pitchFamily="34" charset="0"/>
                <a:ea typeface="Calibri" pitchFamily="34" charset="-122"/>
                <a:cs typeface="Calibri" pitchFamily="34" charset="-120"/>
              </a:rPr>
              <a:t>Definición:</a:t>
            </a:r>
            <a:endParaRPr lang="en-US" sz="1100" dirty="0"/>
          </a:p>
        </p:txBody>
      </p:sp>
      <p:sp>
        <p:nvSpPr>
          <p:cNvPr id="17" name="Text 15"/>
          <p:cNvSpPr/>
          <p:nvPr/>
        </p:nvSpPr>
        <p:spPr>
          <a:xfrm>
            <a:off x="4846320" y="1883664"/>
            <a:ext cx="3840480" cy="9144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Rama que utiliza datos de una muestra para hacer inferencias, estimaciones o pruebas de hipótesis sobre una población más amplia.</a:t>
            </a:r>
            <a:endParaRPr lang="en-US" sz="1100" dirty="0"/>
          </a:p>
        </p:txBody>
      </p:sp>
      <p:sp>
        <p:nvSpPr>
          <p:cNvPr id="18" name="Text 16"/>
          <p:cNvSpPr/>
          <p:nvPr/>
        </p:nvSpPr>
        <p:spPr>
          <a:xfrm>
            <a:off x="4846320" y="2852928"/>
            <a:ext cx="3840480" cy="274320"/>
          </a:xfrm>
          <a:prstGeom prst="rect">
            <a:avLst/>
          </a:prstGeom>
          <a:noFill/>
          <a:ln/>
        </p:spPr>
        <p:txBody>
          <a:bodyPr wrap="square" rtlCol="0" anchor="ctr"/>
          <a:lstStyle/>
          <a:p>
            <a:pPr marL="0" indent="0">
              <a:buNone/>
            </a:pPr>
            <a:r>
              <a:rPr lang="en-US" sz="1100" b="1" dirty="0">
                <a:solidFill>
                  <a:srgbClr val="3776AB"/>
                </a:solidFill>
                <a:latin typeface="Calibri" pitchFamily="34" charset="0"/>
                <a:ea typeface="Calibri" pitchFamily="34" charset="-122"/>
                <a:cs typeface="Calibri" pitchFamily="34" charset="-120"/>
              </a:rPr>
              <a:t>Ejemplos:</a:t>
            </a:r>
            <a:endParaRPr lang="en-US" sz="1100" dirty="0"/>
          </a:p>
        </p:txBody>
      </p:sp>
      <p:sp>
        <p:nvSpPr>
          <p:cNvPr id="19" name="Text 17"/>
          <p:cNvSpPr/>
          <p:nvPr/>
        </p:nvSpPr>
        <p:spPr>
          <a:xfrm>
            <a:off x="4892040" y="3154680"/>
            <a:ext cx="3749040" cy="292608"/>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¿El salario medio nacional &gt; $2M?</a:t>
            </a:r>
            <a:endParaRPr lang="en-US" sz="1050" dirty="0"/>
          </a:p>
        </p:txBody>
      </p:sp>
      <p:sp>
        <p:nvSpPr>
          <p:cNvPr id="20" name="Text 18"/>
          <p:cNvSpPr/>
          <p:nvPr/>
        </p:nvSpPr>
        <p:spPr>
          <a:xfrm>
            <a:off x="4892040" y="3474720"/>
            <a:ext cx="3749040" cy="292608"/>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¿Hay diferencia significativa entre regiones?</a:t>
            </a:r>
            <a:endParaRPr lang="en-US" sz="1050" dirty="0"/>
          </a:p>
        </p:txBody>
      </p:sp>
      <p:sp>
        <p:nvSpPr>
          <p:cNvPr id="21" name="Text 19"/>
          <p:cNvSpPr/>
          <p:nvPr/>
        </p:nvSpPr>
        <p:spPr>
          <a:xfrm>
            <a:off x="4892040" y="3794760"/>
            <a:ext cx="3749040" cy="292608"/>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Intervalo de confianza del coef. de regresión</a:t>
            </a:r>
            <a:endParaRPr lang="en-US" sz="1050" dirty="0"/>
          </a:p>
        </p:txBody>
      </p:sp>
      <p:sp>
        <p:nvSpPr>
          <p:cNvPr id="22" name="Shape 20"/>
          <p:cNvSpPr/>
          <p:nvPr/>
        </p:nvSpPr>
        <p:spPr>
          <a:xfrm>
            <a:off x="274320" y="4709160"/>
            <a:ext cx="8595360" cy="347472"/>
          </a:xfrm>
          <a:prstGeom prst="rect">
            <a:avLst/>
          </a:prstGeom>
          <a:solidFill>
            <a:srgbClr val="1A3A5C"/>
          </a:solidFill>
          <a:ln w="12700">
            <a:solidFill>
              <a:srgbClr val="1A3A5C"/>
            </a:solidFill>
            <a:prstDash val="solid"/>
          </a:ln>
        </p:spPr>
        <p:txBody>
          <a:bodyPr/>
          <a:lstStyle/>
          <a:p>
            <a:endParaRPr lang="es-CO"/>
          </a:p>
        </p:txBody>
      </p:sp>
      <p:sp>
        <p:nvSpPr>
          <p:cNvPr id="23" name="Text 21"/>
          <p:cNvSpPr/>
          <p:nvPr/>
        </p:nvSpPr>
        <p:spPr>
          <a:xfrm>
            <a:off x="365760" y="4709160"/>
            <a:ext cx="8412480" cy="347472"/>
          </a:xfrm>
          <a:prstGeom prst="rect">
            <a:avLst/>
          </a:prstGeom>
          <a:noFill/>
          <a:ln/>
        </p:spPr>
        <p:txBody>
          <a:bodyPr wrap="square" rtlCol="0" anchor="ctr"/>
          <a:lstStyle/>
          <a:p>
            <a:pPr marL="0" indent="0">
              <a:buNone/>
            </a:pPr>
            <a:r>
              <a:rPr lang="en-US" sz="1000" b="1" dirty="0">
                <a:solidFill>
                  <a:srgbClr val="E8A838"/>
                </a:solidFill>
                <a:latin typeface="Calibri" pitchFamily="34" charset="0"/>
                <a:ea typeface="Calibri" pitchFamily="34" charset="-122"/>
                <a:cs typeface="Calibri" pitchFamily="34" charset="-120"/>
              </a:rPr>
              <a:t>POBLACIÓN: </a:t>
            </a:r>
            <a:r>
              <a:rPr lang="en-US" sz="1000" dirty="0">
                <a:solidFill>
                  <a:srgbClr val="FFFFFF"/>
                </a:solidFill>
                <a:latin typeface="Calibri" pitchFamily="34" charset="0"/>
                <a:ea typeface="Calibri" pitchFamily="34" charset="-122"/>
                <a:cs typeface="Calibri" pitchFamily="34" charset="-120"/>
              </a:rPr>
              <a:t>Conjunto completo de elementos de interés (ej: todos los hogares colombianos)   </a:t>
            </a:r>
            <a:r>
              <a:rPr lang="en-US" sz="1000" b="1" dirty="0">
                <a:solidFill>
                  <a:srgbClr val="E8A838"/>
                </a:solidFill>
                <a:latin typeface="Calibri" pitchFamily="34" charset="0"/>
                <a:ea typeface="Calibri" pitchFamily="34" charset="-122"/>
                <a:cs typeface="Calibri" pitchFamily="34" charset="-120"/>
              </a:rPr>
              <a:t>MUESTRA: </a:t>
            </a:r>
            <a:r>
              <a:rPr lang="en-US" sz="1000" dirty="0">
                <a:solidFill>
                  <a:srgbClr val="FFFFFF"/>
                </a:solidFill>
                <a:latin typeface="Calibri" pitchFamily="34" charset="0"/>
                <a:ea typeface="Calibri" pitchFamily="34" charset="-122"/>
                <a:cs typeface="Calibri" pitchFamily="34" charset="-120"/>
              </a:rPr>
              <a:t>Subconjunto representativo seleccionado de la población para el análisis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ANÁLISIS EXPLORATORIO DE DATOS (EDA) — Estadística Descriptiva</a:t>
            </a:r>
            <a:endParaRPr lang="en-US" sz="2000" dirty="0"/>
          </a:p>
        </p:txBody>
      </p:sp>
      <p:sp>
        <p:nvSpPr>
          <p:cNvPr id="4" name="Shape 2"/>
          <p:cNvSpPr/>
          <p:nvPr/>
        </p:nvSpPr>
        <p:spPr>
          <a:xfrm>
            <a:off x="274320" y="100584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5" name="Shape 3"/>
          <p:cNvSpPr/>
          <p:nvPr/>
        </p:nvSpPr>
        <p:spPr>
          <a:xfrm>
            <a:off x="274320" y="1005840"/>
            <a:ext cx="4114800" cy="411480"/>
          </a:xfrm>
          <a:prstGeom prst="rect">
            <a:avLst/>
          </a:prstGeom>
          <a:solidFill>
            <a:srgbClr val="0D7377"/>
          </a:solidFill>
          <a:ln w="12700">
            <a:solidFill>
              <a:srgbClr val="0D7377"/>
            </a:solidFill>
            <a:prstDash val="solid"/>
          </a:ln>
        </p:spPr>
        <p:txBody>
          <a:bodyPr/>
          <a:lstStyle/>
          <a:p>
            <a:endParaRPr lang="es-CO"/>
          </a:p>
        </p:txBody>
      </p:sp>
      <p:sp>
        <p:nvSpPr>
          <p:cNvPr id="6" name="Text 4"/>
          <p:cNvSpPr/>
          <p:nvPr/>
        </p:nvSpPr>
        <p:spPr>
          <a:xfrm>
            <a:off x="365760" y="100584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Medidas de Tendencia Central</a:t>
            </a:r>
            <a:endParaRPr lang="en-US" sz="1200" dirty="0"/>
          </a:p>
        </p:txBody>
      </p:sp>
      <p:sp>
        <p:nvSpPr>
          <p:cNvPr id="12" name="Shape 10"/>
          <p:cNvSpPr/>
          <p:nvPr/>
        </p:nvSpPr>
        <p:spPr>
          <a:xfrm>
            <a:off x="4709160" y="100584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3" name="Shape 11"/>
          <p:cNvSpPr/>
          <p:nvPr/>
        </p:nvSpPr>
        <p:spPr>
          <a:xfrm>
            <a:off x="4709160" y="1005840"/>
            <a:ext cx="4114800" cy="411480"/>
          </a:xfrm>
          <a:prstGeom prst="rect">
            <a:avLst/>
          </a:prstGeom>
          <a:solidFill>
            <a:srgbClr val="3776AB"/>
          </a:solidFill>
          <a:ln w="12700">
            <a:solidFill>
              <a:srgbClr val="3776AB"/>
            </a:solidFill>
            <a:prstDash val="solid"/>
          </a:ln>
        </p:spPr>
        <p:txBody>
          <a:bodyPr/>
          <a:lstStyle/>
          <a:p>
            <a:endParaRPr lang="es-CO"/>
          </a:p>
        </p:txBody>
      </p:sp>
      <p:sp>
        <p:nvSpPr>
          <p:cNvPr id="14" name="Text 12"/>
          <p:cNvSpPr/>
          <p:nvPr/>
        </p:nvSpPr>
        <p:spPr>
          <a:xfrm>
            <a:off x="4800600" y="100584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Cuantiles y Forma</a:t>
            </a:r>
            <a:endParaRPr lang="en-US" sz="1200" dirty="0"/>
          </a:p>
        </p:txBody>
      </p:sp>
      <p:sp>
        <p:nvSpPr>
          <p:cNvPr id="20" name="Shape 18"/>
          <p:cNvSpPr/>
          <p:nvPr/>
        </p:nvSpPr>
        <p:spPr>
          <a:xfrm>
            <a:off x="274320" y="301752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1" name="Shape 19"/>
          <p:cNvSpPr/>
          <p:nvPr/>
        </p:nvSpPr>
        <p:spPr>
          <a:xfrm>
            <a:off x="274320" y="3017520"/>
            <a:ext cx="4114800" cy="411480"/>
          </a:xfrm>
          <a:prstGeom prst="rect">
            <a:avLst/>
          </a:prstGeom>
          <a:solidFill>
            <a:srgbClr val="8E44AD"/>
          </a:solidFill>
          <a:ln w="12700">
            <a:solidFill>
              <a:srgbClr val="8E44AD"/>
            </a:solidFill>
            <a:prstDash val="solid"/>
          </a:ln>
        </p:spPr>
        <p:txBody>
          <a:bodyPr/>
          <a:lstStyle/>
          <a:p>
            <a:endParaRPr lang="es-CO"/>
          </a:p>
        </p:txBody>
      </p:sp>
      <p:sp>
        <p:nvSpPr>
          <p:cNvPr id="22" name="Text 20"/>
          <p:cNvSpPr/>
          <p:nvPr/>
        </p:nvSpPr>
        <p:spPr>
          <a:xfrm>
            <a:off x="365760" y="301752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Medidas de Dispersión</a:t>
            </a:r>
            <a:endParaRPr lang="en-US" sz="1200" dirty="0"/>
          </a:p>
        </p:txBody>
      </p:sp>
      <p:sp>
        <p:nvSpPr>
          <p:cNvPr id="28" name="Shape 26"/>
          <p:cNvSpPr/>
          <p:nvPr/>
        </p:nvSpPr>
        <p:spPr>
          <a:xfrm>
            <a:off x="4709160" y="301752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9" name="Shape 27"/>
          <p:cNvSpPr/>
          <p:nvPr/>
        </p:nvSpPr>
        <p:spPr>
          <a:xfrm>
            <a:off x="4709160" y="3017520"/>
            <a:ext cx="4114800" cy="411480"/>
          </a:xfrm>
          <a:prstGeom prst="rect">
            <a:avLst/>
          </a:prstGeom>
          <a:solidFill>
            <a:srgbClr val="E67E22"/>
          </a:solidFill>
          <a:ln w="12700">
            <a:solidFill>
              <a:srgbClr val="E67E22"/>
            </a:solidFill>
            <a:prstDash val="solid"/>
          </a:ln>
        </p:spPr>
        <p:txBody>
          <a:bodyPr/>
          <a:lstStyle/>
          <a:p>
            <a:endParaRPr lang="es-CO"/>
          </a:p>
        </p:txBody>
      </p:sp>
      <p:sp>
        <p:nvSpPr>
          <p:cNvPr id="30" name="Text 28"/>
          <p:cNvSpPr/>
          <p:nvPr/>
        </p:nvSpPr>
        <p:spPr>
          <a:xfrm>
            <a:off x="4800600" y="301752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Visualización de Información</a:t>
            </a:r>
            <a:endParaRPr lang="en-US" sz="1200" dirty="0"/>
          </a:p>
        </p:txBody>
      </p:sp>
      <p:pic>
        <p:nvPicPr>
          <p:cNvPr id="37" name="Imagen 36">
            <a:extLst>
              <a:ext uri="{FF2B5EF4-FFF2-40B4-BE49-F238E27FC236}">
                <a16:creationId xmlns:a16="http://schemas.microsoft.com/office/drawing/2014/main" id="{7EAF49D7-7ECE-1841-CE0A-BEDAEC6C7EEA}"/>
              </a:ext>
            </a:extLst>
          </p:cNvPr>
          <p:cNvPicPr>
            <a:picLocks noChangeAspect="1"/>
          </p:cNvPicPr>
          <p:nvPr/>
        </p:nvPicPr>
        <p:blipFill>
          <a:blip r:embed="rId3"/>
          <a:stretch>
            <a:fillRect/>
          </a:stretch>
        </p:blipFill>
        <p:spPr>
          <a:xfrm>
            <a:off x="876300" y="1431147"/>
            <a:ext cx="2509152" cy="1403493"/>
          </a:xfrm>
          <a:prstGeom prst="rect">
            <a:avLst/>
          </a:prstGeom>
        </p:spPr>
      </p:pic>
      <p:pic>
        <p:nvPicPr>
          <p:cNvPr id="39" name="Imagen 38">
            <a:extLst>
              <a:ext uri="{FF2B5EF4-FFF2-40B4-BE49-F238E27FC236}">
                <a16:creationId xmlns:a16="http://schemas.microsoft.com/office/drawing/2014/main" id="{76B83AC3-81CF-F786-15F4-9A07AFAA0FA7}"/>
              </a:ext>
            </a:extLst>
          </p:cNvPr>
          <p:cNvPicPr>
            <a:picLocks noChangeAspect="1"/>
          </p:cNvPicPr>
          <p:nvPr/>
        </p:nvPicPr>
        <p:blipFill>
          <a:blip r:embed="rId4"/>
          <a:stretch>
            <a:fillRect/>
          </a:stretch>
        </p:blipFill>
        <p:spPr>
          <a:xfrm>
            <a:off x="4754882" y="1464607"/>
            <a:ext cx="2131693" cy="1255655"/>
          </a:xfrm>
          <a:prstGeom prst="rect">
            <a:avLst/>
          </a:prstGeom>
        </p:spPr>
      </p:pic>
      <p:pic>
        <p:nvPicPr>
          <p:cNvPr id="41" name="Imagen 40">
            <a:extLst>
              <a:ext uri="{FF2B5EF4-FFF2-40B4-BE49-F238E27FC236}">
                <a16:creationId xmlns:a16="http://schemas.microsoft.com/office/drawing/2014/main" id="{C96FF7A4-0C26-BA09-27D6-7F495B875CDB}"/>
              </a:ext>
            </a:extLst>
          </p:cNvPr>
          <p:cNvPicPr>
            <a:picLocks noChangeAspect="1"/>
          </p:cNvPicPr>
          <p:nvPr/>
        </p:nvPicPr>
        <p:blipFill>
          <a:blip r:embed="rId5"/>
          <a:srcRect t="36527"/>
          <a:stretch>
            <a:fillRect/>
          </a:stretch>
        </p:blipFill>
        <p:spPr>
          <a:xfrm>
            <a:off x="363035" y="3950970"/>
            <a:ext cx="2000227" cy="890833"/>
          </a:xfrm>
          <a:prstGeom prst="rect">
            <a:avLst/>
          </a:prstGeom>
        </p:spPr>
      </p:pic>
      <p:pic>
        <p:nvPicPr>
          <p:cNvPr id="43" name="Imagen 42">
            <a:extLst>
              <a:ext uri="{FF2B5EF4-FFF2-40B4-BE49-F238E27FC236}">
                <a16:creationId xmlns:a16="http://schemas.microsoft.com/office/drawing/2014/main" id="{7389C403-8FB1-9974-973B-9F50CB3A00F2}"/>
              </a:ext>
            </a:extLst>
          </p:cNvPr>
          <p:cNvPicPr>
            <a:picLocks noChangeAspect="1"/>
          </p:cNvPicPr>
          <p:nvPr/>
        </p:nvPicPr>
        <p:blipFill>
          <a:blip r:embed="rId6"/>
          <a:stretch>
            <a:fillRect/>
          </a:stretch>
        </p:blipFill>
        <p:spPr>
          <a:xfrm>
            <a:off x="320040" y="3482615"/>
            <a:ext cx="2423160" cy="426169"/>
          </a:xfrm>
          <a:prstGeom prst="rect">
            <a:avLst/>
          </a:prstGeom>
        </p:spPr>
      </p:pic>
      <p:pic>
        <p:nvPicPr>
          <p:cNvPr id="45" name="Imagen 44">
            <a:extLst>
              <a:ext uri="{FF2B5EF4-FFF2-40B4-BE49-F238E27FC236}">
                <a16:creationId xmlns:a16="http://schemas.microsoft.com/office/drawing/2014/main" id="{446E9BA1-D3EE-A354-3331-A9D39CE3B57A}"/>
              </a:ext>
            </a:extLst>
          </p:cNvPr>
          <p:cNvPicPr>
            <a:picLocks noChangeAspect="1"/>
          </p:cNvPicPr>
          <p:nvPr/>
        </p:nvPicPr>
        <p:blipFill>
          <a:blip r:embed="rId7"/>
          <a:stretch>
            <a:fillRect/>
          </a:stretch>
        </p:blipFill>
        <p:spPr>
          <a:xfrm>
            <a:off x="2451977" y="3959102"/>
            <a:ext cx="1886427" cy="861902"/>
          </a:xfrm>
          <a:prstGeom prst="rect">
            <a:avLst/>
          </a:prstGeom>
        </p:spPr>
      </p:pic>
      <p:pic>
        <p:nvPicPr>
          <p:cNvPr id="47" name="Imagen 46">
            <a:extLst>
              <a:ext uri="{FF2B5EF4-FFF2-40B4-BE49-F238E27FC236}">
                <a16:creationId xmlns:a16="http://schemas.microsoft.com/office/drawing/2014/main" id="{EBAB4DC7-608F-E047-32DB-F4E3AE55B163}"/>
              </a:ext>
            </a:extLst>
          </p:cNvPr>
          <p:cNvPicPr>
            <a:picLocks noChangeAspect="1"/>
          </p:cNvPicPr>
          <p:nvPr/>
        </p:nvPicPr>
        <p:blipFill>
          <a:blip r:embed="rId8"/>
          <a:stretch>
            <a:fillRect/>
          </a:stretch>
        </p:blipFill>
        <p:spPr>
          <a:xfrm>
            <a:off x="5574611" y="3463181"/>
            <a:ext cx="2054806" cy="1348957"/>
          </a:xfrm>
          <a:prstGeom prst="rect">
            <a:avLst/>
          </a:prstGeom>
        </p:spPr>
      </p:pic>
      <p:pic>
        <p:nvPicPr>
          <p:cNvPr id="49" name="Imagen 48">
            <a:extLst>
              <a:ext uri="{FF2B5EF4-FFF2-40B4-BE49-F238E27FC236}">
                <a16:creationId xmlns:a16="http://schemas.microsoft.com/office/drawing/2014/main" id="{88197026-2851-AAEB-C7A8-88B6840C5E49}"/>
              </a:ext>
            </a:extLst>
          </p:cNvPr>
          <p:cNvPicPr>
            <a:picLocks noChangeAspect="1"/>
          </p:cNvPicPr>
          <p:nvPr/>
        </p:nvPicPr>
        <p:blipFill>
          <a:blip r:embed="rId9"/>
          <a:stretch>
            <a:fillRect/>
          </a:stretch>
        </p:blipFill>
        <p:spPr>
          <a:xfrm flipH="1">
            <a:off x="6911974" y="1800070"/>
            <a:ext cx="1891666" cy="914399"/>
          </a:xfrm>
          <a:prstGeom prst="rect">
            <a:avLst/>
          </a:prstGeom>
        </p:spPr>
      </p:pic>
      <p:pic>
        <p:nvPicPr>
          <p:cNvPr id="51" name="Imagen 50">
            <a:extLst>
              <a:ext uri="{FF2B5EF4-FFF2-40B4-BE49-F238E27FC236}">
                <a16:creationId xmlns:a16="http://schemas.microsoft.com/office/drawing/2014/main" id="{893EF033-90B5-CC64-00E9-87B6962C4094}"/>
              </a:ext>
            </a:extLst>
          </p:cNvPr>
          <p:cNvPicPr>
            <a:picLocks noChangeAspect="1"/>
          </p:cNvPicPr>
          <p:nvPr/>
        </p:nvPicPr>
        <p:blipFill>
          <a:blip r:embed="rId10"/>
          <a:stretch>
            <a:fillRect/>
          </a:stretch>
        </p:blipFill>
        <p:spPr>
          <a:xfrm>
            <a:off x="6949921" y="1475390"/>
            <a:ext cx="1853719" cy="14766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A582A15-ED3B-14D3-B041-795D0A023CC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4E45C43-9482-42E1-E3A7-77D427B32961}"/>
              </a:ext>
            </a:extLst>
          </p:cNvPr>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a:extLst>
              <a:ext uri="{FF2B5EF4-FFF2-40B4-BE49-F238E27FC236}">
                <a16:creationId xmlns:a16="http://schemas.microsoft.com/office/drawing/2014/main" id="{54FB0BD5-FAAC-052C-5123-A57158BF7C79}"/>
              </a:ext>
            </a:extLst>
          </p:cNvPr>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ANÁLISIS EXPLORATORIO DE DATOS (EDA) — Estadística Descriptiva</a:t>
            </a:r>
            <a:endParaRPr lang="en-US" sz="2000" dirty="0"/>
          </a:p>
        </p:txBody>
      </p:sp>
      <p:sp>
        <p:nvSpPr>
          <p:cNvPr id="4" name="Shape 2">
            <a:extLst>
              <a:ext uri="{FF2B5EF4-FFF2-40B4-BE49-F238E27FC236}">
                <a16:creationId xmlns:a16="http://schemas.microsoft.com/office/drawing/2014/main" id="{D03DB021-D1C0-77F3-2F26-B877F0ECE89E}"/>
              </a:ext>
            </a:extLst>
          </p:cNvPr>
          <p:cNvSpPr/>
          <p:nvPr/>
        </p:nvSpPr>
        <p:spPr>
          <a:xfrm>
            <a:off x="274320" y="100584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5" name="Shape 3">
            <a:extLst>
              <a:ext uri="{FF2B5EF4-FFF2-40B4-BE49-F238E27FC236}">
                <a16:creationId xmlns:a16="http://schemas.microsoft.com/office/drawing/2014/main" id="{1D32FE2A-8E9E-D6EE-57C4-ACCCA89F2363}"/>
              </a:ext>
            </a:extLst>
          </p:cNvPr>
          <p:cNvSpPr/>
          <p:nvPr/>
        </p:nvSpPr>
        <p:spPr>
          <a:xfrm>
            <a:off x="274320" y="1005840"/>
            <a:ext cx="4114800" cy="411480"/>
          </a:xfrm>
          <a:prstGeom prst="rect">
            <a:avLst/>
          </a:prstGeom>
          <a:solidFill>
            <a:srgbClr val="0D7377"/>
          </a:solidFill>
          <a:ln w="12700">
            <a:solidFill>
              <a:srgbClr val="0D7377"/>
            </a:solidFill>
            <a:prstDash val="solid"/>
          </a:ln>
        </p:spPr>
        <p:txBody>
          <a:bodyPr/>
          <a:lstStyle/>
          <a:p>
            <a:endParaRPr lang="es-CO"/>
          </a:p>
        </p:txBody>
      </p:sp>
      <p:sp>
        <p:nvSpPr>
          <p:cNvPr id="6" name="Text 4">
            <a:extLst>
              <a:ext uri="{FF2B5EF4-FFF2-40B4-BE49-F238E27FC236}">
                <a16:creationId xmlns:a16="http://schemas.microsoft.com/office/drawing/2014/main" id="{796AC590-31F8-2FAB-A01B-7BF4C1FF23AF}"/>
              </a:ext>
            </a:extLst>
          </p:cNvPr>
          <p:cNvSpPr/>
          <p:nvPr/>
        </p:nvSpPr>
        <p:spPr>
          <a:xfrm>
            <a:off x="365760" y="100584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Medidas de Tendencia Central</a:t>
            </a:r>
            <a:endParaRPr lang="en-US" sz="1200" dirty="0"/>
          </a:p>
        </p:txBody>
      </p:sp>
      <p:sp>
        <p:nvSpPr>
          <p:cNvPr id="7" name="Text 5">
            <a:extLst>
              <a:ext uri="{FF2B5EF4-FFF2-40B4-BE49-F238E27FC236}">
                <a16:creationId xmlns:a16="http://schemas.microsoft.com/office/drawing/2014/main" id="{C149BD00-52C6-AC94-6377-CD07044B1D1C}"/>
              </a:ext>
            </a:extLst>
          </p:cNvPr>
          <p:cNvSpPr/>
          <p:nvPr/>
        </p:nvSpPr>
        <p:spPr>
          <a:xfrm>
            <a:off x="384048" y="1463040"/>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Media (μ): Promedio aritmético de los datos</a:t>
            </a:r>
            <a:endParaRPr lang="en-US" sz="1000" dirty="0"/>
          </a:p>
        </p:txBody>
      </p:sp>
      <p:sp>
        <p:nvSpPr>
          <p:cNvPr id="8" name="Text 6">
            <a:extLst>
              <a:ext uri="{FF2B5EF4-FFF2-40B4-BE49-F238E27FC236}">
                <a16:creationId xmlns:a16="http://schemas.microsoft.com/office/drawing/2014/main" id="{B5B59E20-775F-EA55-70DB-0A74CBA2D88C}"/>
              </a:ext>
            </a:extLst>
          </p:cNvPr>
          <p:cNvSpPr/>
          <p:nvPr/>
        </p:nvSpPr>
        <p:spPr>
          <a:xfrm>
            <a:off x="384048" y="1755648"/>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Mediana: Valor central cuando los datos están ordenados</a:t>
            </a:r>
            <a:endParaRPr lang="en-US" sz="1000" dirty="0"/>
          </a:p>
        </p:txBody>
      </p:sp>
      <p:sp>
        <p:nvSpPr>
          <p:cNvPr id="9" name="Text 7">
            <a:extLst>
              <a:ext uri="{FF2B5EF4-FFF2-40B4-BE49-F238E27FC236}">
                <a16:creationId xmlns:a16="http://schemas.microsoft.com/office/drawing/2014/main" id="{72DFE79F-CAB3-1D84-9BDF-8A06E3EF3EA2}"/>
              </a:ext>
            </a:extLst>
          </p:cNvPr>
          <p:cNvSpPr/>
          <p:nvPr/>
        </p:nvSpPr>
        <p:spPr>
          <a:xfrm>
            <a:off x="384048" y="2048256"/>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Moda: Valor que aparece con mayor frecuencia</a:t>
            </a:r>
            <a:endParaRPr lang="en-US" sz="1000" dirty="0"/>
          </a:p>
        </p:txBody>
      </p:sp>
      <p:sp>
        <p:nvSpPr>
          <p:cNvPr id="10" name="Shape 8">
            <a:extLst>
              <a:ext uri="{FF2B5EF4-FFF2-40B4-BE49-F238E27FC236}">
                <a16:creationId xmlns:a16="http://schemas.microsoft.com/office/drawing/2014/main" id="{B30D7448-05C0-B0DF-29D1-872A12C9B1EA}"/>
              </a:ext>
            </a:extLst>
          </p:cNvPr>
          <p:cNvSpPr/>
          <p:nvPr/>
        </p:nvSpPr>
        <p:spPr>
          <a:xfrm>
            <a:off x="365760" y="2414016"/>
            <a:ext cx="3931920" cy="347472"/>
          </a:xfrm>
          <a:prstGeom prst="rect">
            <a:avLst/>
          </a:prstGeom>
          <a:solidFill>
            <a:srgbClr val="1E1E2E"/>
          </a:solidFill>
          <a:ln w="12700">
            <a:solidFill>
              <a:srgbClr val="1E1E2E"/>
            </a:solidFill>
            <a:prstDash val="solid"/>
          </a:ln>
        </p:spPr>
        <p:txBody>
          <a:bodyPr/>
          <a:lstStyle/>
          <a:p>
            <a:endParaRPr lang="es-CO"/>
          </a:p>
        </p:txBody>
      </p:sp>
      <p:sp>
        <p:nvSpPr>
          <p:cNvPr id="11" name="Text 9">
            <a:extLst>
              <a:ext uri="{FF2B5EF4-FFF2-40B4-BE49-F238E27FC236}">
                <a16:creationId xmlns:a16="http://schemas.microsoft.com/office/drawing/2014/main" id="{750FBFA9-590C-95E6-94A6-32D8B495B346}"/>
              </a:ext>
            </a:extLst>
          </p:cNvPr>
          <p:cNvSpPr/>
          <p:nvPr/>
        </p:nvSpPr>
        <p:spPr>
          <a:xfrm>
            <a:off x="411480" y="2414016"/>
            <a:ext cx="3840480" cy="347472"/>
          </a:xfrm>
          <a:prstGeom prst="rect">
            <a:avLst/>
          </a:prstGeom>
          <a:noFill/>
          <a:ln/>
        </p:spPr>
        <p:txBody>
          <a:bodyPr wrap="square" rtlCol="0" anchor="ctr"/>
          <a:lstStyle/>
          <a:p>
            <a:pPr marL="0" indent="0">
              <a:buNone/>
            </a:pPr>
            <a:r>
              <a:rPr lang="en-US" sz="800" dirty="0">
                <a:solidFill>
                  <a:srgbClr val="FFD43B"/>
                </a:solidFill>
                <a:latin typeface="Consolas" pitchFamily="34" charset="0"/>
                <a:ea typeface="Consolas" pitchFamily="34" charset="-122"/>
                <a:cs typeface="Consolas" pitchFamily="34" charset="-120"/>
              </a:rPr>
              <a:t>🐍  df['col'].mean()</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df['col'].median()</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df['col'].mode()</a:t>
            </a:r>
            <a:endParaRPr lang="en-US" sz="800" dirty="0"/>
          </a:p>
        </p:txBody>
      </p:sp>
      <p:sp>
        <p:nvSpPr>
          <p:cNvPr id="12" name="Shape 10">
            <a:extLst>
              <a:ext uri="{FF2B5EF4-FFF2-40B4-BE49-F238E27FC236}">
                <a16:creationId xmlns:a16="http://schemas.microsoft.com/office/drawing/2014/main" id="{7AE8C732-0B9A-FBC3-4803-E309FFEC60F8}"/>
              </a:ext>
            </a:extLst>
          </p:cNvPr>
          <p:cNvSpPr/>
          <p:nvPr/>
        </p:nvSpPr>
        <p:spPr>
          <a:xfrm>
            <a:off x="4709160" y="100584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3" name="Shape 11">
            <a:extLst>
              <a:ext uri="{FF2B5EF4-FFF2-40B4-BE49-F238E27FC236}">
                <a16:creationId xmlns:a16="http://schemas.microsoft.com/office/drawing/2014/main" id="{EFFCB1F3-7A39-8CEE-A288-0C4F7D0403C0}"/>
              </a:ext>
            </a:extLst>
          </p:cNvPr>
          <p:cNvSpPr/>
          <p:nvPr/>
        </p:nvSpPr>
        <p:spPr>
          <a:xfrm>
            <a:off x="4709160" y="1005840"/>
            <a:ext cx="4114800" cy="411480"/>
          </a:xfrm>
          <a:prstGeom prst="rect">
            <a:avLst/>
          </a:prstGeom>
          <a:solidFill>
            <a:srgbClr val="3776AB"/>
          </a:solidFill>
          <a:ln w="12700">
            <a:solidFill>
              <a:srgbClr val="3776AB"/>
            </a:solidFill>
            <a:prstDash val="solid"/>
          </a:ln>
        </p:spPr>
        <p:txBody>
          <a:bodyPr/>
          <a:lstStyle/>
          <a:p>
            <a:endParaRPr lang="es-CO"/>
          </a:p>
        </p:txBody>
      </p:sp>
      <p:sp>
        <p:nvSpPr>
          <p:cNvPr id="14" name="Text 12">
            <a:extLst>
              <a:ext uri="{FF2B5EF4-FFF2-40B4-BE49-F238E27FC236}">
                <a16:creationId xmlns:a16="http://schemas.microsoft.com/office/drawing/2014/main" id="{0CEE73C1-04A8-B51C-8704-803FF3F11997}"/>
              </a:ext>
            </a:extLst>
          </p:cNvPr>
          <p:cNvSpPr/>
          <p:nvPr/>
        </p:nvSpPr>
        <p:spPr>
          <a:xfrm>
            <a:off x="4800600" y="100584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Cuantiles y Forma</a:t>
            </a:r>
            <a:endParaRPr lang="en-US" sz="1200" dirty="0"/>
          </a:p>
        </p:txBody>
      </p:sp>
      <p:sp>
        <p:nvSpPr>
          <p:cNvPr id="15" name="Text 13">
            <a:extLst>
              <a:ext uri="{FF2B5EF4-FFF2-40B4-BE49-F238E27FC236}">
                <a16:creationId xmlns:a16="http://schemas.microsoft.com/office/drawing/2014/main" id="{EE977802-A87D-187B-6B15-859EDF24D56F}"/>
              </a:ext>
            </a:extLst>
          </p:cNvPr>
          <p:cNvSpPr/>
          <p:nvPr/>
        </p:nvSpPr>
        <p:spPr>
          <a:xfrm>
            <a:off x="4818888" y="1463040"/>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Cuartiles Q1, Q2, Q3: Dividen los datos en 4 partes iguales</a:t>
            </a:r>
            <a:endParaRPr lang="en-US" sz="1000" dirty="0"/>
          </a:p>
        </p:txBody>
      </p:sp>
      <p:sp>
        <p:nvSpPr>
          <p:cNvPr id="16" name="Text 14">
            <a:extLst>
              <a:ext uri="{FF2B5EF4-FFF2-40B4-BE49-F238E27FC236}">
                <a16:creationId xmlns:a16="http://schemas.microsoft.com/office/drawing/2014/main" id="{3397B590-BB20-AE7D-D8A1-EB4D29542349}"/>
              </a:ext>
            </a:extLst>
          </p:cNvPr>
          <p:cNvSpPr/>
          <p:nvPr/>
        </p:nvSpPr>
        <p:spPr>
          <a:xfrm>
            <a:off x="4818888" y="1755648"/>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Percentiles: Posición relativa de un valor en la distribución</a:t>
            </a:r>
            <a:endParaRPr lang="en-US" sz="1000" dirty="0"/>
          </a:p>
        </p:txBody>
      </p:sp>
      <p:sp>
        <p:nvSpPr>
          <p:cNvPr id="17" name="Text 15">
            <a:extLst>
              <a:ext uri="{FF2B5EF4-FFF2-40B4-BE49-F238E27FC236}">
                <a16:creationId xmlns:a16="http://schemas.microsoft.com/office/drawing/2014/main" id="{E8132B6B-A5EC-843E-1F38-A3CA04FC2209}"/>
              </a:ext>
            </a:extLst>
          </p:cNvPr>
          <p:cNvSpPr/>
          <p:nvPr/>
        </p:nvSpPr>
        <p:spPr>
          <a:xfrm>
            <a:off x="4818888" y="2048256"/>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Curtosis: Grado de apuntalamiento de la </a:t>
            </a:r>
            <a:r>
              <a:rPr lang="en-US" sz="1000" dirty="0" err="1">
                <a:solidFill>
                  <a:srgbClr val="1E293B"/>
                </a:solidFill>
                <a:latin typeface="Calibri" pitchFamily="34" charset="0"/>
                <a:ea typeface="Calibri" pitchFamily="34" charset="-122"/>
                <a:cs typeface="Calibri" pitchFamily="34" charset="-120"/>
              </a:rPr>
              <a:t>distribución</a:t>
            </a:r>
            <a:endParaRPr lang="en-US" sz="1000" dirty="0"/>
          </a:p>
        </p:txBody>
      </p:sp>
      <p:sp>
        <p:nvSpPr>
          <p:cNvPr id="18" name="Shape 16">
            <a:extLst>
              <a:ext uri="{FF2B5EF4-FFF2-40B4-BE49-F238E27FC236}">
                <a16:creationId xmlns:a16="http://schemas.microsoft.com/office/drawing/2014/main" id="{0FBF0264-073D-F2AD-134C-BD71030D4E93}"/>
              </a:ext>
            </a:extLst>
          </p:cNvPr>
          <p:cNvSpPr/>
          <p:nvPr/>
        </p:nvSpPr>
        <p:spPr>
          <a:xfrm>
            <a:off x="4800600" y="2414016"/>
            <a:ext cx="3931920" cy="347472"/>
          </a:xfrm>
          <a:prstGeom prst="rect">
            <a:avLst/>
          </a:prstGeom>
          <a:solidFill>
            <a:srgbClr val="1E1E2E"/>
          </a:solidFill>
          <a:ln w="12700">
            <a:solidFill>
              <a:srgbClr val="1E1E2E"/>
            </a:solidFill>
            <a:prstDash val="solid"/>
          </a:ln>
        </p:spPr>
        <p:txBody>
          <a:bodyPr/>
          <a:lstStyle/>
          <a:p>
            <a:endParaRPr lang="es-CO"/>
          </a:p>
        </p:txBody>
      </p:sp>
      <p:sp>
        <p:nvSpPr>
          <p:cNvPr id="19" name="Text 17">
            <a:extLst>
              <a:ext uri="{FF2B5EF4-FFF2-40B4-BE49-F238E27FC236}">
                <a16:creationId xmlns:a16="http://schemas.microsoft.com/office/drawing/2014/main" id="{3C6AA20F-A353-0EAA-99E1-90AD546B481D}"/>
              </a:ext>
            </a:extLst>
          </p:cNvPr>
          <p:cNvSpPr/>
          <p:nvPr/>
        </p:nvSpPr>
        <p:spPr>
          <a:xfrm>
            <a:off x="4846320" y="2414016"/>
            <a:ext cx="3840480" cy="347472"/>
          </a:xfrm>
          <a:prstGeom prst="rect">
            <a:avLst/>
          </a:prstGeom>
          <a:noFill/>
          <a:ln/>
        </p:spPr>
        <p:txBody>
          <a:bodyPr wrap="square" rtlCol="0" anchor="ctr"/>
          <a:lstStyle/>
          <a:p>
            <a:pPr marL="0" indent="0">
              <a:buNone/>
            </a:pPr>
            <a:r>
              <a:rPr lang="en-US" sz="800" dirty="0">
                <a:solidFill>
                  <a:srgbClr val="FFD43B"/>
                </a:solidFill>
                <a:latin typeface="Consolas" pitchFamily="34" charset="0"/>
                <a:ea typeface="Consolas" pitchFamily="34" charset="-122"/>
                <a:cs typeface="Consolas" pitchFamily="34" charset="-120"/>
              </a:rPr>
              <a:t>🐍  df['col'].quantile([.25,.5,.75])</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df['col'].kurtosis()</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df['col'].skew()</a:t>
            </a:r>
            <a:endParaRPr lang="en-US" sz="800" dirty="0"/>
          </a:p>
        </p:txBody>
      </p:sp>
      <p:sp>
        <p:nvSpPr>
          <p:cNvPr id="20" name="Shape 18">
            <a:extLst>
              <a:ext uri="{FF2B5EF4-FFF2-40B4-BE49-F238E27FC236}">
                <a16:creationId xmlns:a16="http://schemas.microsoft.com/office/drawing/2014/main" id="{8477BACD-9973-7A73-69BE-4D7D13919349}"/>
              </a:ext>
            </a:extLst>
          </p:cNvPr>
          <p:cNvSpPr/>
          <p:nvPr/>
        </p:nvSpPr>
        <p:spPr>
          <a:xfrm>
            <a:off x="274320" y="301752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1" name="Shape 19">
            <a:extLst>
              <a:ext uri="{FF2B5EF4-FFF2-40B4-BE49-F238E27FC236}">
                <a16:creationId xmlns:a16="http://schemas.microsoft.com/office/drawing/2014/main" id="{A93E10B7-F9A1-DD11-80E8-40B2B96C9A0A}"/>
              </a:ext>
            </a:extLst>
          </p:cNvPr>
          <p:cNvSpPr/>
          <p:nvPr/>
        </p:nvSpPr>
        <p:spPr>
          <a:xfrm>
            <a:off x="274320" y="3017520"/>
            <a:ext cx="4114800" cy="411480"/>
          </a:xfrm>
          <a:prstGeom prst="rect">
            <a:avLst/>
          </a:prstGeom>
          <a:solidFill>
            <a:srgbClr val="8E44AD"/>
          </a:solidFill>
          <a:ln w="12700">
            <a:solidFill>
              <a:srgbClr val="8E44AD"/>
            </a:solidFill>
            <a:prstDash val="solid"/>
          </a:ln>
        </p:spPr>
        <p:txBody>
          <a:bodyPr/>
          <a:lstStyle/>
          <a:p>
            <a:endParaRPr lang="es-CO"/>
          </a:p>
        </p:txBody>
      </p:sp>
      <p:sp>
        <p:nvSpPr>
          <p:cNvPr id="22" name="Text 20">
            <a:extLst>
              <a:ext uri="{FF2B5EF4-FFF2-40B4-BE49-F238E27FC236}">
                <a16:creationId xmlns:a16="http://schemas.microsoft.com/office/drawing/2014/main" id="{551409D0-5976-2D82-6B21-F36228EB6668}"/>
              </a:ext>
            </a:extLst>
          </p:cNvPr>
          <p:cNvSpPr/>
          <p:nvPr/>
        </p:nvSpPr>
        <p:spPr>
          <a:xfrm>
            <a:off x="365760" y="301752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Medidas de Dispersión</a:t>
            </a:r>
            <a:endParaRPr lang="en-US" sz="1200" dirty="0"/>
          </a:p>
        </p:txBody>
      </p:sp>
      <p:sp>
        <p:nvSpPr>
          <p:cNvPr id="23" name="Text 21">
            <a:extLst>
              <a:ext uri="{FF2B5EF4-FFF2-40B4-BE49-F238E27FC236}">
                <a16:creationId xmlns:a16="http://schemas.microsoft.com/office/drawing/2014/main" id="{C1581E66-536C-E3C1-4916-5BA7F566BB89}"/>
              </a:ext>
            </a:extLst>
          </p:cNvPr>
          <p:cNvSpPr/>
          <p:nvPr/>
        </p:nvSpPr>
        <p:spPr>
          <a:xfrm>
            <a:off x="384048" y="3474720"/>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Desviación estándar (σ): Qué tanto se alejan los datos de la media</a:t>
            </a:r>
            <a:endParaRPr lang="en-US" sz="1000" dirty="0"/>
          </a:p>
        </p:txBody>
      </p:sp>
      <p:sp>
        <p:nvSpPr>
          <p:cNvPr id="24" name="Text 22">
            <a:extLst>
              <a:ext uri="{FF2B5EF4-FFF2-40B4-BE49-F238E27FC236}">
                <a16:creationId xmlns:a16="http://schemas.microsoft.com/office/drawing/2014/main" id="{57C4C94B-79E3-17E5-672B-369D618E4AAE}"/>
              </a:ext>
            </a:extLst>
          </p:cNvPr>
          <p:cNvSpPr/>
          <p:nvPr/>
        </p:nvSpPr>
        <p:spPr>
          <a:xfrm>
            <a:off x="384048" y="3767328"/>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Varianza (σ²): Cuadrado de la desviación estándar</a:t>
            </a:r>
            <a:endParaRPr lang="en-US" sz="1000" dirty="0"/>
          </a:p>
        </p:txBody>
      </p:sp>
      <p:sp>
        <p:nvSpPr>
          <p:cNvPr id="25" name="Text 23">
            <a:extLst>
              <a:ext uri="{FF2B5EF4-FFF2-40B4-BE49-F238E27FC236}">
                <a16:creationId xmlns:a16="http://schemas.microsoft.com/office/drawing/2014/main" id="{732ADDC9-C048-1944-112B-B10FE3BBD6DD}"/>
              </a:ext>
            </a:extLst>
          </p:cNvPr>
          <p:cNvSpPr/>
          <p:nvPr/>
        </p:nvSpPr>
        <p:spPr>
          <a:xfrm>
            <a:off x="384048" y="4059936"/>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Rango: Máximo − Mínimo  ·  Min y Max absolutos</a:t>
            </a:r>
            <a:endParaRPr lang="en-US" sz="1000" dirty="0"/>
          </a:p>
        </p:txBody>
      </p:sp>
      <p:sp>
        <p:nvSpPr>
          <p:cNvPr id="26" name="Shape 24">
            <a:extLst>
              <a:ext uri="{FF2B5EF4-FFF2-40B4-BE49-F238E27FC236}">
                <a16:creationId xmlns:a16="http://schemas.microsoft.com/office/drawing/2014/main" id="{6BEA2A7E-E0E4-114B-4A08-98D14820B136}"/>
              </a:ext>
            </a:extLst>
          </p:cNvPr>
          <p:cNvSpPr/>
          <p:nvPr/>
        </p:nvSpPr>
        <p:spPr>
          <a:xfrm>
            <a:off x="365760" y="4425696"/>
            <a:ext cx="3931920" cy="347472"/>
          </a:xfrm>
          <a:prstGeom prst="rect">
            <a:avLst/>
          </a:prstGeom>
          <a:solidFill>
            <a:srgbClr val="1E1E2E"/>
          </a:solidFill>
          <a:ln w="12700">
            <a:solidFill>
              <a:srgbClr val="1E1E2E"/>
            </a:solidFill>
            <a:prstDash val="solid"/>
          </a:ln>
        </p:spPr>
        <p:txBody>
          <a:bodyPr/>
          <a:lstStyle/>
          <a:p>
            <a:endParaRPr lang="es-CO"/>
          </a:p>
        </p:txBody>
      </p:sp>
      <p:sp>
        <p:nvSpPr>
          <p:cNvPr id="27" name="Text 25">
            <a:extLst>
              <a:ext uri="{FF2B5EF4-FFF2-40B4-BE49-F238E27FC236}">
                <a16:creationId xmlns:a16="http://schemas.microsoft.com/office/drawing/2014/main" id="{13BD74AA-A1B4-716C-2E87-7A35F6333A73}"/>
              </a:ext>
            </a:extLst>
          </p:cNvPr>
          <p:cNvSpPr/>
          <p:nvPr/>
        </p:nvSpPr>
        <p:spPr>
          <a:xfrm>
            <a:off x="411480" y="4425696"/>
            <a:ext cx="3840480" cy="347472"/>
          </a:xfrm>
          <a:prstGeom prst="rect">
            <a:avLst/>
          </a:prstGeom>
          <a:noFill/>
          <a:ln/>
        </p:spPr>
        <p:txBody>
          <a:bodyPr wrap="square" rtlCol="0" anchor="ctr"/>
          <a:lstStyle/>
          <a:p>
            <a:pPr marL="0" indent="0">
              <a:buNone/>
            </a:pPr>
            <a:r>
              <a:rPr lang="en-US" sz="800" dirty="0">
                <a:solidFill>
                  <a:srgbClr val="FFD43B"/>
                </a:solidFill>
                <a:latin typeface="Consolas" pitchFamily="34" charset="0"/>
                <a:ea typeface="Consolas" pitchFamily="34" charset="-122"/>
                <a:cs typeface="Consolas" pitchFamily="34" charset="-120"/>
              </a:rPr>
              <a:t>🐍  df['col'].std()   # σ</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df['col'].var()   # σ²</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df['col'].describe() # todo</a:t>
            </a:r>
            <a:endParaRPr lang="en-US" sz="800" dirty="0"/>
          </a:p>
        </p:txBody>
      </p:sp>
      <p:sp>
        <p:nvSpPr>
          <p:cNvPr id="28" name="Shape 26">
            <a:extLst>
              <a:ext uri="{FF2B5EF4-FFF2-40B4-BE49-F238E27FC236}">
                <a16:creationId xmlns:a16="http://schemas.microsoft.com/office/drawing/2014/main" id="{FE8BB977-834E-0ED4-6C69-729914F45BFB}"/>
              </a:ext>
            </a:extLst>
          </p:cNvPr>
          <p:cNvSpPr/>
          <p:nvPr/>
        </p:nvSpPr>
        <p:spPr>
          <a:xfrm>
            <a:off x="4709160" y="301752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9" name="Shape 27">
            <a:extLst>
              <a:ext uri="{FF2B5EF4-FFF2-40B4-BE49-F238E27FC236}">
                <a16:creationId xmlns:a16="http://schemas.microsoft.com/office/drawing/2014/main" id="{69F02310-C659-BBE3-F1E6-F8C244C89FE8}"/>
              </a:ext>
            </a:extLst>
          </p:cNvPr>
          <p:cNvSpPr/>
          <p:nvPr/>
        </p:nvSpPr>
        <p:spPr>
          <a:xfrm>
            <a:off x="4709160" y="3017520"/>
            <a:ext cx="4114800" cy="411480"/>
          </a:xfrm>
          <a:prstGeom prst="rect">
            <a:avLst/>
          </a:prstGeom>
          <a:solidFill>
            <a:srgbClr val="E67E22"/>
          </a:solidFill>
          <a:ln w="12700">
            <a:solidFill>
              <a:srgbClr val="E67E22"/>
            </a:solidFill>
            <a:prstDash val="solid"/>
          </a:ln>
        </p:spPr>
        <p:txBody>
          <a:bodyPr/>
          <a:lstStyle/>
          <a:p>
            <a:endParaRPr lang="es-CO"/>
          </a:p>
        </p:txBody>
      </p:sp>
      <p:sp>
        <p:nvSpPr>
          <p:cNvPr id="30" name="Text 28">
            <a:extLst>
              <a:ext uri="{FF2B5EF4-FFF2-40B4-BE49-F238E27FC236}">
                <a16:creationId xmlns:a16="http://schemas.microsoft.com/office/drawing/2014/main" id="{D6F58E70-C07C-57E8-0D65-157EE14206EE}"/>
              </a:ext>
            </a:extLst>
          </p:cNvPr>
          <p:cNvSpPr/>
          <p:nvPr/>
        </p:nvSpPr>
        <p:spPr>
          <a:xfrm>
            <a:off x="4800600" y="301752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Visualización de Información</a:t>
            </a:r>
            <a:endParaRPr lang="en-US" sz="1200" dirty="0"/>
          </a:p>
        </p:txBody>
      </p:sp>
      <p:sp>
        <p:nvSpPr>
          <p:cNvPr id="31" name="Text 29">
            <a:extLst>
              <a:ext uri="{FF2B5EF4-FFF2-40B4-BE49-F238E27FC236}">
                <a16:creationId xmlns:a16="http://schemas.microsoft.com/office/drawing/2014/main" id="{221D00FB-60AA-BE32-19CA-C143626ABD4A}"/>
              </a:ext>
            </a:extLst>
          </p:cNvPr>
          <p:cNvSpPr/>
          <p:nvPr/>
        </p:nvSpPr>
        <p:spPr>
          <a:xfrm>
            <a:off x="4818888" y="3474720"/>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Histogramas: Distribución de frecuencias de una variable</a:t>
            </a:r>
            <a:endParaRPr lang="en-US" sz="1000" dirty="0"/>
          </a:p>
        </p:txBody>
      </p:sp>
      <p:sp>
        <p:nvSpPr>
          <p:cNvPr id="32" name="Text 30">
            <a:extLst>
              <a:ext uri="{FF2B5EF4-FFF2-40B4-BE49-F238E27FC236}">
                <a16:creationId xmlns:a16="http://schemas.microsoft.com/office/drawing/2014/main" id="{8AD24851-B235-CA4F-AAD4-D37AF6BF90D5}"/>
              </a:ext>
            </a:extLst>
          </p:cNvPr>
          <p:cNvSpPr/>
          <p:nvPr/>
        </p:nvSpPr>
        <p:spPr>
          <a:xfrm>
            <a:off x="4818888" y="3767328"/>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Boxplots: Mediana, cuartiles y outliers visualmente</a:t>
            </a:r>
            <a:endParaRPr lang="en-US" sz="1000" dirty="0"/>
          </a:p>
        </p:txBody>
      </p:sp>
      <p:sp>
        <p:nvSpPr>
          <p:cNvPr id="33" name="Text 31">
            <a:extLst>
              <a:ext uri="{FF2B5EF4-FFF2-40B4-BE49-F238E27FC236}">
                <a16:creationId xmlns:a16="http://schemas.microsoft.com/office/drawing/2014/main" id="{8843D515-6AAD-08B5-9F79-6531969DC74C}"/>
              </a:ext>
            </a:extLst>
          </p:cNvPr>
          <p:cNvSpPr/>
          <p:nvPr/>
        </p:nvSpPr>
        <p:spPr>
          <a:xfrm>
            <a:off x="4818888" y="4059936"/>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Heatmap de correlación: Relaciones entre múltiples variables</a:t>
            </a:r>
            <a:endParaRPr lang="en-US" sz="1000" dirty="0"/>
          </a:p>
        </p:txBody>
      </p:sp>
      <p:sp>
        <p:nvSpPr>
          <p:cNvPr id="34" name="Shape 32">
            <a:extLst>
              <a:ext uri="{FF2B5EF4-FFF2-40B4-BE49-F238E27FC236}">
                <a16:creationId xmlns:a16="http://schemas.microsoft.com/office/drawing/2014/main" id="{2D9FE1F7-9CD2-5FB3-7E4A-9E1A4D828EEC}"/>
              </a:ext>
            </a:extLst>
          </p:cNvPr>
          <p:cNvSpPr/>
          <p:nvPr/>
        </p:nvSpPr>
        <p:spPr>
          <a:xfrm>
            <a:off x="4800600" y="4425696"/>
            <a:ext cx="3931920" cy="347472"/>
          </a:xfrm>
          <a:prstGeom prst="rect">
            <a:avLst/>
          </a:prstGeom>
          <a:solidFill>
            <a:srgbClr val="1E1E2E"/>
          </a:solidFill>
          <a:ln w="12700">
            <a:solidFill>
              <a:srgbClr val="1E1E2E"/>
            </a:solidFill>
            <a:prstDash val="solid"/>
          </a:ln>
        </p:spPr>
        <p:txBody>
          <a:bodyPr/>
          <a:lstStyle/>
          <a:p>
            <a:endParaRPr lang="es-CO"/>
          </a:p>
        </p:txBody>
      </p:sp>
      <p:sp>
        <p:nvSpPr>
          <p:cNvPr id="35" name="Text 33">
            <a:extLst>
              <a:ext uri="{FF2B5EF4-FFF2-40B4-BE49-F238E27FC236}">
                <a16:creationId xmlns:a16="http://schemas.microsoft.com/office/drawing/2014/main" id="{E1AF5D2B-BA0D-AAF0-0BBD-573DC38D2AAE}"/>
              </a:ext>
            </a:extLst>
          </p:cNvPr>
          <p:cNvSpPr/>
          <p:nvPr/>
        </p:nvSpPr>
        <p:spPr>
          <a:xfrm>
            <a:off x="4846320" y="4425696"/>
            <a:ext cx="3840480" cy="347472"/>
          </a:xfrm>
          <a:prstGeom prst="rect">
            <a:avLst/>
          </a:prstGeom>
          <a:noFill/>
          <a:ln/>
        </p:spPr>
        <p:txBody>
          <a:bodyPr wrap="square" rtlCol="0" anchor="ctr"/>
          <a:lstStyle/>
          <a:p>
            <a:pPr marL="0" indent="0">
              <a:buNone/>
            </a:pPr>
            <a:r>
              <a:rPr lang="en-US" sz="800" dirty="0">
                <a:solidFill>
                  <a:srgbClr val="FFD43B"/>
                </a:solidFill>
                <a:latin typeface="Consolas" pitchFamily="34" charset="0"/>
                <a:ea typeface="Consolas" pitchFamily="34" charset="-122"/>
                <a:cs typeface="Consolas" pitchFamily="34" charset="-120"/>
              </a:rPr>
              <a:t>🐍  sns.histplot(df['col'])</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sns.boxplot(data=df)</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sns.heatmap(df.corr())</a:t>
            </a:r>
            <a:endParaRPr lang="en-US" sz="800" dirty="0"/>
          </a:p>
        </p:txBody>
      </p:sp>
    </p:spTree>
    <p:extLst>
      <p:ext uri="{BB962C8B-B14F-4D97-AF65-F5344CB8AC3E}">
        <p14:creationId xmlns:p14="http://schemas.microsoft.com/office/powerpoint/2010/main" val="397857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7377"/>
          </a:solidFill>
          <a:ln w="12700">
            <a:solidFill>
              <a:srgbClr val="0D7377"/>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ANÁLISIS DE CORRELACIONES Y REGRESIONES — Conceptos Fundamentales</a:t>
            </a:r>
            <a:endParaRPr lang="en-US" sz="2000" dirty="0"/>
          </a:p>
        </p:txBody>
      </p:sp>
      <p:sp>
        <p:nvSpPr>
          <p:cNvPr id="4" name="Shape 2"/>
          <p:cNvSpPr/>
          <p:nvPr/>
        </p:nvSpPr>
        <p:spPr>
          <a:xfrm>
            <a:off x="274320" y="1005840"/>
            <a:ext cx="4114800" cy="3977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5" name="Shape 3"/>
          <p:cNvSpPr/>
          <p:nvPr/>
        </p:nvSpPr>
        <p:spPr>
          <a:xfrm>
            <a:off x="274320" y="1005840"/>
            <a:ext cx="4114800" cy="457200"/>
          </a:xfrm>
          <a:prstGeom prst="rect">
            <a:avLst/>
          </a:prstGeom>
          <a:solidFill>
            <a:srgbClr val="0D7377"/>
          </a:solidFill>
          <a:ln w="12700">
            <a:solidFill>
              <a:srgbClr val="0D7377"/>
            </a:solidFill>
            <a:prstDash val="solid"/>
          </a:ln>
        </p:spPr>
        <p:txBody>
          <a:bodyPr/>
          <a:lstStyle/>
          <a:p>
            <a:endParaRPr lang="es-CO"/>
          </a:p>
        </p:txBody>
      </p:sp>
      <p:sp>
        <p:nvSpPr>
          <p:cNvPr id="6" name="Text 4"/>
          <p:cNvSpPr/>
          <p:nvPr/>
        </p:nvSpPr>
        <p:spPr>
          <a:xfrm>
            <a:off x="365760" y="1005840"/>
            <a:ext cx="39319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ANÁLISIS DE CORRELACIÓN</a:t>
            </a:r>
            <a:endParaRPr lang="en-US" sz="1300" dirty="0"/>
          </a:p>
        </p:txBody>
      </p:sp>
      <p:sp>
        <p:nvSpPr>
          <p:cNvPr id="7" name="Text 5"/>
          <p:cNvSpPr/>
          <p:nvPr/>
        </p:nvSpPr>
        <p:spPr>
          <a:xfrm>
            <a:off x="411480" y="1572768"/>
            <a:ext cx="3886200" cy="256032"/>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¿Qué mide?</a:t>
            </a:r>
            <a:endParaRPr lang="en-US" sz="1100" dirty="0"/>
          </a:p>
        </p:txBody>
      </p:sp>
      <p:sp>
        <p:nvSpPr>
          <p:cNvPr id="8" name="Text 6"/>
          <p:cNvSpPr/>
          <p:nvPr/>
        </p:nvSpPr>
        <p:spPr>
          <a:xfrm>
            <a:off x="411480" y="182880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La fuerza y dirección de la relación lineal entre dos variables continuas.</a:t>
            </a:r>
            <a:endParaRPr lang="en-US" sz="1050" dirty="0"/>
          </a:p>
        </p:txBody>
      </p:sp>
      <p:sp>
        <p:nvSpPr>
          <p:cNvPr id="9" name="Text 7"/>
          <p:cNvSpPr/>
          <p:nvPr/>
        </p:nvSpPr>
        <p:spPr>
          <a:xfrm>
            <a:off x="411480" y="2304288"/>
            <a:ext cx="3886200" cy="256032"/>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Rango:</a:t>
            </a:r>
            <a:endParaRPr lang="en-US" sz="1100" dirty="0"/>
          </a:p>
        </p:txBody>
      </p:sp>
      <p:sp>
        <p:nvSpPr>
          <p:cNvPr id="10" name="Text 8"/>
          <p:cNvSpPr/>
          <p:nvPr/>
        </p:nvSpPr>
        <p:spPr>
          <a:xfrm>
            <a:off x="411480" y="256032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 (correlación negativa perfecta) a +1 (correlación positiva perfecta). 0 = sin relación lineal.</a:t>
            </a:r>
            <a:endParaRPr lang="en-US" sz="1050" dirty="0"/>
          </a:p>
        </p:txBody>
      </p:sp>
      <p:sp>
        <p:nvSpPr>
          <p:cNvPr id="11" name="Text 9"/>
          <p:cNvSpPr/>
          <p:nvPr/>
        </p:nvSpPr>
        <p:spPr>
          <a:xfrm>
            <a:off x="411480" y="3035808"/>
            <a:ext cx="3886200" cy="256032"/>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Limitación:</a:t>
            </a:r>
            <a:endParaRPr lang="en-US" sz="1100" dirty="0"/>
          </a:p>
        </p:txBody>
      </p:sp>
      <p:sp>
        <p:nvSpPr>
          <p:cNvPr id="12" name="Text 10"/>
          <p:cNvSpPr/>
          <p:nvPr/>
        </p:nvSpPr>
        <p:spPr>
          <a:xfrm>
            <a:off x="411480" y="329184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Detecta asociación, NO causalidad. Dos variables pueden correlacionarse por una tercera (variable confusora).</a:t>
            </a:r>
            <a:endParaRPr lang="en-US" sz="1050" dirty="0"/>
          </a:p>
        </p:txBody>
      </p:sp>
      <p:sp>
        <p:nvSpPr>
          <p:cNvPr id="13" name="Text 11"/>
          <p:cNvSpPr/>
          <p:nvPr/>
        </p:nvSpPr>
        <p:spPr>
          <a:xfrm>
            <a:off x="411480" y="3767328"/>
            <a:ext cx="3886200" cy="256032"/>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Uso típico:</a:t>
            </a:r>
            <a:endParaRPr lang="en-US" sz="1100" dirty="0"/>
          </a:p>
        </p:txBody>
      </p:sp>
      <p:sp>
        <p:nvSpPr>
          <p:cNvPr id="14" name="Text 12"/>
          <p:cNvSpPr/>
          <p:nvPr/>
        </p:nvSpPr>
        <p:spPr>
          <a:xfrm>
            <a:off x="411480" y="402336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Paso previo a la regresión para identificar qué variables incluir en el modelo.</a:t>
            </a:r>
            <a:endParaRPr lang="en-US" sz="1050" dirty="0"/>
          </a:p>
        </p:txBody>
      </p:sp>
      <p:sp>
        <p:nvSpPr>
          <p:cNvPr id="15" name="Shape 13"/>
          <p:cNvSpPr/>
          <p:nvPr/>
        </p:nvSpPr>
        <p:spPr>
          <a:xfrm>
            <a:off x="4663440" y="1005840"/>
            <a:ext cx="4114800" cy="3977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6" name="Shape 14"/>
          <p:cNvSpPr/>
          <p:nvPr/>
        </p:nvSpPr>
        <p:spPr>
          <a:xfrm>
            <a:off x="4663440" y="1005840"/>
            <a:ext cx="4114800" cy="457200"/>
          </a:xfrm>
          <a:prstGeom prst="rect">
            <a:avLst/>
          </a:prstGeom>
          <a:solidFill>
            <a:srgbClr val="3776AB"/>
          </a:solidFill>
          <a:ln w="12700">
            <a:solidFill>
              <a:srgbClr val="3776AB"/>
            </a:solidFill>
            <a:prstDash val="solid"/>
          </a:ln>
        </p:spPr>
        <p:txBody>
          <a:bodyPr/>
          <a:lstStyle/>
          <a:p>
            <a:endParaRPr lang="es-CO"/>
          </a:p>
        </p:txBody>
      </p:sp>
      <p:sp>
        <p:nvSpPr>
          <p:cNvPr id="17" name="Text 15"/>
          <p:cNvSpPr/>
          <p:nvPr/>
        </p:nvSpPr>
        <p:spPr>
          <a:xfrm>
            <a:off x="4754880" y="1005840"/>
            <a:ext cx="39319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ANÁLISIS DE REGRESIÓN</a:t>
            </a:r>
            <a:endParaRPr lang="en-US" sz="1300" dirty="0"/>
          </a:p>
        </p:txBody>
      </p:sp>
      <p:sp>
        <p:nvSpPr>
          <p:cNvPr id="18" name="Text 16"/>
          <p:cNvSpPr/>
          <p:nvPr/>
        </p:nvSpPr>
        <p:spPr>
          <a:xfrm>
            <a:off x="4754880" y="1572768"/>
            <a:ext cx="3886200" cy="256032"/>
          </a:xfrm>
          <a:prstGeom prst="rect">
            <a:avLst/>
          </a:prstGeom>
          <a:noFill/>
          <a:ln/>
        </p:spPr>
        <p:txBody>
          <a:bodyPr wrap="square" rtlCol="0" anchor="ctr"/>
          <a:lstStyle/>
          <a:p>
            <a:pPr marL="0" indent="0">
              <a:buNone/>
            </a:pPr>
            <a:r>
              <a:rPr lang="en-US" sz="1100" b="1" dirty="0">
                <a:solidFill>
                  <a:srgbClr val="3776AB"/>
                </a:solidFill>
                <a:latin typeface="Calibri" pitchFamily="34" charset="0"/>
                <a:ea typeface="Calibri" pitchFamily="34" charset="-122"/>
                <a:cs typeface="Calibri" pitchFamily="34" charset="-120"/>
              </a:rPr>
              <a:t>¿Qué hace?</a:t>
            </a:r>
            <a:endParaRPr lang="en-US" sz="1100" dirty="0"/>
          </a:p>
        </p:txBody>
      </p:sp>
      <p:sp>
        <p:nvSpPr>
          <p:cNvPr id="19" name="Text 17"/>
          <p:cNvSpPr/>
          <p:nvPr/>
        </p:nvSpPr>
        <p:spPr>
          <a:xfrm>
            <a:off x="4754880" y="182880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Modela la relación funcional entre una variable dependiente Y y una o más variables independientes X.</a:t>
            </a:r>
            <a:endParaRPr lang="en-US" sz="1050" dirty="0"/>
          </a:p>
        </p:txBody>
      </p:sp>
      <p:sp>
        <p:nvSpPr>
          <p:cNvPr id="20" name="Text 18"/>
          <p:cNvSpPr/>
          <p:nvPr/>
        </p:nvSpPr>
        <p:spPr>
          <a:xfrm>
            <a:off x="4754880" y="2304288"/>
            <a:ext cx="3886200" cy="256032"/>
          </a:xfrm>
          <a:prstGeom prst="rect">
            <a:avLst/>
          </a:prstGeom>
          <a:noFill/>
          <a:ln/>
        </p:spPr>
        <p:txBody>
          <a:bodyPr wrap="square" rtlCol="0" anchor="ctr"/>
          <a:lstStyle/>
          <a:p>
            <a:pPr marL="0" indent="0">
              <a:buNone/>
            </a:pPr>
            <a:r>
              <a:rPr lang="en-US" sz="1100" b="1" dirty="0">
                <a:solidFill>
                  <a:srgbClr val="3776AB"/>
                </a:solidFill>
                <a:latin typeface="Calibri" pitchFamily="34" charset="0"/>
                <a:ea typeface="Calibri" pitchFamily="34" charset="-122"/>
                <a:cs typeface="Calibri" pitchFamily="34" charset="-120"/>
              </a:rPr>
              <a:t>Diferencia con correlación:</a:t>
            </a:r>
            <a:endParaRPr lang="en-US" sz="1100" dirty="0"/>
          </a:p>
        </p:txBody>
      </p:sp>
      <p:sp>
        <p:nvSpPr>
          <p:cNvPr id="21" name="Text 19"/>
          <p:cNvSpPr/>
          <p:nvPr/>
        </p:nvSpPr>
        <p:spPr>
          <a:xfrm>
            <a:off x="4754880" y="256032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La regresión establece una dirección (X → Y), cuantifica el efecto y permite predicciones.</a:t>
            </a:r>
            <a:endParaRPr lang="en-US" sz="1050" dirty="0"/>
          </a:p>
        </p:txBody>
      </p:sp>
      <p:sp>
        <p:nvSpPr>
          <p:cNvPr id="22" name="Text 20"/>
          <p:cNvSpPr/>
          <p:nvPr/>
        </p:nvSpPr>
        <p:spPr>
          <a:xfrm>
            <a:off x="4754880" y="3035808"/>
            <a:ext cx="3886200" cy="256032"/>
          </a:xfrm>
          <a:prstGeom prst="rect">
            <a:avLst/>
          </a:prstGeom>
          <a:noFill/>
          <a:ln/>
        </p:spPr>
        <p:txBody>
          <a:bodyPr wrap="square" rtlCol="0" anchor="ctr"/>
          <a:lstStyle/>
          <a:p>
            <a:pPr marL="0" indent="0">
              <a:buNone/>
            </a:pPr>
            <a:r>
              <a:rPr lang="en-US" sz="1100" b="1" dirty="0">
                <a:solidFill>
                  <a:srgbClr val="3776AB"/>
                </a:solidFill>
                <a:latin typeface="Calibri" pitchFamily="34" charset="0"/>
                <a:ea typeface="Calibri" pitchFamily="34" charset="-122"/>
                <a:cs typeface="Calibri" pitchFamily="34" charset="-120"/>
              </a:rPr>
              <a:t>Tipos principales:</a:t>
            </a:r>
            <a:endParaRPr lang="en-US" sz="1100" dirty="0"/>
          </a:p>
        </p:txBody>
      </p:sp>
      <p:sp>
        <p:nvSpPr>
          <p:cNvPr id="23" name="Text 21"/>
          <p:cNvSpPr/>
          <p:nvPr/>
        </p:nvSpPr>
        <p:spPr>
          <a:xfrm>
            <a:off x="4754880" y="329184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Regresión lineal simple (1 predictor), múltiple (k predictores), logística (Y binaria).</a:t>
            </a:r>
            <a:endParaRPr lang="en-US" sz="1050" dirty="0"/>
          </a:p>
        </p:txBody>
      </p:sp>
      <p:sp>
        <p:nvSpPr>
          <p:cNvPr id="24" name="Text 22"/>
          <p:cNvSpPr/>
          <p:nvPr/>
        </p:nvSpPr>
        <p:spPr>
          <a:xfrm>
            <a:off x="4754880" y="3767328"/>
            <a:ext cx="3886200" cy="256032"/>
          </a:xfrm>
          <a:prstGeom prst="rect">
            <a:avLst/>
          </a:prstGeom>
          <a:noFill/>
          <a:ln/>
        </p:spPr>
        <p:txBody>
          <a:bodyPr wrap="square" rtlCol="0" anchor="ctr"/>
          <a:lstStyle/>
          <a:p>
            <a:pPr marL="0" indent="0">
              <a:buNone/>
            </a:pPr>
            <a:r>
              <a:rPr lang="en-US" sz="1100" b="1" dirty="0">
                <a:solidFill>
                  <a:srgbClr val="3776AB"/>
                </a:solidFill>
                <a:latin typeface="Calibri" pitchFamily="34" charset="0"/>
                <a:ea typeface="Calibri" pitchFamily="34" charset="-122"/>
                <a:cs typeface="Calibri" pitchFamily="34" charset="-120"/>
              </a:rPr>
              <a:t>Producto:</a:t>
            </a:r>
            <a:endParaRPr lang="en-US" sz="1100" dirty="0"/>
          </a:p>
        </p:txBody>
      </p:sp>
      <p:sp>
        <p:nvSpPr>
          <p:cNvPr id="25" name="Text 23"/>
          <p:cNvSpPr/>
          <p:nvPr/>
        </p:nvSpPr>
        <p:spPr>
          <a:xfrm>
            <a:off x="4754880" y="402336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Ecuación Ŷ = β₀ + β₁X₁ + ... + βₖXₖ + ε con medidas de bondad de ajuste.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3B373694-3B1B-E3B3-0656-D6A9C46B388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656E754-1100-0213-AA51-07EB71EE0464}"/>
              </a:ext>
            </a:extLst>
          </p:cNvPr>
          <p:cNvSpPr/>
          <p:nvPr/>
        </p:nvSpPr>
        <p:spPr>
          <a:xfrm>
            <a:off x="0" y="0"/>
            <a:ext cx="9144000" cy="914400"/>
          </a:xfrm>
          <a:prstGeom prst="rect">
            <a:avLst/>
          </a:prstGeom>
          <a:solidFill>
            <a:srgbClr val="0D7377"/>
          </a:solidFill>
          <a:ln w="12700">
            <a:solidFill>
              <a:srgbClr val="0D7377"/>
            </a:solidFill>
            <a:prstDash val="solid"/>
          </a:ln>
        </p:spPr>
        <p:txBody>
          <a:bodyPr/>
          <a:lstStyle/>
          <a:p>
            <a:endParaRPr lang="es-CO"/>
          </a:p>
        </p:txBody>
      </p:sp>
      <p:sp>
        <p:nvSpPr>
          <p:cNvPr id="3" name="Text 1">
            <a:extLst>
              <a:ext uri="{FF2B5EF4-FFF2-40B4-BE49-F238E27FC236}">
                <a16:creationId xmlns:a16="http://schemas.microsoft.com/office/drawing/2014/main" id="{FDA7F1D7-6921-D626-B80E-A565F80E8396}"/>
              </a:ext>
            </a:extLst>
          </p:cNvPr>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ANÁLISIS DE CORRELACIONES Y REGRESIONES — Conceptos Fundamentales</a:t>
            </a:r>
            <a:endParaRPr lang="en-US" sz="2000" dirty="0"/>
          </a:p>
        </p:txBody>
      </p:sp>
      <p:pic>
        <p:nvPicPr>
          <p:cNvPr id="27" name="Imagen 26">
            <a:extLst>
              <a:ext uri="{FF2B5EF4-FFF2-40B4-BE49-F238E27FC236}">
                <a16:creationId xmlns:a16="http://schemas.microsoft.com/office/drawing/2014/main" id="{666C44F6-0FD8-5E5C-78CC-2A4FEC7E8BE6}"/>
              </a:ext>
            </a:extLst>
          </p:cNvPr>
          <p:cNvPicPr>
            <a:picLocks noChangeAspect="1"/>
          </p:cNvPicPr>
          <p:nvPr/>
        </p:nvPicPr>
        <p:blipFill>
          <a:blip r:embed="rId3"/>
          <a:stretch>
            <a:fillRect/>
          </a:stretch>
        </p:blipFill>
        <p:spPr>
          <a:xfrm>
            <a:off x="133350" y="1808887"/>
            <a:ext cx="8877300" cy="1752476"/>
          </a:xfrm>
          <a:prstGeom prst="rect">
            <a:avLst/>
          </a:prstGeom>
        </p:spPr>
      </p:pic>
    </p:spTree>
    <p:extLst>
      <p:ext uri="{BB962C8B-B14F-4D97-AF65-F5344CB8AC3E}">
        <p14:creationId xmlns:p14="http://schemas.microsoft.com/office/powerpoint/2010/main" val="3050000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7377"/>
          </a:solidFill>
          <a:ln w="12700">
            <a:solidFill>
              <a:srgbClr val="0D7377"/>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DIAGRAMAS DE CORRELACIÓN — Definición y Ejemplos</a:t>
            </a:r>
            <a:endParaRPr lang="en-US" sz="2000" dirty="0"/>
          </a:p>
        </p:txBody>
      </p:sp>
      <p:sp>
        <p:nvSpPr>
          <p:cNvPr id="4" name="Text 2"/>
          <p:cNvSpPr/>
          <p:nvPr/>
        </p:nvSpPr>
        <p:spPr>
          <a:xfrm>
            <a:off x="365760" y="987552"/>
            <a:ext cx="8412480" cy="384048"/>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Un diagrama de correlación (scatter plot o mapa de calor) visualiza la relación entre variables, permitiendo detectar patrones antes de ajustar modelos.</a:t>
            </a:r>
            <a:endParaRPr lang="en-US" sz="1150" dirty="0"/>
          </a:p>
        </p:txBody>
      </p:sp>
      <p:sp>
        <p:nvSpPr>
          <p:cNvPr id="5" name="Shape 3"/>
          <p:cNvSpPr/>
          <p:nvPr/>
        </p:nvSpPr>
        <p:spPr>
          <a:xfrm>
            <a:off x="228600" y="1463040"/>
            <a:ext cx="2788920" cy="34747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6" name="Shape 4"/>
          <p:cNvSpPr/>
          <p:nvPr/>
        </p:nvSpPr>
        <p:spPr>
          <a:xfrm>
            <a:off x="228600" y="1463040"/>
            <a:ext cx="2788920" cy="438912"/>
          </a:xfrm>
          <a:prstGeom prst="rect">
            <a:avLst/>
          </a:prstGeom>
          <a:solidFill>
            <a:srgbClr val="0D7377"/>
          </a:solidFill>
          <a:ln w="12700">
            <a:solidFill>
              <a:srgbClr val="0D7377"/>
            </a:solidFill>
            <a:prstDash val="solid"/>
          </a:ln>
        </p:spPr>
        <p:txBody>
          <a:bodyPr/>
          <a:lstStyle/>
          <a:p>
            <a:endParaRPr lang="es-CO"/>
          </a:p>
        </p:txBody>
      </p:sp>
      <p:sp>
        <p:nvSpPr>
          <p:cNvPr id="7" name="Text 5"/>
          <p:cNvSpPr/>
          <p:nvPr/>
        </p:nvSpPr>
        <p:spPr>
          <a:xfrm>
            <a:off x="320040" y="1463040"/>
            <a:ext cx="2606040" cy="438912"/>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Diagrama de Dispersión (Scatter)</a:t>
            </a:r>
            <a:endParaRPr lang="en-US" sz="1150" dirty="0"/>
          </a:p>
        </p:txBody>
      </p:sp>
      <p:sp>
        <p:nvSpPr>
          <p:cNvPr id="8" name="Text 6"/>
          <p:cNvSpPr/>
          <p:nvPr/>
        </p:nvSpPr>
        <p:spPr>
          <a:xfrm>
            <a:off x="320040" y="1965960"/>
            <a:ext cx="2606040" cy="256032"/>
          </a:xfrm>
          <a:prstGeom prst="rect">
            <a:avLst/>
          </a:prstGeom>
          <a:noFill/>
          <a:ln/>
        </p:spPr>
        <p:txBody>
          <a:bodyPr wrap="square" rtlCol="0" anchor="ctr"/>
          <a:lstStyle/>
          <a:p>
            <a:pPr marL="0" indent="0">
              <a:buNone/>
            </a:pPr>
            <a:r>
              <a:rPr lang="en-US" sz="1050" b="1" dirty="0">
                <a:solidFill>
                  <a:srgbClr val="0D7377"/>
                </a:solidFill>
                <a:latin typeface="Calibri" pitchFamily="34" charset="0"/>
                <a:ea typeface="Calibri" pitchFamily="34" charset="-122"/>
                <a:cs typeface="Calibri" pitchFamily="34" charset="-120"/>
              </a:rPr>
              <a:t>Descripción:</a:t>
            </a:r>
            <a:endParaRPr lang="en-US" sz="1050" dirty="0"/>
          </a:p>
        </p:txBody>
      </p:sp>
      <p:sp>
        <p:nvSpPr>
          <p:cNvPr id="9" name="Text 7"/>
          <p:cNvSpPr/>
          <p:nvPr/>
        </p:nvSpPr>
        <p:spPr>
          <a:xfrm>
            <a:off x="320040" y="2231136"/>
            <a:ext cx="2606040" cy="80467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Cada punto = una observación. Eje X = predictor, Eje Y = respuesta. La nube de puntos revela si hay relación lineal, curva o nula.</a:t>
            </a:r>
            <a:endParaRPr lang="en-US" sz="1000" dirty="0"/>
          </a:p>
        </p:txBody>
      </p:sp>
      <p:sp>
        <p:nvSpPr>
          <p:cNvPr id="10" name="Text 8"/>
          <p:cNvSpPr/>
          <p:nvPr/>
        </p:nvSpPr>
        <p:spPr>
          <a:xfrm>
            <a:off x="320040" y="3063240"/>
            <a:ext cx="2606040" cy="256032"/>
          </a:xfrm>
          <a:prstGeom prst="rect">
            <a:avLst/>
          </a:prstGeom>
          <a:noFill/>
          <a:ln/>
        </p:spPr>
        <p:txBody>
          <a:bodyPr wrap="square" rtlCol="0" anchor="ctr"/>
          <a:lstStyle/>
          <a:p>
            <a:pPr marL="0" indent="0">
              <a:buNone/>
            </a:pPr>
            <a:r>
              <a:rPr lang="en-US" sz="1050" b="1" dirty="0">
                <a:solidFill>
                  <a:srgbClr val="0D7377"/>
                </a:solidFill>
                <a:latin typeface="Calibri" pitchFamily="34" charset="0"/>
                <a:ea typeface="Calibri" pitchFamily="34" charset="-122"/>
                <a:cs typeface="Calibri" pitchFamily="34" charset="-120"/>
              </a:rPr>
              <a:t>Ejemplos de uso:</a:t>
            </a:r>
            <a:endParaRPr lang="en-US" sz="1050" dirty="0"/>
          </a:p>
        </p:txBody>
      </p:sp>
      <p:sp>
        <p:nvSpPr>
          <p:cNvPr id="11" name="Text 9"/>
          <p:cNvSpPr/>
          <p:nvPr/>
        </p:nvSpPr>
        <p:spPr>
          <a:xfrm>
            <a:off x="320040" y="3328416"/>
            <a:ext cx="2606040" cy="53035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Precio vivienda vs m²</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Salario vs años educación</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PIB vs inversión</a:t>
            </a:r>
            <a:endParaRPr lang="en-US" sz="1000" dirty="0"/>
          </a:p>
        </p:txBody>
      </p:sp>
      <p:sp>
        <p:nvSpPr>
          <p:cNvPr id="12" name="Shape 10"/>
          <p:cNvSpPr/>
          <p:nvPr/>
        </p:nvSpPr>
        <p:spPr>
          <a:xfrm>
            <a:off x="320040" y="3913632"/>
            <a:ext cx="2606040" cy="896112"/>
          </a:xfrm>
          <a:prstGeom prst="rect">
            <a:avLst/>
          </a:prstGeom>
          <a:solidFill>
            <a:srgbClr val="1E1E2E"/>
          </a:solidFill>
          <a:ln w="12700">
            <a:solidFill>
              <a:srgbClr val="1E1E2E"/>
            </a:solidFill>
            <a:prstDash val="solid"/>
          </a:ln>
        </p:spPr>
        <p:txBody>
          <a:bodyPr/>
          <a:lstStyle/>
          <a:p>
            <a:endParaRPr lang="es-CO"/>
          </a:p>
        </p:txBody>
      </p:sp>
      <p:sp>
        <p:nvSpPr>
          <p:cNvPr id="13" name="Text 11"/>
          <p:cNvSpPr/>
          <p:nvPr/>
        </p:nvSpPr>
        <p:spPr>
          <a:xfrm>
            <a:off x="365760" y="3931920"/>
            <a:ext cx="2514600" cy="859536"/>
          </a:xfrm>
          <a:prstGeom prst="rect">
            <a:avLst/>
          </a:prstGeom>
          <a:noFill/>
          <a:ln/>
        </p:spPr>
        <p:txBody>
          <a:bodyPr wrap="square" rtlCol="0" anchor="t"/>
          <a:lstStyle/>
          <a:p>
            <a:pPr marL="0" indent="0">
              <a:buNone/>
            </a:pPr>
            <a:r>
              <a:rPr lang="en-US" sz="850" dirty="0">
                <a:solidFill>
                  <a:srgbClr val="FFD43B"/>
                </a:solidFill>
                <a:latin typeface="Consolas" pitchFamily="34" charset="0"/>
                <a:ea typeface="Consolas" pitchFamily="34" charset="-122"/>
                <a:cs typeface="Consolas" pitchFamily="34" charset="-120"/>
              </a:rPr>
              <a:t>🐍 sns.scatterplot(x='X', y='Y', data=df)</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sns.regplot(x='X', y='Y', data=df)</a:t>
            </a:r>
            <a:endParaRPr lang="en-US" sz="850" dirty="0"/>
          </a:p>
        </p:txBody>
      </p:sp>
      <p:sp>
        <p:nvSpPr>
          <p:cNvPr id="14" name="Shape 12"/>
          <p:cNvSpPr/>
          <p:nvPr/>
        </p:nvSpPr>
        <p:spPr>
          <a:xfrm>
            <a:off x="3154680" y="1463040"/>
            <a:ext cx="2788920" cy="34747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5" name="Shape 13"/>
          <p:cNvSpPr/>
          <p:nvPr/>
        </p:nvSpPr>
        <p:spPr>
          <a:xfrm>
            <a:off x="3154680" y="1463040"/>
            <a:ext cx="2788920" cy="438912"/>
          </a:xfrm>
          <a:prstGeom prst="rect">
            <a:avLst/>
          </a:prstGeom>
          <a:solidFill>
            <a:srgbClr val="3776AB"/>
          </a:solidFill>
          <a:ln w="12700">
            <a:solidFill>
              <a:srgbClr val="3776AB"/>
            </a:solidFill>
            <a:prstDash val="solid"/>
          </a:ln>
        </p:spPr>
        <p:txBody>
          <a:bodyPr/>
          <a:lstStyle/>
          <a:p>
            <a:endParaRPr lang="es-CO"/>
          </a:p>
        </p:txBody>
      </p:sp>
      <p:sp>
        <p:nvSpPr>
          <p:cNvPr id="16" name="Text 14"/>
          <p:cNvSpPr/>
          <p:nvPr/>
        </p:nvSpPr>
        <p:spPr>
          <a:xfrm>
            <a:off x="3246120" y="1463040"/>
            <a:ext cx="2606040" cy="438912"/>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Heatmap de Correlación</a:t>
            </a:r>
            <a:endParaRPr lang="en-US" sz="1150" dirty="0"/>
          </a:p>
        </p:txBody>
      </p:sp>
      <p:sp>
        <p:nvSpPr>
          <p:cNvPr id="17" name="Text 15"/>
          <p:cNvSpPr/>
          <p:nvPr/>
        </p:nvSpPr>
        <p:spPr>
          <a:xfrm>
            <a:off x="3246120" y="1965960"/>
            <a:ext cx="2606040" cy="256032"/>
          </a:xfrm>
          <a:prstGeom prst="rect">
            <a:avLst/>
          </a:prstGeom>
          <a:noFill/>
          <a:ln/>
        </p:spPr>
        <p:txBody>
          <a:bodyPr wrap="square" rtlCol="0" anchor="ctr"/>
          <a:lstStyle/>
          <a:p>
            <a:pPr marL="0" indent="0">
              <a:buNone/>
            </a:pPr>
            <a:r>
              <a:rPr lang="en-US" sz="1050" b="1" dirty="0">
                <a:solidFill>
                  <a:srgbClr val="3776AB"/>
                </a:solidFill>
                <a:latin typeface="Calibri" pitchFamily="34" charset="0"/>
                <a:ea typeface="Calibri" pitchFamily="34" charset="-122"/>
                <a:cs typeface="Calibri" pitchFamily="34" charset="-120"/>
              </a:rPr>
              <a:t>Descripción:</a:t>
            </a:r>
            <a:endParaRPr lang="en-US" sz="1050" dirty="0"/>
          </a:p>
        </p:txBody>
      </p:sp>
      <p:sp>
        <p:nvSpPr>
          <p:cNvPr id="18" name="Text 16"/>
          <p:cNvSpPr/>
          <p:nvPr/>
        </p:nvSpPr>
        <p:spPr>
          <a:xfrm>
            <a:off x="3246120" y="2231136"/>
            <a:ext cx="2606040" cy="80467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Matriz de colores donde cada celda muestra r entre pares de variables. Colores cálidos = correlación positiva, fríos = negativa.</a:t>
            </a:r>
            <a:endParaRPr lang="en-US" sz="1000" dirty="0"/>
          </a:p>
        </p:txBody>
      </p:sp>
      <p:sp>
        <p:nvSpPr>
          <p:cNvPr id="19" name="Text 17"/>
          <p:cNvSpPr/>
          <p:nvPr/>
        </p:nvSpPr>
        <p:spPr>
          <a:xfrm>
            <a:off x="3246120" y="3063240"/>
            <a:ext cx="2606040" cy="256032"/>
          </a:xfrm>
          <a:prstGeom prst="rect">
            <a:avLst/>
          </a:prstGeom>
          <a:noFill/>
          <a:ln/>
        </p:spPr>
        <p:txBody>
          <a:bodyPr wrap="square" rtlCol="0" anchor="ctr"/>
          <a:lstStyle/>
          <a:p>
            <a:pPr marL="0" indent="0">
              <a:buNone/>
            </a:pPr>
            <a:r>
              <a:rPr lang="en-US" sz="1050" b="1" dirty="0">
                <a:solidFill>
                  <a:srgbClr val="3776AB"/>
                </a:solidFill>
                <a:latin typeface="Calibri" pitchFamily="34" charset="0"/>
                <a:ea typeface="Calibri" pitchFamily="34" charset="-122"/>
                <a:cs typeface="Calibri" pitchFamily="34" charset="-120"/>
              </a:rPr>
              <a:t>Ejemplos de uso:</a:t>
            </a:r>
            <a:endParaRPr lang="en-US" sz="1050" dirty="0"/>
          </a:p>
        </p:txBody>
      </p:sp>
      <p:sp>
        <p:nvSpPr>
          <p:cNvPr id="20" name="Text 18"/>
          <p:cNvSpPr/>
          <p:nvPr/>
        </p:nvSpPr>
        <p:spPr>
          <a:xfrm>
            <a:off x="3246120" y="3328416"/>
            <a:ext cx="2606040" cy="53035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Correlaciones entre variables</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macroeconómicas</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Detección de multicolinealidad</a:t>
            </a:r>
            <a:endParaRPr lang="en-US" sz="1000" dirty="0"/>
          </a:p>
        </p:txBody>
      </p:sp>
      <p:sp>
        <p:nvSpPr>
          <p:cNvPr id="21" name="Shape 19"/>
          <p:cNvSpPr/>
          <p:nvPr/>
        </p:nvSpPr>
        <p:spPr>
          <a:xfrm>
            <a:off x="3246120" y="3913632"/>
            <a:ext cx="2606040" cy="896112"/>
          </a:xfrm>
          <a:prstGeom prst="rect">
            <a:avLst/>
          </a:prstGeom>
          <a:solidFill>
            <a:srgbClr val="1E1E2E"/>
          </a:solidFill>
          <a:ln w="12700">
            <a:solidFill>
              <a:srgbClr val="1E1E2E"/>
            </a:solidFill>
            <a:prstDash val="solid"/>
          </a:ln>
        </p:spPr>
        <p:txBody>
          <a:bodyPr/>
          <a:lstStyle/>
          <a:p>
            <a:endParaRPr lang="es-CO"/>
          </a:p>
        </p:txBody>
      </p:sp>
      <p:sp>
        <p:nvSpPr>
          <p:cNvPr id="22" name="Text 20"/>
          <p:cNvSpPr/>
          <p:nvPr/>
        </p:nvSpPr>
        <p:spPr>
          <a:xfrm>
            <a:off x="3291840" y="3931920"/>
            <a:ext cx="2514600" cy="859536"/>
          </a:xfrm>
          <a:prstGeom prst="rect">
            <a:avLst/>
          </a:prstGeom>
          <a:noFill/>
          <a:ln/>
        </p:spPr>
        <p:txBody>
          <a:bodyPr wrap="square" rtlCol="0" anchor="t"/>
          <a:lstStyle/>
          <a:p>
            <a:pPr marL="0" indent="0">
              <a:buNone/>
            </a:pPr>
            <a:r>
              <a:rPr lang="en-US" sz="850" dirty="0">
                <a:solidFill>
                  <a:srgbClr val="FFD43B"/>
                </a:solidFill>
                <a:latin typeface="Consolas" pitchFamily="34" charset="0"/>
                <a:ea typeface="Consolas" pitchFamily="34" charset="-122"/>
                <a:cs typeface="Consolas" pitchFamily="34" charset="-120"/>
              </a:rPr>
              <a:t>🐍 corr = df.corr()</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sns.heatmap(corr, annot=True,</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  cmap='coolwarm')</a:t>
            </a:r>
            <a:endParaRPr lang="en-US" sz="850" dirty="0"/>
          </a:p>
        </p:txBody>
      </p:sp>
      <p:sp>
        <p:nvSpPr>
          <p:cNvPr id="23" name="Shape 21"/>
          <p:cNvSpPr/>
          <p:nvPr/>
        </p:nvSpPr>
        <p:spPr>
          <a:xfrm>
            <a:off x="6080760" y="1463040"/>
            <a:ext cx="2788920" cy="34747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4" name="Shape 22"/>
          <p:cNvSpPr/>
          <p:nvPr/>
        </p:nvSpPr>
        <p:spPr>
          <a:xfrm>
            <a:off x="6080760" y="1463040"/>
            <a:ext cx="2788920" cy="438912"/>
          </a:xfrm>
          <a:prstGeom prst="rect">
            <a:avLst/>
          </a:prstGeom>
          <a:solidFill>
            <a:srgbClr val="8E44AD"/>
          </a:solidFill>
          <a:ln w="12700">
            <a:solidFill>
              <a:srgbClr val="8E44AD"/>
            </a:solidFill>
            <a:prstDash val="solid"/>
          </a:ln>
        </p:spPr>
        <p:txBody>
          <a:bodyPr/>
          <a:lstStyle/>
          <a:p>
            <a:endParaRPr lang="es-CO"/>
          </a:p>
        </p:txBody>
      </p:sp>
      <p:sp>
        <p:nvSpPr>
          <p:cNvPr id="25" name="Text 23"/>
          <p:cNvSpPr/>
          <p:nvPr/>
        </p:nvSpPr>
        <p:spPr>
          <a:xfrm>
            <a:off x="6172200" y="1463040"/>
            <a:ext cx="2606040" cy="438912"/>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Scatter Matrix (pairplot)</a:t>
            </a:r>
            <a:endParaRPr lang="en-US" sz="1150" dirty="0"/>
          </a:p>
        </p:txBody>
      </p:sp>
      <p:sp>
        <p:nvSpPr>
          <p:cNvPr id="26" name="Text 24"/>
          <p:cNvSpPr/>
          <p:nvPr/>
        </p:nvSpPr>
        <p:spPr>
          <a:xfrm>
            <a:off x="6172200" y="1965960"/>
            <a:ext cx="2606040" cy="256032"/>
          </a:xfrm>
          <a:prstGeom prst="rect">
            <a:avLst/>
          </a:prstGeom>
          <a:noFill/>
          <a:ln/>
        </p:spPr>
        <p:txBody>
          <a:bodyPr wrap="square" rtlCol="0" anchor="ctr"/>
          <a:lstStyle/>
          <a:p>
            <a:pPr marL="0" indent="0">
              <a:buNone/>
            </a:pPr>
            <a:r>
              <a:rPr lang="en-US" sz="1050" b="1" dirty="0">
                <a:solidFill>
                  <a:srgbClr val="8E44AD"/>
                </a:solidFill>
                <a:latin typeface="Calibri" pitchFamily="34" charset="0"/>
                <a:ea typeface="Calibri" pitchFamily="34" charset="-122"/>
                <a:cs typeface="Calibri" pitchFamily="34" charset="-120"/>
              </a:rPr>
              <a:t>Descripción:</a:t>
            </a:r>
            <a:endParaRPr lang="en-US" sz="1050" dirty="0"/>
          </a:p>
        </p:txBody>
      </p:sp>
      <p:sp>
        <p:nvSpPr>
          <p:cNvPr id="27" name="Text 25"/>
          <p:cNvSpPr/>
          <p:nvPr/>
        </p:nvSpPr>
        <p:spPr>
          <a:xfrm>
            <a:off x="6172200" y="2231136"/>
            <a:ext cx="2606040" cy="80467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Matriz de diagramas de dispersión para todas las combinaciones de variables. Ideal para EDA inicial con múltiples predictores.</a:t>
            </a:r>
            <a:endParaRPr lang="en-US" sz="1000" dirty="0"/>
          </a:p>
        </p:txBody>
      </p:sp>
      <p:sp>
        <p:nvSpPr>
          <p:cNvPr id="28" name="Text 26"/>
          <p:cNvSpPr/>
          <p:nvPr/>
        </p:nvSpPr>
        <p:spPr>
          <a:xfrm>
            <a:off x="6172200" y="3063240"/>
            <a:ext cx="2606040" cy="256032"/>
          </a:xfrm>
          <a:prstGeom prst="rect">
            <a:avLst/>
          </a:prstGeom>
          <a:noFill/>
          <a:ln/>
        </p:spPr>
        <p:txBody>
          <a:bodyPr wrap="square" rtlCol="0" anchor="ctr"/>
          <a:lstStyle/>
          <a:p>
            <a:pPr marL="0" indent="0">
              <a:buNone/>
            </a:pPr>
            <a:r>
              <a:rPr lang="en-US" sz="1050" b="1" dirty="0">
                <a:solidFill>
                  <a:srgbClr val="8E44AD"/>
                </a:solidFill>
                <a:latin typeface="Calibri" pitchFamily="34" charset="0"/>
                <a:ea typeface="Calibri" pitchFamily="34" charset="-122"/>
                <a:cs typeface="Calibri" pitchFamily="34" charset="-120"/>
              </a:rPr>
              <a:t>Ejemplos de uso:</a:t>
            </a:r>
            <a:endParaRPr lang="en-US" sz="1050" dirty="0"/>
          </a:p>
        </p:txBody>
      </p:sp>
      <p:sp>
        <p:nvSpPr>
          <p:cNvPr id="29" name="Text 27"/>
          <p:cNvSpPr/>
          <p:nvPr/>
        </p:nvSpPr>
        <p:spPr>
          <a:xfrm>
            <a:off x="6172200" y="3328416"/>
            <a:ext cx="2606040" cy="53035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Exploración de dataset de</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precios, ingresos, edades</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antes de la regresión</a:t>
            </a:r>
            <a:endParaRPr lang="en-US" sz="1000" dirty="0"/>
          </a:p>
        </p:txBody>
      </p:sp>
      <p:sp>
        <p:nvSpPr>
          <p:cNvPr id="30" name="Shape 28"/>
          <p:cNvSpPr/>
          <p:nvPr/>
        </p:nvSpPr>
        <p:spPr>
          <a:xfrm>
            <a:off x="6172200" y="3913632"/>
            <a:ext cx="2606040" cy="896112"/>
          </a:xfrm>
          <a:prstGeom prst="rect">
            <a:avLst/>
          </a:prstGeom>
          <a:solidFill>
            <a:srgbClr val="1E1E2E"/>
          </a:solidFill>
          <a:ln w="12700">
            <a:solidFill>
              <a:srgbClr val="1E1E2E"/>
            </a:solidFill>
            <a:prstDash val="solid"/>
          </a:ln>
        </p:spPr>
        <p:txBody>
          <a:bodyPr/>
          <a:lstStyle/>
          <a:p>
            <a:endParaRPr lang="es-CO"/>
          </a:p>
        </p:txBody>
      </p:sp>
      <p:sp>
        <p:nvSpPr>
          <p:cNvPr id="31" name="Text 29"/>
          <p:cNvSpPr/>
          <p:nvPr/>
        </p:nvSpPr>
        <p:spPr>
          <a:xfrm>
            <a:off x="6217920" y="3931920"/>
            <a:ext cx="2514600" cy="859536"/>
          </a:xfrm>
          <a:prstGeom prst="rect">
            <a:avLst/>
          </a:prstGeom>
          <a:noFill/>
          <a:ln/>
        </p:spPr>
        <p:txBody>
          <a:bodyPr wrap="square" rtlCol="0" anchor="t"/>
          <a:lstStyle/>
          <a:p>
            <a:pPr marL="0" indent="0">
              <a:buNone/>
            </a:pPr>
            <a:r>
              <a:rPr lang="en-US" sz="850" dirty="0">
                <a:solidFill>
                  <a:srgbClr val="FFD43B"/>
                </a:solidFill>
                <a:latin typeface="Consolas" pitchFamily="34" charset="0"/>
                <a:ea typeface="Consolas" pitchFamily="34" charset="-122"/>
                <a:cs typeface="Consolas" pitchFamily="34" charset="-120"/>
              </a:rPr>
              <a:t>🐍 sns.pairplot(df)</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 Con color por categoría:</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sns.pairplot(df, hue='sector')</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5BDC4C2-3C22-411B-B5B5-99FB3445B7FC}"/>
              </a:ext>
            </a:extLst>
          </p:cNvPr>
          <p:cNvSpPr/>
          <p:nvPr/>
        </p:nvSpPr>
        <p:spPr>
          <a:xfrm>
            <a:off x="0" y="0"/>
            <a:ext cx="9144000" cy="762000"/>
          </a:xfrm>
          <a:prstGeom prst="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4351F336-99AA-455C-A066-C49CCDD35246}"/>
              </a:ext>
            </a:extLst>
          </p:cNvPr>
          <p:cNvSpPr txBox="1"/>
          <p:nvPr/>
        </p:nvSpPr>
        <p:spPr>
          <a:xfrm>
            <a:off x="368300" y="101600"/>
            <a:ext cx="8407400" cy="558800"/>
          </a:xfrm>
          <a:prstGeom prst="rect">
            <a:avLst/>
          </a:prstGeom>
          <a:noFill/>
        </p:spPr>
        <p:txBody>
          <a:bodyPr vertOverflow="overflow" vert="horz" wrap="square" rtlCol="0" anchor="ctr" anchorCtr="0">
            <a:spAutoFit/>
          </a:bodyPr>
          <a:lstStyle/>
          <a:p>
            <a:pPr algn="l"/>
            <a:r>
              <a:rPr lang="es-ES" sz="2000" b="1">
                <a:solidFill>
                  <a:srgbClr val="FFFFFF"/>
                </a:solidFill>
                <a:latin typeface="Calibri"/>
                <a:ea typeface="Calibri"/>
                <a:cs typeface="Calibri"/>
              </a:rPr>
              <a:t>DIAGRAMAS DE CORRELACIÓN — Ejemplos Visuales</a:t>
            </a:r>
            <a:endParaRPr lang="es-CO" sz="2000" b="1">
              <a:solidFill>
                <a:srgbClr val="FFFFFF"/>
              </a:solidFill>
              <a:latin typeface="Calibri"/>
              <a:ea typeface="Calibri"/>
              <a:cs typeface="Calibri"/>
            </a:endParaRPr>
          </a:p>
        </p:txBody>
      </p:sp>
      <p:graphicFrame>
        <p:nvGraphicFramePr>
          <p:cNvPr id="101" name="Chart Scatter"/>
          <p:cNvGraphicFramePr/>
          <p:nvPr>
            <p:extLst>
              <p:ext uri="{D42A27DB-BD31-4B8C-83A1-F6EECF244321}">
                <p14:modId xmlns:p14="http://schemas.microsoft.com/office/powerpoint/2010/main" val="308243431"/>
              </p:ext>
            </p:extLst>
          </p:nvPr>
        </p:nvGraphicFramePr>
        <p:xfrm>
          <a:off x="228600" y="1219200"/>
          <a:ext cx="2794000" cy="355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Tabla 4">
            <a:extLst>
              <a:ext uri="{FF2B5EF4-FFF2-40B4-BE49-F238E27FC236}">
                <a16:creationId xmlns:a16="http://schemas.microsoft.com/office/drawing/2014/main" id="{3CEAF8D2-24A9-4B85-AD9C-EBFEAC28A8AE}"/>
              </a:ext>
            </a:extLst>
          </p:cNvPr>
          <p:cNvGraphicFramePr>
            <a:graphicFrameLocks noGrp="1"/>
          </p:cNvGraphicFramePr>
          <p:nvPr>
            <p:extLst>
              <p:ext uri="{D42A27DB-BD31-4B8C-83A1-F6EECF244321}">
                <p14:modId xmlns:p14="http://schemas.microsoft.com/office/powerpoint/2010/main" val="614746154"/>
              </p:ext>
            </p:extLst>
          </p:nvPr>
        </p:nvGraphicFramePr>
        <p:xfrm>
          <a:off x="3175000" y="1397000"/>
          <a:ext cx="2794000" cy="2286000"/>
        </p:xfrm>
        <a:graphic>
          <a:graphicData uri="http://schemas.openxmlformats.org/drawingml/2006/table">
            <a:tbl>
              <a:tblPr firstRow="1" bandRow="1">
                <a:tableStyleId>{5C22544A-7EE6-4342-B048-85BDC9FD1C3A}</a:tableStyleId>
              </a:tblPr>
              <a:tblGrid>
                <a:gridCol w="558800">
                  <a:extLst>
                    <a:ext uri="{9D8B030D-6E8A-4147-A177-3AD203B41FA5}">
                      <a16:colId xmlns:a16="http://schemas.microsoft.com/office/drawing/2014/main" val="3786057880"/>
                    </a:ext>
                  </a:extLst>
                </a:gridCol>
                <a:gridCol w="558800">
                  <a:extLst>
                    <a:ext uri="{9D8B030D-6E8A-4147-A177-3AD203B41FA5}">
                      <a16:colId xmlns:a16="http://schemas.microsoft.com/office/drawing/2014/main" val="3319471429"/>
                    </a:ext>
                  </a:extLst>
                </a:gridCol>
                <a:gridCol w="558800">
                  <a:extLst>
                    <a:ext uri="{9D8B030D-6E8A-4147-A177-3AD203B41FA5}">
                      <a16:colId xmlns:a16="http://schemas.microsoft.com/office/drawing/2014/main" val="3856050507"/>
                    </a:ext>
                  </a:extLst>
                </a:gridCol>
                <a:gridCol w="558800">
                  <a:extLst>
                    <a:ext uri="{9D8B030D-6E8A-4147-A177-3AD203B41FA5}">
                      <a16:colId xmlns:a16="http://schemas.microsoft.com/office/drawing/2014/main" val="4203991248"/>
                    </a:ext>
                  </a:extLst>
                </a:gridCol>
                <a:gridCol w="558800">
                  <a:extLst>
                    <a:ext uri="{9D8B030D-6E8A-4147-A177-3AD203B41FA5}">
                      <a16:colId xmlns:a16="http://schemas.microsoft.com/office/drawing/2014/main" val="3287422576"/>
                    </a:ext>
                  </a:extLst>
                </a:gridCol>
              </a:tblGrid>
              <a:tr h="457200">
                <a:tc>
                  <a:txBody>
                    <a:bodyPr/>
                    <a:lstStyle/>
                    <a:p>
                      <a:pPr algn="ctr"/>
                      <a:endParaRPr lang="es-CO" sz="1000" b="1">
                        <a:solidFill>
                          <a:srgbClr val="FFFFFF"/>
                        </a:solidFill>
                        <a:latin typeface="Calibri"/>
                        <a:ea typeface="Calibri"/>
                        <a:cs typeface="Calibri"/>
                      </a:endParaRPr>
                    </a:p>
                  </a:txBody>
                  <a:tcPr anchor="ctr">
                    <a:solidFill>
                      <a:srgbClr val="3776AB"/>
                    </a:solidFill>
                  </a:tcPr>
                </a:tc>
                <a:tc>
                  <a:txBody>
                    <a:bodyPr/>
                    <a:lstStyle/>
                    <a:p>
                      <a:pPr algn="ctr"/>
                      <a:r>
                        <a:rPr lang="es-CO" sz="1000" b="1">
                          <a:solidFill>
                            <a:srgbClr val="FFFFFF"/>
                          </a:solidFill>
                          <a:latin typeface="Calibri"/>
                          <a:ea typeface="Calibri"/>
                          <a:cs typeface="Calibri"/>
                        </a:rPr>
                        <a:t>Precio</a:t>
                      </a:r>
                    </a:p>
                  </a:txBody>
                  <a:tcPr anchor="ctr">
                    <a:solidFill>
                      <a:srgbClr val="3776AB"/>
                    </a:solidFill>
                  </a:tcPr>
                </a:tc>
                <a:tc>
                  <a:txBody>
                    <a:bodyPr/>
                    <a:lstStyle/>
                    <a:p>
                      <a:pPr algn="ctr"/>
                      <a:r>
                        <a:rPr lang="es-CO" sz="1000" b="1">
                          <a:solidFill>
                            <a:srgbClr val="FFFFFF"/>
                          </a:solidFill>
                          <a:latin typeface="Calibri"/>
                          <a:ea typeface="Calibri"/>
                          <a:cs typeface="Calibri"/>
                        </a:rPr>
                        <a:t>m²</a:t>
                      </a:r>
                    </a:p>
                  </a:txBody>
                  <a:tcPr anchor="ctr">
                    <a:solidFill>
                      <a:srgbClr val="3776AB"/>
                    </a:solidFill>
                  </a:tcPr>
                </a:tc>
                <a:tc>
                  <a:txBody>
                    <a:bodyPr/>
                    <a:lstStyle/>
                    <a:p>
                      <a:pPr algn="ctr"/>
                      <a:r>
                        <a:rPr lang="es-CO" sz="1000" b="1">
                          <a:solidFill>
                            <a:srgbClr val="FFFFFF"/>
                          </a:solidFill>
                          <a:latin typeface="Calibri"/>
                          <a:ea typeface="Calibri"/>
                          <a:cs typeface="Calibri"/>
                        </a:rPr>
                        <a:t>Habitac.</a:t>
                      </a:r>
                    </a:p>
                  </a:txBody>
                  <a:tcPr anchor="ctr">
                    <a:solidFill>
                      <a:srgbClr val="3776AB"/>
                    </a:solidFill>
                  </a:tcPr>
                </a:tc>
                <a:tc>
                  <a:txBody>
                    <a:bodyPr/>
                    <a:lstStyle/>
                    <a:p>
                      <a:pPr algn="ctr"/>
                      <a:r>
                        <a:rPr lang="es-CO" sz="1000" b="1">
                          <a:solidFill>
                            <a:srgbClr val="FFFFFF"/>
                          </a:solidFill>
                          <a:latin typeface="Calibri"/>
                          <a:ea typeface="Calibri"/>
                          <a:cs typeface="Calibri"/>
                        </a:rPr>
                        <a:t>Antigüed.</a:t>
                      </a:r>
                    </a:p>
                  </a:txBody>
                  <a:tcPr anchor="ctr">
                    <a:solidFill>
                      <a:srgbClr val="3776AB"/>
                    </a:solidFill>
                  </a:tcPr>
                </a:tc>
                <a:extLst>
                  <a:ext uri="{0D108BD9-81ED-4DB2-BD59-A6C34878D82A}">
                    <a16:rowId xmlns:a16="http://schemas.microsoft.com/office/drawing/2014/main" val="356378717"/>
                  </a:ext>
                </a:extLst>
              </a:tr>
              <a:tr h="457200">
                <a:tc>
                  <a:txBody>
                    <a:bodyPr/>
                    <a:lstStyle/>
                    <a:p>
                      <a:pPr algn="ctr"/>
                      <a:r>
                        <a:rPr lang="es-CO" sz="1000" b="1">
                          <a:solidFill>
                            <a:srgbClr val="FFFFFF"/>
                          </a:solidFill>
                          <a:latin typeface="Calibri"/>
                          <a:ea typeface="Calibri"/>
                          <a:cs typeface="Calibri"/>
                        </a:rPr>
                        <a:t>Precio</a:t>
                      </a:r>
                    </a:p>
                  </a:txBody>
                  <a:tcPr anchor="ctr">
                    <a:solidFill>
                      <a:srgbClr val="3776AB"/>
                    </a:solidFill>
                  </a:tcPr>
                </a:tc>
                <a:tc>
                  <a:txBody>
                    <a:bodyPr/>
                    <a:lstStyle/>
                    <a:p>
                      <a:pPr algn="ctr"/>
                      <a:r>
                        <a:rPr lang="es-CO" sz="1000" b="1">
                          <a:solidFill>
                            <a:srgbClr val="FFFFFF"/>
                          </a:solidFill>
                          <a:latin typeface="Calibri"/>
                          <a:ea typeface="Calibri"/>
                          <a:cs typeface="Calibri"/>
                        </a:rPr>
                        <a:t>1.00</a:t>
                      </a:r>
                    </a:p>
                  </a:txBody>
                  <a:tcPr anchor="ctr">
                    <a:solidFill>
                      <a:srgbClr val="0D7377"/>
                    </a:solidFill>
                  </a:tcPr>
                </a:tc>
                <a:tc>
                  <a:txBody>
                    <a:bodyPr/>
                    <a:lstStyle/>
                    <a:p>
                      <a:pPr algn="ctr"/>
                      <a:r>
                        <a:rPr lang="es-CO" sz="1000" b="0">
                          <a:solidFill>
                            <a:srgbClr val="FFFFFF"/>
                          </a:solidFill>
                          <a:latin typeface="Calibri"/>
                          <a:ea typeface="Calibri"/>
                          <a:cs typeface="Calibri"/>
                        </a:rPr>
                        <a:t>0.87</a:t>
                      </a:r>
                    </a:p>
                  </a:txBody>
                  <a:tcPr anchor="ctr">
                    <a:solidFill>
                      <a:srgbClr val="0D7377"/>
                    </a:solidFill>
                  </a:tcPr>
                </a:tc>
                <a:tc>
                  <a:txBody>
                    <a:bodyPr/>
                    <a:lstStyle/>
                    <a:p>
                      <a:pPr algn="ctr"/>
                      <a:r>
                        <a:rPr lang="es-CO" sz="1000" b="0">
                          <a:solidFill>
                            <a:srgbClr val="1E293B"/>
                          </a:solidFill>
                          <a:latin typeface="Calibri"/>
                          <a:ea typeface="Calibri"/>
                          <a:cs typeface="Calibri"/>
                        </a:rPr>
                        <a:t>0.72</a:t>
                      </a:r>
                    </a:p>
                  </a:txBody>
                  <a:tcPr anchor="ctr">
                    <a:solidFill>
                      <a:srgbClr val="4DB8A4"/>
                    </a:solidFill>
                  </a:tcPr>
                </a:tc>
                <a:tc>
                  <a:txBody>
                    <a:bodyPr/>
                    <a:lstStyle/>
                    <a:p>
                      <a:pPr algn="ctr"/>
                      <a:r>
                        <a:rPr lang="es-CO" sz="1000" b="0">
                          <a:solidFill>
                            <a:srgbClr val="1E293B"/>
                          </a:solidFill>
                          <a:latin typeface="Calibri"/>
                          <a:ea typeface="Calibri"/>
                          <a:cs typeface="Calibri"/>
                        </a:rPr>
                        <a:t>-0.45</a:t>
                      </a:r>
                    </a:p>
                  </a:txBody>
                  <a:tcPr anchor="ctr">
                    <a:solidFill>
                      <a:srgbClr val="F4A4A4"/>
                    </a:solidFill>
                  </a:tcPr>
                </a:tc>
                <a:extLst>
                  <a:ext uri="{0D108BD9-81ED-4DB2-BD59-A6C34878D82A}">
                    <a16:rowId xmlns:a16="http://schemas.microsoft.com/office/drawing/2014/main" val="3121918904"/>
                  </a:ext>
                </a:extLst>
              </a:tr>
              <a:tr h="457200">
                <a:tc>
                  <a:txBody>
                    <a:bodyPr/>
                    <a:lstStyle/>
                    <a:p>
                      <a:pPr algn="ctr"/>
                      <a:r>
                        <a:rPr lang="es-CO" sz="1000" b="1">
                          <a:solidFill>
                            <a:srgbClr val="FFFFFF"/>
                          </a:solidFill>
                          <a:latin typeface="Calibri"/>
                          <a:ea typeface="Calibri"/>
                          <a:cs typeface="Calibri"/>
                        </a:rPr>
                        <a:t>m²</a:t>
                      </a:r>
                    </a:p>
                  </a:txBody>
                  <a:tcPr anchor="ctr">
                    <a:solidFill>
                      <a:srgbClr val="3776AB"/>
                    </a:solidFill>
                  </a:tcPr>
                </a:tc>
                <a:tc>
                  <a:txBody>
                    <a:bodyPr/>
                    <a:lstStyle/>
                    <a:p>
                      <a:pPr algn="ctr"/>
                      <a:r>
                        <a:rPr lang="es-CO" sz="1000" b="0">
                          <a:solidFill>
                            <a:srgbClr val="FFFFFF"/>
                          </a:solidFill>
                          <a:latin typeface="Calibri"/>
                          <a:ea typeface="Calibri"/>
                          <a:cs typeface="Calibri"/>
                        </a:rPr>
                        <a:t>0.87</a:t>
                      </a:r>
                    </a:p>
                  </a:txBody>
                  <a:tcPr anchor="ctr">
                    <a:solidFill>
                      <a:srgbClr val="0D7377"/>
                    </a:solidFill>
                  </a:tcPr>
                </a:tc>
                <a:tc>
                  <a:txBody>
                    <a:bodyPr/>
                    <a:lstStyle/>
                    <a:p>
                      <a:pPr algn="ctr"/>
                      <a:r>
                        <a:rPr lang="es-CO" sz="1000" b="1">
                          <a:solidFill>
                            <a:srgbClr val="FFFFFF"/>
                          </a:solidFill>
                          <a:latin typeface="Calibri"/>
                          <a:ea typeface="Calibri"/>
                          <a:cs typeface="Calibri"/>
                        </a:rPr>
                        <a:t>1.00</a:t>
                      </a:r>
                    </a:p>
                  </a:txBody>
                  <a:tcPr anchor="ctr">
                    <a:solidFill>
                      <a:srgbClr val="0D7377"/>
                    </a:solidFill>
                  </a:tcPr>
                </a:tc>
                <a:tc>
                  <a:txBody>
                    <a:bodyPr/>
                    <a:lstStyle/>
                    <a:p>
                      <a:pPr algn="ctr"/>
                      <a:r>
                        <a:rPr lang="es-CO" sz="1000" b="0">
                          <a:solidFill>
                            <a:srgbClr val="1E293B"/>
                          </a:solidFill>
                          <a:latin typeface="Calibri"/>
                          <a:ea typeface="Calibri"/>
                          <a:cs typeface="Calibri"/>
                        </a:rPr>
                        <a:t>0.65</a:t>
                      </a:r>
                    </a:p>
                  </a:txBody>
                  <a:tcPr anchor="ctr">
                    <a:solidFill>
                      <a:srgbClr val="4DB8A4"/>
                    </a:solidFill>
                  </a:tcPr>
                </a:tc>
                <a:tc>
                  <a:txBody>
                    <a:bodyPr/>
                    <a:lstStyle/>
                    <a:p>
                      <a:pPr algn="ctr"/>
                      <a:r>
                        <a:rPr lang="es-CO" sz="1000" b="0">
                          <a:solidFill>
                            <a:srgbClr val="1E293B"/>
                          </a:solidFill>
                          <a:latin typeface="Calibri"/>
                          <a:ea typeface="Calibri"/>
                          <a:cs typeface="Calibri"/>
                        </a:rPr>
                        <a:t>-0.38</a:t>
                      </a:r>
                    </a:p>
                  </a:txBody>
                  <a:tcPr anchor="ctr">
                    <a:solidFill>
                      <a:srgbClr val="F4A4A4"/>
                    </a:solidFill>
                  </a:tcPr>
                </a:tc>
                <a:extLst>
                  <a:ext uri="{0D108BD9-81ED-4DB2-BD59-A6C34878D82A}">
                    <a16:rowId xmlns:a16="http://schemas.microsoft.com/office/drawing/2014/main" val="1754443414"/>
                  </a:ext>
                </a:extLst>
              </a:tr>
              <a:tr h="457200">
                <a:tc>
                  <a:txBody>
                    <a:bodyPr/>
                    <a:lstStyle/>
                    <a:p>
                      <a:pPr algn="ctr"/>
                      <a:r>
                        <a:rPr lang="es-CO" sz="1000" b="1">
                          <a:solidFill>
                            <a:srgbClr val="FFFFFF"/>
                          </a:solidFill>
                          <a:latin typeface="Calibri"/>
                          <a:ea typeface="Calibri"/>
                          <a:cs typeface="Calibri"/>
                        </a:rPr>
                        <a:t>Habitac.</a:t>
                      </a:r>
                    </a:p>
                  </a:txBody>
                  <a:tcPr anchor="ctr">
                    <a:solidFill>
                      <a:srgbClr val="3776AB"/>
                    </a:solidFill>
                  </a:tcPr>
                </a:tc>
                <a:tc>
                  <a:txBody>
                    <a:bodyPr/>
                    <a:lstStyle/>
                    <a:p>
                      <a:pPr algn="ctr"/>
                      <a:r>
                        <a:rPr lang="es-CO" sz="1000" b="0">
                          <a:solidFill>
                            <a:srgbClr val="1E293B"/>
                          </a:solidFill>
                          <a:latin typeface="Calibri"/>
                          <a:ea typeface="Calibri"/>
                          <a:cs typeface="Calibri"/>
                        </a:rPr>
                        <a:t>0.72</a:t>
                      </a:r>
                    </a:p>
                  </a:txBody>
                  <a:tcPr anchor="ctr">
                    <a:solidFill>
                      <a:srgbClr val="4DB8A4"/>
                    </a:solidFill>
                  </a:tcPr>
                </a:tc>
                <a:tc>
                  <a:txBody>
                    <a:bodyPr/>
                    <a:lstStyle/>
                    <a:p>
                      <a:pPr algn="ctr"/>
                      <a:r>
                        <a:rPr lang="es-CO" sz="1000" b="0">
                          <a:solidFill>
                            <a:srgbClr val="1E293B"/>
                          </a:solidFill>
                          <a:latin typeface="Calibri"/>
                          <a:ea typeface="Calibri"/>
                          <a:cs typeface="Calibri"/>
                        </a:rPr>
                        <a:t>0.65</a:t>
                      </a:r>
                    </a:p>
                  </a:txBody>
                  <a:tcPr anchor="ctr">
                    <a:solidFill>
                      <a:srgbClr val="4DB8A4"/>
                    </a:solidFill>
                  </a:tcPr>
                </a:tc>
                <a:tc>
                  <a:txBody>
                    <a:bodyPr/>
                    <a:lstStyle/>
                    <a:p>
                      <a:pPr algn="ctr"/>
                      <a:r>
                        <a:rPr lang="es-CO" sz="1000" b="1">
                          <a:solidFill>
                            <a:srgbClr val="FFFFFF"/>
                          </a:solidFill>
                          <a:latin typeface="Calibri"/>
                          <a:ea typeface="Calibri"/>
                          <a:cs typeface="Calibri"/>
                        </a:rPr>
                        <a:t>1.00</a:t>
                      </a:r>
                    </a:p>
                  </a:txBody>
                  <a:tcPr anchor="ctr">
                    <a:solidFill>
                      <a:srgbClr val="0D7377"/>
                    </a:solidFill>
                  </a:tcPr>
                </a:tc>
                <a:tc>
                  <a:txBody>
                    <a:bodyPr/>
                    <a:lstStyle/>
                    <a:p>
                      <a:pPr algn="ctr"/>
                      <a:r>
                        <a:rPr lang="es-CO" sz="1000" b="0">
                          <a:solidFill>
                            <a:srgbClr val="1E293B"/>
                          </a:solidFill>
                          <a:latin typeface="Calibri"/>
                          <a:ea typeface="Calibri"/>
                          <a:cs typeface="Calibri"/>
                        </a:rPr>
                        <a:t>-0.22</a:t>
                      </a:r>
                    </a:p>
                  </a:txBody>
                  <a:tcPr anchor="ctr">
                    <a:solidFill>
                      <a:srgbClr val="F4A4A4"/>
                    </a:solidFill>
                  </a:tcPr>
                </a:tc>
                <a:extLst>
                  <a:ext uri="{0D108BD9-81ED-4DB2-BD59-A6C34878D82A}">
                    <a16:rowId xmlns:a16="http://schemas.microsoft.com/office/drawing/2014/main" val="1927776058"/>
                  </a:ext>
                </a:extLst>
              </a:tr>
              <a:tr h="457200">
                <a:tc>
                  <a:txBody>
                    <a:bodyPr/>
                    <a:lstStyle/>
                    <a:p>
                      <a:pPr algn="ctr"/>
                      <a:r>
                        <a:rPr lang="es-CO" sz="1000" b="1">
                          <a:solidFill>
                            <a:srgbClr val="FFFFFF"/>
                          </a:solidFill>
                          <a:latin typeface="Calibri"/>
                          <a:ea typeface="Calibri"/>
                          <a:cs typeface="Calibri"/>
                        </a:rPr>
                        <a:t>Antigüed.</a:t>
                      </a:r>
                    </a:p>
                  </a:txBody>
                  <a:tcPr anchor="ctr">
                    <a:solidFill>
                      <a:srgbClr val="3776AB"/>
                    </a:solidFill>
                  </a:tcPr>
                </a:tc>
                <a:tc>
                  <a:txBody>
                    <a:bodyPr/>
                    <a:lstStyle/>
                    <a:p>
                      <a:pPr algn="ctr"/>
                      <a:r>
                        <a:rPr lang="es-CO" sz="1000" b="0">
                          <a:solidFill>
                            <a:srgbClr val="1E293B"/>
                          </a:solidFill>
                          <a:latin typeface="Calibri"/>
                          <a:ea typeface="Calibri"/>
                          <a:cs typeface="Calibri"/>
                        </a:rPr>
                        <a:t>-0.45</a:t>
                      </a:r>
                    </a:p>
                  </a:txBody>
                  <a:tcPr anchor="ctr">
                    <a:solidFill>
                      <a:srgbClr val="F4A4A4"/>
                    </a:solidFill>
                  </a:tcPr>
                </a:tc>
                <a:tc>
                  <a:txBody>
                    <a:bodyPr/>
                    <a:lstStyle/>
                    <a:p>
                      <a:pPr algn="ctr"/>
                      <a:r>
                        <a:rPr lang="es-CO" sz="1000" b="0">
                          <a:solidFill>
                            <a:srgbClr val="1E293B"/>
                          </a:solidFill>
                          <a:latin typeface="Calibri"/>
                          <a:ea typeface="Calibri"/>
                          <a:cs typeface="Calibri"/>
                        </a:rPr>
                        <a:t>-0.38</a:t>
                      </a:r>
                    </a:p>
                  </a:txBody>
                  <a:tcPr anchor="ctr">
                    <a:solidFill>
                      <a:srgbClr val="F4A4A4"/>
                    </a:solidFill>
                  </a:tcPr>
                </a:tc>
                <a:tc>
                  <a:txBody>
                    <a:bodyPr/>
                    <a:lstStyle/>
                    <a:p>
                      <a:pPr algn="ctr"/>
                      <a:r>
                        <a:rPr lang="es-CO" sz="1000" b="0">
                          <a:solidFill>
                            <a:srgbClr val="1E293B"/>
                          </a:solidFill>
                          <a:latin typeface="Calibri"/>
                          <a:ea typeface="Calibri"/>
                          <a:cs typeface="Calibri"/>
                        </a:rPr>
                        <a:t>-0.22</a:t>
                      </a:r>
                    </a:p>
                  </a:txBody>
                  <a:tcPr anchor="ctr">
                    <a:solidFill>
                      <a:srgbClr val="F4A4A4"/>
                    </a:solidFill>
                  </a:tcPr>
                </a:tc>
                <a:tc>
                  <a:txBody>
                    <a:bodyPr/>
                    <a:lstStyle/>
                    <a:p>
                      <a:pPr algn="ctr"/>
                      <a:r>
                        <a:rPr lang="es-CO" sz="1000" b="1">
                          <a:solidFill>
                            <a:srgbClr val="FFFFFF"/>
                          </a:solidFill>
                          <a:latin typeface="Calibri"/>
                          <a:ea typeface="Calibri"/>
                          <a:cs typeface="Calibri"/>
                        </a:rPr>
                        <a:t>1.00</a:t>
                      </a:r>
                    </a:p>
                  </a:txBody>
                  <a:tcPr anchor="ctr">
                    <a:solidFill>
                      <a:srgbClr val="0D7377"/>
                    </a:solidFill>
                  </a:tcPr>
                </a:tc>
                <a:extLst>
                  <a:ext uri="{0D108BD9-81ED-4DB2-BD59-A6C34878D82A}">
                    <a16:rowId xmlns:a16="http://schemas.microsoft.com/office/drawing/2014/main" val="650058291"/>
                  </a:ext>
                </a:extLst>
              </a:tr>
            </a:tbl>
          </a:graphicData>
        </a:graphic>
      </p:graphicFrame>
      <p:sp>
        <p:nvSpPr>
          <p:cNvPr id="6" name="CuadroTexto 5">
            <a:extLst>
              <a:ext uri="{FF2B5EF4-FFF2-40B4-BE49-F238E27FC236}">
                <a16:creationId xmlns:a16="http://schemas.microsoft.com/office/drawing/2014/main" id="{3CEC6005-5E51-4158-95D6-79A3B00FC8FC}"/>
              </a:ext>
            </a:extLst>
          </p:cNvPr>
          <p:cNvSpPr txBox="1"/>
          <p:nvPr/>
        </p:nvSpPr>
        <p:spPr>
          <a:xfrm>
            <a:off x="3175000" y="990600"/>
            <a:ext cx="2794000" cy="203200"/>
          </a:xfrm>
          <a:prstGeom prst="rect">
            <a:avLst/>
          </a:prstGeom>
          <a:noFill/>
        </p:spPr>
        <p:txBody>
          <a:bodyPr vertOverflow="overflow" vert="horz" wrap="square" rtlCol="0" anchor="t">
            <a:spAutoFit/>
          </a:bodyPr>
          <a:lstStyle/>
          <a:p>
            <a:pPr algn="l"/>
            <a:r>
              <a:rPr lang="es-CO" sz="1200" b="1">
                <a:solidFill>
                  <a:srgbClr val="3776AB"/>
                </a:solidFill>
                <a:latin typeface="Calibri"/>
                <a:ea typeface="Calibri"/>
                <a:cs typeface="Calibri"/>
              </a:rPr>
              <a:t>Heatmap de Correlación</a:t>
            </a:r>
          </a:p>
        </p:txBody>
      </p:sp>
      <p:graphicFrame>
        <p:nvGraphicFramePr>
          <p:cNvPr id="202" name="Pairplot 1"/>
          <p:cNvGraphicFramePr/>
          <p:nvPr>
            <p:extLst>
              <p:ext uri="{D42A27DB-BD31-4B8C-83A1-F6EECF244321}">
                <p14:modId xmlns:p14="http://schemas.microsoft.com/office/powerpoint/2010/main" val="3425072135"/>
              </p:ext>
            </p:extLst>
          </p:nvPr>
        </p:nvGraphicFramePr>
        <p:xfrm>
          <a:off x="6172200" y="1270000"/>
          <a:ext cx="1333500" cy="17145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3" name="Pairplot 2"/>
          <p:cNvGraphicFramePr/>
          <p:nvPr>
            <p:extLst>
              <p:ext uri="{D42A27DB-BD31-4B8C-83A1-F6EECF244321}">
                <p14:modId xmlns:p14="http://schemas.microsoft.com/office/powerpoint/2010/main" val="3399889615"/>
              </p:ext>
            </p:extLst>
          </p:nvPr>
        </p:nvGraphicFramePr>
        <p:xfrm>
          <a:off x="7569200" y="1270000"/>
          <a:ext cx="1333500" cy="17145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4" name="Pairplot 3"/>
          <p:cNvGraphicFramePr/>
          <p:nvPr>
            <p:extLst>
              <p:ext uri="{D42A27DB-BD31-4B8C-83A1-F6EECF244321}">
                <p14:modId xmlns:p14="http://schemas.microsoft.com/office/powerpoint/2010/main" val="2977308781"/>
              </p:ext>
            </p:extLst>
          </p:nvPr>
        </p:nvGraphicFramePr>
        <p:xfrm>
          <a:off x="6172200" y="3073400"/>
          <a:ext cx="1333500" cy="17145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05" name="Pairplot 4"/>
          <p:cNvGraphicFramePr/>
          <p:nvPr>
            <p:extLst>
              <p:ext uri="{D42A27DB-BD31-4B8C-83A1-F6EECF244321}">
                <p14:modId xmlns:p14="http://schemas.microsoft.com/office/powerpoint/2010/main" val="3067993482"/>
              </p:ext>
            </p:extLst>
          </p:nvPr>
        </p:nvGraphicFramePr>
        <p:xfrm>
          <a:off x="7569200" y="3073400"/>
          <a:ext cx="1333500" cy="1714500"/>
        </p:xfrm>
        <a:graphic>
          <a:graphicData uri="http://schemas.openxmlformats.org/drawingml/2006/chart">
            <c:chart xmlns:c="http://schemas.openxmlformats.org/drawingml/2006/chart" xmlns:r="http://schemas.openxmlformats.org/officeDocument/2006/relationships" r:id="rId6"/>
          </a:graphicData>
        </a:graphic>
      </p:graphicFrame>
      <p:sp>
        <p:nvSpPr>
          <p:cNvPr id="4" name="CuadroTexto 3">
            <a:extLst>
              <a:ext uri="{FF2B5EF4-FFF2-40B4-BE49-F238E27FC236}">
                <a16:creationId xmlns:a16="http://schemas.microsoft.com/office/drawing/2014/main" id="{30A80502-0673-426D-9B8F-AAC882CE8A6B}"/>
              </a:ext>
            </a:extLst>
          </p:cNvPr>
          <p:cNvSpPr txBox="1"/>
          <p:nvPr/>
        </p:nvSpPr>
        <p:spPr>
          <a:xfrm>
            <a:off x="368300" y="774700"/>
            <a:ext cx="8407400" cy="177800"/>
          </a:xfrm>
          <a:prstGeom prst="rect">
            <a:avLst/>
          </a:prstGeom>
          <a:noFill/>
        </p:spPr>
        <p:txBody>
          <a:bodyPr vertOverflow="overflow" vert="horz" wrap="square" rtlCol="0" anchor="t">
            <a:spAutoFit/>
          </a:bodyPr>
          <a:lstStyle/>
          <a:p>
            <a:pPr algn="l"/>
            <a:r>
              <a:rPr lang="es-ES" sz="1000">
                <a:solidFill>
                  <a:srgbClr val="1E293B"/>
                </a:solidFill>
                <a:latin typeface="Calibri"/>
                <a:ea typeface="Calibri"/>
                <a:cs typeface="Calibri"/>
              </a:rPr>
              <a:t>Ejemplo práctico con datos de viviendas: precio, superficie, habitaciones y antigüedad.</a:t>
            </a:r>
            <a:endParaRPr lang="es-CO" sz="1000">
              <a:solidFill>
                <a:srgbClr val="1E293B"/>
              </a:solidFill>
              <a:latin typeface="Calibri"/>
              <a:ea typeface="Calibri"/>
              <a:cs typeface="Calibri"/>
            </a:endParaRPr>
          </a:p>
        </p:txBody>
      </p:sp>
      <p:sp>
        <p:nvSpPr>
          <p:cNvPr id="7" name="CuadroTexto 6">
            <a:extLst>
              <a:ext uri="{FF2B5EF4-FFF2-40B4-BE49-F238E27FC236}">
                <a16:creationId xmlns:a16="http://schemas.microsoft.com/office/drawing/2014/main" id="{CE5EC002-6CAB-43FE-8D48-185E41E7B1D5}"/>
              </a:ext>
            </a:extLst>
          </p:cNvPr>
          <p:cNvSpPr txBox="1"/>
          <p:nvPr/>
        </p:nvSpPr>
        <p:spPr>
          <a:xfrm>
            <a:off x="228600" y="990600"/>
            <a:ext cx="2794000" cy="203200"/>
          </a:xfrm>
          <a:prstGeom prst="rect">
            <a:avLst/>
          </a:prstGeom>
          <a:noFill/>
        </p:spPr>
        <p:txBody>
          <a:bodyPr vertOverflow="overflow" vert="horz" wrap="square" rtlCol="0" anchor="t">
            <a:spAutoFit/>
          </a:bodyPr>
          <a:lstStyle/>
          <a:p>
            <a:pPr algn="l"/>
            <a:r>
              <a:rPr lang="es-CO" sz="1200" b="1">
                <a:solidFill>
                  <a:srgbClr val="0D7377"/>
                </a:solidFill>
                <a:latin typeface="Calibri"/>
                <a:ea typeface="Calibri"/>
                <a:cs typeface="Calibri"/>
              </a:rPr>
              <a:t>Diagrama de Dispersión</a:t>
            </a:r>
          </a:p>
        </p:txBody>
      </p:sp>
      <p:sp>
        <p:nvSpPr>
          <p:cNvPr id="8" name="CuadroTexto 7">
            <a:extLst>
              <a:ext uri="{FF2B5EF4-FFF2-40B4-BE49-F238E27FC236}">
                <a16:creationId xmlns:a16="http://schemas.microsoft.com/office/drawing/2014/main" id="{5760D10E-6C80-402B-AE45-AAA6E3E0B044}"/>
              </a:ext>
            </a:extLst>
          </p:cNvPr>
          <p:cNvSpPr txBox="1"/>
          <p:nvPr/>
        </p:nvSpPr>
        <p:spPr>
          <a:xfrm>
            <a:off x="6172200" y="990600"/>
            <a:ext cx="2730500" cy="203200"/>
          </a:xfrm>
          <a:prstGeom prst="rect">
            <a:avLst/>
          </a:prstGeom>
          <a:noFill/>
        </p:spPr>
        <p:txBody>
          <a:bodyPr vertOverflow="overflow" vert="horz" wrap="square" rtlCol="0" anchor="t">
            <a:spAutoFit/>
          </a:bodyPr>
          <a:lstStyle/>
          <a:p>
            <a:pPr algn="l"/>
            <a:r>
              <a:rPr lang="es-CO" sz="1200" b="1">
                <a:solidFill>
                  <a:srgbClr val="8E44AD"/>
                </a:solidFill>
                <a:latin typeface="Calibri"/>
                <a:ea typeface="Calibri"/>
                <a:cs typeface="Calibri"/>
              </a:rPr>
              <a:t>Scatter Matrix (Pairplot)</a:t>
            </a:r>
          </a:p>
        </p:txBody>
      </p:sp>
      <p:sp>
        <p:nvSpPr>
          <p:cNvPr id="9" name="CuadroTexto 8">
            <a:extLst>
              <a:ext uri="{FF2B5EF4-FFF2-40B4-BE49-F238E27FC236}">
                <a16:creationId xmlns:a16="http://schemas.microsoft.com/office/drawing/2014/main" id="{006DB600-544F-4654-B728-39D9C6D5BA3A}"/>
              </a:ext>
            </a:extLst>
          </p:cNvPr>
          <p:cNvSpPr txBox="1"/>
          <p:nvPr/>
        </p:nvSpPr>
        <p:spPr>
          <a:xfrm>
            <a:off x="228600" y="4826000"/>
            <a:ext cx="8686800" cy="203200"/>
          </a:xfrm>
          <a:prstGeom prst="rect">
            <a:avLst/>
          </a:prstGeom>
          <a:noFill/>
        </p:spPr>
        <p:txBody>
          <a:bodyPr vertOverflow="overflow" vert="horz" wrap="square" rtlCol="0" anchor="t">
            <a:spAutoFit/>
          </a:bodyPr>
          <a:lstStyle/>
          <a:p>
            <a:pPr algn="l"/>
            <a:r>
              <a:rPr lang="pt-BR" sz="900">
                <a:solidFill>
                  <a:srgbClr val="64748B"/>
                </a:solidFill>
                <a:latin typeface="Calibri"/>
                <a:ea typeface="Calibri"/>
                <a:cs typeface="Calibri"/>
              </a:rPr>
              <a:t>r &gt; 0.7 = correlación fuerte   |   0.3 &lt; r &lt; 0.7 = moderada   |   r &lt; 0.3 = débil</a:t>
            </a:r>
            <a:endParaRPr lang="es-CO" sz="900">
              <a:solidFill>
                <a:srgbClr val="64748B"/>
              </a:solidFill>
              <a:latin typeface="Calibri"/>
              <a:ea typeface="Calibri"/>
              <a:cs typeface="Calibri"/>
            </a:endParaRPr>
          </a:p>
        </p:txBody>
      </p:sp>
    </p:spTree>
    <p:extLst>
      <p:ext uri="{BB962C8B-B14F-4D97-AF65-F5344CB8AC3E}">
        <p14:creationId xmlns:p14="http://schemas.microsoft.com/office/powerpoint/2010/main" val="1617959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COEFICIENTES DE CORRELACIÓN — Pearson, Spearman y Kendall</a:t>
            </a:r>
            <a:endParaRPr lang="en-US" sz="2000" dirty="0"/>
          </a:p>
        </p:txBody>
      </p:sp>
      <p:sp>
        <p:nvSpPr>
          <p:cNvPr id="4" name="Shape 2"/>
          <p:cNvSpPr/>
          <p:nvPr/>
        </p:nvSpPr>
        <p:spPr>
          <a:xfrm>
            <a:off x="228600" y="1005840"/>
            <a:ext cx="2743200" cy="384048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5" name="Shape 3"/>
          <p:cNvSpPr/>
          <p:nvPr/>
        </p:nvSpPr>
        <p:spPr>
          <a:xfrm>
            <a:off x="228600" y="1005840"/>
            <a:ext cx="2743200" cy="457200"/>
          </a:xfrm>
          <a:prstGeom prst="rect">
            <a:avLst/>
          </a:prstGeom>
          <a:solidFill>
            <a:srgbClr val="0D7377"/>
          </a:solidFill>
          <a:ln w="12700">
            <a:solidFill>
              <a:srgbClr val="0D7377"/>
            </a:solidFill>
            <a:prstDash val="solid"/>
          </a:ln>
        </p:spPr>
        <p:txBody>
          <a:bodyPr/>
          <a:lstStyle/>
          <a:p>
            <a:endParaRPr lang="es-CO"/>
          </a:p>
        </p:txBody>
      </p:sp>
      <p:sp>
        <p:nvSpPr>
          <p:cNvPr id="6" name="Text 4"/>
          <p:cNvSpPr/>
          <p:nvPr/>
        </p:nvSpPr>
        <p:spPr>
          <a:xfrm>
            <a:off x="320040" y="1005840"/>
            <a:ext cx="25603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Pearson (r)</a:t>
            </a:r>
            <a:endParaRPr lang="en-US" sz="1400" dirty="0"/>
          </a:p>
        </p:txBody>
      </p:sp>
      <p:sp>
        <p:nvSpPr>
          <p:cNvPr id="7" name="Shape 5"/>
          <p:cNvSpPr/>
          <p:nvPr/>
        </p:nvSpPr>
        <p:spPr>
          <a:xfrm>
            <a:off x="320040" y="1554480"/>
            <a:ext cx="2560320" cy="530352"/>
          </a:xfrm>
          <a:prstGeom prst="rect">
            <a:avLst/>
          </a:prstGeom>
          <a:solidFill>
            <a:srgbClr val="1E1E2E"/>
          </a:solidFill>
          <a:ln w="12700">
            <a:solidFill>
              <a:srgbClr val="1E1E2E"/>
            </a:solidFill>
            <a:prstDash val="solid"/>
          </a:ln>
        </p:spPr>
        <p:txBody>
          <a:bodyPr/>
          <a:lstStyle/>
          <a:p>
            <a:endParaRPr lang="es-CO"/>
          </a:p>
        </p:txBody>
      </p:sp>
      <p:sp>
        <p:nvSpPr>
          <p:cNvPr id="8" name="Text 6"/>
          <p:cNvSpPr/>
          <p:nvPr/>
        </p:nvSpPr>
        <p:spPr>
          <a:xfrm>
            <a:off x="365760" y="1554480"/>
            <a:ext cx="2468880" cy="530352"/>
          </a:xfrm>
          <a:prstGeom prst="rect">
            <a:avLst/>
          </a:prstGeom>
          <a:noFill/>
          <a:ln/>
        </p:spPr>
        <p:txBody>
          <a:bodyPr wrap="square" rtlCol="0" anchor="ctr"/>
          <a:lstStyle/>
          <a:p>
            <a:pPr marL="0" indent="0">
              <a:buNone/>
            </a:pPr>
            <a:r>
              <a:rPr lang="en-US" sz="850" dirty="0">
                <a:solidFill>
                  <a:srgbClr val="FFD43B"/>
                </a:solidFill>
                <a:latin typeface="Consolas" pitchFamily="34" charset="0"/>
                <a:ea typeface="Consolas" pitchFamily="34" charset="-122"/>
                <a:cs typeface="Consolas" pitchFamily="34" charset="-120"/>
              </a:rPr>
              <a:t>r = Σ[(Xᵢ−X̄)(Yᵢ−Ȳ)] / √[Σ(Xᵢ−X̄)² · Σ(Yᵢ−Ȳ)²]</a:t>
            </a:r>
            <a:endParaRPr lang="en-US" sz="850" dirty="0"/>
          </a:p>
        </p:txBody>
      </p:sp>
      <p:sp>
        <p:nvSpPr>
          <p:cNvPr id="9" name="Text 7"/>
          <p:cNvSpPr/>
          <p:nvPr/>
        </p:nvSpPr>
        <p:spPr>
          <a:xfrm>
            <a:off x="338328" y="2212848"/>
            <a:ext cx="2523744" cy="256032"/>
          </a:xfrm>
          <a:prstGeom prst="rect">
            <a:avLst/>
          </a:prstGeom>
          <a:noFill/>
          <a:ln/>
        </p:spPr>
        <p:txBody>
          <a:bodyPr wrap="square" rtlCol="0" anchor="ctr"/>
          <a:lstStyle/>
          <a:p>
            <a:pPr marL="0" indent="0">
              <a:buNone/>
            </a:pPr>
            <a:r>
              <a:rPr lang="en-US" sz="1050" b="1" dirty="0">
                <a:solidFill>
                  <a:srgbClr val="0D7377"/>
                </a:solidFill>
                <a:latin typeface="Calibri" pitchFamily="34" charset="0"/>
                <a:ea typeface="Calibri" pitchFamily="34" charset="-122"/>
                <a:cs typeface="Calibri" pitchFamily="34" charset="-120"/>
              </a:rPr>
              <a:t>Cuándo usarlo:</a:t>
            </a:r>
            <a:endParaRPr lang="en-US" sz="1050" dirty="0"/>
          </a:p>
        </p:txBody>
      </p:sp>
      <p:sp>
        <p:nvSpPr>
          <p:cNvPr id="10" name="Text 8"/>
          <p:cNvSpPr/>
          <p:nvPr/>
        </p:nvSpPr>
        <p:spPr>
          <a:xfrm>
            <a:off x="338328" y="24688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Variables continuas, relación lineal, distribución normal aproximada</a:t>
            </a:r>
            <a:endParaRPr lang="en-US" sz="1000" dirty="0"/>
          </a:p>
        </p:txBody>
      </p:sp>
      <p:sp>
        <p:nvSpPr>
          <p:cNvPr id="11" name="Text 9"/>
          <p:cNvSpPr/>
          <p:nvPr/>
        </p:nvSpPr>
        <p:spPr>
          <a:xfrm>
            <a:off x="338328" y="2898648"/>
            <a:ext cx="2523744" cy="256032"/>
          </a:xfrm>
          <a:prstGeom prst="rect">
            <a:avLst/>
          </a:prstGeom>
          <a:noFill/>
          <a:ln/>
        </p:spPr>
        <p:txBody>
          <a:bodyPr wrap="square" rtlCol="0" anchor="ctr"/>
          <a:lstStyle/>
          <a:p>
            <a:pPr marL="0" indent="0">
              <a:buNone/>
            </a:pPr>
            <a:r>
              <a:rPr lang="en-US" sz="1050" b="1" dirty="0">
                <a:solidFill>
                  <a:srgbClr val="0D7377"/>
                </a:solidFill>
                <a:latin typeface="Calibri" pitchFamily="34" charset="0"/>
                <a:ea typeface="Calibri" pitchFamily="34" charset="-122"/>
                <a:cs typeface="Calibri" pitchFamily="34" charset="-120"/>
              </a:rPr>
              <a:t>Rango:</a:t>
            </a:r>
            <a:endParaRPr lang="en-US" sz="1050" dirty="0"/>
          </a:p>
        </p:txBody>
      </p:sp>
      <p:sp>
        <p:nvSpPr>
          <p:cNvPr id="12" name="Text 10"/>
          <p:cNvSpPr/>
          <p:nvPr/>
        </p:nvSpPr>
        <p:spPr>
          <a:xfrm>
            <a:off x="338328" y="31546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−1  a  +1</a:t>
            </a:r>
            <a:endParaRPr lang="en-US" sz="1000" dirty="0"/>
          </a:p>
        </p:txBody>
      </p:sp>
      <p:sp>
        <p:nvSpPr>
          <p:cNvPr id="13" name="Text 11"/>
          <p:cNvSpPr/>
          <p:nvPr/>
        </p:nvSpPr>
        <p:spPr>
          <a:xfrm>
            <a:off x="338328" y="3584448"/>
            <a:ext cx="2523744" cy="256032"/>
          </a:xfrm>
          <a:prstGeom prst="rect">
            <a:avLst/>
          </a:prstGeom>
          <a:noFill/>
          <a:ln/>
        </p:spPr>
        <p:txBody>
          <a:bodyPr wrap="square" rtlCol="0" anchor="ctr"/>
          <a:lstStyle/>
          <a:p>
            <a:pPr marL="0" indent="0">
              <a:buNone/>
            </a:pPr>
            <a:r>
              <a:rPr lang="en-US" sz="1050" b="1" dirty="0">
                <a:solidFill>
                  <a:srgbClr val="0D7377"/>
                </a:solidFill>
                <a:latin typeface="Calibri" pitchFamily="34" charset="0"/>
                <a:ea typeface="Calibri" pitchFamily="34" charset="-122"/>
                <a:cs typeface="Calibri" pitchFamily="34" charset="-120"/>
              </a:rPr>
              <a:t>Limitación:</a:t>
            </a:r>
            <a:endParaRPr lang="en-US" sz="1050" dirty="0"/>
          </a:p>
        </p:txBody>
      </p:sp>
      <p:sp>
        <p:nvSpPr>
          <p:cNvPr id="14" name="Text 12"/>
          <p:cNvSpPr/>
          <p:nvPr/>
        </p:nvSpPr>
        <p:spPr>
          <a:xfrm>
            <a:off x="338328" y="38404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Sensible a outliers</a:t>
            </a:r>
            <a:endParaRPr lang="en-US" sz="1000" dirty="0"/>
          </a:p>
        </p:txBody>
      </p:sp>
      <p:sp>
        <p:nvSpPr>
          <p:cNvPr id="15" name="Shape 13"/>
          <p:cNvSpPr/>
          <p:nvPr/>
        </p:nvSpPr>
        <p:spPr>
          <a:xfrm>
            <a:off x="320040" y="4370832"/>
            <a:ext cx="2560320" cy="347472"/>
          </a:xfrm>
          <a:prstGeom prst="rect">
            <a:avLst/>
          </a:prstGeom>
          <a:solidFill>
            <a:srgbClr val="1E1E2E"/>
          </a:solidFill>
          <a:ln w="12700">
            <a:solidFill>
              <a:srgbClr val="1E1E2E"/>
            </a:solidFill>
            <a:prstDash val="solid"/>
          </a:ln>
        </p:spPr>
        <p:txBody>
          <a:bodyPr/>
          <a:lstStyle/>
          <a:p>
            <a:endParaRPr lang="es-CO"/>
          </a:p>
        </p:txBody>
      </p:sp>
      <p:sp>
        <p:nvSpPr>
          <p:cNvPr id="16" name="Text 14"/>
          <p:cNvSpPr/>
          <p:nvPr/>
        </p:nvSpPr>
        <p:spPr>
          <a:xfrm>
            <a:off x="365760" y="4370832"/>
            <a:ext cx="2468880" cy="347472"/>
          </a:xfrm>
          <a:prstGeom prst="rect">
            <a:avLst/>
          </a:prstGeom>
          <a:noFill/>
          <a:ln/>
        </p:spPr>
        <p:txBody>
          <a:bodyPr wrap="square" rtlCol="0" anchor="ctr"/>
          <a:lstStyle/>
          <a:p>
            <a:pPr marL="0" indent="0">
              <a:buNone/>
            </a:pPr>
            <a:r>
              <a:rPr lang="en-US" sz="950" dirty="0">
                <a:solidFill>
                  <a:srgbClr val="FFD43B"/>
                </a:solidFill>
                <a:latin typeface="Consolas" pitchFamily="34" charset="0"/>
                <a:ea typeface="Consolas" pitchFamily="34" charset="-122"/>
                <a:cs typeface="Consolas" pitchFamily="34" charset="-120"/>
              </a:rPr>
              <a:t>🐍 df.corr(method='pearson')</a:t>
            </a:r>
            <a:endParaRPr lang="en-US" sz="950" dirty="0"/>
          </a:p>
        </p:txBody>
      </p:sp>
      <p:sp>
        <p:nvSpPr>
          <p:cNvPr id="17" name="Shape 15"/>
          <p:cNvSpPr/>
          <p:nvPr/>
        </p:nvSpPr>
        <p:spPr>
          <a:xfrm>
            <a:off x="3154680" y="1005840"/>
            <a:ext cx="2743200" cy="384048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8" name="Shape 16"/>
          <p:cNvSpPr/>
          <p:nvPr/>
        </p:nvSpPr>
        <p:spPr>
          <a:xfrm>
            <a:off x="3154680" y="1005840"/>
            <a:ext cx="2743200" cy="457200"/>
          </a:xfrm>
          <a:prstGeom prst="rect">
            <a:avLst/>
          </a:prstGeom>
          <a:solidFill>
            <a:srgbClr val="3776AB"/>
          </a:solidFill>
          <a:ln w="12700">
            <a:solidFill>
              <a:srgbClr val="3776AB"/>
            </a:solidFill>
            <a:prstDash val="solid"/>
          </a:ln>
        </p:spPr>
        <p:txBody>
          <a:bodyPr/>
          <a:lstStyle/>
          <a:p>
            <a:endParaRPr lang="es-CO"/>
          </a:p>
        </p:txBody>
      </p:sp>
      <p:sp>
        <p:nvSpPr>
          <p:cNvPr id="19" name="Text 17"/>
          <p:cNvSpPr/>
          <p:nvPr/>
        </p:nvSpPr>
        <p:spPr>
          <a:xfrm>
            <a:off x="3246120" y="1005840"/>
            <a:ext cx="25603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Spearman (ρ)</a:t>
            </a:r>
            <a:endParaRPr lang="en-US" sz="1400" dirty="0"/>
          </a:p>
        </p:txBody>
      </p:sp>
      <p:sp>
        <p:nvSpPr>
          <p:cNvPr id="20" name="Shape 18"/>
          <p:cNvSpPr/>
          <p:nvPr/>
        </p:nvSpPr>
        <p:spPr>
          <a:xfrm>
            <a:off x="3246120" y="1554480"/>
            <a:ext cx="2560320" cy="530352"/>
          </a:xfrm>
          <a:prstGeom prst="rect">
            <a:avLst/>
          </a:prstGeom>
          <a:solidFill>
            <a:srgbClr val="1E1E2E"/>
          </a:solidFill>
          <a:ln w="12700">
            <a:solidFill>
              <a:srgbClr val="1E1E2E"/>
            </a:solidFill>
            <a:prstDash val="solid"/>
          </a:ln>
        </p:spPr>
        <p:txBody>
          <a:bodyPr/>
          <a:lstStyle/>
          <a:p>
            <a:endParaRPr lang="es-CO"/>
          </a:p>
        </p:txBody>
      </p:sp>
      <p:sp>
        <p:nvSpPr>
          <p:cNvPr id="21" name="Text 19"/>
          <p:cNvSpPr/>
          <p:nvPr/>
        </p:nvSpPr>
        <p:spPr>
          <a:xfrm>
            <a:off x="3291840" y="1554480"/>
            <a:ext cx="2468880" cy="530352"/>
          </a:xfrm>
          <a:prstGeom prst="rect">
            <a:avLst/>
          </a:prstGeom>
          <a:noFill/>
          <a:ln/>
        </p:spPr>
        <p:txBody>
          <a:bodyPr wrap="square" rtlCol="0" anchor="ctr"/>
          <a:lstStyle/>
          <a:p>
            <a:pPr marL="0" indent="0">
              <a:buNone/>
            </a:pPr>
            <a:r>
              <a:rPr lang="en-US" sz="850" dirty="0">
                <a:solidFill>
                  <a:srgbClr val="FFD43B"/>
                </a:solidFill>
                <a:latin typeface="Consolas" pitchFamily="34" charset="0"/>
                <a:ea typeface="Consolas" pitchFamily="34" charset="-122"/>
                <a:cs typeface="Consolas" pitchFamily="34" charset="-120"/>
              </a:rPr>
              <a:t>ρ = 1 − [6·Σdᵢ²] / [n(n²−1)]</a:t>
            </a:r>
            <a:endParaRPr lang="en-US" sz="850" dirty="0"/>
          </a:p>
        </p:txBody>
      </p:sp>
      <p:sp>
        <p:nvSpPr>
          <p:cNvPr id="22" name="Text 20"/>
          <p:cNvSpPr/>
          <p:nvPr/>
        </p:nvSpPr>
        <p:spPr>
          <a:xfrm>
            <a:off x="3264408" y="2212848"/>
            <a:ext cx="2523744" cy="256032"/>
          </a:xfrm>
          <a:prstGeom prst="rect">
            <a:avLst/>
          </a:prstGeom>
          <a:noFill/>
          <a:ln/>
        </p:spPr>
        <p:txBody>
          <a:bodyPr wrap="square" rtlCol="0" anchor="ctr"/>
          <a:lstStyle/>
          <a:p>
            <a:pPr marL="0" indent="0">
              <a:buNone/>
            </a:pPr>
            <a:r>
              <a:rPr lang="en-US" sz="1050" b="1" dirty="0">
                <a:solidFill>
                  <a:srgbClr val="3776AB"/>
                </a:solidFill>
                <a:latin typeface="Calibri" pitchFamily="34" charset="0"/>
                <a:ea typeface="Calibri" pitchFamily="34" charset="-122"/>
                <a:cs typeface="Calibri" pitchFamily="34" charset="-120"/>
              </a:rPr>
              <a:t>Cuándo usarlo:</a:t>
            </a:r>
            <a:endParaRPr lang="en-US" sz="1050" dirty="0"/>
          </a:p>
        </p:txBody>
      </p:sp>
      <p:sp>
        <p:nvSpPr>
          <p:cNvPr id="23" name="Text 21"/>
          <p:cNvSpPr/>
          <p:nvPr/>
        </p:nvSpPr>
        <p:spPr>
          <a:xfrm>
            <a:off x="3264408" y="24688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Datos ordinales, relación monótona no lineal o presencia de outliers</a:t>
            </a:r>
            <a:endParaRPr lang="en-US" sz="1000" dirty="0"/>
          </a:p>
        </p:txBody>
      </p:sp>
      <p:sp>
        <p:nvSpPr>
          <p:cNvPr id="24" name="Text 22"/>
          <p:cNvSpPr/>
          <p:nvPr/>
        </p:nvSpPr>
        <p:spPr>
          <a:xfrm>
            <a:off x="3264408" y="2898648"/>
            <a:ext cx="2523744" cy="256032"/>
          </a:xfrm>
          <a:prstGeom prst="rect">
            <a:avLst/>
          </a:prstGeom>
          <a:noFill/>
          <a:ln/>
        </p:spPr>
        <p:txBody>
          <a:bodyPr wrap="square" rtlCol="0" anchor="ctr"/>
          <a:lstStyle/>
          <a:p>
            <a:pPr marL="0" indent="0">
              <a:buNone/>
            </a:pPr>
            <a:r>
              <a:rPr lang="en-US" sz="1050" b="1" dirty="0">
                <a:solidFill>
                  <a:srgbClr val="3776AB"/>
                </a:solidFill>
                <a:latin typeface="Calibri" pitchFamily="34" charset="0"/>
                <a:ea typeface="Calibri" pitchFamily="34" charset="-122"/>
                <a:cs typeface="Calibri" pitchFamily="34" charset="-120"/>
              </a:rPr>
              <a:t>Rango:</a:t>
            </a:r>
            <a:endParaRPr lang="en-US" sz="1050" dirty="0"/>
          </a:p>
        </p:txBody>
      </p:sp>
      <p:sp>
        <p:nvSpPr>
          <p:cNvPr id="25" name="Text 23"/>
          <p:cNvSpPr/>
          <p:nvPr/>
        </p:nvSpPr>
        <p:spPr>
          <a:xfrm>
            <a:off x="3264408" y="31546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−1  a  +1</a:t>
            </a:r>
            <a:endParaRPr lang="en-US" sz="1000" dirty="0"/>
          </a:p>
        </p:txBody>
      </p:sp>
      <p:sp>
        <p:nvSpPr>
          <p:cNvPr id="26" name="Text 24"/>
          <p:cNvSpPr/>
          <p:nvPr/>
        </p:nvSpPr>
        <p:spPr>
          <a:xfrm>
            <a:off x="3264408" y="3584448"/>
            <a:ext cx="2523744" cy="256032"/>
          </a:xfrm>
          <a:prstGeom prst="rect">
            <a:avLst/>
          </a:prstGeom>
          <a:noFill/>
          <a:ln/>
        </p:spPr>
        <p:txBody>
          <a:bodyPr wrap="square" rtlCol="0" anchor="ctr"/>
          <a:lstStyle/>
          <a:p>
            <a:pPr marL="0" indent="0">
              <a:buNone/>
            </a:pPr>
            <a:r>
              <a:rPr lang="en-US" sz="1050" b="1" dirty="0">
                <a:solidFill>
                  <a:srgbClr val="3776AB"/>
                </a:solidFill>
                <a:latin typeface="Calibri" pitchFamily="34" charset="0"/>
                <a:ea typeface="Calibri" pitchFamily="34" charset="-122"/>
                <a:cs typeface="Calibri" pitchFamily="34" charset="-120"/>
              </a:rPr>
              <a:t>Limitación:</a:t>
            </a:r>
            <a:endParaRPr lang="en-US" sz="1050" dirty="0"/>
          </a:p>
        </p:txBody>
      </p:sp>
      <p:sp>
        <p:nvSpPr>
          <p:cNvPr id="27" name="Text 25"/>
          <p:cNvSpPr/>
          <p:nvPr/>
        </p:nvSpPr>
        <p:spPr>
          <a:xfrm>
            <a:off x="3264408" y="38404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Menos potente en datos normales</a:t>
            </a:r>
            <a:endParaRPr lang="en-US" sz="1000" dirty="0"/>
          </a:p>
        </p:txBody>
      </p:sp>
      <p:sp>
        <p:nvSpPr>
          <p:cNvPr id="28" name="Shape 26"/>
          <p:cNvSpPr/>
          <p:nvPr/>
        </p:nvSpPr>
        <p:spPr>
          <a:xfrm>
            <a:off x="3246120" y="4370832"/>
            <a:ext cx="2560320" cy="347472"/>
          </a:xfrm>
          <a:prstGeom prst="rect">
            <a:avLst/>
          </a:prstGeom>
          <a:solidFill>
            <a:srgbClr val="1E1E2E"/>
          </a:solidFill>
          <a:ln w="12700">
            <a:solidFill>
              <a:srgbClr val="1E1E2E"/>
            </a:solidFill>
            <a:prstDash val="solid"/>
          </a:ln>
        </p:spPr>
        <p:txBody>
          <a:bodyPr/>
          <a:lstStyle/>
          <a:p>
            <a:endParaRPr lang="es-CO"/>
          </a:p>
        </p:txBody>
      </p:sp>
      <p:sp>
        <p:nvSpPr>
          <p:cNvPr id="29" name="Text 27"/>
          <p:cNvSpPr/>
          <p:nvPr/>
        </p:nvSpPr>
        <p:spPr>
          <a:xfrm>
            <a:off x="3291840" y="4370832"/>
            <a:ext cx="2468880" cy="347472"/>
          </a:xfrm>
          <a:prstGeom prst="rect">
            <a:avLst/>
          </a:prstGeom>
          <a:noFill/>
          <a:ln/>
        </p:spPr>
        <p:txBody>
          <a:bodyPr wrap="square" rtlCol="0" anchor="ctr"/>
          <a:lstStyle/>
          <a:p>
            <a:pPr marL="0" indent="0">
              <a:buNone/>
            </a:pPr>
            <a:r>
              <a:rPr lang="en-US" sz="950" dirty="0">
                <a:solidFill>
                  <a:srgbClr val="FFD43B"/>
                </a:solidFill>
                <a:latin typeface="Consolas" pitchFamily="34" charset="0"/>
                <a:ea typeface="Consolas" pitchFamily="34" charset="-122"/>
                <a:cs typeface="Consolas" pitchFamily="34" charset="-120"/>
              </a:rPr>
              <a:t>🐍 df.corr(method='spearman')</a:t>
            </a:r>
            <a:endParaRPr lang="en-US" sz="950" dirty="0"/>
          </a:p>
        </p:txBody>
      </p:sp>
      <p:sp>
        <p:nvSpPr>
          <p:cNvPr id="30" name="Shape 28"/>
          <p:cNvSpPr/>
          <p:nvPr/>
        </p:nvSpPr>
        <p:spPr>
          <a:xfrm>
            <a:off x="6080760" y="1005840"/>
            <a:ext cx="2743200" cy="384048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31" name="Shape 29"/>
          <p:cNvSpPr/>
          <p:nvPr/>
        </p:nvSpPr>
        <p:spPr>
          <a:xfrm>
            <a:off x="6080760" y="1005840"/>
            <a:ext cx="2743200" cy="457200"/>
          </a:xfrm>
          <a:prstGeom prst="rect">
            <a:avLst/>
          </a:prstGeom>
          <a:solidFill>
            <a:srgbClr val="8E44AD"/>
          </a:solidFill>
          <a:ln w="12700">
            <a:solidFill>
              <a:srgbClr val="8E44AD"/>
            </a:solidFill>
            <a:prstDash val="solid"/>
          </a:ln>
        </p:spPr>
        <p:txBody>
          <a:bodyPr/>
          <a:lstStyle/>
          <a:p>
            <a:endParaRPr lang="es-CO"/>
          </a:p>
        </p:txBody>
      </p:sp>
      <p:sp>
        <p:nvSpPr>
          <p:cNvPr id="32" name="Text 30"/>
          <p:cNvSpPr/>
          <p:nvPr/>
        </p:nvSpPr>
        <p:spPr>
          <a:xfrm>
            <a:off x="6172200" y="1005840"/>
            <a:ext cx="25603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Kendall (τ)</a:t>
            </a:r>
            <a:endParaRPr lang="en-US" sz="1400" dirty="0"/>
          </a:p>
        </p:txBody>
      </p:sp>
      <p:sp>
        <p:nvSpPr>
          <p:cNvPr id="33" name="Shape 31"/>
          <p:cNvSpPr/>
          <p:nvPr/>
        </p:nvSpPr>
        <p:spPr>
          <a:xfrm>
            <a:off x="6172200" y="1554480"/>
            <a:ext cx="2560320" cy="530352"/>
          </a:xfrm>
          <a:prstGeom prst="rect">
            <a:avLst/>
          </a:prstGeom>
          <a:solidFill>
            <a:srgbClr val="1E1E2E"/>
          </a:solidFill>
          <a:ln w="12700">
            <a:solidFill>
              <a:srgbClr val="1E1E2E"/>
            </a:solidFill>
            <a:prstDash val="solid"/>
          </a:ln>
        </p:spPr>
        <p:txBody>
          <a:bodyPr/>
          <a:lstStyle/>
          <a:p>
            <a:endParaRPr lang="es-CO"/>
          </a:p>
        </p:txBody>
      </p:sp>
      <p:sp>
        <p:nvSpPr>
          <p:cNvPr id="34" name="Text 32"/>
          <p:cNvSpPr/>
          <p:nvPr/>
        </p:nvSpPr>
        <p:spPr>
          <a:xfrm>
            <a:off x="6217920" y="1554480"/>
            <a:ext cx="2468880" cy="530352"/>
          </a:xfrm>
          <a:prstGeom prst="rect">
            <a:avLst/>
          </a:prstGeom>
          <a:noFill/>
          <a:ln/>
        </p:spPr>
        <p:txBody>
          <a:bodyPr wrap="square" rtlCol="0" anchor="ctr"/>
          <a:lstStyle/>
          <a:p>
            <a:pPr marL="0" indent="0">
              <a:buNone/>
            </a:pPr>
            <a:r>
              <a:rPr lang="en-US" sz="850" dirty="0">
                <a:solidFill>
                  <a:srgbClr val="FFD43B"/>
                </a:solidFill>
                <a:latin typeface="Consolas" pitchFamily="34" charset="0"/>
                <a:ea typeface="Consolas" pitchFamily="34" charset="-122"/>
                <a:cs typeface="Consolas" pitchFamily="34" charset="-120"/>
              </a:rPr>
              <a:t>τ = (Concordantes − Discordantes) / n(n−1)/2</a:t>
            </a:r>
            <a:endParaRPr lang="en-US" sz="850" dirty="0"/>
          </a:p>
        </p:txBody>
      </p:sp>
      <p:sp>
        <p:nvSpPr>
          <p:cNvPr id="35" name="Text 33"/>
          <p:cNvSpPr/>
          <p:nvPr/>
        </p:nvSpPr>
        <p:spPr>
          <a:xfrm>
            <a:off x="6190488" y="2212848"/>
            <a:ext cx="2523744" cy="256032"/>
          </a:xfrm>
          <a:prstGeom prst="rect">
            <a:avLst/>
          </a:prstGeom>
          <a:noFill/>
          <a:ln/>
        </p:spPr>
        <p:txBody>
          <a:bodyPr wrap="square" rtlCol="0" anchor="ctr"/>
          <a:lstStyle/>
          <a:p>
            <a:pPr marL="0" indent="0">
              <a:buNone/>
            </a:pPr>
            <a:r>
              <a:rPr lang="en-US" sz="1050" b="1" dirty="0">
                <a:solidFill>
                  <a:srgbClr val="8E44AD"/>
                </a:solidFill>
                <a:latin typeface="Calibri" pitchFamily="34" charset="0"/>
                <a:ea typeface="Calibri" pitchFamily="34" charset="-122"/>
                <a:cs typeface="Calibri" pitchFamily="34" charset="-120"/>
              </a:rPr>
              <a:t>Cuándo usarlo:</a:t>
            </a:r>
            <a:endParaRPr lang="en-US" sz="1050" dirty="0"/>
          </a:p>
        </p:txBody>
      </p:sp>
      <p:sp>
        <p:nvSpPr>
          <p:cNvPr id="36" name="Text 34"/>
          <p:cNvSpPr/>
          <p:nvPr/>
        </p:nvSpPr>
        <p:spPr>
          <a:xfrm>
            <a:off x="6190488" y="24688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Muestras pequeñas, muchos empates, datos ordinales robustos</a:t>
            </a:r>
            <a:endParaRPr lang="en-US" sz="1000" dirty="0"/>
          </a:p>
        </p:txBody>
      </p:sp>
      <p:sp>
        <p:nvSpPr>
          <p:cNvPr id="37" name="Text 35"/>
          <p:cNvSpPr/>
          <p:nvPr/>
        </p:nvSpPr>
        <p:spPr>
          <a:xfrm>
            <a:off x="6190488" y="2898648"/>
            <a:ext cx="2523744" cy="256032"/>
          </a:xfrm>
          <a:prstGeom prst="rect">
            <a:avLst/>
          </a:prstGeom>
          <a:noFill/>
          <a:ln/>
        </p:spPr>
        <p:txBody>
          <a:bodyPr wrap="square" rtlCol="0" anchor="ctr"/>
          <a:lstStyle/>
          <a:p>
            <a:pPr marL="0" indent="0">
              <a:buNone/>
            </a:pPr>
            <a:r>
              <a:rPr lang="en-US" sz="1050" b="1" dirty="0">
                <a:solidFill>
                  <a:srgbClr val="8E44AD"/>
                </a:solidFill>
                <a:latin typeface="Calibri" pitchFamily="34" charset="0"/>
                <a:ea typeface="Calibri" pitchFamily="34" charset="-122"/>
                <a:cs typeface="Calibri" pitchFamily="34" charset="-120"/>
              </a:rPr>
              <a:t>Rango:</a:t>
            </a:r>
            <a:endParaRPr lang="en-US" sz="1050" dirty="0"/>
          </a:p>
        </p:txBody>
      </p:sp>
      <p:sp>
        <p:nvSpPr>
          <p:cNvPr id="38" name="Text 36"/>
          <p:cNvSpPr/>
          <p:nvPr/>
        </p:nvSpPr>
        <p:spPr>
          <a:xfrm>
            <a:off x="6190488" y="31546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−1  a  +1</a:t>
            </a:r>
            <a:endParaRPr lang="en-US" sz="1000" dirty="0"/>
          </a:p>
        </p:txBody>
      </p:sp>
      <p:sp>
        <p:nvSpPr>
          <p:cNvPr id="39" name="Text 37"/>
          <p:cNvSpPr/>
          <p:nvPr/>
        </p:nvSpPr>
        <p:spPr>
          <a:xfrm>
            <a:off x="6190488" y="3584448"/>
            <a:ext cx="2523744" cy="256032"/>
          </a:xfrm>
          <a:prstGeom prst="rect">
            <a:avLst/>
          </a:prstGeom>
          <a:noFill/>
          <a:ln/>
        </p:spPr>
        <p:txBody>
          <a:bodyPr wrap="square" rtlCol="0" anchor="ctr"/>
          <a:lstStyle/>
          <a:p>
            <a:pPr marL="0" indent="0">
              <a:buNone/>
            </a:pPr>
            <a:r>
              <a:rPr lang="en-US" sz="1050" b="1" dirty="0">
                <a:solidFill>
                  <a:srgbClr val="8E44AD"/>
                </a:solidFill>
                <a:latin typeface="Calibri" pitchFamily="34" charset="0"/>
                <a:ea typeface="Calibri" pitchFamily="34" charset="-122"/>
                <a:cs typeface="Calibri" pitchFamily="34" charset="-120"/>
              </a:rPr>
              <a:t>Limitación:</a:t>
            </a:r>
            <a:endParaRPr lang="en-US" sz="1050" dirty="0"/>
          </a:p>
        </p:txBody>
      </p:sp>
      <p:sp>
        <p:nvSpPr>
          <p:cNvPr id="40" name="Text 38"/>
          <p:cNvSpPr/>
          <p:nvPr/>
        </p:nvSpPr>
        <p:spPr>
          <a:xfrm>
            <a:off x="6190488" y="38404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Mayor costo computacional</a:t>
            </a:r>
            <a:endParaRPr lang="en-US" sz="1000" dirty="0"/>
          </a:p>
        </p:txBody>
      </p:sp>
      <p:sp>
        <p:nvSpPr>
          <p:cNvPr id="41" name="Shape 39"/>
          <p:cNvSpPr/>
          <p:nvPr/>
        </p:nvSpPr>
        <p:spPr>
          <a:xfrm>
            <a:off x="6172200" y="4370832"/>
            <a:ext cx="2560320" cy="347472"/>
          </a:xfrm>
          <a:prstGeom prst="rect">
            <a:avLst/>
          </a:prstGeom>
          <a:solidFill>
            <a:srgbClr val="1E1E2E"/>
          </a:solidFill>
          <a:ln w="12700">
            <a:solidFill>
              <a:srgbClr val="1E1E2E"/>
            </a:solidFill>
            <a:prstDash val="solid"/>
          </a:ln>
        </p:spPr>
        <p:txBody>
          <a:bodyPr/>
          <a:lstStyle/>
          <a:p>
            <a:endParaRPr lang="es-CO"/>
          </a:p>
        </p:txBody>
      </p:sp>
      <p:sp>
        <p:nvSpPr>
          <p:cNvPr id="42" name="Text 40"/>
          <p:cNvSpPr/>
          <p:nvPr/>
        </p:nvSpPr>
        <p:spPr>
          <a:xfrm>
            <a:off x="6217920" y="4370832"/>
            <a:ext cx="2468880" cy="347472"/>
          </a:xfrm>
          <a:prstGeom prst="rect">
            <a:avLst/>
          </a:prstGeom>
          <a:noFill/>
          <a:ln/>
        </p:spPr>
        <p:txBody>
          <a:bodyPr wrap="square" rtlCol="0" anchor="ctr"/>
          <a:lstStyle/>
          <a:p>
            <a:pPr marL="0" indent="0">
              <a:buNone/>
            </a:pPr>
            <a:r>
              <a:rPr lang="en-US" sz="950" dirty="0">
                <a:solidFill>
                  <a:srgbClr val="FFD43B"/>
                </a:solidFill>
                <a:latin typeface="Consolas" pitchFamily="34" charset="0"/>
                <a:ea typeface="Consolas" pitchFamily="34" charset="-122"/>
                <a:cs typeface="Consolas" pitchFamily="34" charset="-120"/>
              </a:rPr>
              <a:t>🐍 df.corr(method='kendall')</a:t>
            </a:r>
            <a:endParaRPr lang="en-US" sz="950" dirty="0"/>
          </a:p>
        </p:txBody>
      </p:sp>
      <p:sp>
        <p:nvSpPr>
          <p:cNvPr id="43" name="Shape 41"/>
          <p:cNvSpPr/>
          <p:nvPr/>
        </p:nvSpPr>
        <p:spPr>
          <a:xfrm>
            <a:off x="228600" y="4828032"/>
            <a:ext cx="8686800" cy="256032"/>
          </a:xfrm>
          <a:prstGeom prst="rect">
            <a:avLst/>
          </a:prstGeom>
          <a:solidFill>
            <a:srgbClr val="FDECEA"/>
          </a:solidFill>
          <a:ln w="12700">
            <a:solidFill>
              <a:srgbClr val="C0392B"/>
            </a:solidFill>
            <a:prstDash val="solid"/>
          </a:ln>
        </p:spPr>
        <p:txBody>
          <a:bodyPr/>
          <a:lstStyle/>
          <a:p>
            <a:endParaRPr lang="es-CO"/>
          </a:p>
        </p:txBody>
      </p:sp>
      <p:sp>
        <p:nvSpPr>
          <p:cNvPr id="44" name="Text 42"/>
          <p:cNvSpPr/>
          <p:nvPr/>
        </p:nvSpPr>
        <p:spPr>
          <a:xfrm>
            <a:off x="320040" y="4828032"/>
            <a:ext cx="8503920" cy="256032"/>
          </a:xfrm>
          <a:prstGeom prst="rect">
            <a:avLst/>
          </a:prstGeom>
          <a:noFill/>
          <a:ln/>
        </p:spPr>
        <p:txBody>
          <a:bodyPr wrap="square"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CONCLUSIÓN FUNDAMENTAL: La correlación NO implica causalidad. Una correlación alta entre X e Y puede deberse a una tercera variable Z o ser totalmente espuria.</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DF2B57-5CB8-85EB-E988-C6D953BF972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74C2847-F6AF-13B4-6448-8AF5BF9A5EFE}"/>
              </a:ext>
            </a:extLst>
          </p:cNvPr>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a:extLst>
              <a:ext uri="{FF2B5EF4-FFF2-40B4-BE49-F238E27FC236}">
                <a16:creationId xmlns:a16="http://schemas.microsoft.com/office/drawing/2014/main" id="{04E5AFCA-A27D-92E7-C45E-BC156AC7980E}"/>
              </a:ext>
            </a:extLst>
          </p:cNvPr>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COEFICIENTES DE CORRELACIÓN — </a:t>
            </a:r>
            <a:r>
              <a:rPr lang="en-US" sz="2000" b="1" dirty="0" err="1">
                <a:solidFill>
                  <a:srgbClr val="FFFFFF"/>
                </a:solidFill>
                <a:latin typeface="Calibri" pitchFamily="34" charset="0"/>
                <a:ea typeface="Calibri" pitchFamily="34" charset="-122"/>
                <a:cs typeface="Calibri" pitchFamily="34" charset="-120"/>
              </a:rPr>
              <a:t>Causalidad</a:t>
            </a:r>
            <a:r>
              <a:rPr lang="en-US" sz="2000" b="1" dirty="0">
                <a:solidFill>
                  <a:srgbClr val="FFFFFF"/>
                </a:solidFill>
                <a:latin typeface="Calibri" pitchFamily="34" charset="0"/>
                <a:ea typeface="Calibri" pitchFamily="34" charset="-122"/>
                <a:cs typeface="Calibri" pitchFamily="34" charset="-120"/>
              </a:rPr>
              <a:t> vs </a:t>
            </a:r>
            <a:r>
              <a:rPr lang="en-US" sz="2000" b="1" dirty="0" err="1">
                <a:solidFill>
                  <a:srgbClr val="FFFFFF"/>
                </a:solidFill>
                <a:latin typeface="Calibri" pitchFamily="34" charset="0"/>
                <a:ea typeface="Calibri" pitchFamily="34" charset="-122"/>
                <a:cs typeface="Calibri" pitchFamily="34" charset="-120"/>
              </a:rPr>
              <a:t>Correlación</a:t>
            </a:r>
            <a:endParaRPr lang="en-US" sz="2000" dirty="0"/>
          </a:p>
        </p:txBody>
      </p:sp>
      <p:sp>
        <p:nvSpPr>
          <p:cNvPr id="43" name="Shape 41">
            <a:extLst>
              <a:ext uri="{FF2B5EF4-FFF2-40B4-BE49-F238E27FC236}">
                <a16:creationId xmlns:a16="http://schemas.microsoft.com/office/drawing/2014/main" id="{06F85884-9C50-517F-88EA-A442F3501A3A}"/>
              </a:ext>
            </a:extLst>
          </p:cNvPr>
          <p:cNvSpPr/>
          <p:nvPr/>
        </p:nvSpPr>
        <p:spPr>
          <a:xfrm>
            <a:off x="228600" y="4828032"/>
            <a:ext cx="8686800" cy="256032"/>
          </a:xfrm>
          <a:prstGeom prst="rect">
            <a:avLst/>
          </a:prstGeom>
          <a:solidFill>
            <a:srgbClr val="FDECEA"/>
          </a:solidFill>
          <a:ln w="12700">
            <a:solidFill>
              <a:srgbClr val="C0392B"/>
            </a:solidFill>
            <a:prstDash val="solid"/>
          </a:ln>
        </p:spPr>
        <p:txBody>
          <a:bodyPr/>
          <a:lstStyle/>
          <a:p>
            <a:endParaRPr lang="es-CO"/>
          </a:p>
        </p:txBody>
      </p:sp>
      <p:sp>
        <p:nvSpPr>
          <p:cNvPr id="44" name="Text 42">
            <a:extLst>
              <a:ext uri="{FF2B5EF4-FFF2-40B4-BE49-F238E27FC236}">
                <a16:creationId xmlns:a16="http://schemas.microsoft.com/office/drawing/2014/main" id="{5229CA9A-D19D-C92E-8677-E599D663B7B5}"/>
              </a:ext>
            </a:extLst>
          </p:cNvPr>
          <p:cNvSpPr/>
          <p:nvPr/>
        </p:nvSpPr>
        <p:spPr>
          <a:xfrm>
            <a:off x="320040" y="4828032"/>
            <a:ext cx="8503920" cy="256032"/>
          </a:xfrm>
          <a:prstGeom prst="rect">
            <a:avLst/>
          </a:prstGeom>
          <a:noFill/>
          <a:ln/>
        </p:spPr>
        <p:txBody>
          <a:bodyPr wrap="square"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CONCLUSIÓN FUNDAMENTAL: La correlación NO implica causalidad. Una correlación alta entre X e Y puede deberse a una tercera variable Z o ser totalmente espuria.</a:t>
            </a:r>
            <a:endParaRPr lang="en-US" sz="1000" dirty="0"/>
          </a:p>
        </p:txBody>
      </p:sp>
      <p:pic>
        <p:nvPicPr>
          <p:cNvPr id="46" name="Imagen 45">
            <a:extLst>
              <a:ext uri="{FF2B5EF4-FFF2-40B4-BE49-F238E27FC236}">
                <a16:creationId xmlns:a16="http://schemas.microsoft.com/office/drawing/2014/main" id="{469BE0B9-DD92-6D07-7A69-6C3F1A734CBB}"/>
              </a:ext>
            </a:extLst>
          </p:cNvPr>
          <p:cNvPicPr>
            <a:picLocks noChangeAspect="1"/>
          </p:cNvPicPr>
          <p:nvPr/>
        </p:nvPicPr>
        <p:blipFill>
          <a:blip r:embed="rId3"/>
          <a:stretch>
            <a:fillRect/>
          </a:stretch>
        </p:blipFill>
        <p:spPr>
          <a:xfrm>
            <a:off x="530861" y="1231899"/>
            <a:ext cx="3386728" cy="2032037"/>
          </a:xfrm>
          <a:prstGeom prst="rect">
            <a:avLst/>
          </a:prstGeom>
        </p:spPr>
      </p:pic>
      <p:sp>
        <p:nvSpPr>
          <p:cNvPr id="48" name="CuadroTexto 47">
            <a:extLst>
              <a:ext uri="{FF2B5EF4-FFF2-40B4-BE49-F238E27FC236}">
                <a16:creationId xmlns:a16="http://schemas.microsoft.com/office/drawing/2014/main" id="{A910F264-B265-6D4F-978B-E915C11BEDDA}"/>
              </a:ext>
            </a:extLst>
          </p:cNvPr>
          <p:cNvSpPr txBox="1"/>
          <p:nvPr/>
        </p:nvSpPr>
        <p:spPr>
          <a:xfrm>
            <a:off x="435610" y="4176643"/>
            <a:ext cx="2978150" cy="307777"/>
          </a:xfrm>
          <a:prstGeom prst="rect">
            <a:avLst/>
          </a:prstGeom>
          <a:noFill/>
        </p:spPr>
        <p:txBody>
          <a:bodyPr wrap="square">
            <a:spAutoFit/>
          </a:bodyPr>
          <a:lstStyle/>
          <a:p>
            <a:r>
              <a:rPr lang="es-ES" sz="700" dirty="0">
                <a:hlinkClick r:id="rId4"/>
              </a:rPr>
              <a:t>Las tasas de divorcio en el Reino Unido se correlacionan con las películas de Disney estrenadas (r=0,925)</a:t>
            </a:r>
            <a:endParaRPr lang="es-CO" sz="700" dirty="0"/>
          </a:p>
        </p:txBody>
      </p:sp>
      <p:sp>
        <p:nvSpPr>
          <p:cNvPr id="50" name="CuadroTexto 49">
            <a:extLst>
              <a:ext uri="{FF2B5EF4-FFF2-40B4-BE49-F238E27FC236}">
                <a16:creationId xmlns:a16="http://schemas.microsoft.com/office/drawing/2014/main" id="{E60A5953-327C-B67F-1BBF-A8DE562AD994}"/>
              </a:ext>
            </a:extLst>
          </p:cNvPr>
          <p:cNvSpPr txBox="1"/>
          <p:nvPr/>
        </p:nvSpPr>
        <p:spPr>
          <a:xfrm>
            <a:off x="365760" y="3355377"/>
            <a:ext cx="3270251" cy="738664"/>
          </a:xfrm>
          <a:prstGeom prst="rect">
            <a:avLst/>
          </a:prstGeom>
          <a:noFill/>
        </p:spPr>
        <p:txBody>
          <a:bodyPr wrap="square">
            <a:spAutoFit/>
          </a:bodyPr>
          <a:lstStyle/>
          <a:p>
            <a:r>
              <a:rPr lang="es-ES" sz="600" b="0" i="0" dirty="0">
                <a:solidFill>
                  <a:srgbClr val="111111"/>
                </a:solidFill>
                <a:effectLst/>
                <a:latin typeface="Segoe UI" panose="020B0502040204020203" pitchFamily="34" charset="0"/>
              </a:rPr>
              <a:t>Como dice el refrán, 'felices para siempre' adquirió un significado completamente nuevo en el Reino Unido. Parece que, a medida que las parejas se separaban menos, se quedaban para ver más comedias románticas conmovedoras en lugar de buscar consuelo en cuentos animados. Así que, a medida que las tasas de divorcio caían en picado, Disney se dio cuenta de que había 'menos separaciones, más animaciones'. Es una historia tan antigua como el tiempo: el amor lo conquista todo, ¡incluso las cifras de taquilla!</a:t>
            </a:r>
            <a:br>
              <a:rPr lang="es-ES" sz="600" dirty="0"/>
            </a:br>
            <a:endParaRPr lang="es-CO" sz="600" dirty="0"/>
          </a:p>
        </p:txBody>
      </p:sp>
      <p:pic>
        <p:nvPicPr>
          <p:cNvPr id="52" name="Imagen 51">
            <a:extLst>
              <a:ext uri="{FF2B5EF4-FFF2-40B4-BE49-F238E27FC236}">
                <a16:creationId xmlns:a16="http://schemas.microsoft.com/office/drawing/2014/main" id="{E8D62CA5-0F7F-BF47-2C30-0E17658CE095}"/>
              </a:ext>
            </a:extLst>
          </p:cNvPr>
          <p:cNvPicPr>
            <a:picLocks noChangeAspect="1"/>
          </p:cNvPicPr>
          <p:nvPr/>
        </p:nvPicPr>
        <p:blipFill>
          <a:blip r:embed="rId5"/>
          <a:stretch>
            <a:fillRect/>
          </a:stretch>
        </p:blipFill>
        <p:spPr>
          <a:xfrm>
            <a:off x="4937760" y="1166572"/>
            <a:ext cx="3331716" cy="2032037"/>
          </a:xfrm>
          <a:prstGeom prst="rect">
            <a:avLst/>
          </a:prstGeom>
        </p:spPr>
      </p:pic>
      <p:sp>
        <p:nvSpPr>
          <p:cNvPr id="54" name="CuadroTexto 53">
            <a:extLst>
              <a:ext uri="{FF2B5EF4-FFF2-40B4-BE49-F238E27FC236}">
                <a16:creationId xmlns:a16="http://schemas.microsoft.com/office/drawing/2014/main" id="{2CE71207-E42E-2A9D-915C-079116564884}"/>
              </a:ext>
            </a:extLst>
          </p:cNvPr>
          <p:cNvSpPr txBox="1"/>
          <p:nvPr/>
        </p:nvSpPr>
        <p:spPr>
          <a:xfrm>
            <a:off x="4937760" y="3378148"/>
            <a:ext cx="3270251" cy="523220"/>
          </a:xfrm>
          <a:prstGeom prst="rect">
            <a:avLst/>
          </a:prstGeom>
          <a:noFill/>
        </p:spPr>
        <p:txBody>
          <a:bodyPr wrap="square">
            <a:spAutoFit/>
          </a:bodyPr>
          <a:lstStyle/>
          <a:p>
            <a:r>
              <a:rPr lang="es-ES" sz="700" b="0" i="0" dirty="0">
                <a:solidFill>
                  <a:srgbClr val="111111"/>
                </a:solidFill>
                <a:effectLst/>
                <a:latin typeface="Segoe UI" panose="020B0502040204020203" pitchFamily="34" charset="0"/>
              </a:rPr>
              <a:t>A medida que menos personas encendían, hubo una reducción significativa en las oportunidades de incendios 'calientes' para incendios accidentales. Además, sin tanto fumar, había mucho menos deseo 'ardiente' de cometer un incendio provocado.</a:t>
            </a:r>
            <a:endParaRPr lang="es-CO" sz="700" dirty="0"/>
          </a:p>
        </p:txBody>
      </p:sp>
      <p:sp>
        <p:nvSpPr>
          <p:cNvPr id="56" name="CuadroTexto 55">
            <a:extLst>
              <a:ext uri="{FF2B5EF4-FFF2-40B4-BE49-F238E27FC236}">
                <a16:creationId xmlns:a16="http://schemas.microsoft.com/office/drawing/2014/main" id="{47A59C87-9D13-DD6D-0EFE-F5FF0947FFD5}"/>
              </a:ext>
            </a:extLst>
          </p:cNvPr>
          <p:cNvSpPr txBox="1"/>
          <p:nvPr/>
        </p:nvSpPr>
        <p:spPr>
          <a:xfrm>
            <a:off x="4937760" y="4207121"/>
            <a:ext cx="3340100" cy="169277"/>
          </a:xfrm>
          <a:prstGeom prst="rect">
            <a:avLst/>
          </a:prstGeom>
          <a:noFill/>
        </p:spPr>
        <p:txBody>
          <a:bodyPr wrap="square">
            <a:spAutoFit/>
          </a:bodyPr>
          <a:lstStyle/>
          <a:p>
            <a:r>
              <a:rPr lang="es-ES" sz="500" dirty="0">
                <a:hlinkClick r:id="rId6"/>
              </a:rPr>
              <a:t>La tasa de tabaquismo en adultos estadounidenses se correlaciona con el incendio provocado en Estados Unidos (r=0,945)</a:t>
            </a:r>
            <a:endParaRPr lang="es-CO" sz="500" dirty="0"/>
          </a:p>
        </p:txBody>
      </p:sp>
    </p:spTree>
    <p:extLst>
      <p:ext uri="{BB962C8B-B14F-4D97-AF65-F5344CB8AC3E}">
        <p14:creationId xmlns:p14="http://schemas.microsoft.com/office/powerpoint/2010/main" val="3665719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0C160FE-FEAA-47B3-913D-68B71435AC59}"/>
              </a:ext>
            </a:extLst>
          </p:cNvPr>
          <p:cNvSpPr/>
          <p:nvPr/>
        </p:nvSpPr>
        <p:spPr>
          <a:xfrm>
            <a:off x="0" y="0"/>
            <a:ext cx="9144000" cy="762000"/>
          </a:xfrm>
          <a:prstGeom prst="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C288278D-1A55-45AC-B9D6-0C5BDA99164C}"/>
              </a:ext>
            </a:extLst>
          </p:cNvPr>
          <p:cNvSpPr txBox="1"/>
          <p:nvPr/>
        </p:nvSpPr>
        <p:spPr>
          <a:xfrm>
            <a:off x="368300" y="180945"/>
            <a:ext cx="8407400" cy="400110"/>
          </a:xfrm>
          <a:prstGeom prst="rect">
            <a:avLst/>
          </a:prstGeom>
          <a:noFill/>
        </p:spPr>
        <p:txBody>
          <a:bodyPr vertOverflow="overflow" vert="horz" wrap="square" rtlCol="0" anchor="ctr" anchorCtr="0">
            <a:spAutoFit/>
          </a:bodyPr>
          <a:lstStyle/>
          <a:p>
            <a:pPr algn="l"/>
            <a:r>
              <a:rPr lang="es-ES" sz="2000" b="1" dirty="0">
                <a:solidFill>
                  <a:srgbClr val="FFFFFF"/>
                </a:solidFill>
                <a:latin typeface="Calibri"/>
                <a:ea typeface="Calibri"/>
                <a:cs typeface="Calibri"/>
              </a:rPr>
              <a:t>ECUACIÓN DE LA RECTA</a:t>
            </a:r>
            <a:endParaRPr lang="es-CO" sz="2000" b="1" dirty="0">
              <a:solidFill>
                <a:srgbClr val="FFFFFF"/>
              </a:solidFill>
              <a:latin typeface="Calibri"/>
              <a:ea typeface="Calibri"/>
              <a:cs typeface="Calibri"/>
            </a:endParaRPr>
          </a:p>
        </p:txBody>
      </p:sp>
      <p:sp>
        <p:nvSpPr>
          <p:cNvPr id="4" name="Rectángulo: esquinas redondeadas 3">
            <a:extLst>
              <a:ext uri="{FF2B5EF4-FFF2-40B4-BE49-F238E27FC236}">
                <a16:creationId xmlns:a16="http://schemas.microsoft.com/office/drawing/2014/main" id="{33DD496A-920F-4AC8-9ADA-EAD55FA98F06}"/>
              </a:ext>
            </a:extLst>
          </p:cNvPr>
          <p:cNvSpPr/>
          <p:nvPr/>
        </p:nvSpPr>
        <p:spPr>
          <a:xfrm>
            <a:off x="228600" y="863600"/>
            <a:ext cx="2857500" cy="41275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esquinas redondeadas 4">
            <a:extLst>
              <a:ext uri="{FF2B5EF4-FFF2-40B4-BE49-F238E27FC236}">
                <a16:creationId xmlns:a16="http://schemas.microsoft.com/office/drawing/2014/main" id="{6BA77FA8-37FF-4474-B18C-CC582897D1AB}"/>
              </a:ext>
            </a:extLst>
          </p:cNvPr>
          <p:cNvSpPr/>
          <p:nvPr/>
        </p:nvSpPr>
        <p:spPr>
          <a:xfrm>
            <a:off x="228600" y="863600"/>
            <a:ext cx="2857500" cy="381000"/>
          </a:xfrm>
          <a:prstGeom prst="round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04BA6C0A-9180-439F-8638-9E907F2D3ACC}"/>
              </a:ext>
            </a:extLst>
          </p:cNvPr>
          <p:cNvSpPr txBox="1"/>
          <p:nvPr/>
        </p:nvSpPr>
        <p:spPr>
          <a:xfrm>
            <a:off x="317500" y="889000"/>
            <a:ext cx="2667000" cy="330200"/>
          </a:xfrm>
          <a:prstGeom prst="rect">
            <a:avLst/>
          </a:prstGeom>
          <a:noFill/>
        </p:spPr>
        <p:txBody>
          <a:bodyPr vertOverflow="overflow" vert="horz" wrap="square" rtlCol="0" anchor="ctr" anchorCtr="0">
            <a:spAutoFit/>
          </a:bodyPr>
          <a:lstStyle/>
          <a:p>
            <a:pPr algn="l"/>
            <a:r>
              <a:rPr lang="es-CO" sz="1400" b="1">
                <a:solidFill>
                  <a:srgbClr val="FFFFFF"/>
                </a:solidFill>
                <a:latin typeface="Calibri"/>
                <a:ea typeface="Calibri"/>
                <a:cs typeface="Calibri"/>
              </a:rPr>
              <a:t>Definición</a:t>
            </a:r>
          </a:p>
        </p:txBody>
      </p:sp>
      <p:sp>
        <p:nvSpPr>
          <p:cNvPr id="7" name="CuadroTexto 6">
            <a:extLst>
              <a:ext uri="{FF2B5EF4-FFF2-40B4-BE49-F238E27FC236}">
                <a16:creationId xmlns:a16="http://schemas.microsoft.com/office/drawing/2014/main" id="{658FCD83-F9B6-4456-B40C-406CBDDCD446}"/>
              </a:ext>
            </a:extLst>
          </p:cNvPr>
          <p:cNvSpPr txBox="1"/>
          <p:nvPr/>
        </p:nvSpPr>
        <p:spPr>
          <a:xfrm>
            <a:off x="317500" y="1295400"/>
            <a:ext cx="2667000" cy="16510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La ecuación de la recta describe la relación lineal entre dos variables. En el plano cartesiano, una recta queda definida por su pendiente (m) y su intersección con el eje Y (b).
La pendiente indica cuánto cambia Y por cada unidad de cambio en X. Si m &gt; 0, la recta es creciente; si m &lt; 0, decreciente; si m = 0, horizontal.</a:t>
            </a:r>
            <a:endParaRPr lang="es-CO" sz="1000">
              <a:solidFill>
                <a:srgbClr val="1E293B"/>
              </a:solidFill>
              <a:latin typeface="Calibri"/>
              <a:ea typeface="Calibri"/>
              <a:cs typeface="Calibri"/>
            </a:endParaRPr>
          </a:p>
        </p:txBody>
      </p:sp>
      <p:sp>
        <p:nvSpPr>
          <p:cNvPr id="8" name="CuadroTexto 7">
            <a:extLst>
              <a:ext uri="{FF2B5EF4-FFF2-40B4-BE49-F238E27FC236}">
                <a16:creationId xmlns:a16="http://schemas.microsoft.com/office/drawing/2014/main" id="{5334CA18-550C-4A5C-8D72-73894B4D65AF}"/>
              </a:ext>
            </a:extLst>
          </p:cNvPr>
          <p:cNvSpPr txBox="1"/>
          <p:nvPr/>
        </p:nvSpPr>
        <p:spPr>
          <a:xfrm>
            <a:off x="317500" y="2971800"/>
            <a:ext cx="2667000" cy="203200"/>
          </a:xfrm>
          <a:prstGeom prst="rect">
            <a:avLst/>
          </a:prstGeom>
          <a:noFill/>
        </p:spPr>
        <p:txBody>
          <a:bodyPr vertOverflow="overflow" vert="horz" wrap="square" rtlCol="0" anchor="t">
            <a:spAutoFit/>
          </a:bodyPr>
          <a:lstStyle/>
          <a:p>
            <a:pPr algn="l"/>
            <a:r>
              <a:rPr lang="es-CO" sz="1000" b="1">
                <a:solidFill>
                  <a:srgbClr val="0D7377"/>
                </a:solidFill>
                <a:latin typeface="Calibri"/>
                <a:ea typeface="Calibri"/>
                <a:cs typeface="Calibri"/>
              </a:rPr>
              <a:t>Interpretación:</a:t>
            </a:r>
          </a:p>
        </p:txBody>
      </p:sp>
      <p:sp>
        <p:nvSpPr>
          <p:cNvPr id="9" name="CuadroTexto 8">
            <a:extLst>
              <a:ext uri="{FF2B5EF4-FFF2-40B4-BE49-F238E27FC236}">
                <a16:creationId xmlns:a16="http://schemas.microsoft.com/office/drawing/2014/main" id="{72D7A14E-DD37-4573-800D-8ADF96217CD5}"/>
              </a:ext>
            </a:extLst>
          </p:cNvPr>
          <p:cNvSpPr txBox="1"/>
          <p:nvPr/>
        </p:nvSpPr>
        <p:spPr>
          <a:xfrm>
            <a:off x="317500" y="3200400"/>
            <a:ext cx="2667000" cy="698500"/>
          </a:xfrm>
          <a:prstGeom prst="rect">
            <a:avLst/>
          </a:prstGeom>
          <a:noFill/>
        </p:spPr>
        <p:txBody>
          <a:bodyPr vertOverflow="overflow" vert="horz" wrap="square" rtlCol="0" anchor="t">
            <a:noAutofit/>
          </a:bodyPr>
          <a:lstStyle/>
          <a:p>
            <a:pPr algn="l"/>
            <a:r>
              <a:rPr lang="es-ES" sz="1000">
                <a:solidFill>
                  <a:srgbClr val="64748B"/>
                </a:solidFill>
                <a:latin typeface="Calibri"/>
                <a:ea typeface="Calibri"/>
                <a:cs typeface="Calibri"/>
              </a:rPr>
              <a:t>• m (pendiente) = tasa de cambio
• b (intercepto) = valor de Y cuando X = 0
• f(x) predice Y para cualquier X</a:t>
            </a:r>
            <a:endParaRPr lang="es-CO" sz="1000">
              <a:solidFill>
                <a:srgbClr val="64748B"/>
              </a:solidFill>
              <a:latin typeface="Calibri"/>
              <a:ea typeface="Calibri"/>
              <a:cs typeface="Calibri"/>
            </a:endParaRPr>
          </a:p>
        </p:txBody>
      </p:sp>
      <p:sp>
        <p:nvSpPr>
          <p:cNvPr id="10" name="Rectángulo: esquinas redondeadas 9">
            <a:extLst>
              <a:ext uri="{FF2B5EF4-FFF2-40B4-BE49-F238E27FC236}">
                <a16:creationId xmlns:a16="http://schemas.microsoft.com/office/drawing/2014/main" id="{1803BC4C-1893-4AE8-8B75-EDDCBE217C6D}"/>
              </a:ext>
            </a:extLst>
          </p:cNvPr>
          <p:cNvSpPr/>
          <p:nvPr/>
        </p:nvSpPr>
        <p:spPr>
          <a:xfrm>
            <a:off x="317500" y="3937000"/>
            <a:ext cx="2667000" cy="952500"/>
          </a:xfrm>
          <a:prstGeom prst="roundRect">
            <a:avLst/>
          </a:prstGeom>
          <a:solidFill>
            <a:srgbClr val="1E1E2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1" name="CuadroTexto 10">
            <a:extLst>
              <a:ext uri="{FF2B5EF4-FFF2-40B4-BE49-F238E27FC236}">
                <a16:creationId xmlns:a16="http://schemas.microsoft.com/office/drawing/2014/main" id="{9ECD0149-8575-4A0B-8369-6E5CDD43A9D6}"/>
              </a:ext>
            </a:extLst>
          </p:cNvPr>
          <p:cNvSpPr txBox="1"/>
          <p:nvPr/>
        </p:nvSpPr>
        <p:spPr>
          <a:xfrm>
            <a:off x="368300" y="3987800"/>
            <a:ext cx="2565400" cy="850900"/>
          </a:xfrm>
          <a:prstGeom prst="rect">
            <a:avLst/>
          </a:prstGeom>
          <a:noFill/>
        </p:spPr>
        <p:txBody>
          <a:bodyPr vertOverflow="overflow" vert="horz" wrap="square" rtlCol="0" anchor="t">
            <a:noAutofit/>
          </a:bodyPr>
          <a:lstStyle/>
          <a:p>
            <a:pPr algn="l"/>
            <a:r>
              <a:rPr lang="es-ES" sz="800">
                <a:solidFill>
                  <a:srgbClr val="FFD43B"/>
                </a:solidFill>
                <a:latin typeface="Consolas"/>
              </a:rPr>
              <a:t># Definir función de la recta
def recta(x, m, b):
    return m * x + b
# Ejemplo: y = 2x + 3
print(recta(5, 2, 3))  # → 13</a:t>
            </a:r>
            <a:endParaRPr lang="es-CO" sz="800">
              <a:solidFill>
                <a:srgbClr val="FFD43B"/>
              </a:solidFill>
              <a:latin typeface="Consolas"/>
            </a:endParaRPr>
          </a:p>
        </p:txBody>
      </p:sp>
      <p:sp>
        <p:nvSpPr>
          <p:cNvPr id="12" name="Rectángulo: esquinas redondeadas 11">
            <a:extLst>
              <a:ext uri="{FF2B5EF4-FFF2-40B4-BE49-F238E27FC236}">
                <a16:creationId xmlns:a16="http://schemas.microsoft.com/office/drawing/2014/main" id="{4B6B19D8-A4AA-4DA1-8BD3-AC9A4D71E51D}"/>
              </a:ext>
            </a:extLst>
          </p:cNvPr>
          <p:cNvSpPr/>
          <p:nvPr/>
        </p:nvSpPr>
        <p:spPr>
          <a:xfrm>
            <a:off x="3213100" y="863600"/>
            <a:ext cx="2730500" cy="1524000"/>
          </a:xfrm>
          <a:prstGeom prst="roundRect">
            <a:avLst/>
          </a:prstGeom>
          <a:solidFill>
            <a:srgbClr val="F0F9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3" name="Rectángulo: esquinas redondeadas 12">
            <a:extLst>
              <a:ext uri="{FF2B5EF4-FFF2-40B4-BE49-F238E27FC236}">
                <a16:creationId xmlns:a16="http://schemas.microsoft.com/office/drawing/2014/main" id="{0BC2CE07-5089-44F2-8F7E-FDB020CB71EF}"/>
              </a:ext>
            </a:extLst>
          </p:cNvPr>
          <p:cNvSpPr/>
          <p:nvPr/>
        </p:nvSpPr>
        <p:spPr>
          <a:xfrm>
            <a:off x="3213100" y="863600"/>
            <a:ext cx="2730500" cy="381000"/>
          </a:xfrm>
          <a:prstGeom prst="roundRect">
            <a:avLst/>
          </a:prstGeom>
          <a:solidFill>
            <a:srgbClr val="3776A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4" name="CuadroTexto 13">
            <a:extLst>
              <a:ext uri="{FF2B5EF4-FFF2-40B4-BE49-F238E27FC236}">
                <a16:creationId xmlns:a16="http://schemas.microsoft.com/office/drawing/2014/main" id="{DD9BA331-1DCE-42BA-A91B-C6F46DE07212}"/>
              </a:ext>
            </a:extLst>
          </p:cNvPr>
          <p:cNvSpPr txBox="1"/>
          <p:nvPr/>
        </p:nvSpPr>
        <p:spPr>
          <a:xfrm>
            <a:off x="3302000" y="889000"/>
            <a:ext cx="2540000" cy="330200"/>
          </a:xfrm>
          <a:prstGeom prst="rect">
            <a:avLst/>
          </a:prstGeom>
          <a:noFill/>
        </p:spPr>
        <p:txBody>
          <a:bodyPr vertOverflow="overflow" vert="horz" wrap="square" rtlCol="0" anchor="ctr" anchorCtr="0">
            <a:spAutoFit/>
          </a:bodyPr>
          <a:lstStyle/>
          <a:p>
            <a:pPr algn="l"/>
            <a:r>
              <a:rPr lang="es-CO" sz="1400" b="1">
                <a:solidFill>
                  <a:srgbClr val="FFFFFF"/>
                </a:solidFill>
                <a:latin typeface="Calibri"/>
                <a:ea typeface="Calibri"/>
                <a:cs typeface="Calibri"/>
              </a:rPr>
              <a:t>Forma general</a:t>
            </a:r>
          </a:p>
        </p:txBody>
      </p:sp>
      <p:sp>
        <p:nvSpPr>
          <p:cNvPr id="15" name="CuadroTexto 14">
            <a:extLst>
              <a:ext uri="{FF2B5EF4-FFF2-40B4-BE49-F238E27FC236}">
                <a16:creationId xmlns:a16="http://schemas.microsoft.com/office/drawing/2014/main" id="{5D2DD8DC-8AAA-4CD6-B1AE-59E6640FC8E9}"/>
              </a:ext>
            </a:extLst>
          </p:cNvPr>
          <p:cNvSpPr txBox="1"/>
          <p:nvPr/>
        </p:nvSpPr>
        <p:spPr>
          <a:xfrm>
            <a:off x="3213100" y="1270000"/>
            <a:ext cx="2730500" cy="508000"/>
          </a:xfrm>
          <a:prstGeom prst="rect">
            <a:avLst/>
          </a:prstGeom>
          <a:noFill/>
        </p:spPr>
        <p:txBody>
          <a:bodyPr vertOverflow="overflow" vert="horz" wrap="square" rtlCol="0" anchor="ctr" anchorCtr="0">
            <a:spAutoFit/>
          </a:bodyPr>
          <a:lstStyle/>
          <a:p>
            <a:pPr algn="l"/>
            <a:r>
              <a:rPr lang="es-CO" sz="2800" b="1">
                <a:solidFill>
                  <a:srgbClr val="0D7377"/>
                </a:solidFill>
                <a:latin typeface="Calibri"/>
                <a:ea typeface="Calibri"/>
                <a:cs typeface="Calibri"/>
              </a:rPr>
              <a:t>y = mx + b</a:t>
            </a:r>
          </a:p>
        </p:txBody>
      </p:sp>
      <p:sp>
        <p:nvSpPr>
          <p:cNvPr id="16" name="CuadroTexto 15">
            <a:extLst>
              <a:ext uri="{FF2B5EF4-FFF2-40B4-BE49-F238E27FC236}">
                <a16:creationId xmlns:a16="http://schemas.microsoft.com/office/drawing/2014/main" id="{C011E189-35AD-49A1-A47B-B9F81EAF9A66}"/>
              </a:ext>
            </a:extLst>
          </p:cNvPr>
          <p:cNvSpPr txBox="1"/>
          <p:nvPr/>
        </p:nvSpPr>
        <p:spPr>
          <a:xfrm>
            <a:off x="3213100" y="1778000"/>
            <a:ext cx="2730500" cy="381000"/>
          </a:xfrm>
          <a:prstGeom prst="rect">
            <a:avLst/>
          </a:prstGeom>
          <a:noFill/>
        </p:spPr>
        <p:txBody>
          <a:bodyPr vertOverflow="overflow" vert="horz" wrap="square" rtlCol="0" anchor="ctr" anchorCtr="0">
            <a:spAutoFit/>
          </a:bodyPr>
          <a:lstStyle/>
          <a:p>
            <a:pPr algn="l"/>
            <a:r>
              <a:rPr lang="es-CO" b="1">
                <a:solidFill>
                  <a:srgbClr val="3776AB"/>
                </a:solidFill>
                <a:latin typeface="Calibri"/>
                <a:ea typeface="Calibri"/>
                <a:cs typeface="Calibri"/>
              </a:rPr>
              <a:t>f(x) = mx + b</a:t>
            </a:r>
          </a:p>
        </p:txBody>
      </p:sp>
      <p:sp>
        <p:nvSpPr>
          <p:cNvPr id="17" name="Rectángulo: esquinas redondeadas 16">
            <a:extLst>
              <a:ext uri="{FF2B5EF4-FFF2-40B4-BE49-F238E27FC236}">
                <a16:creationId xmlns:a16="http://schemas.microsoft.com/office/drawing/2014/main" id="{C8F4119D-E4A9-4636-9DE1-74784C4AEADC}"/>
              </a:ext>
            </a:extLst>
          </p:cNvPr>
          <p:cNvSpPr/>
          <p:nvPr/>
        </p:nvSpPr>
        <p:spPr>
          <a:xfrm>
            <a:off x="3213100" y="2514600"/>
            <a:ext cx="2730500" cy="12700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8" name="CuadroTexto 17">
            <a:extLst>
              <a:ext uri="{FF2B5EF4-FFF2-40B4-BE49-F238E27FC236}">
                <a16:creationId xmlns:a16="http://schemas.microsoft.com/office/drawing/2014/main" id="{8CE8387C-A657-4EA3-9D73-F513FAC1AEDA}"/>
              </a:ext>
            </a:extLst>
          </p:cNvPr>
          <p:cNvSpPr txBox="1"/>
          <p:nvPr/>
        </p:nvSpPr>
        <p:spPr>
          <a:xfrm>
            <a:off x="3302000" y="2590800"/>
            <a:ext cx="2540000" cy="11176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Donde:
  y = variable dependiente (respuesta)
  x = variable independiente (predictor)
  m = pendiente de la recta
  b = intercepto (corte con eje Y)</a:t>
            </a:r>
            <a:endParaRPr lang="es-CO" sz="1000">
              <a:solidFill>
                <a:srgbClr val="1E293B"/>
              </a:solidFill>
              <a:latin typeface="Calibri"/>
              <a:ea typeface="Calibri"/>
              <a:cs typeface="Calibri"/>
            </a:endParaRPr>
          </a:p>
        </p:txBody>
      </p:sp>
      <p:sp>
        <p:nvSpPr>
          <p:cNvPr id="19" name="Rectángulo: esquinas redondeadas 18">
            <a:extLst>
              <a:ext uri="{FF2B5EF4-FFF2-40B4-BE49-F238E27FC236}">
                <a16:creationId xmlns:a16="http://schemas.microsoft.com/office/drawing/2014/main" id="{AEDE2C6E-E380-4F50-AE70-8A4ACCC1D352}"/>
              </a:ext>
            </a:extLst>
          </p:cNvPr>
          <p:cNvSpPr/>
          <p:nvPr/>
        </p:nvSpPr>
        <p:spPr>
          <a:xfrm>
            <a:off x="3213100" y="3911600"/>
            <a:ext cx="2730500" cy="1041400"/>
          </a:xfrm>
          <a:prstGeom prst="roundRect">
            <a:avLst/>
          </a:prstGeom>
          <a:solidFill>
            <a:srgbClr val="FFF8E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20" name="CuadroTexto 19">
            <a:extLst>
              <a:ext uri="{FF2B5EF4-FFF2-40B4-BE49-F238E27FC236}">
                <a16:creationId xmlns:a16="http://schemas.microsoft.com/office/drawing/2014/main" id="{C7A3EF51-9E5C-4FEB-B628-F50C865DB11C}"/>
              </a:ext>
            </a:extLst>
          </p:cNvPr>
          <p:cNvSpPr txBox="1"/>
          <p:nvPr/>
        </p:nvSpPr>
        <p:spPr>
          <a:xfrm>
            <a:off x="3302000" y="3937000"/>
            <a:ext cx="2540000" cy="254000"/>
          </a:xfrm>
          <a:prstGeom prst="rect">
            <a:avLst/>
          </a:prstGeom>
          <a:noFill/>
        </p:spPr>
        <p:txBody>
          <a:bodyPr vertOverflow="overflow" vert="horz" wrap="square" rtlCol="0" anchor="t">
            <a:spAutoFit/>
          </a:bodyPr>
          <a:lstStyle/>
          <a:p>
            <a:pPr algn="l"/>
            <a:r>
              <a:rPr lang="es-CO" sz="1100" b="1">
                <a:solidFill>
                  <a:srgbClr val="E8A838"/>
                </a:solidFill>
                <a:latin typeface="Calibri"/>
                <a:ea typeface="Calibri"/>
                <a:cs typeface="Calibri"/>
              </a:rPr>
              <a:t>Ejemplo numérico</a:t>
            </a:r>
          </a:p>
        </p:txBody>
      </p:sp>
      <p:sp>
        <p:nvSpPr>
          <p:cNvPr id="21" name="CuadroTexto 20">
            <a:extLst>
              <a:ext uri="{FF2B5EF4-FFF2-40B4-BE49-F238E27FC236}">
                <a16:creationId xmlns:a16="http://schemas.microsoft.com/office/drawing/2014/main" id="{5985EC22-EC56-4081-9FB8-6FBD0639DC03}"/>
              </a:ext>
            </a:extLst>
          </p:cNvPr>
          <p:cNvSpPr txBox="1"/>
          <p:nvPr/>
        </p:nvSpPr>
        <p:spPr>
          <a:xfrm>
            <a:off x="3302000" y="4216400"/>
            <a:ext cx="2540000" cy="698500"/>
          </a:xfrm>
          <a:prstGeom prst="rect">
            <a:avLst/>
          </a:prstGeom>
          <a:noFill/>
        </p:spPr>
        <p:txBody>
          <a:bodyPr vertOverflow="overflow" vert="horz" wrap="square" rtlCol="0" anchor="t">
            <a:noAutofit/>
          </a:bodyPr>
          <a:lstStyle/>
          <a:p>
            <a:pPr algn="l"/>
            <a:r>
              <a:rPr lang="fr-FR" sz="1000">
                <a:solidFill>
                  <a:srgbClr val="1E293B"/>
                </a:solidFill>
                <a:latin typeface="Calibri"/>
                <a:ea typeface="Calibri"/>
                <a:cs typeface="Calibri"/>
              </a:rPr>
              <a:t>Si m = 2 y b = 3 → f(x) = 2x + 3
  f(0) = 3      f(1) = 5
  f(2) = 7      f(5) = 13
  f(10) = 23    f(-1) = 1</a:t>
            </a:r>
            <a:endParaRPr lang="es-CO" sz="1000">
              <a:solidFill>
                <a:srgbClr val="1E293B"/>
              </a:solidFill>
              <a:latin typeface="Calibri"/>
              <a:ea typeface="Calibri"/>
              <a:cs typeface="Calibri"/>
            </a:endParaRPr>
          </a:p>
        </p:txBody>
      </p:sp>
      <p:graphicFrame>
        <p:nvGraphicFramePr>
          <p:cNvPr id="101" name="Chart Recta"/>
          <p:cNvGraphicFramePr/>
          <p:nvPr/>
        </p:nvGraphicFramePr>
        <p:xfrm>
          <a:off x="6083300" y="863600"/>
          <a:ext cx="2857500" cy="4089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40112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¿QUÉ ES LA REGRESIÓN LINEAL?</a:t>
            </a:r>
            <a:endParaRPr lang="en-US" sz="2200" dirty="0"/>
          </a:p>
        </p:txBody>
      </p:sp>
      <p:sp>
        <p:nvSpPr>
          <p:cNvPr id="4" name="Shape 2"/>
          <p:cNvSpPr/>
          <p:nvPr/>
        </p:nvSpPr>
        <p:spPr>
          <a:xfrm>
            <a:off x="0" y="914400"/>
            <a:ext cx="9144000" cy="54864"/>
          </a:xfrm>
          <a:prstGeom prst="rect">
            <a:avLst/>
          </a:prstGeom>
          <a:solidFill>
            <a:srgbClr val="0D7377"/>
          </a:solidFill>
          <a:ln w="12700">
            <a:solidFill>
              <a:srgbClr val="0D7377"/>
            </a:solidFill>
            <a:prstDash val="solid"/>
          </a:ln>
        </p:spPr>
        <p:txBody>
          <a:bodyPr/>
          <a:lstStyle/>
          <a:p>
            <a:endParaRPr lang="es-CO"/>
          </a:p>
        </p:txBody>
      </p:sp>
      <p:sp>
        <p:nvSpPr>
          <p:cNvPr id="5" name="Text 3"/>
          <p:cNvSpPr/>
          <p:nvPr/>
        </p:nvSpPr>
        <p:spPr>
          <a:xfrm>
            <a:off x="365760" y="1188720"/>
            <a:ext cx="4114800" cy="365760"/>
          </a:xfrm>
          <a:prstGeom prst="rect">
            <a:avLst/>
          </a:prstGeom>
          <a:noFill/>
          <a:ln/>
        </p:spPr>
        <p:txBody>
          <a:bodyPr wrap="square" rtlCol="0" anchor="ctr"/>
          <a:lstStyle/>
          <a:p>
            <a:pPr marL="0" indent="0">
              <a:buNone/>
            </a:pPr>
            <a:r>
              <a:rPr lang="en-US" sz="1400" b="1" dirty="0">
                <a:solidFill>
                  <a:srgbClr val="0D7377"/>
                </a:solidFill>
                <a:latin typeface="Calibri" pitchFamily="34" charset="0"/>
                <a:ea typeface="Calibri" pitchFamily="34" charset="-122"/>
                <a:cs typeface="Calibri" pitchFamily="34" charset="-120"/>
              </a:rPr>
              <a:t>Definición</a:t>
            </a:r>
            <a:endParaRPr lang="en-US" sz="1400" dirty="0"/>
          </a:p>
        </p:txBody>
      </p:sp>
      <p:sp>
        <p:nvSpPr>
          <p:cNvPr id="6" name="Text 4"/>
          <p:cNvSpPr/>
          <p:nvPr/>
        </p:nvSpPr>
        <p:spPr>
          <a:xfrm>
            <a:off x="365760" y="1600200"/>
            <a:ext cx="4114800" cy="137160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Técnica estadística que modela la relación lineal entre una variable dependiente (Y) y una o más variables independientes (X).</a:t>
            </a:r>
            <a:endParaRPr lang="en-US" sz="1200" dirty="0"/>
          </a:p>
          <a:p>
            <a:pPr marL="0" indent="0">
              <a:buNone/>
            </a:pP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Objetivo: </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Predecir Y y cuantificar el efecto de X sobre Y.</a:t>
            </a:r>
            <a:endParaRPr lang="en-US" sz="1200" dirty="0"/>
          </a:p>
          <a:p>
            <a:pPr marL="0" indent="0">
              <a:buNone/>
            </a:pP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Formula: </a:t>
            </a:r>
            <a:endParaRPr lang="en-US" sz="1200" dirty="0"/>
          </a:p>
        </p:txBody>
      </p:sp>
      <p:sp>
        <p:nvSpPr>
          <p:cNvPr id="7" name="Shape 5"/>
          <p:cNvSpPr/>
          <p:nvPr/>
        </p:nvSpPr>
        <p:spPr>
          <a:xfrm>
            <a:off x="365760" y="2834640"/>
            <a:ext cx="4114800" cy="914400"/>
          </a:xfrm>
          <a:prstGeom prst="rect">
            <a:avLst/>
          </a:prstGeom>
          <a:solidFill>
            <a:srgbClr val="1A3A5C"/>
          </a:solidFill>
          <a:ln w="12700">
            <a:solidFill>
              <a:srgbClr val="1A3A5C"/>
            </a:solidFill>
            <a:prstDash val="solid"/>
          </a:ln>
          <a:effectLst>
            <a:outerShdw blurRad="101600" dist="38100" dir="8100000" algn="bl" rotWithShape="0">
              <a:srgbClr val="000000">
                <a:alpha val="12000"/>
              </a:srgbClr>
            </a:outerShdw>
          </a:effectLst>
        </p:spPr>
        <p:txBody>
          <a:bodyPr/>
          <a:lstStyle/>
          <a:p>
            <a:endParaRPr lang="es-CO"/>
          </a:p>
        </p:txBody>
      </p:sp>
      <p:sp>
        <p:nvSpPr>
          <p:cNvPr id="8" name="Text 6"/>
          <p:cNvSpPr/>
          <p:nvPr/>
        </p:nvSpPr>
        <p:spPr>
          <a:xfrm>
            <a:off x="365760" y="2834640"/>
            <a:ext cx="4114800" cy="502920"/>
          </a:xfrm>
          <a:prstGeom prst="rect">
            <a:avLst/>
          </a:prstGeom>
          <a:noFill/>
          <a:ln/>
        </p:spPr>
        <p:txBody>
          <a:bodyPr wrap="square" rtlCol="0" anchor="ctr"/>
          <a:lstStyle/>
          <a:p>
            <a:pPr marL="0" indent="0" algn="ctr">
              <a:buNone/>
            </a:pPr>
            <a:r>
              <a:rPr lang="en-US" sz="2200" b="1" dirty="0">
                <a:solidFill>
                  <a:srgbClr val="E8A838"/>
                </a:solidFill>
                <a:latin typeface="Calibri" pitchFamily="34" charset="0"/>
                <a:ea typeface="Calibri" pitchFamily="34" charset="-122"/>
                <a:cs typeface="Calibri" pitchFamily="34" charset="-120"/>
              </a:rPr>
              <a:t>Ŷ = β₀ + β₁X + ε</a:t>
            </a:r>
            <a:endParaRPr lang="en-US" sz="2200" dirty="0"/>
          </a:p>
        </p:txBody>
      </p:sp>
      <p:sp>
        <p:nvSpPr>
          <p:cNvPr id="9" name="Text 7"/>
          <p:cNvSpPr/>
          <p:nvPr/>
        </p:nvSpPr>
        <p:spPr>
          <a:xfrm>
            <a:off x="365760" y="3291840"/>
            <a:ext cx="4114800" cy="411480"/>
          </a:xfrm>
          <a:prstGeom prst="rect">
            <a:avLst/>
          </a:prstGeom>
          <a:noFill/>
          <a:ln/>
        </p:spPr>
        <p:txBody>
          <a:bodyPr wrap="square" rtlCol="0" anchor="ctr"/>
          <a:lstStyle/>
          <a:p>
            <a:pPr marL="0" indent="0" algn="ctr">
              <a:buNone/>
            </a:pPr>
            <a:r>
              <a:rPr lang="en-US" sz="1000" b="1" dirty="0">
                <a:solidFill>
                  <a:srgbClr val="E8A838"/>
                </a:solidFill>
                <a:latin typeface="Calibri" pitchFamily="34" charset="0"/>
                <a:ea typeface="Calibri" pitchFamily="34" charset="-122"/>
                <a:cs typeface="Calibri" pitchFamily="34" charset="-120"/>
              </a:rPr>
              <a:t>β₀</a:t>
            </a:r>
            <a:r>
              <a:rPr lang="en-US" sz="1000" dirty="0">
                <a:solidFill>
                  <a:srgbClr val="FFFFFF"/>
                </a:solidFill>
                <a:latin typeface="Calibri" pitchFamily="34" charset="0"/>
                <a:ea typeface="Calibri" pitchFamily="34" charset="-122"/>
                <a:cs typeface="Calibri" pitchFamily="34" charset="-120"/>
              </a:rPr>
              <a:t> = intercepto   </a:t>
            </a:r>
            <a:r>
              <a:rPr lang="en-US" sz="1000" b="1" dirty="0">
                <a:solidFill>
                  <a:srgbClr val="E8A838"/>
                </a:solidFill>
                <a:latin typeface="Calibri" pitchFamily="34" charset="0"/>
                <a:ea typeface="Calibri" pitchFamily="34" charset="-122"/>
                <a:cs typeface="Calibri" pitchFamily="34" charset="-120"/>
              </a:rPr>
              <a:t>β₁</a:t>
            </a:r>
            <a:r>
              <a:rPr lang="en-US" sz="1000" dirty="0">
                <a:solidFill>
                  <a:srgbClr val="FFFFFF"/>
                </a:solidFill>
                <a:latin typeface="Calibri" pitchFamily="34" charset="0"/>
                <a:ea typeface="Calibri" pitchFamily="34" charset="-122"/>
                <a:cs typeface="Calibri" pitchFamily="34" charset="-120"/>
              </a:rPr>
              <a:t> = pendiente   </a:t>
            </a:r>
            <a:r>
              <a:rPr lang="en-US" sz="1000" b="1" dirty="0">
                <a:solidFill>
                  <a:srgbClr val="E8A838"/>
                </a:solidFill>
                <a:latin typeface="Calibri" pitchFamily="34" charset="0"/>
                <a:ea typeface="Calibri" pitchFamily="34" charset="-122"/>
                <a:cs typeface="Calibri" pitchFamily="34" charset="-120"/>
              </a:rPr>
              <a:t>ε</a:t>
            </a:r>
            <a:r>
              <a:rPr lang="en-US" sz="1000" dirty="0">
                <a:solidFill>
                  <a:srgbClr val="FFFFFF"/>
                </a:solidFill>
                <a:latin typeface="Calibri" pitchFamily="34" charset="0"/>
                <a:ea typeface="Calibri" pitchFamily="34" charset="-122"/>
                <a:cs typeface="Calibri" pitchFamily="34" charset="-120"/>
              </a:rPr>
              <a:t> = error</a:t>
            </a:r>
            <a:endParaRPr lang="en-US" sz="1000" dirty="0"/>
          </a:p>
        </p:txBody>
      </p:sp>
      <p:graphicFrame>
        <p:nvGraphicFramePr>
          <p:cNvPr id="10" name="Chart 0"/>
          <p:cNvGraphicFramePr/>
          <p:nvPr/>
        </p:nvGraphicFramePr>
        <p:xfrm>
          <a:off x="4754880" y="1097280"/>
          <a:ext cx="41148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8"/>
          <p:cNvSpPr/>
          <p:nvPr/>
        </p:nvSpPr>
        <p:spPr>
          <a:xfrm>
            <a:off x="365760" y="3931920"/>
            <a:ext cx="1325880" cy="914400"/>
          </a:xfrm>
          <a:prstGeom prst="rect">
            <a:avLst/>
          </a:prstGeom>
          <a:solidFill>
            <a:srgbClr val="F0F4F8"/>
          </a:solidFill>
          <a:ln w="12700">
            <a:solidFill>
              <a:srgbClr val="E2E8F0"/>
            </a:solidFill>
            <a:prstDash val="solid"/>
          </a:ln>
        </p:spPr>
        <p:txBody>
          <a:bodyPr/>
          <a:lstStyle/>
          <a:p>
            <a:endParaRPr lang="es-CO"/>
          </a:p>
        </p:txBody>
      </p:sp>
      <p:sp>
        <p:nvSpPr>
          <p:cNvPr id="12" name="Text 9"/>
          <p:cNvSpPr/>
          <p:nvPr/>
        </p:nvSpPr>
        <p:spPr>
          <a:xfrm>
            <a:off x="365760" y="3950208"/>
            <a:ext cx="1325880" cy="320040"/>
          </a:xfrm>
          <a:prstGeom prst="rect">
            <a:avLst/>
          </a:prstGeom>
          <a:noFill/>
          <a:ln/>
        </p:spPr>
        <p:txBody>
          <a:bodyPr wrap="square" rtlCol="0" anchor="ctr"/>
          <a:lstStyle/>
          <a:p>
            <a:pPr marL="0" indent="0" algn="ctr">
              <a:buNone/>
            </a:pPr>
            <a:r>
              <a:rPr lang="en-US" sz="1000" b="1" dirty="0">
                <a:solidFill>
                  <a:srgbClr val="1A3A5C"/>
                </a:solidFill>
                <a:latin typeface="Calibri" pitchFamily="34" charset="0"/>
                <a:ea typeface="Calibri" pitchFamily="34" charset="-122"/>
                <a:cs typeface="Calibri" pitchFamily="34" charset="-120"/>
              </a:rPr>
              <a:t>Intercepto (β₀)</a:t>
            </a:r>
            <a:endParaRPr lang="en-US" sz="1000" dirty="0"/>
          </a:p>
        </p:txBody>
      </p:sp>
      <p:sp>
        <p:nvSpPr>
          <p:cNvPr id="13" name="Text 10"/>
          <p:cNvSpPr/>
          <p:nvPr/>
        </p:nvSpPr>
        <p:spPr>
          <a:xfrm>
            <a:off x="365760" y="4270248"/>
            <a:ext cx="1325880" cy="54864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Valor esperado de Y cuando X=0</a:t>
            </a:r>
            <a:endParaRPr lang="en-US" sz="900" dirty="0"/>
          </a:p>
        </p:txBody>
      </p:sp>
      <p:sp>
        <p:nvSpPr>
          <p:cNvPr id="14" name="Shape 11"/>
          <p:cNvSpPr/>
          <p:nvPr/>
        </p:nvSpPr>
        <p:spPr>
          <a:xfrm>
            <a:off x="1828800" y="3931920"/>
            <a:ext cx="1325880" cy="914400"/>
          </a:xfrm>
          <a:prstGeom prst="rect">
            <a:avLst/>
          </a:prstGeom>
          <a:solidFill>
            <a:srgbClr val="F0F4F8"/>
          </a:solidFill>
          <a:ln w="12700">
            <a:solidFill>
              <a:srgbClr val="E2E8F0"/>
            </a:solidFill>
            <a:prstDash val="solid"/>
          </a:ln>
        </p:spPr>
        <p:txBody>
          <a:bodyPr/>
          <a:lstStyle/>
          <a:p>
            <a:endParaRPr lang="es-CO"/>
          </a:p>
        </p:txBody>
      </p:sp>
      <p:sp>
        <p:nvSpPr>
          <p:cNvPr id="15" name="Text 12"/>
          <p:cNvSpPr/>
          <p:nvPr/>
        </p:nvSpPr>
        <p:spPr>
          <a:xfrm>
            <a:off x="1828800" y="3950208"/>
            <a:ext cx="1325880" cy="320040"/>
          </a:xfrm>
          <a:prstGeom prst="rect">
            <a:avLst/>
          </a:prstGeom>
          <a:noFill/>
          <a:ln/>
        </p:spPr>
        <p:txBody>
          <a:bodyPr wrap="square" rtlCol="0" anchor="ctr"/>
          <a:lstStyle/>
          <a:p>
            <a:pPr marL="0" indent="0" algn="ctr">
              <a:buNone/>
            </a:pPr>
            <a:r>
              <a:rPr lang="en-US" sz="1000" b="1" dirty="0">
                <a:solidFill>
                  <a:srgbClr val="1A3A5C"/>
                </a:solidFill>
                <a:latin typeface="Calibri" pitchFamily="34" charset="0"/>
                <a:ea typeface="Calibri" pitchFamily="34" charset="-122"/>
                <a:cs typeface="Calibri" pitchFamily="34" charset="-120"/>
              </a:rPr>
              <a:t>Pendiente (β₁)</a:t>
            </a:r>
            <a:endParaRPr lang="en-US" sz="1000" dirty="0"/>
          </a:p>
        </p:txBody>
      </p:sp>
      <p:sp>
        <p:nvSpPr>
          <p:cNvPr id="16" name="Text 13"/>
          <p:cNvSpPr/>
          <p:nvPr/>
        </p:nvSpPr>
        <p:spPr>
          <a:xfrm>
            <a:off x="1828800" y="4270248"/>
            <a:ext cx="1325880" cy="54864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Cambio en Y por una unidad de X</a:t>
            </a:r>
            <a:endParaRPr lang="en-US" sz="900" dirty="0"/>
          </a:p>
        </p:txBody>
      </p:sp>
      <p:sp>
        <p:nvSpPr>
          <p:cNvPr id="17" name="Shape 14"/>
          <p:cNvSpPr/>
          <p:nvPr/>
        </p:nvSpPr>
        <p:spPr>
          <a:xfrm>
            <a:off x="3291840" y="3931920"/>
            <a:ext cx="1325880" cy="914400"/>
          </a:xfrm>
          <a:prstGeom prst="rect">
            <a:avLst/>
          </a:prstGeom>
          <a:solidFill>
            <a:srgbClr val="F0F4F8"/>
          </a:solidFill>
          <a:ln w="12700">
            <a:solidFill>
              <a:srgbClr val="E2E8F0"/>
            </a:solidFill>
            <a:prstDash val="solid"/>
          </a:ln>
        </p:spPr>
        <p:txBody>
          <a:bodyPr/>
          <a:lstStyle/>
          <a:p>
            <a:endParaRPr lang="es-CO"/>
          </a:p>
        </p:txBody>
      </p:sp>
      <p:sp>
        <p:nvSpPr>
          <p:cNvPr id="18" name="Text 15"/>
          <p:cNvSpPr/>
          <p:nvPr/>
        </p:nvSpPr>
        <p:spPr>
          <a:xfrm>
            <a:off x="3291840" y="3950208"/>
            <a:ext cx="1325880" cy="320040"/>
          </a:xfrm>
          <a:prstGeom prst="rect">
            <a:avLst/>
          </a:prstGeom>
          <a:noFill/>
          <a:ln/>
        </p:spPr>
        <p:txBody>
          <a:bodyPr wrap="square" rtlCol="0" anchor="ctr"/>
          <a:lstStyle/>
          <a:p>
            <a:pPr marL="0" indent="0" algn="ctr">
              <a:buNone/>
            </a:pPr>
            <a:r>
              <a:rPr lang="en-US" sz="1000" b="1" dirty="0">
                <a:solidFill>
                  <a:srgbClr val="1A3A5C"/>
                </a:solidFill>
                <a:latin typeface="Calibri" pitchFamily="34" charset="0"/>
                <a:ea typeface="Calibri" pitchFamily="34" charset="-122"/>
                <a:cs typeface="Calibri" pitchFamily="34" charset="-120"/>
              </a:rPr>
              <a:t>Bondad de Ajuste</a:t>
            </a:r>
            <a:endParaRPr lang="en-US" sz="1000" dirty="0"/>
          </a:p>
        </p:txBody>
      </p:sp>
      <p:sp>
        <p:nvSpPr>
          <p:cNvPr id="19" name="Text 16"/>
          <p:cNvSpPr/>
          <p:nvPr/>
        </p:nvSpPr>
        <p:spPr>
          <a:xfrm>
            <a:off x="3291840" y="4270248"/>
            <a:ext cx="1325880" cy="54864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R² mide qué tan bien ajusta el modelo</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7377"/>
          </a:solidFill>
          <a:ln w="12700">
            <a:solidFill>
              <a:srgbClr val="0D7377"/>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REGRESIÓN SIMPLE — Ejemplo: Ingreso vs. Gasto en Educación</a:t>
            </a:r>
            <a:endParaRPr lang="en-US" sz="2000" dirty="0"/>
          </a:p>
        </p:txBody>
      </p:sp>
      <p:sp>
        <p:nvSpPr>
          <p:cNvPr id="4" name="Shape 2"/>
          <p:cNvSpPr/>
          <p:nvPr/>
        </p:nvSpPr>
        <p:spPr>
          <a:xfrm>
            <a:off x="274320" y="1005840"/>
            <a:ext cx="3474720" cy="384048"/>
          </a:xfrm>
          <a:prstGeom prst="rect">
            <a:avLst/>
          </a:prstGeom>
          <a:solidFill>
            <a:srgbClr val="1A3A5C"/>
          </a:solidFill>
          <a:ln w="12700">
            <a:solidFill>
              <a:srgbClr val="1A3A5C"/>
            </a:solidFill>
            <a:prstDash val="solid"/>
          </a:ln>
        </p:spPr>
        <p:txBody>
          <a:bodyPr/>
          <a:lstStyle/>
          <a:p>
            <a:endParaRPr lang="es-CO"/>
          </a:p>
        </p:txBody>
      </p:sp>
      <p:sp>
        <p:nvSpPr>
          <p:cNvPr id="5" name="Text 3"/>
          <p:cNvSpPr/>
          <p:nvPr/>
        </p:nvSpPr>
        <p:spPr>
          <a:xfrm>
            <a:off x="274320" y="1005840"/>
            <a:ext cx="347472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Datos muestra (miles COP)</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74320" y="1389888"/>
          <a:ext cx="3474720" cy="2285997"/>
        </p:xfrm>
        <a:graphic>
          <a:graphicData uri="http://schemas.openxmlformats.org/drawingml/2006/table">
            <a:tbl>
              <a:tblPr/>
              <a:tblGrid>
                <a:gridCol w="9144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26571">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Familia</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737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Ingreso X</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737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Gasto Y</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7377"/>
                    </a:solidFill>
                  </a:tcPr>
                </a:tc>
                <a:extLst>
                  <a:ext uri="{0D108BD9-81ED-4DB2-BD59-A6C34878D82A}">
                    <a16:rowId xmlns:a16="http://schemas.microsoft.com/office/drawing/2014/main" val="10000"/>
                  </a:ext>
                </a:extLst>
              </a:tr>
              <a:tr h="326571">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26571">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26571">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7.1</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26571">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9.0</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26571">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68</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11.3</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26571">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13.5</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Shape 4"/>
          <p:cNvSpPr/>
          <p:nvPr/>
        </p:nvSpPr>
        <p:spPr>
          <a:xfrm>
            <a:off x="274320" y="3840480"/>
            <a:ext cx="0" cy="0"/>
          </a:xfrm>
          <a:prstGeom prst="rect">
            <a:avLst/>
          </a:prstGeom>
          <a:noFill/>
          <a:ln/>
        </p:spPr>
        <p:txBody>
          <a:bodyPr/>
          <a:lstStyle/>
          <a:p>
            <a:endParaRPr lang="es-CO"/>
          </a:p>
        </p:txBody>
      </p:sp>
      <p:sp>
        <p:nvSpPr>
          <p:cNvPr id="8" name="Shape 5"/>
          <p:cNvSpPr/>
          <p:nvPr/>
        </p:nvSpPr>
        <p:spPr>
          <a:xfrm>
            <a:off x="274320" y="3840480"/>
            <a:ext cx="0" cy="0"/>
          </a:xfrm>
          <a:prstGeom prst="rect">
            <a:avLst/>
          </a:prstGeom>
          <a:noFill/>
          <a:ln/>
        </p:spPr>
        <p:txBody>
          <a:bodyPr/>
          <a:lstStyle/>
          <a:p>
            <a:endParaRPr lang="es-CO"/>
          </a:p>
        </p:txBody>
      </p:sp>
      <p:sp>
        <p:nvSpPr>
          <p:cNvPr id="9" name="Shape 6"/>
          <p:cNvSpPr/>
          <p:nvPr/>
        </p:nvSpPr>
        <p:spPr>
          <a:xfrm>
            <a:off x="274320" y="3840480"/>
            <a:ext cx="0" cy="0"/>
          </a:xfrm>
          <a:prstGeom prst="rect">
            <a:avLst/>
          </a:prstGeom>
          <a:noFill/>
          <a:ln/>
        </p:spPr>
        <p:txBody>
          <a:bodyPr/>
          <a:lstStyle/>
          <a:p>
            <a:endParaRPr lang="es-CO"/>
          </a:p>
        </p:txBody>
      </p:sp>
      <p:sp>
        <p:nvSpPr>
          <p:cNvPr id="10" name="Shape 7"/>
          <p:cNvSpPr/>
          <p:nvPr/>
        </p:nvSpPr>
        <p:spPr>
          <a:xfrm>
            <a:off x="274320" y="3840480"/>
            <a:ext cx="0" cy="0"/>
          </a:xfrm>
          <a:prstGeom prst="rect">
            <a:avLst/>
          </a:prstGeom>
          <a:noFill/>
          <a:ln/>
        </p:spPr>
        <p:txBody>
          <a:bodyPr/>
          <a:lstStyle/>
          <a:p>
            <a:endParaRPr lang="es-CO"/>
          </a:p>
        </p:txBody>
      </p:sp>
      <p:sp>
        <p:nvSpPr>
          <p:cNvPr id="11" name="Shape 8"/>
          <p:cNvSpPr/>
          <p:nvPr/>
        </p:nvSpPr>
        <p:spPr>
          <a:xfrm>
            <a:off x="274320" y="3767328"/>
            <a:ext cx="3474720" cy="1261872"/>
          </a:xfrm>
          <a:prstGeom prst="rect">
            <a:avLst/>
          </a:prstGeom>
          <a:solidFill>
            <a:srgbClr val="1A3A5C"/>
          </a:solidFill>
          <a:ln w="12700">
            <a:solidFill>
              <a:srgbClr val="1A3A5C"/>
            </a:solidFill>
            <a:prstDash val="solid"/>
          </a:ln>
          <a:effectLst>
            <a:outerShdw blurRad="101600" dist="38100" dir="8100000" algn="bl" rotWithShape="0">
              <a:srgbClr val="000000">
                <a:alpha val="12000"/>
              </a:srgbClr>
            </a:outerShdw>
          </a:effectLst>
        </p:spPr>
        <p:txBody>
          <a:bodyPr/>
          <a:lstStyle/>
          <a:p>
            <a:endParaRPr lang="es-CO"/>
          </a:p>
        </p:txBody>
      </p:sp>
      <p:sp>
        <p:nvSpPr>
          <p:cNvPr id="12" name="Text 9"/>
          <p:cNvSpPr/>
          <p:nvPr/>
        </p:nvSpPr>
        <p:spPr>
          <a:xfrm>
            <a:off x="384048" y="3803904"/>
            <a:ext cx="3291840" cy="274320"/>
          </a:xfrm>
          <a:prstGeom prst="rect">
            <a:avLst/>
          </a:prstGeom>
          <a:noFill/>
          <a:ln/>
        </p:spPr>
        <p:txBody>
          <a:bodyPr wrap="square" rtlCol="0" anchor="ctr"/>
          <a:lstStyle/>
          <a:p>
            <a:pPr marL="0" indent="0">
              <a:buNone/>
            </a:pPr>
            <a:r>
              <a:rPr lang="en-US" sz="1050" b="1" dirty="0">
                <a:solidFill>
                  <a:srgbClr val="E8A838"/>
                </a:solidFill>
                <a:latin typeface="Calibri" pitchFamily="34" charset="0"/>
                <a:ea typeface="Calibri" pitchFamily="34" charset="-122"/>
                <a:cs typeface="Calibri" pitchFamily="34" charset="-120"/>
              </a:rPr>
              <a:t>Ecuación: </a:t>
            </a:r>
            <a:r>
              <a:rPr lang="en-US" sz="1050" dirty="0">
                <a:solidFill>
                  <a:srgbClr val="FFFFFF"/>
                </a:solidFill>
                <a:latin typeface="Calibri" pitchFamily="34" charset="0"/>
                <a:ea typeface="Calibri" pitchFamily="34" charset="-122"/>
                <a:cs typeface="Calibri" pitchFamily="34" charset="-120"/>
              </a:rPr>
              <a:t>Ŷ = 0.52 + 0.163X</a:t>
            </a:r>
            <a:endParaRPr lang="en-US" sz="1050" dirty="0"/>
          </a:p>
        </p:txBody>
      </p:sp>
      <p:sp>
        <p:nvSpPr>
          <p:cNvPr id="13" name="Text 10"/>
          <p:cNvSpPr/>
          <p:nvPr/>
        </p:nvSpPr>
        <p:spPr>
          <a:xfrm>
            <a:off x="384048" y="4096512"/>
            <a:ext cx="3291840" cy="274320"/>
          </a:xfrm>
          <a:prstGeom prst="rect">
            <a:avLst/>
          </a:prstGeom>
          <a:noFill/>
          <a:ln/>
        </p:spPr>
        <p:txBody>
          <a:bodyPr wrap="square" rtlCol="0" anchor="ctr"/>
          <a:lstStyle/>
          <a:p>
            <a:pPr marL="0" indent="0">
              <a:buNone/>
            </a:pPr>
            <a:r>
              <a:rPr lang="en-US" sz="1050" b="1" dirty="0">
                <a:solidFill>
                  <a:srgbClr val="E8A838"/>
                </a:solidFill>
                <a:latin typeface="Calibri" pitchFamily="34" charset="0"/>
                <a:ea typeface="Calibri" pitchFamily="34" charset="-122"/>
                <a:cs typeface="Calibri" pitchFamily="34" charset="-120"/>
              </a:rPr>
              <a:t>β₁: </a:t>
            </a:r>
            <a:r>
              <a:rPr lang="en-US" sz="1050" dirty="0">
                <a:solidFill>
                  <a:srgbClr val="FFFFFF"/>
                </a:solidFill>
                <a:latin typeface="Calibri" pitchFamily="34" charset="0"/>
                <a:ea typeface="Calibri" pitchFamily="34" charset="-122"/>
                <a:cs typeface="Calibri" pitchFamily="34" charset="-120"/>
              </a:rPr>
              <a:t>+$163 por cada $1,000 de ingreso</a:t>
            </a:r>
            <a:endParaRPr lang="en-US" sz="1050" dirty="0"/>
          </a:p>
        </p:txBody>
      </p:sp>
      <p:sp>
        <p:nvSpPr>
          <p:cNvPr id="14" name="Text 11"/>
          <p:cNvSpPr/>
          <p:nvPr/>
        </p:nvSpPr>
        <p:spPr>
          <a:xfrm>
            <a:off x="384048" y="4389120"/>
            <a:ext cx="3291840" cy="274320"/>
          </a:xfrm>
          <a:prstGeom prst="rect">
            <a:avLst/>
          </a:prstGeom>
          <a:noFill/>
          <a:ln/>
        </p:spPr>
        <p:txBody>
          <a:bodyPr wrap="square" rtlCol="0" anchor="ctr"/>
          <a:lstStyle/>
          <a:p>
            <a:pPr marL="0" indent="0">
              <a:buNone/>
            </a:pPr>
            <a:r>
              <a:rPr lang="en-US" sz="1050" b="1" dirty="0">
                <a:solidFill>
                  <a:srgbClr val="E8A838"/>
                </a:solidFill>
                <a:latin typeface="Calibri" pitchFamily="34" charset="0"/>
                <a:ea typeface="Calibri" pitchFamily="34" charset="-122"/>
                <a:cs typeface="Calibri" pitchFamily="34" charset="-120"/>
              </a:rPr>
              <a:t>R² = 0.989: </a:t>
            </a:r>
            <a:r>
              <a:rPr lang="en-US" sz="1050" dirty="0">
                <a:solidFill>
                  <a:srgbClr val="FFFFFF"/>
                </a:solidFill>
                <a:latin typeface="Calibri" pitchFamily="34" charset="0"/>
                <a:ea typeface="Calibri" pitchFamily="34" charset="-122"/>
                <a:cs typeface="Calibri" pitchFamily="34" charset="-120"/>
              </a:rPr>
              <a:t>Explica el 98.9% de la variación</a:t>
            </a:r>
            <a:endParaRPr lang="en-US" sz="1050" dirty="0"/>
          </a:p>
        </p:txBody>
      </p:sp>
      <p:sp>
        <p:nvSpPr>
          <p:cNvPr id="6" name="Text 12"/>
          <p:cNvSpPr/>
          <p:nvPr/>
        </p:nvSpPr>
        <p:spPr>
          <a:xfrm>
            <a:off x="384048" y="4681728"/>
            <a:ext cx="3291840" cy="274320"/>
          </a:xfrm>
          <a:prstGeom prst="rect">
            <a:avLst/>
          </a:prstGeom>
          <a:noFill/>
          <a:ln/>
        </p:spPr>
        <p:txBody>
          <a:bodyPr wrap="square" rtlCol="0" anchor="ctr"/>
          <a:lstStyle/>
          <a:p>
            <a:pPr marL="0" indent="0">
              <a:buNone/>
            </a:pPr>
            <a:r>
              <a:rPr lang="en-US" sz="1050" b="1" dirty="0">
                <a:solidFill>
                  <a:srgbClr val="E8A838"/>
                </a:solidFill>
                <a:latin typeface="Calibri" pitchFamily="34" charset="0"/>
                <a:ea typeface="Calibri" pitchFamily="34" charset="-122"/>
                <a:cs typeface="Calibri" pitchFamily="34" charset="-120"/>
              </a:rPr>
              <a:t>p-valor β₁: </a:t>
            </a:r>
            <a:r>
              <a:rPr lang="en-US" sz="1050" dirty="0">
                <a:solidFill>
                  <a:srgbClr val="FFFFFF"/>
                </a:solidFill>
                <a:latin typeface="Calibri" pitchFamily="34" charset="0"/>
                <a:ea typeface="Calibri" pitchFamily="34" charset="-122"/>
                <a:cs typeface="Calibri" pitchFamily="34" charset="-120"/>
              </a:rPr>
              <a:t>&lt; 0.001 → Significativo</a:t>
            </a:r>
            <a:endParaRPr lang="en-US" sz="1050" dirty="0"/>
          </a:p>
        </p:txBody>
      </p:sp>
      <p:graphicFrame>
        <p:nvGraphicFramePr>
          <p:cNvPr id="16" name="Chart 0"/>
          <p:cNvGraphicFramePr/>
          <p:nvPr/>
        </p:nvGraphicFramePr>
        <p:xfrm>
          <a:off x="4114800" y="960120"/>
          <a:ext cx="470916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17" name="Shape 13"/>
          <p:cNvSpPr/>
          <p:nvPr/>
        </p:nvSpPr>
        <p:spPr>
          <a:xfrm>
            <a:off x="4114800" y="4572000"/>
            <a:ext cx="4709160" cy="502920"/>
          </a:xfrm>
          <a:prstGeom prst="rect">
            <a:avLst/>
          </a:prstGeom>
          <a:solidFill>
            <a:srgbClr val="1E1E2E"/>
          </a:solidFill>
          <a:ln w="12700">
            <a:solidFill>
              <a:srgbClr val="1E1E2E"/>
            </a:solidFill>
            <a:prstDash val="solid"/>
          </a:ln>
        </p:spPr>
        <p:txBody>
          <a:bodyPr/>
          <a:lstStyle/>
          <a:p>
            <a:endParaRPr lang="es-CO"/>
          </a:p>
        </p:txBody>
      </p:sp>
      <p:sp>
        <p:nvSpPr>
          <p:cNvPr id="18" name="Text 14"/>
          <p:cNvSpPr/>
          <p:nvPr/>
        </p:nvSpPr>
        <p:spPr>
          <a:xfrm>
            <a:off x="4206240" y="4572000"/>
            <a:ext cx="4572000" cy="502920"/>
          </a:xfrm>
          <a:prstGeom prst="rect">
            <a:avLst/>
          </a:prstGeom>
          <a:noFill/>
          <a:ln/>
        </p:spPr>
        <p:txBody>
          <a:bodyPr wrap="square" rtlCol="0" anchor="ctr"/>
          <a:lstStyle/>
          <a:p>
            <a:pPr marL="0" indent="0">
              <a:buNone/>
            </a:pPr>
            <a:r>
              <a:rPr lang="en-US" sz="900" dirty="0">
                <a:solidFill>
                  <a:srgbClr val="FFD43B"/>
                </a:solidFill>
                <a:latin typeface="Consolas" pitchFamily="34" charset="0"/>
                <a:ea typeface="Consolas" pitchFamily="34" charset="-122"/>
                <a:cs typeface="Consolas" pitchFamily="34" charset="-120"/>
              </a:rPr>
              <a:t>🐍  modelo = sm.OLS(y, sm.add_constant(X)).fit()  →  print(modelo.summary())</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8A838"/>
          </a:solidFill>
          <a:ln w="12700">
            <a:solidFill>
              <a:srgbClr val="E8A838"/>
            </a:solidFill>
            <a:prstDash val="solid"/>
          </a:ln>
        </p:spPr>
        <p:txBody>
          <a:bodyPr/>
          <a:lstStyle/>
          <a:p>
            <a:endParaRPr lang="es-CO"/>
          </a:p>
        </p:txBody>
      </p:sp>
      <p:sp>
        <p:nvSpPr>
          <p:cNvPr id="3" name="Shape 1"/>
          <p:cNvSpPr/>
          <p:nvPr/>
        </p:nvSpPr>
        <p:spPr>
          <a:xfrm>
            <a:off x="0" y="5029200"/>
            <a:ext cx="9144000" cy="109728"/>
          </a:xfrm>
          <a:prstGeom prst="rect">
            <a:avLst/>
          </a:prstGeom>
          <a:solidFill>
            <a:srgbClr val="E8A838"/>
          </a:solidFill>
          <a:ln w="12700">
            <a:solidFill>
              <a:srgbClr val="E8A838"/>
            </a:solidFill>
            <a:prstDash val="solid"/>
          </a:ln>
        </p:spPr>
        <p:txBody>
          <a:bodyPr/>
          <a:lstStyle/>
          <a:p>
            <a:endParaRPr lang="es-CO"/>
          </a:p>
        </p:txBody>
      </p:sp>
      <p:sp>
        <p:nvSpPr>
          <p:cNvPr id="4" name="Text 2"/>
          <p:cNvSpPr/>
          <p:nvPr/>
        </p:nvSpPr>
        <p:spPr>
          <a:xfrm>
            <a:off x="548640" y="502920"/>
            <a:ext cx="8229600" cy="457200"/>
          </a:xfrm>
          <a:prstGeom prst="rect">
            <a:avLst/>
          </a:prstGeom>
          <a:noFill/>
          <a:ln/>
        </p:spPr>
        <p:txBody>
          <a:bodyPr wrap="square" rtlCol="0" anchor="ctr"/>
          <a:lstStyle/>
          <a:p>
            <a:pPr marL="0" indent="0">
              <a:buNone/>
            </a:pPr>
            <a:r>
              <a:rPr lang="en-US" sz="1400" b="1" kern="0" spc="600" dirty="0">
                <a:solidFill>
                  <a:srgbClr val="E8A838"/>
                </a:solidFill>
                <a:latin typeface="Calibri" pitchFamily="34" charset="0"/>
                <a:ea typeface="Calibri" pitchFamily="34" charset="-122"/>
                <a:cs typeface="Calibri" pitchFamily="34" charset="-120"/>
              </a:rPr>
              <a:t>SESIÓN 2</a:t>
            </a:r>
            <a:endParaRPr lang="en-US" sz="1400" dirty="0"/>
          </a:p>
        </p:txBody>
      </p:sp>
      <p:sp>
        <p:nvSpPr>
          <p:cNvPr id="5" name="Text 3"/>
          <p:cNvSpPr/>
          <p:nvPr/>
        </p:nvSpPr>
        <p:spPr>
          <a:xfrm>
            <a:off x="548640" y="1005840"/>
            <a:ext cx="8229600" cy="1280160"/>
          </a:xfrm>
          <a:prstGeom prst="rect">
            <a:avLst/>
          </a:prstGeom>
          <a:noFill/>
          <a:ln/>
        </p:spPr>
        <p:txBody>
          <a:bodyPr wrap="square" rtlCol="0" anchor="ctr"/>
          <a:lstStyle/>
          <a:p>
            <a:pPr marL="0" indent="0">
              <a:buNone/>
            </a:pPr>
            <a:r>
              <a:rPr lang="es-CO" sz="3600" b="1" noProof="0" dirty="0">
                <a:solidFill>
                  <a:srgbClr val="FFFFFF"/>
                </a:solidFill>
                <a:latin typeface="Calibri" pitchFamily="34" charset="0"/>
                <a:ea typeface="Calibri" pitchFamily="34" charset="-122"/>
                <a:cs typeface="Calibri" pitchFamily="34" charset="-120"/>
              </a:rPr>
              <a:t>Regresión Múltiple, Logística y Logarítmica</a:t>
            </a:r>
            <a:endParaRPr lang="es-CO" sz="3600" noProof="0" dirty="0"/>
          </a:p>
        </p:txBody>
      </p:sp>
      <p:sp>
        <p:nvSpPr>
          <p:cNvPr id="6" name="Text 4"/>
          <p:cNvSpPr/>
          <p:nvPr/>
        </p:nvSpPr>
        <p:spPr>
          <a:xfrm>
            <a:off x="548640" y="2468880"/>
            <a:ext cx="8229600" cy="548640"/>
          </a:xfrm>
          <a:prstGeom prst="rect">
            <a:avLst/>
          </a:prstGeom>
          <a:noFill/>
          <a:ln/>
        </p:spPr>
        <p:txBody>
          <a:bodyPr wrap="square" rtlCol="0" anchor="ctr"/>
          <a:lstStyle/>
          <a:p>
            <a:pPr marL="0" indent="0">
              <a:buNone/>
            </a:pPr>
            <a:r>
              <a:rPr lang="en-US" sz="1500" i="1" dirty="0">
                <a:solidFill>
                  <a:srgbClr val="A8C8E8"/>
                </a:solidFill>
                <a:latin typeface="Calibri" pitchFamily="34" charset="0"/>
                <a:ea typeface="Calibri" pitchFamily="34" charset="-122"/>
                <a:cs typeface="Calibri" pitchFamily="34" charset="-120"/>
              </a:rPr>
              <a:t>Control de variables · Coeficientes parciales · Multicolinealidad · sklearn</a:t>
            </a:r>
            <a:endParaRPr lang="en-US" sz="1500" dirty="0"/>
          </a:p>
        </p:txBody>
      </p:sp>
      <p:sp>
        <p:nvSpPr>
          <p:cNvPr id="7" name="Shape 5"/>
          <p:cNvSpPr/>
          <p:nvPr/>
        </p:nvSpPr>
        <p:spPr>
          <a:xfrm>
            <a:off x="457200" y="4160520"/>
            <a:ext cx="1600200" cy="457200"/>
          </a:xfrm>
          <a:prstGeom prst="roundRect">
            <a:avLst>
              <a:gd name="adj" fmla="val 20000"/>
            </a:avLst>
          </a:prstGeom>
          <a:solidFill>
            <a:srgbClr val="0D3A5C"/>
          </a:solidFill>
          <a:ln w="12700">
            <a:solidFill>
              <a:srgbClr val="0D7377"/>
            </a:solidFill>
            <a:prstDash val="solid"/>
          </a:ln>
        </p:spPr>
        <p:txBody>
          <a:bodyPr/>
          <a:lstStyle/>
          <a:p>
            <a:endParaRPr lang="es-CO"/>
          </a:p>
        </p:txBody>
      </p:sp>
      <p:sp>
        <p:nvSpPr>
          <p:cNvPr id="8" name="Text 6"/>
          <p:cNvSpPr/>
          <p:nvPr/>
        </p:nvSpPr>
        <p:spPr>
          <a:xfrm>
            <a:off x="457200" y="4160520"/>
            <a:ext cx="1600200" cy="45720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sklearn.linear_model</a:t>
            </a:r>
            <a:endParaRPr lang="en-US" sz="950" dirty="0"/>
          </a:p>
        </p:txBody>
      </p:sp>
      <p:sp>
        <p:nvSpPr>
          <p:cNvPr id="9" name="Shape 7"/>
          <p:cNvSpPr/>
          <p:nvPr/>
        </p:nvSpPr>
        <p:spPr>
          <a:xfrm>
            <a:off x="2139696" y="4160520"/>
            <a:ext cx="1600200" cy="457200"/>
          </a:xfrm>
          <a:prstGeom prst="roundRect">
            <a:avLst>
              <a:gd name="adj" fmla="val 20000"/>
            </a:avLst>
          </a:prstGeom>
          <a:solidFill>
            <a:srgbClr val="0D3A5C"/>
          </a:solidFill>
          <a:ln w="12700">
            <a:solidFill>
              <a:srgbClr val="0D7377"/>
            </a:solidFill>
            <a:prstDash val="solid"/>
          </a:ln>
        </p:spPr>
        <p:txBody>
          <a:bodyPr/>
          <a:lstStyle/>
          <a:p>
            <a:endParaRPr lang="es-CO"/>
          </a:p>
        </p:txBody>
      </p:sp>
      <p:sp>
        <p:nvSpPr>
          <p:cNvPr id="10" name="Text 8"/>
          <p:cNvSpPr/>
          <p:nvPr/>
        </p:nvSpPr>
        <p:spPr>
          <a:xfrm>
            <a:off x="2139696" y="4160520"/>
            <a:ext cx="1600200" cy="45720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Coeficientes parciales</a:t>
            </a:r>
            <a:endParaRPr lang="en-US" sz="950" dirty="0"/>
          </a:p>
        </p:txBody>
      </p:sp>
      <p:sp>
        <p:nvSpPr>
          <p:cNvPr id="11" name="Shape 9"/>
          <p:cNvSpPr/>
          <p:nvPr/>
        </p:nvSpPr>
        <p:spPr>
          <a:xfrm>
            <a:off x="3822192" y="4160520"/>
            <a:ext cx="1600200" cy="457200"/>
          </a:xfrm>
          <a:prstGeom prst="roundRect">
            <a:avLst>
              <a:gd name="adj" fmla="val 20000"/>
            </a:avLst>
          </a:prstGeom>
          <a:solidFill>
            <a:srgbClr val="0D3A5C"/>
          </a:solidFill>
          <a:ln w="12700">
            <a:solidFill>
              <a:srgbClr val="0D7377"/>
            </a:solidFill>
            <a:prstDash val="solid"/>
          </a:ln>
        </p:spPr>
        <p:txBody>
          <a:bodyPr/>
          <a:lstStyle/>
          <a:p>
            <a:endParaRPr lang="es-CO"/>
          </a:p>
        </p:txBody>
      </p:sp>
      <p:sp>
        <p:nvSpPr>
          <p:cNvPr id="12" name="Text 10"/>
          <p:cNvSpPr/>
          <p:nvPr/>
        </p:nvSpPr>
        <p:spPr>
          <a:xfrm>
            <a:off x="3822192" y="4160520"/>
            <a:ext cx="1600200" cy="45720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VIF Multicolinealidad</a:t>
            </a:r>
            <a:endParaRPr lang="en-US" sz="950" dirty="0"/>
          </a:p>
        </p:txBody>
      </p:sp>
      <p:sp>
        <p:nvSpPr>
          <p:cNvPr id="13" name="Shape 11"/>
          <p:cNvSpPr/>
          <p:nvPr/>
        </p:nvSpPr>
        <p:spPr>
          <a:xfrm>
            <a:off x="5504688" y="4160520"/>
            <a:ext cx="1600200" cy="457200"/>
          </a:xfrm>
          <a:prstGeom prst="roundRect">
            <a:avLst>
              <a:gd name="adj" fmla="val 20000"/>
            </a:avLst>
          </a:prstGeom>
          <a:solidFill>
            <a:srgbClr val="0D3A5C"/>
          </a:solidFill>
          <a:ln w="12700">
            <a:solidFill>
              <a:srgbClr val="0D7377"/>
            </a:solidFill>
            <a:prstDash val="solid"/>
          </a:ln>
        </p:spPr>
        <p:txBody>
          <a:bodyPr/>
          <a:lstStyle/>
          <a:p>
            <a:endParaRPr lang="es-CO"/>
          </a:p>
        </p:txBody>
      </p:sp>
      <p:sp>
        <p:nvSpPr>
          <p:cNvPr id="14" name="Text 12"/>
          <p:cNvSpPr/>
          <p:nvPr/>
        </p:nvSpPr>
        <p:spPr>
          <a:xfrm>
            <a:off x="5504688" y="4160520"/>
            <a:ext cx="1600200" cy="45720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R² ajustado</a:t>
            </a:r>
            <a:endParaRPr lang="en-US" sz="950" dirty="0"/>
          </a:p>
        </p:txBody>
      </p:sp>
      <p:sp>
        <p:nvSpPr>
          <p:cNvPr id="15" name="Shape 13"/>
          <p:cNvSpPr/>
          <p:nvPr/>
        </p:nvSpPr>
        <p:spPr>
          <a:xfrm>
            <a:off x="7187184" y="4160520"/>
            <a:ext cx="1600200" cy="457200"/>
          </a:xfrm>
          <a:prstGeom prst="roundRect">
            <a:avLst>
              <a:gd name="adj" fmla="val 20000"/>
            </a:avLst>
          </a:prstGeom>
          <a:solidFill>
            <a:srgbClr val="0D3A5C"/>
          </a:solidFill>
          <a:ln w="12700">
            <a:solidFill>
              <a:srgbClr val="0D7377"/>
            </a:solidFill>
            <a:prstDash val="solid"/>
          </a:ln>
        </p:spPr>
        <p:txBody>
          <a:bodyPr/>
          <a:lstStyle/>
          <a:p>
            <a:endParaRPr lang="es-CO"/>
          </a:p>
        </p:txBody>
      </p:sp>
      <p:sp>
        <p:nvSpPr>
          <p:cNvPr id="16" name="Text 14"/>
          <p:cNvSpPr/>
          <p:nvPr/>
        </p:nvSpPr>
        <p:spPr>
          <a:xfrm>
            <a:off x="7187184" y="4160520"/>
            <a:ext cx="1600200" cy="45720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Caso: Salarios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5A2EAC9-2C22-4406-B745-CE119B8B1F8C}"/>
              </a:ext>
            </a:extLst>
          </p:cNvPr>
          <p:cNvSpPr/>
          <p:nvPr/>
        </p:nvSpPr>
        <p:spPr>
          <a:xfrm>
            <a:off x="0" y="0"/>
            <a:ext cx="9144000" cy="762000"/>
          </a:xfrm>
          <a:prstGeom prst="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9D3F3D5A-951C-47ED-84BD-45721F6A2617}"/>
              </a:ext>
            </a:extLst>
          </p:cNvPr>
          <p:cNvSpPr txBox="1"/>
          <p:nvPr/>
        </p:nvSpPr>
        <p:spPr>
          <a:xfrm>
            <a:off x="368300" y="180945"/>
            <a:ext cx="8407400" cy="400110"/>
          </a:xfrm>
          <a:prstGeom prst="rect">
            <a:avLst/>
          </a:prstGeom>
          <a:noFill/>
        </p:spPr>
        <p:txBody>
          <a:bodyPr vertOverflow="overflow" vert="horz" wrap="square" rtlCol="0" anchor="ctr" anchorCtr="0">
            <a:spAutoFit/>
          </a:bodyPr>
          <a:lstStyle/>
          <a:p>
            <a:pPr algn="l"/>
            <a:r>
              <a:rPr lang="es-ES" sz="2000" b="1" dirty="0">
                <a:solidFill>
                  <a:srgbClr val="FFFFFF"/>
                </a:solidFill>
                <a:latin typeface="Calibri"/>
                <a:ea typeface="Calibri"/>
                <a:cs typeface="Calibri"/>
              </a:rPr>
              <a:t>REGRESIÓN MÚLTIPLE</a:t>
            </a:r>
            <a:endParaRPr lang="es-CO" sz="2000" b="1" dirty="0">
              <a:solidFill>
                <a:srgbClr val="FFFFFF"/>
              </a:solidFill>
              <a:latin typeface="Calibri"/>
              <a:ea typeface="Calibri"/>
              <a:cs typeface="Calibri"/>
            </a:endParaRPr>
          </a:p>
        </p:txBody>
      </p:sp>
      <p:sp>
        <p:nvSpPr>
          <p:cNvPr id="4" name="Rectángulo: esquinas redondeadas 3">
            <a:extLst>
              <a:ext uri="{FF2B5EF4-FFF2-40B4-BE49-F238E27FC236}">
                <a16:creationId xmlns:a16="http://schemas.microsoft.com/office/drawing/2014/main" id="{3F50D6FB-357F-45F4-BAC3-22714D56722B}"/>
              </a:ext>
            </a:extLst>
          </p:cNvPr>
          <p:cNvSpPr/>
          <p:nvPr/>
        </p:nvSpPr>
        <p:spPr>
          <a:xfrm>
            <a:off x="228600" y="863600"/>
            <a:ext cx="8686800" cy="825500"/>
          </a:xfrm>
          <a:prstGeom prst="roundRect">
            <a:avLst/>
          </a:prstGeom>
          <a:solidFill>
            <a:srgbClr val="FFF8E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09F793FA-0EE2-4842-9B68-8B1F17B7D905}"/>
              </a:ext>
            </a:extLst>
          </p:cNvPr>
          <p:cNvSpPr txBox="1"/>
          <p:nvPr/>
        </p:nvSpPr>
        <p:spPr>
          <a:xfrm>
            <a:off x="317500" y="914400"/>
            <a:ext cx="381000" cy="381000"/>
          </a:xfrm>
          <a:prstGeom prst="rect">
            <a:avLst/>
          </a:prstGeom>
          <a:noFill/>
        </p:spPr>
        <p:txBody>
          <a:bodyPr vertOverflow="overflow" vert="horz" wrap="square" rtlCol="0" anchor="t">
            <a:spAutoFit/>
          </a:bodyPr>
          <a:lstStyle/>
          <a:p>
            <a:pPr algn="l"/>
            <a:r>
              <a:rPr lang="es-CO"/>
              <a:t>💡</a:t>
            </a:r>
          </a:p>
        </p:txBody>
      </p:sp>
      <p:sp>
        <p:nvSpPr>
          <p:cNvPr id="6" name="CuadroTexto 5">
            <a:extLst>
              <a:ext uri="{FF2B5EF4-FFF2-40B4-BE49-F238E27FC236}">
                <a16:creationId xmlns:a16="http://schemas.microsoft.com/office/drawing/2014/main" id="{3AB1F1D0-89A1-42B4-AE70-6179FDB01ED3}"/>
              </a:ext>
            </a:extLst>
          </p:cNvPr>
          <p:cNvSpPr txBox="1"/>
          <p:nvPr/>
        </p:nvSpPr>
        <p:spPr>
          <a:xfrm>
            <a:off x="736600" y="914400"/>
            <a:ext cx="8077200" cy="698500"/>
          </a:xfrm>
          <a:prstGeom prst="rect">
            <a:avLst/>
          </a:prstGeom>
          <a:noFill/>
        </p:spPr>
        <p:txBody>
          <a:bodyPr vertOverflow="overflow" vert="horz" wrap="square" rtlCol="0" anchor="t">
            <a:noAutofit/>
          </a:bodyPr>
          <a:lstStyle/>
          <a:p>
            <a:pPr algn="l"/>
            <a:r>
              <a:rPr lang="es-ES" sz="1100">
                <a:solidFill>
                  <a:srgbClr val="1E293B"/>
                </a:solidFill>
                <a:latin typeface="Calibri"/>
                <a:ea typeface="Calibri"/>
                <a:cs typeface="Calibri"/>
              </a:rPr>
              <a:t>Imagina que quieres predecir el precio de una casa. ¿Solo depende del tamaño? No — también influyen el número de habitaciones, la antigüedad, la ubicación... La regresión múltiple te permite usar TODAS esas variables a la vez para hacer una predicción más precisa.</a:t>
            </a:r>
            <a:endParaRPr lang="es-CO" sz="1100">
              <a:solidFill>
                <a:srgbClr val="1E293B"/>
              </a:solidFill>
              <a:latin typeface="Calibri"/>
              <a:ea typeface="Calibri"/>
              <a:cs typeface="Calibri"/>
            </a:endParaRPr>
          </a:p>
        </p:txBody>
      </p:sp>
      <p:sp>
        <p:nvSpPr>
          <p:cNvPr id="7" name="Rectángulo: esquinas redondeadas 6">
            <a:extLst>
              <a:ext uri="{FF2B5EF4-FFF2-40B4-BE49-F238E27FC236}">
                <a16:creationId xmlns:a16="http://schemas.microsoft.com/office/drawing/2014/main" id="{0C1C5A49-7A10-4264-98EB-9C281EDE2EDE}"/>
              </a:ext>
            </a:extLst>
          </p:cNvPr>
          <p:cNvSpPr/>
          <p:nvPr/>
        </p:nvSpPr>
        <p:spPr>
          <a:xfrm>
            <a:off x="228600" y="1803400"/>
            <a:ext cx="2857500" cy="21590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Rectángulo: esquinas redondeadas 7">
            <a:extLst>
              <a:ext uri="{FF2B5EF4-FFF2-40B4-BE49-F238E27FC236}">
                <a16:creationId xmlns:a16="http://schemas.microsoft.com/office/drawing/2014/main" id="{9DC33BB3-4CC7-44FD-AF48-4D21420F0F46}"/>
              </a:ext>
            </a:extLst>
          </p:cNvPr>
          <p:cNvSpPr/>
          <p:nvPr/>
        </p:nvSpPr>
        <p:spPr>
          <a:xfrm>
            <a:off x="228600" y="1803400"/>
            <a:ext cx="2857500" cy="355600"/>
          </a:xfrm>
          <a:prstGeom prst="round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9" name="CuadroTexto 8">
            <a:extLst>
              <a:ext uri="{FF2B5EF4-FFF2-40B4-BE49-F238E27FC236}">
                <a16:creationId xmlns:a16="http://schemas.microsoft.com/office/drawing/2014/main" id="{DC0E8B7C-6439-4154-9374-BE5086393E5B}"/>
              </a:ext>
            </a:extLst>
          </p:cNvPr>
          <p:cNvSpPr txBox="1"/>
          <p:nvPr/>
        </p:nvSpPr>
        <p:spPr>
          <a:xfrm>
            <a:off x="317500" y="1816100"/>
            <a:ext cx="2667000" cy="330200"/>
          </a:xfrm>
          <a:prstGeom prst="rect">
            <a:avLst/>
          </a:prstGeom>
          <a:noFill/>
        </p:spPr>
        <p:txBody>
          <a:bodyPr vertOverflow="overflow" vert="horz" wrap="square" rtlCol="0" anchor="ctr" anchorCtr="0">
            <a:spAutoFit/>
          </a:bodyPr>
          <a:lstStyle/>
          <a:p>
            <a:pPr algn="l"/>
            <a:r>
              <a:rPr lang="es-CO" sz="1300" b="1">
                <a:solidFill>
                  <a:srgbClr val="FFFFFF"/>
                </a:solidFill>
                <a:latin typeface="Calibri"/>
                <a:ea typeface="Calibri"/>
                <a:cs typeface="Calibri"/>
              </a:rPr>
              <a:t>Simple vs Múltiple</a:t>
            </a:r>
          </a:p>
        </p:txBody>
      </p:sp>
      <p:sp>
        <p:nvSpPr>
          <p:cNvPr id="10" name="CuadroTexto 9">
            <a:extLst>
              <a:ext uri="{FF2B5EF4-FFF2-40B4-BE49-F238E27FC236}">
                <a16:creationId xmlns:a16="http://schemas.microsoft.com/office/drawing/2014/main" id="{37507E36-0AD1-4F81-A605-81A6F60C8050}"/>
              </a:ext>
            </a:extLst>
          </p:cNvPr>
          <p:cNvSpPr txBox="1"/>
          <p:nvPr/>
        </p:nvSpPr>
        <p:spPr>
          <a:xfrm>
            <a:off x="317500" y="2209800"/>
            <a:ext cx="2667000" cy="16510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Regresión simple:
  y = mx + b
  → 1 sola variable predice Y
Regresión múltiple:
  y = b₀ + b₁x₁ + b₂x₂ + b₃x₃...
  → Varias variables predicen Y</a:t>
            </a:r>
            <a:endParaRPr lang="es-CO" sz="1000">
              <a:solidFill>
                <a:srgbClr val="1E293B"/>
              </a:solidFill>
              <a:latin typeface="Calibri"/>
              <a:ea typeface="Calibri"/>
              <a:cs typeface="Calibri"/>
            </a:endParaRPr>
          </a:p>
        </p:txBody>
      </p:sp>
      <p:sp>
        <p:nvSpPr>
          <p:cNvPr id="11" name="Rectángulo: esquinas redondeadas 10">
            <a:extLst>
              <a:ext uri="{FF2B5EF4-FFF2-40B4-BE49-F238E27FC236}">
                <a16:creationId xmlns:a16="http://schemas.microsoft.com/office/drawing/2014/main" id="{D8996AC7-25B3-4F44-B869-436C107DDD90}"/>
              </a:ext>
            </a:extLst>
          </p:cNvPr>
          <p:cNvSpPr/>
          <p:nvPr/>
        </p:nvSpPr>
        <p:spPr>
          <a:xfrm>
            <a:off x="3213100" y="1803400"/>
            <a:ext cx="2857500" cy="21590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2" name="Rectángulo: esquinas redondeadas 11">
            <a:extLst>
              <a:ext uri="{FF2B5EF4-FFF2-40B4-BE49-F238E27FC236}">
                <a16:creationId xmlns:a16="http://schemas.microsoft.com/office/drawing/2014/main" id="{E7680ACE-1846-463D-A81D-32AD73D58EBD}"/>
              </a:ext>
            </a:extLst>
          </p:cNvPr>
          <p:cNvSpPr/>
          <p:nvPr/>
        </p:nvSpPr>
        <p:spPr>
          <a:xfrm>
            <a:off x="3213100" y="1803400"/>
            <a:ext cx="2857500" cy="355600"/>
          </a:xfrm>
          <a:prstGeom prst="roundRect">
            <a:avLst/>
          </a:prstGeom>
          <a:solidFill>
            <a:srgbClr val="E8A83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3" name="CuadroTexto 12">
            <a:extLst>
              <a:ext uri="{FF2B5EF4-FFF2-40B4-BE49-F238E27FC236}">
                <a16:creationId xmlns:a16="http://schemas.microsoft.com/office/drawing/2014/main" id="{C633CEB5-29E7-4BF4-8FFA-CCD420E6A1B5}"/>
              </a:ext>
            </a:extLst>
          </p:cNvPr>
          <p:cNvSpPr txBox="1"/>
          <p:nvPr/>
        </p:nvSpPr>
        <p:spPr>
          <a:xfrm>
            <a:off x="3302000" y="1816100"/>
            <a:ext cx="2667000" cy="330200"/>
          </a:xfrm>
          <a:prstGeom prst="rect">
            <a:avLst/>
          </a:prstGeom>
          <a:noFill/>
        </p:spPr>
        <p:txBody>
          <a:bodyPr vertOverflow="overflow" vert="horz" wrap="square" rtlCol="0" anchor="ctr" anchorCtr="0">
            <a:spAutoFit/>
          </a:bodyPr>
          <a:lstStyle/>
          <a:p>
            <a:pPr algn="l"/>
            <a:r>
              <a:rPr lang="es-CO" sz="1300" b="1">
                <a:solidFill>
                  <a:srgbClr val="FFFFFF"/>
                </a:solidFill>
                <a:latin typeface="Calibri"/>
                <a:ea typeface="Calibri"/>
                <a:cs typeface="Calibri"/>
              </a:rPr>
              <a:t>Ejemplo del mundo real</a:t>
            </a:r>
          </a:p>
        </p:txBody>
      </p:sp>
      <p:sp>
        <p:nvSpPr>
          <p:cNvPr id="14" name="CuadroTexto 13">
            <a:extLst>
              <a:ext uri="{FF2B5EF4-FFF2-40B4-BE49-F238E27FC236}">
                <a16:creationId xmlns:a16="http://schemas.microsoft.com/office/drawing/2014/main" id="{4F3F3999-0548-4D93-A03B-61DD06CEF9C4}"/>
              </a:ext>
            </a:extLst>
          </p:cNvPr>
          <p:cNvSpPr txBox="1"/>
          <p:nvPr/>
        </p:nvSpPr>
        <p:spPr>
          <a:xfrm>
            <a:off x="3302000" y="2209800"/>
            <a:ext cx="2667000" cy="16510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Predecir precio de vivienda:
Precio = 1500·(m²)
        + 8000·(habitaciones)
        − 500·(antigüedad)
        + 50000
Cada variable aporta
su propio "peso" al resultado.</a:t>
            </a:r>
            <a:endParaRPr lang="es-CO" sz="1000">
              <a:solidFill>
                <a:srgbClr val="1E293B"/>
              </a:solidFill>
              <a:latin typeface="Calibri"/>
              <a:ea typeface="Calibri"/>
              <a:cs typeface="Calibri"/>
            </a:endParaRPr>
          </a:p>
        </p:txBody>
      </p:sp>
      <p:sp>
        <p:nvSpPr>
          <p:cNvPr id="15" name="Rectángulo: esquinas redondeadas 14">
            <a:extLst>
              <a:ext uri="{FF2B5EF4-FFF2-40B4-BE49-F238E27FC236}">
                <a16:creationId xmlns:a16="http://schemas.microsoft.com/office/drawing/2014/main" id="{F1A36BBA-08EC-4DCB-98CA-1ACFD1CAABE0}"/>
              </a:ext>
            </a:extLst>
          </p:cNvPr>
          <p:cNvSpPr/>
          <p:nvPr/>
        </p:nvSpPr>
        <p:spPr>
          <a:xfrm>
            <a:off x="6197600" y="1803400"/>
            <a:ext cx="2730500" cy="21590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6" name="Rectángulo: esquinas redondeadas 15">
            <a:extLst>
              <a:ext uri="{FF2B5EF4-FFF2-40B4-BE49-F238E27FC236}">
                <a16:creationId xmlns:a16="http://schemas.microsoft.com/office/drawing/2014/main" id="{E6172B3D-F12A-4727-93E8-2AF483FF7905}"/>
              </a:ext>
            </a:extLst>
          </p:cNvPr>
          <p:cNvSpPr/>
          <p:nvPr/>
        </p:nvSpPr>
        <p:spPr>
          <a:xfrm>
            <a:off x="6197600" y="1803400"/>
            <a:ext cx="2730500" cy="355600"/>
          </a:xfrm>
          <a:prstGeom prst="roundRect">
            <a:avLst/>
          </a:prstGeom>
          <a:solidFill>
            <a:srgbClr val="3776A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7" name="CuadroTexto 16">
            <a:extLst>
              <a:ext uri="{FF2B5EF4-FFF2-40B4-BE49-F238E27FC236}">
                <a16:creationId xmlns:a16="http://schemas.microsoft.com/office/drawing/2014/main" id="{4C69559A-E6A7-4E29-9CF8-C915C9FB0C27}"/>
              </a:ext>
            </a:extLst>
          </p:cNvPr>
          <p:cNvSpPr txBox="1"/>
          <p:nvPr/>
        </p:nvSpPr>
        <p:spPr>
          <a:xfrm>
            <a:off x="6286500" y="1816100"/>
            <a:ext cx="2540000" cy="330200"/>
          </a:xfrm>
          <a:prstGeom prst="rect">
            <a:avLst/>
          </a:prstGeom>
          <a:noFill/>
        </p:spPr>
        <p:txBody>
          <a:bodyPr vertOverflow="overflow" vert="horz" wrap="square" rtlCol="0" anchor="ctr" anchorCtr="0">
            <a:spAutoFit/>
          </a:bodyPr>
          <a:lstStyle/>
          <a:p>
            <a:pPr algn="l"/>
            <a:r>
              <a:rPr lang="es-CO" sz="1300" b="1">
                <a:solidFill>
                  <a:srgbClr val="FFFFFF"/>
                </a:solidFill>
                <a:latin typeface="Calibri"/>
                <a:ea typeface="Calibri"/>
                <a:cs typeface="Calibri"/>
              </a:rPr>
              <a:t>Conceptos clave</a:t>
            </a:r>
          </a:p>
        </p:txBody>
      </p:sp>
      <p:sp>
        <p:nvSpPr>
          <p:cNvPr id="18" name="CuadroTexto 17">
            <a:extLst>
              <a:ext uri="{FF2B5EF4-FFF2-40B4-BE49-F238E27FC236}">
                <a16:creationId xmlns:a16="http://schemas.microsoft.com/office/drawing/2014/main" id="{7D528341-1A6B-4882-95F5-E03BF6086C59}"/>
              </a:ext>
            </a:extLst>
          </p:cNvPr>
          <p:cNvSpPr txBox="1"/>
          <p:nvPr/>
        </p:nvSpPr>
        <p:spPr>
          <a:xfrm>
            <a:off x="6286500" y="2209800"/>
            <a:ext cx="2540000" cy="16510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 Coeficiente (bₙ): cuánto
  influye cada variable
• Intercepto (b₀): valor base
  cuando todo es cero
• R²: qué tan bien explica
  el modelo los datos
  (0 = nada, 1 = perfecto)</a:t>
            </a:r>
            <a:endParaRPr lang="es-CO" sz="1000">
              <a:solidFill>
                <a:srgbClr val="1E293B"/>
              </a:solidFill>
              <a:latin typeface="Calibri"/>
              <a:ea typeface="Calibri"/>
              <a:cs typeface="Calibri"/>
            </a:endParaRPr>
          </a:p>
        </p:txBody>
      </p:sp>
      <p:sp>
        <p:nvSpPr>
          <p:cNvPr id="19" name="Rectángulo: esquinas redondeadas 18">
            <a:extLst>
              <a:ext uri="{FF2B5EF4-FFF2-40B4-BE49-F238E27FC236}">
                <a16:creationId xmlns:a16="http://schemas.microsoft.com/office/drawing/2014/main" id="{E56EB35D-7ED5-4497-82B9-9744B9C31F56}"/>
              </a:ext>
            </a:extLst>
          </p:cNvPr>
          <p:cNvSpPr/>
          <p:nvPr/>
        </p:nvSpPr>
        <p:spPr>
          <a:xfrm>
            <a:off x="228600" y="4089400"/>
            <a:ext cx="8686800" cy="914400"/>
          </a:xfrm>
          <a:prstGeom prst="roundRect">
            <a:avLst/>
          </a:prstGeom>
          <a:solidFill>
            <a:srgbClr val="F0F9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20" name="CuadroTexto 19">
            <a:extLst>
              <a:ext uri="{FF2B5EF4-FFF2-40B4-BE49-F238E27FC236}">
                <a16:creationId xmlns:a16="http://schemas.microsoft.com/office/drawing/2014/main" id="{0B0939C6-D48A-43C6-932B-23C3463DE815}"/>
              </a:ext>
            </a:extLst>
          </p:cNvPr>
          <p:cNvSpPr txBox="1"/>
          <p:nvPr/>
        </p:nvSpPr>
        <p:spPr>
          <a:xfrm>
            <a:off x="317500" y="4127500"/>
            <a:ext cx="8509000" cy="228600"/>
          </a:xfrm>
          <a:prstGeom prst="rect">
            <a:avLst/>
          </a:prstGeom>
          <a:noFill/>
        </p:spPr>
        <p:txBody>
          <a:bodyPr vertOverflow="overflow" vert="horz" wrap="square" rtlCol="0" anchor="t">
            <a:spAutoFit/>
          </a:bodyPr>
          <a:lstStyle/>
          <a:p>
            <a:pPr algn="l"/>
            <a:r>
              <a:rPr lang="es-CO" sz="1100" b="1">
                <a:solidFill>
                  <a:srgbClr val="0D7377"/>
                </a:solidFill>
                <a:latin typeface="Calibri"/>
                <a:ea typeface="Calibri"/>
                <a:cs typeface="Calibri"/>
              </a:rPr>
              <a:t>En resumen:</a:t>
            </a:r>
          </a:p>
        </p:txBody>
      </p:sp>
      <p:sp>
        <p:nvSpPr>
          <p:cNvPr id="21" name="CuadroTexto 20">
            <a:extLst>
              <a:ext uri="{FF2B5EF4-FFF2-40B4-BE49-F238E27FC236}">
                <a16:creationId xmlns:a16="http://schemas.microsoft.com/office/drawing/2014/main" id="{0D9EF1EC-F768-48DB-94C7-07665C079730}"/>
              </a:ext>
            </a:extLst>
          </p:cNvPr>
          <p:cNvSpPr txBox="1"/>
          <p:nvPr/>
        </p:nvSpPr>
        <p:spPr>
          <a:xfrm>
            <a:off x="317500" y="4381500"/>
            <a:ext cx="8509000" cy="558800"/>
          </a:xfrm>
          <a:prstGeom prst="rect">
            <a:avLst/>
          </a:prstGeom>
          <a:noFill/>
        </p:spPr>
        <p:txBody>
          <a:bodyPr vertOverflow="overflow" vert="horz" wrap="square" rtlCol="0" anchor="t">
            <a:noAutofit/>
          </a:bodyPr>
          <a:lstStyle/>
          <a:p>
            <a:pPr algn="l"/>
            <a:r>
              <a:rPr lang="es-ES" sz="1100">
                <a:solidFill>
                  <a:srgbClr val="1E293B"/>
                </a:solidFill>
                <a:latin typeface="Calibri"/>
                <a:ea typeface="Calibri"/>
                <a:cs typeface="Calibri"/>
              </a:rPr>
              <a:t>La regresión múltiple es como una "receta" donde cada ingrediente (variable) aporta una cantidad distinta al resultado final. El modelo aprende automáticamente cuánto pesa cada ingrediente para hacer la mejor predicción posible.</a:t>
            </a:r>
            <a:endParaRPr lang="es-CO" sz="1100">
              <a:solidFill>
                <a:srgbClr val="1E293B"/>
              </a:solidFill>
              <a:latin typeface="Calibri"/>
              <a:ea typeface="Calibri"/>
              <a:cs typeface="Calibri"/>
            </a:endParaRPr>
          </a:p>
        </p:txBody>
      </p:sp>
    </p:spTree>
    <p:extLst>
      <p:ext uri="{BB962C8B-B14F-4D97-AF65-F5344CB8AC3E}">
        <p14:creationId xmlns:p14="http://schemas.microsoft.com/office/powerpoint/2010/main" val="3815178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REGRESIÓN MÚLTIPLE — Modelo y Supuestos</a:t>
            </a:r>
            <a:endParaRPr lang="en-US" sz="2000" dirty="0"/>
          </a:p>
        </p:txBody>
      </p:sp>
      <p:sp>
        <p:nvSpPr>
          <p:cNvPr id="4" name="Shape 2"/>
          <p:cNvSpPr/>
          <p:nvPr/>
        </p:nvSpPr>
        <p:spPr>
          <a:xfrm>
            <a:off x="274320" y="960120"/>
            <a:ext cx="8595360" cy="640080"/>
          </a:xfrm>
          <a:prstGeom prst="rect">
            <a:avLst/>
          </a:prstGeom>
          <a:solidFill>
            <a:srgbClr val="1A3A5C"/>
          </a:solidFill>
          <a:ln w="12700">
            <a:solidFill>
              <a:srgbClr val="E8A838"/>
            </a:solidFill>
            <a:prstDash val="solid"/>
          </a:ln>
          <a:effectLst>
            <a:outerShdw blurRad="101600" dist="38100" dir="8100000" algn="bl" rotWithShape="0">
              <a:srgbClr val="000000">
                <a:alpha val="12000"/>
              </a:srgbClr>
            </a:outerShdw>
          </a:effectLst>
        </p:spPr>
        <p:txBody>
          <a:bodyPr/>
          <a:lstStyle/>
          <a:p>
            <a:endParaRPr lang="es-CO"/>
          </a:p>
        </p:txBody>
      </p:sp>
      <p:sp>
        <p:nvSpPr>
          <p:cNvPr id="5" name="Text 3"/>
          <p:cNvSpPr/>
          <p:nvPr/>
        </p:nvSpPr>
        <p:spPr>
          <a:xfrm>
            <a:off x="274320" y="960120"/>
            <a:ext cx="8595360" cy="640080"/>
          </a:xfrm>
          <a:prstGeom prst="rect">
            <a:avLst/>
          </a:prstGeom>
          <a:noFill/>
          <a:ln/>
        </p:spPr>
        <p:txBody>
          <a:bodyPr wrap="square" rtlCol="0" anchor="ctr"/>
          <a:lstStyle/>
          <a:p>
            <a:pPr marL="0" indent="0" algn="ctr">
              <a:buNone/>
            </a:pPr>
            <a:r>
              <a:rPr lang="en-US" sz="2000" b="1" dirty="0">
                <a:solidFill>
                  <a:srgbClr val="E8A838"/>
                </a:solidFill>
                <a:latin typeface="Calibri" pitchFamily="34" charset="0"/>
                <a:ea typeface="Calibri" pitchFamily="34" charset="-122"/>
                <a:cs typeface="Calibri" pitchFamily="34" charset="-120"/>
              </a:rPr>
              <a:t>Ŷ = β₀ + β₁X₁ + β₂X₂ + β₃X₃ + ... + βₖXₖ + ε</a:t>
            </a:r>
            <a:endParaRPr lang="en-US" sz="2000" dirty="0"/>
          </a:p>
        </p:txBody>
      </p:sp>
      <p:sp>
        <p:nvSpPr>
          <p:cNvPr id="6" name="Shape 4"/>
          <p:cNvSpPr/>
          <p:nvPr/>
        </p:nvSpPr>
        <p:spPr>
          <a:xfrm>
            <a:off x="274320" y="1737360"/>
            <a:ext cx="2743200" cy="13716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7" name="Shape 5"/>
          <p:cNvSpPr/>
          <p:nvPr/>
        </p:nvSpPr>
        <p:spPr>
          <a:xfrm>
            <a:off x="274320" y="1737360"/>
            <a:ext cx="2743200" cy="411480"/>
          </a:xfrm>
          <a:prstGeom prst="rect">
            <a:avLst/>
          </a:prstGeom>
          <a:solidFill>
            <a:srgbClr val="0D7377"/>
          </a:solidFill>
          <a:ln w="12700">
            <a:solidFill>
              <a:srgbClr val="0D7377"/>
            </a:solidFill>
            <a:prstDash val="solid"/>
          </a:ln>
        </p:spPr>
        <p:txBody>
          <a:bodyPr/>
          <a:lstStyle/>
          <a:p>
            <a:endParaRPr lang="es-CO"/>
          </a:p>
        </p:txBody>
      </p:sp>
      <p:sp>
        <p:nvSpPr>
          <p:cNvPr id="8" name="Text 6"/>
          <p:cNvSpPr/>
          <p:nvPr/>
        </p:nvSpPr>
        <p:spPr>
          <a:xfrm>
            <a:off x="365760" y="1737360"/>
            <a:ext cx="256032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Coeficiente Parcial</a:t>
            </a:r>
            <a:endParaRPr lang="en-US" sz="1300" dirty="0"/>
          </a:p>
        </p:txBody>
      </p:sp>
      <p:sp>
        <p:nvSpPr>
          <p:cNvPr id="9" name="Text 7"/>
          <p:cNvSpPr/>
          <p:nvPr/>
        </p:nvSpPr>
        <p:spPr>
          <a:xfrm>
            <a:off x="365760" y="2212848"/>
            <a:ext cx="2560320" cy="86868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β₁ = cambio en Y por 1 unidad de X₁, manteniendo X₂, X₃... constantes. Principio ceteris paribus.</a:t>
            </a:r>
            <a:endParaRPr lang="en-US" sz="1050" dirty="0"/>
          </a:p>
        </p:txBody>
      </p:sp>
      <p:sp>
        <p:nvSpPr>
          <p:cNvPr id="10" name="Shape 8"/>
          <p:cNvSpPr/>
          <p:nvPr/>
        </p:nvSpPr>
        <p:spPr>
          <a:xfrm>
            <a:off x="3200400" y="1737360"/>
            <a:ext cx="2743200" cy="13716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1" name="Shape 9"/>
          <p:cNvSpPr/>
          <p:nvPr/>
        </p:nvSpPr>
        <p:spPr>
          <a:xfrm>
            <a:off x="3200400" y="1737360"/>
            <a:ext cx="2743200" cy="411480"/>
          </a:xfrm>
          <a:prstGeom prst="rect">
            <a:avLst/>
          </a:prstGeom>
          <a:solidFill>
            <a:srgbClr val="1A7A5E"/>
          </a:solidFill>
          <a:ln w="12700">
            <a:solidFill>
              <a:srgbClr val="1A7A5E"/>
            </a:solidFill>
            <a:prstDash val="solid"/>
          </a:ln>
        </p:spPr>
        <p:txBody>
          <a:bodyPr/>
          <a:lstStyle/>
          <a:p>
            <a:endParaRPr lang="es-CO"/>
          </a:p>
        </p:txBody>
      </p:sp>
      <p:sp>
        <p:nvSpPr>
          <p:cNvPr id="12" name="Text 10"/>
          <p:cNvSpPr/>
          <p:nvPr/>
        </p:nvSpPr>
        <p:spPr>
          <a:xfrm>
            <a:off x="3291840" y="1737360"/>
            <a:ext cx="256032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R² Ajustado</a:t>
            </a:r>
            <a:endParaRPr lang="en-US" sz="1300" dirty="0"/>
          </a:p>
        </p:txBody>
      </p:sp>
      <p:sp>
        <p:nvSpPr>
          <p:cNvPr id="13" name="Text 11"/>
          <p:cNvSpPr/>
          <p:nvPr/>
        </p:nvSpPr>
        <p:spPr>
          <a:xfrm>
            <a:off x="3291840" y="2212848"/>
            <a:ext cx="2560320" cy="86868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R²adj = 1 − [(1−R²)(n−1)/(n−k−1)]. Penaliza variables irrelevantes. Úsalo para comparar modelos.</a:t>
            </a:r>
            <a:endParaRPr lang="en-US" sz="1050" dirty="0"/>
          </a:p>
        </p:txBody>
      </p:sp>
      <p:sp>
        <p:nvSpPr>
          <p:cNvPr id="14" name="Shape 12"/>
          <p:cNvSpPr/>
          <p:nvPr/>
        </p:nvSpPr>
        <p:spPr>
          <a:xfrm>
            <a:off x="6126480" y="1737360"/>
            <a:ext cx="2743200" cy="13716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5" name="Shape 13"/>
          <p:cNvSpPr/>
          <p:nvPr/>
        </p:nvSpPr>
        <p:spPr>
          <a:xfrm>
            <a:off x="6126480" y="1737360"/>
            <a:ext cx="2743200" cy="411480"/>
          </a:xfrm>
          <a:prstGeom prst="rect">
            <a:avLst/>
          </a:prstGeom>
          <a:solidFill>
            <a:srgbClr val="C0392B"/>
          </a:solidFill>
          <a:ln w="12700">
            <a:solidFill>
              <a:srgbClr val="C0392B"/>
            </a:solidFill>
            <a:prstDash val="solid"/>
          </a:ln>
        </p:spPr>
        <p:txBody>
          <a:bodyPr/>
          <a:lstStyle/>
          <a:p>
            <a:endParaRPr lang="es-CO"/>
          </a:p>
        </p:txBody>
      </p:sp>
      <p:sp>
        <p:nvSpPr>
          <p:cNvPr id="16" name="Text 14"/>
          <p:cNvSpPr/>
          <p:nvPr/>
        </p:nvSpPr>
        <p:spPr>
          <a:xfrm>
            <a:off x="6217920" y="1737360"/>
            <a:ext cx="256032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Multicolinealidad</a:t>
            </a:r>
            <a:endParaRPr lang="en-US" sz="1300" dirty="0"/>
          </a:p>
        </p:txBody>
      </p:sp>
      <p:sp>
        <p:nvSpPr>
          <p:cNvPr id="17" name="Text 15"/>
          <p:cNvSpPr/>
          <p:nvPr/>
        </p:nvSpPr>
        <p:spPr>
          <a:xfrm>
            <a:off x="6217920" y="2212848"/>
            <a:ext cx="2560320" cy="86868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Si VIF &gt; 10: coeficientes inestables. Verificar: df[['X1','X2']].corr(). Solución: Ridge regression.</a:t>
            </a:r>
            <a:endParaRPr lang="en-US" sz="1050" dirty="0"/>
          </a:p>
        </p:txBody>
      </p:sp>
      <p:sp>
        <p:nvSpPr>
          <p:cNvPr id="18" name="Shape 16"/>
          <p:cNvSpPr/>
          <p:nvPr/>
        </p:nvSpPr>
        <p:spPr>
          <a:xfrm>
            <a:off x="274320" y="3200400"/>
            <a:ext cx="8595360" cy="384048"/>
          </a:xfrm>
          <a:prstGeom prst="rect">
            <a:avLst/>
          </a:prstGeom>
          <a:solidFill>
            <a:srgbClr val="0D7377"/>
          </a:solidFill>
          <a:ln w="12700">
            <a:solidFill>
              <a:srgbClr val="0D7377"/>
            </a:solidFill>
            <a:prstDash val="solid"/>
          </a:ln>
        </p:spPr>
        <p:txBody>
          <a:bodyPr/>
          <a:lstStyle/>
          <a:p>
            <a:endParaRPr lang="es-CO"/>
          </a:p>
        </p:txBody>
      </p:sp>
      <p:sp>
        <p:nvSpPr>
          <p:cNvPr id="19" name="Text 17"/>
          <p:cNvSpPr/>
          <p:nvPr/>
        </p:nvSpPr>
        <p:spPr>
          <a:xfrm>
            <a:off x="365760" y="3200400"/>
            <a:ext cx="8412480"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Caso: Determinantes del Salario — Salario = β₀ + β₁(Educación) + β₂(Experiencia) + β₃(Género) + ε</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74320" y="3584448"/>
          <a:ext cx="8595360" cy="1417320"/>
        </p:xfrm>
        <a:graphic>
          <a:graphicData uri="http://schemas.openxmlformats.org/drawingml/2006/table">
            <a:tbl>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4754880">
                  <a:extLst>
                    <a:ext uri="{9D8B030D-6E8A-4147-A177-3AD203B41FA5}">
                      <a16:colId xmlns:a16="http://schemas.microsoft.com/office/drawing/2014/main" val="20003"/>
                    </a:ext>
                  </a:extLst>
                </a:gridCol>
              </a:tblGrid>
              <a:tr h="283464">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Variable</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Coef. β</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p-valor</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Interpretación</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283464">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Intercepto</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12,500</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&lt; 0.001</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Salario base estimado</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Educación (años)</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+1,850</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&lt; 0.001</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+$1,850 por año adicional de estudio</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Experiencia (años)</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+950</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&lt; 0.001</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+$950 por año de experiencia</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83464">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Género (1=mujer)</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-4,200</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&lt; 0.001</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Brecha de -$4,200 controlando por educación</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2" name="Text 19"/>
          <p:cNvSpPr/>
          <p:nvPr/>
        </p:nvSpPr>
        <p:spPr>
          <a:xfrm>
            <a:off x="274320" y="4951476"/>
            <a:ext cx="45720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R²adj = 0.742  ·  F = 312.4  ·  p &lt; 0.001  ·  n = 850</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78F1E1B4-CE26-4C79-AA15-7B8D6F79CCD5}"/>
              </a:ext>
            </a:extLst>
          </p:cNvPr>
          <p:cNvSpPr/>
          <p:nvPr/>
        </p:nvSpPr>
        <p:spPr>
          <a:xfrm>
            <a:off x="0" y="0"/>
            <a:ext cx="9144000" cy="762000"/>
          </a:xfrm>
          <a:prstGeom prst="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F2A2C87F-6C04-4695-84CD-4373379BC9BB}"/>
              </a:ext>
            </a:extLst>
          </p:cNvPr>
          <p:cNvSpPr txBox="1"/>
          <p:nvPr/>
        </p:nvSpPr>
        <p:spPr>
          <a:xfrm>
            <a:off x="368300" y="101600"/>
            <a:ext cx="8407400" cy="558800"/>
          </a:xfrm>
          <a:prstGeom prst="rect">
            <a:avLst/>
          </a:prstGeom>
          <a:noFill/>
        </p:spPr>
        <p:txBody>
          <a:bodyPr vertOverflow="overflow" vert="horz" wrap="square" rtlCol="0" anchor="ctr" anchorCtr="0">
            <a:spAutoFit/>
          </a:bodyPr>
          <a:lstStyle/>
          <a:p>
            <a:pPr algn="l"/>
            <a:r>
              <a:rPr lang="es-ES" sz="2000" b="1">
                <a:solidFill>
                  <a:srgbClr val="FFFFFF"/>
                </a:solidFill>
                <a:latin typeface="Calibri"/>
                <a:ea typeface="Calibri"/>
                <a:cs typeface="Calibri"/>
              </a:rPr>
              <a:t>REGRESIÓN BINARIA (LOGÍSTICA) — ¿Qué es y para qué sirve?</a:t>
            </a:r>
            <a:endParaRPr lang="es-CO" sz="2000" b="1">
              <a:solidFill>
                <a:srgbClr val="FFFFFF"/>
              </a:solidFill>
              <a:latin typeface="Calibri"/>
              <a:ea typeface="Calibri"/>
              <a:cs typeface="Calibri"/>
            </a:endParaRPr>
          </a:p>
        </p:txBody>
      </p:sp>
      <p:sp>
        <p:nvSpPr>
          <p:cNvPr id="4" name="Rectángulo: esquinas redondeadas 3">
            <a:extLst>
              <a:ext uri="{FF2B5EF4-FFF2-40B4-BE49-F238E27FC236}">
                <a16:creationId xmlns:a16="http://schemas.microsoft.com/office/drawing/2014/main" id="{5F81A2F9-1269-4914-A705-F83A1A63C344}"/>
              </a:ext>
            </a:extLst>
          </p:cNvPr>
          <p:cNvSpPr/>
          <p:nvPr/>
        </p:nvSpPr>
        <p:spPr>
          <a:xfrm>
            <a:off x="228600" y="863600"/>
            <a:ext cx="8686800" cy="736600"/>
          </a:xfrm>
          <a:prstGeom prst="roundRect">
            <a:avLst/>
          </a:prstGeom>
          <a:solidFill>
            <a:srgbClr val="FFF8E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1D46B618-A8AC-47AD-919F-0796CA3A0EED}"/>
              </a:ext>
            </a:extLst>
          </p:cNvPr>
          <p:cNvSpPr txBox="1"/>
          <p:nvPr/>
        </p:nvSpPr>
        <p:spPr>
          <a:xfrm>
            <a:off x="381000" y="914400"/>
            <a:ext cx="8382000" cy="635000"/>
          </a:xfrm>
          <a:prstGeom prst="rect">
            <a:avLst/>
          </a:prstGeom>
          <a:noFill/>
        </p:spPr>
        <p:txBody>
          <a:bodyPr vertOverflow="overflow" vert="horz" wrap="square" rtlCol="0" anchor="t">
            <a:noAutofit/>
          </a:bodyPr>
          <a:lstStyle/>
          <a:p>
            <a:pPr algn="l"/>
            <a:r>
              <a:rPr lang="es-ES" sz="1100">
                <a:solidFill>
                  <a:srgbClr val="1E293B"/>
                </a:solidFill>
                <a:latin typeface="Calibri"/>
                <a:ea typeface="Calibri"/>
                <a:cs typeface="Calibri"/>
              </a:rPr>
              <a:t>Imagina que un médico quiere predecir si un paciente tiene una enfermedad: SÍ o NO. No necesita un número exacto — necesita una probabilidad y una decisión binaria. Para eso existe la regresión logística.</a:t>
            </a:r>
            <a:endParaRPr lang="es-CO" sz="1100">
              <a:solidFill>
                <a:srgbClr val="1E293B"/>
              </a:solidFill>
              <a:latin typeface="Calibri"/>
              <a:ea typeface="Calibri"/>
              <a:cs typeface="Calibri"/>
            </a:endParaRPr>
          </a:p>
        </p:txBody>
      </p:sp>
      <p:sp>
        <p:nvSpPr>
          <p:cNvPr id="6" name="Rectángulo: esquinas redondeadas 5">
            <a:extLst>
              <a:ext uri="{FF2B5EF4-FFF2-40B4-BE49-F238E27FC236}">
                <a16:creationId xmlns:a16="http://schemas.microsoft.com/office/drawing/2014/main" id="{06676E4A-6955-4FFC-B085-B55891718B58}"/>
              </a:ext>
            </a:extLst>
          </p:cNvPr>
          <p:cNvSpPr/>
          <p:nvPr/>
        </p:nvSpPr>
        <p:spPr>
          <a:xfrm>
            <a:off x="228600" y="1714500"/>
            <a:ext cx="2857500" cy="22225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esquinas redondeadas 6">
            <a:extLst>
              <a:ext uri="{FF2B5EF4-FFF2-40B4-BE49-F238E27FC236}">
                <a16:creationId xmlns:a16="http://schemas.microsoft.com/office/drawing/2014/main" id="{5F629520-05C4-43DD-841A-FC7DB20B57E1}"/>
              </a:ext>
            </a:extLst>
          </p:cNvPr>
          <p:cNvSpPr/>
          <p:nvPr/>
        </p:nvSpPr>
        <p:spPr>
          <a:xfrm>
            <a:off x="228600" y="1714500"/>
            <a:ext cx="2857500" cy="355600"/>
          </a:xfrm>
          <a:prstGeom prst="round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CuadroTexto 7">
            <a:extLst>
              <a:ext uri="{FF2B5EF4-FFF2-40B4-BE49-F238E27FC236}">
                <a16:creationId xmlns:a16="http://schemas.microsoft.com/office/drawing/2014/main" id="{16C7D197-91FD-48C0-9BE6-BDA5AFEAD9AB}"/>
              </a:ext>
            </a:extLst>
          </p:cNvPr>
          <p:cNvSpPr txBox="1"/>
          <p:nvPr/>
        </p:nvSpPr>
        <p:spPr>
          <a:xfrm>
            <a:off x="317500" y="1727200"/>
            <a:ext cx="2667000" cy="330200"/>
          </a:xfrm>
          <a:prstGeom prst="rect">
            <a:avLst/>
          </a:prstGeom>
          <a:noFill/>
        </p:spPr>
        <p:txBody>
          <a:bodyPr vertOverflow="overflow" vert="horz" wrap="square" rtlCol="0" anchor="ctr" anchorCtr="0">
            <a:spAutoFit/>
          </a:bodyPr>
          <a:lstStyle/>
          <a:p>
            <a:pPr algn="l"/>
            <a:r>
              <a:rPr lang="es-CO" sz="1300" b="1">
                <a:solidFill>
                  <a:srgbClr val="FFFFFF"/>
                </a:solidFill>
                <a:latin typeface="Calibri"/>
                <a:ea typeface="Calibri"/>
                <a:cs typeface="Calibri"/>
              </a:rPr>
              <a:t>¿Qué es?</a:t>
            </a:r>
          </a:p>
        </p:txBody>
      </p:sp>
      <p:sp>
        <p:nvSpPr>
          <p:cNvPr id="9" name="CuadroTexto 8">
            <a:extLst>
              <a:ext uri="{FF2B5EF4-FFF2-40B4-BE49-F238E27FC236}">
                <a16:creationId xmlns:a16="http://schemas.microsoft.com/office/drawing/2014/main" id="{1C264EB5-65ED-4FA7-A4B8-33BD07AFE11E}"/>
              </a:ext>
            </a:extLst>
          </p:cNvPr>
          <p:cNvSpPr txBox="1"/>
          <p:nvPr/>
        </p:nvSpPr>
        <p:spPr>
          <a:xfrm>
            <a:off x="317500" y="2133600"/>
            <a:ext cx="2667000" cy="17272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Es un modelo que predice la probabilidad de que algo pertenezca a una de dos categorías:
  • Sí / No
  • Aprobado / Reprobado
  • Spam / No spam
  • Enfermo / Sano
La salida siempre es una probabilidad entre 0 y 1.</a:t>
            </a:r>
            <a:endParaRPr lang="es-CO" sz="1000">
              <a:solidFill>
                <a:srgbClr val="1E293B"/>
              </a:solidFill>
              <a:latin typeface="Calibri"/>
              <a:ea typeface="Calibri"/>
              <a:cs typeface="Calibri"/>
            </a:endParaRPr>
          </a:p>
        </p:txBody>
      </p:sp>
      <p:sp>
        <p:nvSpPr>
          <p:cNvPr id="10" name="Rectángulo: esquinas redondeadas 9">
            <a:extLst>
              <a:ext uri="{FF2B5EF4-FFF2-40B4-BE49-F238E27FC236}">
                <a16:creationId xmlns:a16="http://schemas.microsoft.com/office/drawing/2014/main" id="{88DB01A0-3949-4B85-9923-1B53D02DD380}"/>
              </a:ext>
            </a:extLst>
          </p:cNvPr>
          <p:cNvSpPr/>
          <p:nvPr/>
        </p:nvSpPr>
        <p:spPr>
          <a:xfrm>
            <a:off x="3213100" y="1714500"/>
            <a:ext cx="2857500" cy="22225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1" name="Rectángulo: esquinas redondeadas 10">
            <a:extLst>
              <a:ext uri="{FF2B5EF4-FFF2-40B4-BE49-F238E27FC236}">
                <a16:creationId xmlns:a16="http://schemas.microsoft.com/office/drawing/2014/main" id="{1BF36273-81D2-4135-A6E1-C21BCE704E00}"/>
              </a:ext>
            </a:extLst>
          </p:cNvPr>
          <p:cNvSpPr/>
          <p:nvPr/>
        </p:nvSpPr>
        <p:spPr>
          <a:xfrm>
            <a:off x="3213100" y="1714500"/>
            <a:ext cx="2857500" cy="355600"/>
          </a:xfrm>
          <a:prstGeom prst="roundRect">
            <a:avLst/>
          </a:prstGeom>
          <a:solidFill>
            <a:srgbClr val="E8A83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2" name="CuadroTexto 11">
            <a:extLst>
              <a:ext uri="{FF2B5EF4-FFF2-40B4-BE49-F238E27FC236}">
                <a16:creationId xmlns:a16="http://schemas.microsoft.com/office/drawing/2014/main" id="{7B7A2D75-3913-4C42-A03B-42DBF3627600}"/>
              </a:ext>
            </a:extLst>
          </p:cNvPr>
          <p:cNvSpPr txBox="1"/>
          <p:nvPr/>
        </p:nvSpPr>
        <p:spPr>
          <a:xfrm>
            <a:off x="3302000" y="1727200"/>
            <a:ext cx="2667000" cy="330200"/>
          </a:xfrm>
          <a:prstGeom prst="rect">
            <a:avLst/>
          </a:prstGeom>
          <a:noFill/>
        </p:spPr>
        <p:txBody>
          <a:bodyPr vertOverflow="overflow" vert="horz" wrap="square" rtlCol="0" anchor="ctr" anchorCtr="0">
            <a:spAutoFit/>
          </a:bodyPr>
          <a:lstStyle/>
          <a:p>
            <a:pPr algn="l"/>
            <a:r>
              <a:rPr lang="es-CO" sz="1300" b="1">
                <a:solidFill>
                  <a:srgbClr val="FFFFFF"/>
                </a:solidFill>
                <a:latin typeface="Calibri"/>
                <a:ea typeface="Calibri"/>
                <a:cs typeface="Calibri"/>
              </a:rPr>
              <a:t>Lineal vs Logística</a:t>
            </a:r>
          </a:p>
        </p:txBody>
      </p:sp>
      <p:sp>
        <p:nvSpPr>
          <p:cNvPr id="13" name="CuadroTexto 12">
            <a:extLst>
              <a:ext uri="{FF2B5EF4-FFF2-40B4-BE49-F238E27FC236}">
                <a16:creationId xmlns:a16="http://schemas.microsoft.com/office/drawing/2014/main" id="{A1C6C250-F53B-4162-AEB5-B9D26367FEE2}"/>
              </a:ext>
            </a:extLst>
          </p:cNvPr>
          <p:cNvSpPr txBox="1"/>
          <p:nvPr/>
        </p:nvSpPr>
        <p:spPr>
          <a:xfrm>
            <a:off x="3302000" y="2133600"/>
            <a:ext cx="2667000" cy="1727200"/>
          </a:xfrm>
          <a:prstGeom prst="rect">
            <a:avLst/>
          </a:prstGeom>
          <a:noFill/>
        </p:spPr>
        <p:txBody>
          <a:bodyPr vertOverflow="overflow" vert="horz" wrap="square" rtlCol="0" anchor="t">
            <a:noAutofit/>
          </a:bodyPr>
          <a:lstStyle/>
          <a:p>
            <a:pPr algn="l"/>
            <a:r>
              <a:rPr lang="es-CO" sz="1000">
                <a:solidFill>
                  <a:srgbClr val="1E293B"/>
                </a:solidFill>
                <a:latin typeface="Calibri"/>
                <a:ea typeface="Calibri"/>
                <a:cs typeface="Calibri"/>
              </a:rPr>
              <a:t>Regresión Lineal:
  → Predice un número continuo
  → Ej: precio = 150,000€
Regresión Logística:
  → Predice una probabilidad
  → Luego clasifica en 2 grupos
  → Ej: P(spam) = 0.92 → Spam</a:t>
            </a:r>
          </a:p>
        </p:txBody>
      </p:sp>
      <p:sp>
        <p:nvSpPr>
          <p:cNvPr id="14" name="Rectángulo: esquinas redondeadas 13">
            <a:extLst>
              <a:ext uri="{FF2B5EF4-FFF2-40B4-BE49-F238E27FC236}">
                <a16:creationId xmlns:a16="http://schemas.microsoft.com/office/drawing/2014/main" id="{A2383CAF-08BC-4A0C-9D3F-AA9B6C2A8212}"/>
              </a:ext>
            </a:extLst>
          </p:cNvPr>
          <p:cNvSpPr/>
          <p:nvPr/>
        </p:nvSpPr>
        <p:spPr>
          <a:xfrm>
            <a:off x="6197600" y="1714500"/>
            <a:ext cx="2730500" cy="22225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5" name="Rectángulo: esquinas redondeadas 14">
            <a:extLst>
              <a:ext uri="{FF2B5EF4-FFF2-40B4-BE49-F238E27FC236}">
                <a16:creationId xmlns:a16="http://schemas.microsoft.com/office/drawing/2014/main" id="{9F724FAF-51EE-4C4D-8FD8-FEAF37535E0D}"/>
              </a:ext>
            </a:extLst>
          </p:cNvPr>
          <p:cNvSpPr/>
          <p:nvPr/>
        </p:nvSpPr>
        <p:spPr>
          <a:xfrm>
            <a:off x="6197600" y="1714500"/>
            <a:ext cx="2730500" cy="355600"/>
          </a:xfrm>
          <a:prstGeom prst="roundRect">
            <a:avLst/>
          </a:prstGeom>
          <a:solidFill>
            <a:srgbClr val="3776A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6" name="CuadroTexto 15">
            <a:extLst>
              <a:ext uri="{FF2B5EF4-FFF2-40B4-BE49-F238E27FC236}">
                <a16:creationId xmlns:a16="http://schemas.microsoft.com/office/drawing/2014/main" id="{7EEEDC2D-AFB4-463E-A15F-B0BC92507423}"/>
              </a:ext>
            </a:extLst>
          </p:cNvPr>
          <p:cNvSpPr txBox="1"/>
          <p:nvPr/>
        </p:nvSpPr>
        <p:spPr>
          <a:xfrm>
            <a:off x="6286500" y="1727200"/>
            <a:ext cx="2540000" cy="330200"/>
          </a:xfrm>
          <a:prstGeom prst="rect">
            <a:avLst/>
          </a:prstGeom>
          <a:noFill/>
        </p:spPr>
        <p:txBody>
          <a:bodyPr vertOverflow="overflow" vert="horz" wrap="square" rtlCol="0" anchor="ctr" anchorCtr="0">
            <a:spAutoFit/>
          </a:bodyPr>
          <a:lstStyle/>
          <a:p>
            <a:pPr algn="l"/>
            <a:r>
              <a:rPr lang="es-CO" sz="1300" b="1">
                <a:solidFill>
                  <a:srgbClr val="FFFFFF"/>
                </a:solidFill>
                <a:latin typeface="Calibri"/>
                <a:ea typeface="Calibri"/>
                <a:cs typeface="Calibri"/>
              </a:rPr>
              <a:t>Idea clave</a:t>
            </a:r>
          </a:p>
        </p:txBody>
      </p:sp>
      <p:sp>
        <p:nvSpPr>
          <p:cNvPr id="17" name="CuadroTexto 16">
            <a:extLst>
              <a:ext uri="{FF2B5EF4-FFF2-40B4-BE49-F238E27FC236}">
                <a16:creationId xmlns:a16="http://schemas.microsoft.com/office/drawing/2014/main" id="{C2121D49-50D7-4A6D-838D-20461CC4D5EC}"/>
              </a:ext>
            </a:extLst>
          </p:cNvPr>
          <p:cNvSpPr txBox="1"/>
          <p:nvPr/>
        </p:nvSpPr>
        <p:spPr>
          <a:xfrm>
            <a:off x="6286500" y="2133600"/>
            <a:ext cx="2540000" cy="17272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La regresión logística usa la función sigmoide para convertir cualquier número en una probabilidad entre 0 y 1.
Si P ≥ 0.5 → Clase 1 (Sí)
Si P &lt; 0.5 → Clase 0 (No)
El umbral 0.5 se puede ajustar según el problema.</a:t>
            </a:r>
            <a:endParaRPr lang="es-CO" sz="1000">
              <a:solidFill>
                <a:srgbClr val="1E293B"/>
              </a:solidFill>
              <a:latin typeface="Calibri"/>
              <a:ea typeface="Calibri"/>
              <a:cs typeface="Calibri"/>
            </a:endParaRPr>
          </a:p>
        </p:txBody>
      </p:sp>
      <p:sp>
        <p:nvSpPr>
          <p:cNvPr id="18" name="Rectángulo: esquinas redondeadas 17">
            <a:extLst>
              <a:ext uri="{FF2B5EF4-FFF2-40B4-BE49-F238E27FC236}">
                <a16:creationId xmlns:a16="http://schemas.microsoft.com/office/drawing/2014/main" id="{1A323666-7F1D-477A-B84E-AE9C18AD0996}"/>
              </a:ext>
            </a:extLst>
          </p:cNvPr>
          <p:cNvSpPr/>
          <p:nvPr/>
        </p:nvSpPr>
        <p:spPr>
          <a:xfrm>
            <a:off x="228600" y="4064000"/>
            <a:ext cx="8686800" cy="952500"/>
          </a:xfrm>
          <a:prstGeom prst="roundRect">
            <a:avLst/>
          </a:prstGeom>
          <a:solidFill>
            <a:srgbClr val="F0F9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9" name="CuadroTexto 18">
            <a:extLst>
              <a:ext uri="{FF2B5EF4-FFF2-40B4-BE49-F238E27FC236}">
                <a16:creationId xmlns:a16="http://schemas.microsoft.com/office/drawing/2014/main" id="{1137EACA-D5A3-4C00-B893-668944FFDA8C}"/>
              </a:ext>
            </a:extLst>
          </p:cNvPr>
          <p:cNvSpPr txBox="1"/>
          <p:nvPr/>
        </p:nvSpPr>
        <p:spPr>
          <a:xfrm>
            <a:off x="317500" y="4102100"/>
            <a:ext cx="8509000" cy="228600"/>
          </a:xfrm>
          <a:prstGeom prst="rect">
            <a:avLst/>
          </a:prstGeom>
          <a:noFill/>
        </p:spPr>
        <p:txBody>
          <a:bodyPr vertOverflow="overflow" vert="horz" wrap="square" rtlCol="0" anchor="t">
            <a:spAutoFit/>
          </a:bodyPr>
          <a:lstStyle/>
          <a:p>
            <a:pPr algn="l"/>
            <a:r>
              <a:rPr lang="es-ES" sz="1200" b="1">
                <a:solidFill>
                  <a:srgbClr val="0D7377"/>
                </a:solidFill>
                <a:latin typeface="Calibri"/>
                <a:ea typeface="Calibri"/>
                <a:cs typeface="Calibri"/>
              </a:rPr>
              <a:t>Aplicaciones en el mundo real</a:t>
            </a:r>
            <a:endParaRPr lang="es-CO" sz="1200" b="1">
              <a:solidFill>
                <a:srgbClr val="0D7377"/>
              </a:solidFill>
              <a:latin typeface="Calibri"/>
              <a:ea typeface="Calibri"/>
              <a:cs typeface="Calibri"/>
            </a:endParaRPr>
          </a:p>
        </p:txBody>
      </p:sp>
      <p:sp>
        <p:nvSpPr>
          <p:cNvPr id="20" name="CuadroTexto 19">
            <a:extLst>
              <a:ext uri="{FF2B5EF4-FFF2-40B4-BE49-F238E27FC236}">
                <a16:creationId xmlns:a16="http://schemas.microsoft.com/office/drawing/2014/main" id="{0C780306-F128-4539-B6CB-6ABA857CECDD}"/>
              </a:ext>
            </a:extLst>
          </p:cNvPr>
          <p:cNvSpPr txBox="1"/>
          <p:nvPr/>
        </p:nvSpPr>
        <p:spPr>
          <a:xfrm>
            <a:off x="317500" y="4368800"/>
            <a:ext cx="2032000" cy="584200"/>
          </a:xfrm>
          <a:prstGeom prst="rect">
            <a:avLst/>
          </a:prstGeom>
          <a:noFill/>
        </p:spPr>
        <p:txBody>
          <a:bodyPr vertOverflow="overflow" vert="horz" wrap="square" rtlCol="0" anchor="t">
            <a:noAutofit/>
          </a:bodyPr>
          <a:lstStyle/>
          <a:p>
            <a:pPr algn="l"/>
            <a:r>
              <a:rPr lang="es-CO" sz="1000">
                <a:solidFill>
                  <a:srgbClr val="1E293B"/>
                </a:solidFill>
                <a:latin typeface="Calibri"/>
                <a:ea typeface="Calibri"/>
                <a:cs typeface="Calibri"/>
              </a:rPr>
              <a:t>🏥 Diagnóstico médico
¿Tiene diabetes? ¿Riesgo cardíaco?</a:t>
            </a:r>
          </a:p>
        </p:txBody>
      </p:sp>
      <p:sp>
        <p:nvSpPr>
          <p:cNvPr id="21" name="CuadroTexto 20">
            <a:extLst>
              <a:ext uri="{FF2B5EF4-FFF2-40B4-BE49-F238E27FC236}">
                <a16:creationId xmlns:a16="http://schemas.microsoft.com/office/drawing/2014/main" id="{F1823C86-D4CE-4955-8E1A-2EC3DE5C4D62}"/>
              </a:ext>
            </a:extLst>
          </p:cNvPr>
          <p:cNvSpPr txBox="1"/>
          <p:nvPr/>
        </p:nvSpPr>
        <p:spPr>
          <a:xfrm>
            <a:off x="2476500" y="4368800"/>
            <a:ext cx="2032000" cy="584200"/>
          </a:xfrm>
          <a:prstGeom prst="rect">
            <a:avLst/>
          </a:prstGeom>
          <a:noFill/>
        </p:spPr>
        <p:txBody>
          <a:bodyPr vertOverflow="overflow" vert="horz" wrap="square" rtlCol="0" anchor="t">
            <a:noAutofit/>
          </a:bodyPr>
          <a:lstStyle/>
          <a:p>
            <a:pPr algn="l"/>
            <a:r>
              <a:rPr lang="pt-BR" sz="1000">
                <a:solidFill>
                  <a:srgbClr val="1E293B"/>
                </a:solidFill>
                <a:latin typeface="Calibri"/>
                <a:ea typeface="Calibri"/>
                <a:cs typeface="Calibri"/>
              </a:rPr>
              <a:t>📧 Filtros de spam
¿Este email es spam o legítimo?</a:t>
            </a:r>
            <a:endParaRPr lang="es-CO" sz="1000">
              <a:solidFill>
                <a:srgbClr val="1E293B"/>
              </a:solidFill>
              <a:latin typeface="Calibri"/>
              <a:ea typeface="Calibri"/>
              <a:cs typeface="Calibri"/>
            </a:endParaRPr>
          </a:p>
        </p:txBody>
      </p:sp>
      <p:sp>
        <p:nvSpPr>
          <p:cNvPr id="22" name="CuadroTexto 21">
            <a:extLst>
              <a:ext uri="{FF2B5EF4-FFF2-40B4-BE49-F238E27FC236}">
                <a16:creationId xmlns:a16="http://schemas.microsoft.com/office/drawing/2014/main" id="{172123E3-D7BC-476D-8A87-25A11FF39A28}"/>
              </a:ext>
            </a:extLst>
          </p:cNvPr>
          <p:cNvSpPr txBox="1"/>
          <p:nvPr/>
        </p:nvSpPr>
        <p:spPr>
          <a:xfrm>
            <a:off x="4635500" y="4368800"/>
            <a:ext cx="2032000" cy="5842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 Fraude financiero
¿Esta transacción es fraudulenta?</a:t>
            </a:r>
            <a:endParaRPr lang="es-CO" sz="1000">
              <a:solidFill>
                <a:srgbClr val="1E293B"/>
              </a:solidFill>
              <a:latin typeface="Calibri"/>
              <a:ea typeface="Calibri"/>
              <a:cs typeface="Calibri"/>
            </a:endParaRPr>
          </a:p>
        </p:txBody>
      </p:sp>
      <p:sp>
        <p:nvSpPr>
          <p:cNvPr id="23" name="CuadroTexto 22">
            <a:extLst>
              <a:ext uri="{FF2B5EF4-FFF2-40B4-BE49-F238E27FC236}">
                <a16:creationId xmlns:a16="http://schemas.microsoft.com/office/drawing/2014/main" id="{BE23F9A6-38D4-4F5A-8F60-48937675C3FF}"/>
              </a:ext>
            </a:extLst>
          </p:cNvPr>
          <p:cNvSpPr txBox="1"/>
          <p:nvPr/>
        </p:nvSpPr>
        <p:spPr>
          <a:xfrm>
            <a:off x="6794500" y="4368800"/>
            <a:ext cx="2032000" cy="5842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 Educación
¿Aprobará el estudiante el examen?</a:t>
            </a:r>
            <a:endParaRPr lang="es-CO" sz="1000">
              <a:solidFill>
                <a:srgbClr val="1E293B"/>
              </a:solidFill>
              <a:latin typeface="Calibri"/>
              <a:ea typeface="Calibri"/>
              <a:cs typeface="Calibri"/>
            </a:endParaRPr>
          </a:p>
        </p:txBody>
      </p:sp>
    </p:spTree>
    <p:extLst>
      <p:ext uri="{BB962C8B-B14F-4D97-AF65-F5344CB8AC3E}">
        <p14:creationId xmlns:p14="http://schemas.microsoft.com/office/powerpoint/2010/main" val="1511282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754BE36-66EE-47B9-80C1-275CD9613450}"/>
              </a:ext>
            </a:extLst>
          </p:cNvPr>
          <p:cNvSpPr/>
          <p:nvPr/>
        </p:nvSpPr>
        <p:spPr>
          <a:xfrm>
            <a:off x="0" y="0"/>
            <a:ext cx="9144000" cy="762000"/>
          </a:xfrm>
          <a:prstGeom prst="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07115980-7878-4098-8900-871D3548A0B7}"/>
              </a:ext>
            </a:extLst>
          </p:cNvPr>
          <p:cNvSpPr txBox="1"/>
          <p:nvPr/>
        </p:nvSpPr>
        <p:spPr>
          <a:xfrm>
            <a:off x="368300" y="101600"/>
            <a:ext cx="8407400" cy="558800"/>
          </a:xfrm>
          <a:prstGeom prst="rect">
            <a:avLst/>
          </a:prstGeom>
          <a:noFill/>
        </p:spPr>
        <p:txBody>
          <a:bodyPr vertOverflow="overflow" vert="horz" wrap="square" rtlCol="0" anchor="ctr" anchorCtr="0">
            <a:spAutoFit/>
          </a:bodyPr>
          <a:lstStyle/>
          <a:p>
            <a:pPr algn="l"/>
            <a:r>
              <a:rPr lang="es-ES" sz="2000" b="1">
                <a:solidFill>
                  <a:srgbClr val="FFFFFF"/>
                </a:solidFill>
                <a:latin typeface="Calibri"/>
                <a:ea typeface="Calibri"/>
                <a:cs typeface="Calibri"/>
              </a:rPr>
              <a:t>REGRESIÓN BINARIA — Fórmula Sigmoide y Ejemplo Práctico</a:t>
            </a:r>
            <a:endParaRPr lang="es-CO" sz="2000" b="1">
              <a:solidFill>
                <a:srgbClr val="FFFFFF"/>
              </a:solidFill>
              <a:latin typeface="Calibri"/>
              <a:ea typeface="Calibri"/>
              <a:cs typeface="Calibri"/>
            </a:endParaRPr>
          </a:p>
        </p:txBody>
      </p:sp>
      <p:sp>
        <p:nvSpPr>
          <p:cNvPr id="4" name="Rectángulo: esquinas redondeadas 3">
            <a:extLst>
              <a:ext uri="{FF2B5EF4-FFF2-40B4-BE49-F238E27FC236}">
                <a16:creationId xmlns:a16="http://schemas.microsoft.com/office/drawing/2014/main" id="{F8ADDCB1-4192-4498-9B91-9DB3587DB17F}"/>
              </a:ext>
            </a:extLst>
          </p:cNvPr>
          <p:cNvSpPr/>
          <p:nvPr/>
        </p:nvSpPr>
        <p:spPr>
          <a:xfrm>
            <a:off x="228600" y="863600"/>
            <a:ext cx="2857500" cy="1270000"/>
          </a:xfrm>
          <a:prstGeom prst="roundRect">
            <a:avLst/>
          </a:prstGeom>
          <a:solidFill>
            <a:srgbClr val="F0F9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esquinas redondeadas 4">
            <a:extLst>
              <a:ext uri="{FF2B5EF4-FFF2-40B4-BE49-F238E27FC236}">
                <a16:creationId xmlns:a16="http://schemas.microsoft.com/office/drawing/2014/main" id="{E0F17F5E-146E-4631-9736-0ECC8A8FE898}"/>
              </a:ext>
            </a:extLst>
          </p:cNvPr>
          <p:cNvSpPr/>
          <p:nvPr/>
        </p:nvSpPr>
        <p:spPr>
          <a:xfrm>
            <a:off x="228600" y="863600"/>
            <a:ext cx="2857500" cy="330200"/>
          </a:xfrm>
          <a:prstGeom prst="roundRect">
            <a:avLst/>
          </a:prstGeom>
          <a:solidFill>
            <a:srgbClr val="3776A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B040B5DC-AE6A-4D96-B842-848B37073C3B}"/>
              </a:ext>
            </a:extLst>
          </p:cNvPr>
          <p:cNvSpPr txBox="1"/>
          <p:nvPr/>
        </p:nvSpPr>
        <p:spPr>
          <a:xfrm>
            <a:off x="317500" y="876300"/>
            <a:ext cx="2667000" cy="304800"/>
          </a:xfrm>
          <a:prstGeom prst="rect">
            <a:avLst/>
          </a:prstGeom>
          <a:noFill/>
        </p:spPr>
        <p:txBody>
          <a:bodyPr vertOverflow="overflow" vert="horz" wrap="square" rtlCol="0" anchor="ctr" anchorCtr="0">
            <a:spAutoFit/>
          </a:bodyPr>
          <a:lstStyle/>
          <a:p>
            <a:pPr algn="l"/>
            <a:r>
              <a:rPr lang="es-CO" sz="1200" b="1">
                <a:solidFill>
                  <a:srgbClr val="FFFFFF"/>
                </a:solidFill>
                <a:latin typeface="Calibri"/>
                <a:ea typeface="Calibri"/>
                <a:cs typeface="Calibri"/>
              </a:rPr>
              <a:t>Función Sigmoide</a:t>
            </a:r>
          </a:p>
        </p:txBody>
      </p:sp>
      <p:sp>
        <p:nvSpPr>
          <p:cNvPr id="7" name="CuadroTexto 6">
            <a:extLst>
              <a:ext uri="{FF2B5EF4-FFF2-40B4-BE49-F238E27FC236}">
                <a16:creationId xmlns:a16="http://schemas.microsoft.com/office/drawing/2014/main" id="{E09C547A-D076-4D3C-80D9-5958FF1D64EA}"/>
              </a:ext>
            </a:extLst>
          </p:cNvPr>
          <p:cNvSpPr txBox="1"/>
          <p:nvPr/>
        </p:nvSpPr>
        <p:spPr>
          <a:xfrm>
            <a:off x="228600" y="1219200"/>
            <a:ext cx="2857500" cy="381000"/>
          </a:xfrm>
          <a:prstGeom prst="rect">
            <a:avLst/>
          </a:prstGeom>
          <a:noFill/>
        </p:spPr>
        <p:txBody>
          <a:bodyPr vertOverflow="overflow" vert="horz" wrap="square" rtlCol="0" anchor="ctr" anchorCtr="0">
            <a:spAutoFit/>
          </a:bodyPr>
          <a:lstStyle/>
          <a:p>
            <a:pPr algn="l"/>
            <a:r>
              <a:rPr lang="es-ES" b="1">
                <a:solidFill>
                  <a:srgbClr val="0D7377"/>
                </a:solidFill>
                <a:latin typeface="Calibri"/>
                <a:ea typeface="Calibri"/>
                <a:cs typeface="Calibri"/>
              </a:rPr>
              <a:t>P(y=1) = 1 / (1 + e⁻ᶻ)</a:t>
            </a:r>
            <a:endParaRPr lang="es-CO" b="1">
              <a:solidFill>
                <a:srgbClr val="0D7377"/>
              </a:solidFill>
              <a:latin typeface="Calibri"/>
              <a:ea typeface="Calibri"/>
              <a:cs typeface="Calibri"/>
            </a:endParaRPr>
          </a:p>
        </p:txBody>
      </p:sp>
      <p:sp>
        <p:nvSpPr>
          <p:cNvPr id="8" name="CuadroTexto 7">
            <a:extLst>
              <a:ext uri="{FF2B5EF4-FFF2-40B4-BE49-F238E27FC236}">
                <a16:creationId xmlns:a16="http://schemas.microsoft.com/office/drawing/2014/main" id="{175E3D2A-BDB5-4AFC-8142-018A9C11E8F7}"/>
              </a:ext>
            </a:extLst>
          </p:cNvPr>
          <p:cNvSpPr txBox="1"/>
          <p:nvPr/>
        </p:nvSpPr>
        <p:spPr>
          <a:xfrm>
            <a:off x="317500" y="1625600"/>
            <a:ext cx="2667000" cy="457200"/>
          </a:xfrm>
          <a:prstGeom prst="rect">
            <a:avLst/>
          </a:prstGeom>
          <a:noFill/>
        </p:spPr>
        <p:txBody>
          <a:bodyPr vertOverflow="overflow" vert="horz" wrap="square" rtlCol="0" anchor="t">
            <a:noAutofit/>
          </a:bodyPr>
          <a:lstStyle/>
          <a:p>
            <a:pPr algn="l"/>
            <a:r>
              <a:rPr lang="es-CO" sz="1000">
                <a:solidFill>
                  <a:srgbClr val="64748B"/>
                </a:solidFill>
                <a:latin typeface="Calibri"/>
                <a:ea typeface="Calibri"/>
                <a:cs typeface="Calibri"/>
              </a:rPr>
              <a:t>donde z = </a:t>
            </a:r>
            <a:r>
              <a:rPr lang="el-GR" sz="1000">
                <a:solidFill>
                  <a:srgbClr val="64748B"/>
                </a:solidFill>
                <a:latin typeface="Calibri"/>
                <a:ea typeface="Calibri"/>
                <a:cs typeface="Calibri"/>
              </a:rPr>
              <a:t>β₀ + β₁</a:t>
            </a:r>
            <a:r>
              <a:rPr lang="es-CO" sz="1000">
                <a:solidFill>
                  <a:srgbClr val="64748B"/>
                </a:solidFill>
                <a:latin typeface="Calibri"/>
                <a:ea typeface="Calibri"/>
                <a:cs typeface="Calibri"/>
              </a:rPr>
              <a:t>x₁ + </a:t>
            </a:r>
            <a:r>
              <a:rPr lang="el-GR" sz="1000">
                <a:solidFill>
                  <a:srgbClr val="64748B"/>
                </a:solidFill>
                <a:latin typeface="Calibri"/>
                <a:ea typeface="Calibri"/>
                <a:cs typeface="Calibri"/>
              </a:rPr>
              <a:t>β₂</a:t>
            </a:r>
            <a:r>
              <a:rPr lang="es-CO" sz="1000">
                <a:solidFill>
                  <a:srgbClr val="64748B"/>
                </a:solidFill>
                <a:latin typeface="Calibri"/>
                <a:ea typeface="Calibri"/>
                <a:cs typeface="Calibri"/>
              </a:rPr>
              <a:t>x₂ + ...</a:t>
            </a:r>
          </a:p>
        </p:txBody>
      </p:sp>
      <p:sp>
        <p:nvSpPr>
          <p:cNvPr id="9" name="Rectángulo: esquinas redondeadas 8">
            <a:extLst>
              <a:ext uri="{FF2B5EF4-FFF2-40B4-BE49-F238E27FC236}">
                <a16:creationId xmlns:a16="http://schemas.microsoft.com/office/drawing/2014/main" id="{38E33FF3-ADB5-4785-A0C7-B742A63CC30A}"/>
              </a:ext>
            </a:extLst>
          </p:cNvPr>
          <p:cNvSpPr/>
          <p:nvPr/>
        </p:nvSpPr>
        <p:spPr>
          <a:xfrm>
            <a:off x="228600" y="2235200"/>
            <a:ext cx="2857500" cy="12065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0" name="Rectángulo: esquinas redondeadas 9">
            <a:extLst>
              <a:ext uri="{FF2B5EF4-FFF2-40B4-BE49-F238E27FC236}">
                <a16:creationId xmlns:a16="http://schemas.microsoft.com/office/drawing/2014/main" id="{6C529661-2D44-4676-9AE0-DEDA8772D429}"/>
              </a:ext>
            </a:extLst>
          </p:cNvPr>
          <p:cNvSpPr/>
          <p:nvPr/>
        </p:nvSpPr>
        <p:spPr>
          <a:xfrm>
            <a:off x="228600" y="2235200"/>
            <a:ext cx="2857500" cy="330200"/>
          </a:xfrm>
          <a:prstGeom prst="round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1" name="CuadroTexto 10">
            <a:extLst>
              <a:ext uri="{FF2B5EF4-FFF2-40B4-BE49-F238E27FC236}">
                <a16:creationId xmlns:a16="http://schemas.microsoft.com/office/drawing/2014/main" id="{382F6567-343C-478E-8F20-A48FCD2C1BDC}"/>
              </a:ext>
            </a:extLst>
          </p:cNvPr>
          <p:cNvSpPr txBox="1"/>
          <p:nvPr/>
        </p:nvSpPr>
        <p:spPr>
          <a:xfrm>
            <a:off x="317500" y="2247900"/>
            <a:ext cx="2667000" cy="304800"/>
          </a:xfrm>
          <a:prstGeom prst="rect">
            <a:avLst/>
          </a:prstGeom>
          <a:noFill/>
        </p:spPr>
        <p:txBody>
          <a:bodyPr vertOverflow="overflow" vert="horz" wrap="square" rtlCol="0" anchor="ctr" anchorCtr="0">
            <a:spAutoFit/>
          </a:bodyPr>
          <a:lstStyle/>
          <a:p>
            <a:pPr algn="l"/>
            <a:r>
              <a:rPr lang="es-CO" sz="1200" b="1">
                <a:solidFill>
                  <a:srgbClr val="FFFFFF"/>
                </a:solidFill>
                <a:latin typeface="Calibri"/>
                <a:ea typeface="Calibri"/>
                <a:cs typeface="Calibri"/>
              </a:rPr>
              <a:t>¿Qué hace la sigmoide?</a:t>
            </a:r>
          </a:p>
        </p:txBody>
      </p:sp>
      <p:sp>
        <p:nvSpPr>
          <p:cNvPr id="12" name="CuadroTexto 11">
            <a:extLst>
              <a:ext uri="{FF2B5EF4-FFF2-40B4-BE49-F238E27FC236}">
                <a16:creationId xmlns:a16="http://schemas.microsoft.com/office/drawing/2014/main" id="{5C90E2AE-D9D7-4750-8DA1-3BBFD0820D82}"/>
              </a:ext>
            </a:extLst>
          </p:cNvPr>
          <p:cNvSpPr txBox="1"/>
          <p:nvPr/>
        </p:nvSpPr>
        <p:spPr>
          <a:xfrm>
            <a:off x="317500" y="2616200"/>
            <a:ext cx="2667000" cy="7620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Toma cualquier número (de -∞ a +∞) y lo transforma en una probabilidad entre 0 y 1.
• z muy negativo → P ≈ 0
• z = 0 → P = 0.5 (punto medio)
• z muy positivo → P ≈ 1</a:t>
            </a:r>
            <a:endParaRPr lang="es-CO" sz="1000">
              <a:solidFill>
                <a:srgbClr val="1E293B"/>
              </a:solidFill>
              <a:latin typeface="Calibri"/>
              <a:ea typeface="Calibri"/>
              <a:cs typeface="Calibri"/>
            </a:endParaRPr>
          </a:p>
        </p:txBody>
      </p:sp>
      <p:sp>
        <p:nvSpPr>
          <p:cNvPr id="13" name="Rectángulo: esquinas redondeadas 12">
            <a:extLst>
              <a:ext uri="{FF2B5EF4-FFF2-40B4-BE49-F238E27FC236}">
                <a16:creationId xmlns:a16="http://schemas.microsoft.com/office/drawing/2014/main" id="{684C3792-2DC7-4372-808D-13E73CE1795C}"/>
              </a:ext>
            </a:extLst>
          </p:cNvPr>
          <p:cNvSpPr/>
          <p:nvPr/>
        </p:nvSpPr>
        <p:spPr>
          <a:xfrm>
            <a:off x="228600" y="3543300"/>
            <a:ext cx="2857500" cy="1422400"/>
          </a:xfrm>
          <a:prstGeom prst="roundRect">
            <a:avLst/>
          </a:prstGeom>
          <a:solidFill>
            <a:srgbClr val="1E1E2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4" name="CuadroTexto 13">
            <a:extLst>
              <a:ext uri="{FF2B5EF4-FFF2-40B4-BE49-F238E27FC236}">
                <a16:creationId xmlns:a16="http://schemas.microsoft.com/office/drawing/2014/main" id="{32EBB809-C931-4ACA-A81E-C749CBE1C0A6}"/>
              </a:ext>
            </a:extLst>
          </p:cNvPr>
          <p:cNvSpPr txBox="1"/>
          <p:nvPr/>
        </p:nvSpPr>
        <p:spPr>
          <a:xfrm>
            <a:off x="279400" y="3594100"/>
            <a:ext cx="2755900" cy="1320800"/>
          </a:xfrm>
          <a:prstGeom prst="rect">
            <a:avLst/>
          </a:prstGeom>
          <a:noFill/>
        </p:spPr>
        <p:txBody>
          <a:bodyPr vertOverflow="overflow" vert="horz" wrap="square" rtlCol="0" anchor="t">
            <a:noAutofit/>
          </a:bodyPr>
          <a:lstStyle/>
          <a:p>
            <a:pPr algn="l"/>
            <a:r>
              <a:rPr lang="es-CO" sz="800">
                <a:solidFill>
                  <a:srgbClr val="FFD43B"/>
                </a:solidFill>
                <a:latin typeface="Consolas"/>
              </a:rPr>
              <a:t>from sklearn.linear_model import
  LogisticRegression
model = LogisticRegression()
model.fit(X_train, y_train)
# Predicción de probabilidad
prob = model.predict_proba(X_test)
print(prob[:5])</a:t>
            </a:r>
          </a:p>
        </p:txBody>
      </p:sp>
      <p:sp>
        <p:nvSpPr>
          <p:cNvPr id="15" name="CuadroTexto 14">
            <a:extLst>
              <a:ext uri="{FF2B5EF4-FFF2-40B4-BE49-F238E27FC236}">
                <a16:creationId xmlns:a16="http://schemas.microsoft.com/office/drawing/2014/main" id="{857E27E4-53EB-4CDD-992F-0BB18FB07CA9}"/>
              </a:ext>
            </a:extLst>
          </p:cNvPr>
          <p:cNvSpPr txBox="1"/>
          <p:nvPr/>
        </p:nvSpPr>
        <p:spPr>
          <a:xfrm>
            <a:off x="3213100" y="863600"/>
            <a:ext cx="2730500" cy="254000"/>
          </a:xfrm>
          <a:prstGeom prst="rect">
            <a:avLst/>
          </a:prstGeom>
          <a:noFill/>
        </p:spPr>
        <p:txBody>
          <a:bodyPr vertOverflow="overflow" vert="horz" wrap="square" rtlCol="0" anchor="t">
            <a:spAutoFit/>
          </a:bodyPr>
          <a:lstStyle/>
          <a:p>
            <a:pPr algn="l"/>
            <a:r>
              <a:rPr lang="es-CO" sz="1100" b="1">
                <a:solidFill>
                  <a:srgbClr val="E8A838"/>
                </a:solidFill>
                <a:latin typeface="Calibri"/>
                <a:ea typeface="Calibri"/>
                <a:cs typeface="Calibri"/>
              </a:rPr>
              <a:t>Ejemplo: ¿Aprobará el examen?</a:t>
            </a:r>
          </a:p>
        </p:txBody>
      </p:sp>
      <p:graphicFrame>
        <p:nvGraphicFramePr>
          <p:cNvPr id="17" name="Tabla 16">
            <a:extLst>
              <a:ext uri="{FF2B5EF4-FFF2-40B4-BE49-F238E27FC236}">
                <a16:creationId xmlns:a16="http://schemas.microsoft.com/office/drawing/2014/main" id="{2DCF2003-0DE6-4009-AAAD-9371C0413529}"/>
              </a:ext>
            </a:extLst>
          </p:cNvPr>
          <p:cNvGraphicFramePr>
            <a:graphicFrameLocks noGrp="1"/>
          </p:cNvGraphicFramePr>
          <p:nvPr/>
        </p:nvGraphicFramePr>
        <p:xfrm>
          <a:off x="3213100" y="1168400"/>
          <a:ext cx="2730501" cy="2997202"/>
        </p:xfrm>
        <a:graphic>
          <a:graphicData uri="http://schemas.openxmlformats.org/drawingml/2006/table">
            <a:tbl>
              <a:tblPr/>
              <a:tblGrid>
                <a:gridCol w="910167">
                  <a:extLst>
                    <a:ext uri="{9D8B030D-6E8A-4147-A177-3AD203B41FA5}">
                      <a16:colId xmlns:a16="http://schemas.microsoft.com/office/drawing/2014/main" val="1401490509"/>
                    </a:ext>
                  </a:extLst>
                </a:gridCol>
                <a:gridCol w="910167">
                  <a:extLst>
                    <a:ext uri="{9D8B030D-6E8A-4147-A177-3AD203B41FA5}">
                      <a16:colId xmlns:a16="http://schemas.microsoft.com/office/drawing/2014/main" val="3949497952"/>
                    </a:ext>
                  </a:extLst>
                </a:gridCol>
                <a:gridCol w="910167">
                  <a:extLst>
                    <a:ext uri="{9D8B030D-6E8A-4147-A177-3AD203B41FA5}">
                      <a16:colId xmlns:a16="http://schemas.microsoft.com/office/drawing/2014/main" val="2277549485"/>
                    </a:ext>
                  </a:extLst>
                </a:gridCol>
              </a:tblGrid>
              <a:tr h="327378">
                <a:tc>
                  <a:txBody>
                    <a:bodyPr/>
                    <a:lstStyle/>
                    <a:p>
                      <a:pPr algn="ctr"/>
                      <a:r>
                        <a:rPr lang="es-CO" sz="1000" b="1">
                          <a:solidFill>
                            <a:srgbClr val="FFFFFF"/>
                          </a:solidFill>
                          <a:latin typeface="Calibri"/>
                          <a:ea typeface="Calibri"/>
                          <a:cs typeface="Calibri"/>
                        </a:rPr>
                        <a:t>Horas estudio</a:t>
                      </a:r>
                    </a:p>
                  </a:txBody>
                  <a:tcPr marT="36689" marB="36689" anchor="ctr">
                    <a:lnL w="0"/>
                    <a:lnR w="0"/>
                    <a:lnT w="0"/>
                    <a:lnB w="0"/>
                    <a:lnTlToBr w="0"/>
                    <a:lnBlToTr w="0"/>
                    <a:solidFill>
                      <a:srgbClr val="E8A838"/>
                    </a:solidFill>
                  </a:tcPr>
                </a:tc>
                <a:tc>
                  <a:txBody>
                    <a:bodyPr/>
                    <a:lstStyle/>
                    <a:p>
                      <a:pPr algn="ctr"/>
                      <a:r>
                        <a:rPr lang="es-CO" sz="1000" b="1">
                          <a:solidFill>
                            <a:srgbClr val="FFFFFF"/>
                          </a:solidFill>
                          <a:latin typeface="Calibri"/>
                          <a:ea typeface="Calibri"/>
                          <a:cs typeface="Calibri"/>
                        </a:rPr>
                        <a:t>P(aprobar)</a:t>
                      </a:r>
                    </a:p>
                  </a:txBody>
                  <a:tcPr marT="36689" marB="36689" anchor="ctr">
                    <a:lnL w="0"/>
                    <a:lnR w="0"/>
                    <a:lnT w="0"/>
                    <a:lnB w="0"/>
                    <a:lnTlToBr w="0"/>
                    <a:lnBlToTr w="0"/>
                    <a:solidFill>
                      <a:srgbClr val="E8A838"/>
                    </a:solidFill>
                  </a:tcPr>
                </a:tc>
                <a:tc>
                  <a:txBody>
                    <a:bodyPr/>
                    <a:lstStyle/>
                    <a:p>
                      <a:pPr algn="ctr"/>
                      <a:r>
                        <a:rPr lang="es-CO" sz="1000" b="1">
                          <a:solidFill>
                            <a:srgbClr val="FFFFFF"/>
                          </a:solidFill>
                          <a:latin typeface="Calibri"/>
                          <a:ea typeface="Calibri"/>
                          <a:cs typeface="Calibri"/>
                        </a:rPr>
                        <a:t>Predicción</a:t>
                      </a:r>
                    </a:p>
                  </a:txBody>
                  <a:tcPr marT="36689" marB="36689" anchor="ctr">
                    <a:lnL w="0"/>
                    <a:lnR w="0"/>
                    <a:lnT w="0"/>
                    <a:lnB w="0"/>
                    <a:lnTlToBr w="0"/>
                    <a:lnBlToTr w="0"/>
                    <a:solidFill>
                      <a:srgbClr val="E8A838"/>
                    </a:solidFill>
                  </a:tcPr>
                </a:tc>
                <a:extLst>
                  <a:ext uri="{0D108BD9-81ED-4DB2-BD59-A6C34878D82A}">
                    <a16:rowId xmlns:a16="http://schemas.microsoft.com/office/drawing/2014/main" val="608049869"/>
                  </a:ext>
                </a:extLst>
              </a:tr>
              <a:tr h="327378">
                <a:tc>
                  <a:txBody>
                    <a:bodyPr/>
                    <a:lstStyle/>
                    <a:p>
                      <a:pPr algn="ctr"/>
                      <a:r>
                        <a:rPr lang="es-CO" sz="1000">
                          <a:solidFill>
                            <a:srgbClr val="1E293B"/>
                          </a:solidFill>
                          <a:latin typeface="Calibri"/>
                          <a:ea typeface="Calibri"/>
                          <a:cs typeface="Calibri"/>
                        </a:rPr>
                        <a:t>1</a:t>
                      </a:r>
                    </a:p>
                  </a:txBody>
                  <a:tcPr marT="36689" marB="36689" anchor="ctr">
                    <a:lnL w="0"/>
                    <a:lnR w="0"/>
                    <a:lnT w="0"/>
                    <a:lnB w="0"/>
                    <a:lnTlToBr w="0"/>
                    <a:lnBlToTr w="0"/>
                  </a:tcPr>
                </a:tc>
                <a:tc>
                  <a:txBody>
                    <a:bodyPr/>
                    <a:lstStyle/>
                    <a:p>
                      <a:pPr algn="ctr"/>
                      <a:r>
                        <a:rPr lang="es-CO" sz="1000">
                          <a:solidFill>
                            <a:srgbClr val="1E293B"/>
                          </a:solidFill>
                          <a:latin typeface="Calibri"/>
                          <a:ea typeface="Calibri"/>
                          <a:cs typeface="Calibri"/>
                        </a:rPr>
                        <a:t>0.05</a:t>
                      </a:r>
                    </a:p>
                  </a:txBody>
                  <a:tcPr marT="36689" marB="36689" anchor="ctr">
                    <a:lnL w="0"/>
                    <a:lnR w="0"/>
                    <a:lnT w="0"/>
                    <a:lnB w="0"/>
                    <a:lnTlToBr w="0"/>
                    <a:lnBlToTr w="0"/>
                  </a:tcPr>
                </a:tc>
                <a:tc>
                  <a:txBody>
                    <a:bodyPr/>
                    <a:lstStyle/>
                    <a:p>
                      <a:pPr algn="ctr"/>
                      <a:r>
                        <a:rPr lang="es-CO" sz="1000">
                          <a:solidFill>
                            <a:srgbClr val="1E293B"/>
                          </a:solidFill>
                          <a:latin typeface="Calibri"/>
                          <a:ea typeface="Calibri"/>
                          <a:cs typeface="Calibri"/>
                        </a:rPr>
                        <a:t>❌ Reprueba</a:t>
                      </a:r>
                    </a:p>
                  </a:txBody>
                  <a:tcPr marT="36689" marB="36689" anchor="ctr">
                    <a:lnL w="0"/>
                    <a:lnR w="0"/>
                    <a:lnT w="0"/>
                    <a:lnB w="0"/>
                    <a:lnTlToBr w="0"/>
                    <a:lnBlToTr w="0"/>
                  </a:tcPr>
                </a:tc>
                <a:extLst>
                  <a:ext uri="{0D108BD9-81ED-4DB2-BD59-A6C34878D82A}">
                    <a16:rowId xmlns:a16="http://schemas.microsoft.com/office/drawing/2014/main" val="3933704982"/>
                  </a:ext>
                </a:extLst>
              </a:tr>
              <a:tr h="327378">
                <a:tc>
                  <a:txBody>
                    <a:bodyPr/>
                    <a:lstStyle/>
                    <a:p>
                      <a:pPr algn="ctr"/>
                      <a:r>
                        <a:rPr lang="es-CO" sz="1000">
                          <a:solidFill>
                            <a:srgbClr val="1E293B"/>
                          </a:solidFill>
                          <a:latin typeface="Calibri"/>
                          <a:ea typeface="Calibri"/>
                          <a:cs typeface="Calibri"/>
                        </a:rPr>
                        <a:t>2</a:t>
                      </a:r>
                    </a:p>
                  </a:txBody>
                  <a:tcPr marT="36689" marB="36689" anchor="ctr">
                    <a:lnL w="0"/>
                    <a:lnR w="0"/>
                    <a:lnT w="0"/>
                    <a:lnB w="0"/>
                    <a:lnTlToBr w="0"/>
                    <a:lnBlToTr w="0"/>
                    <a:solidFill>
                      <a:srgbClr val="F8FAFC"/>
                    </a:solidFill>
                  </a:tcPr>
                </a:tc>
                <a:tc>
                  <a:txBody>
                    <a:bodyPr/>
                    <a:lstStyle/>
                    <a:p>
                      <a:pPr algn="ctr"/>
                      <a:r>
                        <a:rPr lang="es-CO" sz="1000">
                          <a:solidFill>
                            <a:srgbClr val="1E293B"/>
                          </a:solidFill>
                          <a:latin typeface="Calibri"/>
                          <a:ea typeface="Calibri"/>
                          <a:cs typeface="Calibri"/>
                        </a:rPr>
                        <a:t>0.12</a:t>
                      </a:r>
                    </a:p>
                  </a:txBody>
                  <a:tcPr marT="36689" marB="36689" anchor="ctr">
                    <a:lnL w="0"/>
                    <a:lnR w="0"/>
                    <a:lnT w="0"/>
                    <a:lnB w="0"/>
                    <a:lnTlToBr w="0"/>
                    <a:lnBlToTr w="0"/>
                    <a:solidFill>
                      <a:srgbClr val="F8FAFC"/>
                    </a:solidFill>
                  </a:tcPr>
                </a:tc>
                <a:tc>
                  <a:txBody>
                    <a:bodyPr/>
                    <a:lstStyle/>
                    <a:p>
                      <a:pPr algn="ctr"/>
                      <a:r>
                        <a:rPr lang="es-CO" sz="1000">
                          <a:solidFill>
                            <a:srgbClr val="1E293B"/>
                          </a:solidFill>
                          <a:latin typeface="Calibri"/>
                          <a:ea typeface="Calibri"/>
                          <a:cs typeface="Calibri"/>
                        </a:rPr>
                        <a:t>❌ Reprueba</a:t>
                      </a:r>
                    </a:p>
                  </a:txBody>
                  <a:tcPr marT="36689" marB="36689" anchor="ctr">
                    <a:lnL w="0"/>
                    <a:lnR w="0"/>
                    <a:lnT w="0"/>
                    <a:lnB w="0"/>
                    <a:lnTlToBr w="0"/>
                    <a:lnBlToTr w="0"/>
                    <a:solidFill>
                      <a:srgbClr val="F8FAFC"/>
                    </a:solidFill>
                  </a:tcPr>
                </a:tc>
                <a:extLst>
                  <a:ext uri="{0D108BD9-81ED-4DB2-BD59-A6C34878D82A}">
                    <a16:rowId xmlns:a16="http://schemas.microsoft.com/office/drawing/2014/main" val="3370473125"/>
                  </a:ext>
                </a:extLst>
              </a:tr>
              <a:tr h="327378">
                <a:tc>
                  <a:txBody>
                    <a:bodyPr/>
                    <a:lstStyle/>
                    <a:p>
                      <a:pPr algn="ctr"/>
                      <a:r>
                        <a:rPr lang="es-CO" sz="1000">
                          <a:solidFill>
                            <a:srgbClr val="1E293B"/>
                          </a:solidFill>
                          <a:latin typeface="Calibri"/>
                          <a:ea typeface="Calibri"/>
                          <a:cs typeface="Calibri"/>
                        </a:rPr>
                        <a:t>3</a:t>
                      </a:r>
                    </a:p>
                  </a:txBody>
                  <a:tcPr marT="36689" marB="36689" anchor="ctr">
                    <a:lnL w="0"/>
                    <a:lnR w="0"/>
                    <a:lnT w="0"/>
                    <a:lnB w="0"/>
                    <a:lnTlToBr w="0"/>
                    <a:lnBlToTr w="0"/>
                  </a:tcPr>
                </a:tc>
                <a:tc>
                  <a:txBody>
                    <a:bodyPr/>
                    <a:lstStyle/>
                    <a:p>
                      <a:pPr algn="ctr"/>
                      <a:r>
                        <a:rPr lang="es-CO" sz="1000">
                          <a:solidFill>
                            <a:srgbClr val="1E293B"/>
                          </a:solidFill>
                          <a:latin typeface="Calibri"/>
                          <a:ea typeface="Calibri"/>
                          <a:cs typeface="Calibri"/>
                        </a:rPr>
                        <a:t>0.27</a:t>
                      </a:r>
                    </a:p>
                  </a:txBody>
                  <a:tcPr marT="36689" marB="36689" anchor="ctr">
                    <a:lnL w="0"/>
                    <a:lnR w="0"/>
                    <a:lnT w="0"/>
                    <a:lnB w="0"/>
                    <a:lnTlToBr w="0"/>
                    <a:lnBlToTr w="0"/>
                  </a:tcPr>
                </a:tc>
                <a:tc>
                  <a:txBody>
                    <a:bodyPr/>
                    <a:lstStyle/>
                    <a:p>
                      <a:pPr algn="ctr"/>
                      <a:r>
                        <a:rPr lang="es-CO" sz="1000">
                          <a:solidFill>
                            <a:srgbClr val="1E293B"/>
                          </a:solidFill>
                          <a:latin typeface="Calibri"/>
                          <a:ea typeface="Calibri"/>
                          <a:cs typeface="Calibri"/>
                        </a:rPr>
                        <a:t>❌ Reprueba</a:t>
                      </a:r>
                    </a:p>
                  </a:txBody>
                  <a:tcPr marT="36689" marB="36689" anchor="ctr">
                    <a:lnL w="0"/>
                    <a:lnR w="0"/>
                    <a:lnT w="0"/>
                    <a:lnB w="0"/>
                    <a:lnTlToBr w="0"/>
                    <a:lnBlToTr w="0"/>
                  </a:tcPr>
                </a:tc>
                <a:extLst>
                  <a:ext uri="{0D108BD9-81ED-4DB2-BD59-A6C34878D82A}">
                    <a16:rowId xmlns:a16="http://schemas.microsoft.com/office/drawing/2014/main" val="108377847"/>
                  </a:ext>
                </a:extLst>
              </a:tr>
              <a:tr h="327378">
                <a:tc>
                  <a:txBody>
                    <a:bodyPr/>
                    <a:lstStyle/>
                    <a:p>
                      <a:pPr algn="ctr"/>
                      <a:r>
                        <a:rPr lang="es-CO" sz="1000" b="1">
                          <a:solidFill>
                            <a:srgbClr val="1E293B"/>
                          </a:solidFill>
                          <a:latin typeface="Calibri"/>
                          <a:ea typeface="Calibri"/>
                          <a:cs typeface="Calibri"/>
                        </a:rPr>
                        <a:t>4</a:t>
                      </a:r>
                    </a:p>
                  </a:txBody>
                  <a:tcPr marT="36689" marB="36689" anchor="ctr">
                    <a:lnL w="0"/>
                    <a:lnR w="0"/>
                    <a:lnT w="0"/>
                    <a:lnB w="0"/>
                    <a:lnTlToBr w="0"/>
                    <a:lnBlToTr w="0"/>
                    <a:solidFill>
                      <a:srgbClr val="FFF8E1"/>
                    </a:solidFill>
                  </a:tcPr>
                </a:tc>
                <a:tc>
                  <a:txBody>
                    <a:bodyPr/>
                    <a:lstStyle/>
                    <a:p>
                      <a:pPr algn="ctr"/>
                      <a:r>
                        <a:rPr lang="es-CO" sz="1000" b="1">
                          <a:solidFill>
                            <a:srgbClr val="1E293B"/>
                          </a:solidFill>
                          <a:latin typeface="Calibri"/>
                          <a:ea typeface="Calibri"/>
                          <a:cs typeface="Calibri"/>
                        </a:rPr>
                        <a:t>0.50</a:t>
                      </a:r>
                    </a:p>
                  </a:txBody>
                  <a:tcPr marT="36689" marB="36689" anchor="ctr">
                    <a:lnL w="0"/>
                    <a:lnR w="0"/>
                    <a:lnT w="0"/>
                    <a:lnB w="0"/>
                    <a:lnTlToBr w="0"/>
                    <a:lnBlToTr w="0"/>
                    <a:solidFill>
                      <a:srgbClr val="FFF8E1"/>
                    </a:solidFill>
                  </a:tcPr>
                </a:tc>
                <a:tc>
                  <a:txBody>
                    <a:bodyPr/>
                    <a:lstStyle/>
                    <a:p>
                      <a:pPr algn="ctr"/>
                      <a:r>
                        <a:rPr lang="es-CO" sz="1000" b="1">
                          <a:solidFill>
                            <a:srgbClr val="1E293B"/>
                          </a:solidFill>
                          <a:latin typeface="Calibri"/>
                          <a:ea typeface="Calibri"/>
                          <a:cs typeface="Calibri"/>
                        </a:rPr>
                        <a:t>⚠️ Umbral</a:t>
                      </a:r>
                    </a:p>
                  </a:txBody>
                  <a:tcPr marT="36689" marB="36689" anchor="ctr">
                    <a:lnL w="0"/>
                    <a:lnR w="0"/>
                    <a:lnT w="0"/>
                    <a:lnB w="0"/>
                    <a:lnTlToBr w="0"/>
                    <a:lnBlToTr w="0"/>
                    <a:solidFill>
                      <a:srgbClr val="FFF8E1"/>
                    </a:solidFill>
                  </a:tcPr>
                </a:tc>
                <a:extLst>
                  <a:ext uri="{0D108BD9-81ED-4DB2-BD59-A6C34878D82A}">
                    <a16:rowId xmlns:a16="http://schemas.microsoft.com/office/drawing/2014/main" val="3919789576"/>
                  </a:ext>
                </a:extLst>
              </a:tr>
              <a:tr h="327378">
                <a:tc>
                  <a:txBody>
                    <a:bodyPr/>
                    <a:lstStyle/>
                    <a:p>
                      <a:pPr algn="ctr"/>
                      <a:r>
                        <a:rPr lang="es-CO" sz="1000">
                          <a:solidFill>
                            <a:srgbClr val="1E293B"/>
                          </a:solidFill>
                          <a:latin typeface="Calibri"/>
                          <a:ea typeface="Calibri"/>
                          <a:cs typeface="Calibri"/>
                        </a:rPr>
                        <a:t>5</a:t>
                      </a:r>
                    </a:p>
                  </a:txBody>
                  <a:tcPr marT="36689" marB="36689" anchor="ctr">
                    <a:lnL w="0"/>
                    <a:lnR w="0"/>
                    <a:lnT w="0"/>
                    <a:lnB w="0"/>
                    <a:lnTlToBr w="0"/>
                    <a:lnBlToTr w="0"/>
                  </a:tcPr>
                </a:tc>
                <a:tc>
                  <a:txBody>
                    <a:bodyPr/>
                    <a:lstStyle/>
                    <a:p>
                      <a:pPr algn="ctr"/>
                      <a:r>
                        <a:rPr lang="es-CO" sz="1000">
                          <a:solidFill>
                            <a:srgbClr val="1E293B"/>
                          </a:solidFill>
                          <a:latin typeface="Calibri"/>
                          <a:ea typeface="Calibri"/>
                          <a:cs typeface="Calibri"/>
                        </a:rPr>
                        <a:t>0.73</a:t>
                      </a:r>
                    </a:p>
                  </a:txBody>
                  <a:tcPr marT="36689" marB="36689" anchor="ctr">
                    <a:lnL w="0"/>
                    <a:lnR w="0"/>
                    <a:lnT w="0"/>
                    <a:lnB w="0"/>
                    <a:lnTlToBr w="0"/>
                    <a:lnBlToTr w="0"/>
                  </a:tcPr>
                </a:tc>
                <a:tc>
                  <a:txBody>
                    <a:bodyPr/>
                    <a:lstStyle/>
                    <a:p>
                      <a:pPr algn="ctr"/>
                      <a:r>
                        <a:rPr lang="es-CO" sz="1000">
                          <a:solidFill>
                            <a:srgbClr val="1E293B"/>
                          </a:solidFill>
                          <a:latin typeface="Calibri"/>
                          <a:ea typeface="Calibri"/>
                          <a:cs typeface="Calibri"/>
                        </a:rPr>
                        <a:t>✅ Aprueba</a:t>
                      </a:r>
                    </a:p>
                  </a:txBody>
                  <a:tcPr marT="36689" marB="36689" anchor="ctr">
                    <a:lnL w="0"/>
                    <a:lnR w="0"/>
                    <a:lnT w="0"/>
                    <a:lnB w="0"/>
                    <a:lnTlToBr w="0"/>
                    <a:lnBlToTr w="0"/>
                  </a:tcPr>
                </a:tc>
                <a:extLst>
                  <a:ext uri="{0D108BD9-81ED-4DB2-BD59-A6C34878D82A}">
                    <a16:rowId xmlns:a16="http://schemas.microsoft.com/office/drawing/2014/main" val="3604235027"/>
                  </a:ext>
                </a:extLst>
              </a:tr>
              <a:tr h="327378">
                <a:tc>
                  <a:txBody>
                    <a:bodyPr/>
                    <a:lstStyle/>
                    <a:p>
                      <a:pPr algn="ctr"/>
                      <a:r>
                        <a:rPr lang="es-CO" sz="1000">
                          <a:solidFill>
                            <a:srgbClr val="1E293B"/>
                          </a:solidFill>
                          <a:latin typeface="Calibri"/>
                          <a:ea typeface="Calibri"/>
                          <a:cs typeface="Calibri"/>
                        </a:rPr>
                        <a:t>6</a:t>
                      </a:r>
                    </a:p>
                  </a:txBody>
                  <a:tcPr marT="36689" marB="36689" anchor="ctr">
                    <a:lnL w="0"/>
                    <a:lnR w="0"/>
                    <a:lnT w="0"/>
                    <a:lnB w="0"/>
                    <a:lnTlToBr w="0"/>
                    <a:lnBlToTr w="0"/>
                    <a:solidFill>
                      <a:srgbClr val="F8FAFC"/>
                    </a:solidFill>
                  </a:tcPr>
                </a:tc>
                <a:tc>
                  <a:txBody>
                    <a:bodyPr/>
                    <a:lstStyle/>
                    <a:p>
                      <a:pPr algn="ctr"/>
                      <a:r>
                        <a:rPr lang="es-CO" sz="1000">
                          <a:solidFill>
                            <a:srgbClr val="1E293B"/>
                          </a:solidFill>
                          <a:latin typeface="Calibri"/>
                          <a:ea typeface="Calibri"/>
                          <a:cs typeface="Calibri"/>
                        </a:rPr>
                        <a:t>0.88</a:t>
                      </a:r>
                    </a:p>
                  </a:txBody>
                  <a:tcPr marT="36689" marB="36689" anchor="ctr">
                    <a:lnL w="0"/>
                    <a:lnR w="0"/>
                    <a:lnT w="0"/>
                    <a:lnB w="0"/>
                    <a:lnTlToBr w="0"/>
                    <a:lnBlToTr w="0"/>
                    <a:solidFill>
                      <a:srgbClr val="F8FAFC"/>
                    </a:solidFill>
                  </a:tcPr>
                </a:tc>
                <a:tc>
                  <a:txBody>
                    <a:bodyPr/>
                    <a:lstStyle/>
                    <a:p>
                      <a:pPr algn="ctr"/>
                      <a:r>
                        <a:rPr lang="es-CO" sz="1000">
                          <a:solidFill>
                            <a:srgbClr val="1E293B"/>
                          </a:solidFill>
                          <a:latin typeface="Calibri"/>
                          <a:ea typeface="Calibri"/>
                          <a:cs typeface="Calibri"/>
                        </a:rPr>
                        <a:t>✅ Aprueba</a:t>
                      </a:r>
                    </a:p>
                  </a:txBody>
                  <a:tcPr marT="36689" marB="36689" anchor="ctr">
                    <a:lnL w="0"/>
                    <a:lnR w="0"/>
                    <a:lnT w="0"/>
                    <a:lnB w="0"/>
                    <a:lnTlToBr w="0"/>
                    <a:lnBlToTr w="0"/>
                    <a:solidFill>
                      <a:srgbClr val="F8FAFC"/>
                    </a:solidFill>
                  </a:tcPr>
                </a:tc>
                <a:extLst>
                  <a:ext uri="{0D108BD9-81ED-4DB2-BD59-A6C34878D82A}">
                    <a16:rowId xmlns:a16="http://schemas.microsoft.com/office/drawing/2014/main" val="3231418433"/>
                  </a:ext>
                </a:extLst>
              </a:tr>
              <a:tr h="327378">
                <a:tc>
                  <a:txBody>
                    <a:bodyPr/>
                    <a:lstStyle/>
                    <a:p>
                      <a:pPr algn="ctr"/>
                      <a:r>
                        <a:rPr lang="es-CO" sz="1000">
                          <a:solidFill>
                            <a:srgbClr val="1E293B"/>
                          </a:solidFill>
                          <a:latin typeface="Calibri"/>
                          <a:ea typeface="Calibri"/>
                          <a:cs typeface="Calibri"/>
                        </a:rPr>
                        <a:t>8</a:t>
                      </a:r>
                    </a:p>
                  </a:txBody>
                  <a:tcPr marT="36689" marB="36689" anchor="ctr">
                    <a:lnL w="0"/>
                    <a:lnR w="0"/>
                    <a:lnT w="0"/>
                    <a:lnB w="0"/>
                    <a:lnTlToBr w="0"/>
                    <a:lnBlToTr w="0"/>
                  </a:tcPr>
                </a:tc>
                <a:tc>
                  <a:txBody>
                    <a:bodyPr/>
                    <a:lstStyle/>
                    <a:p>
                      <a:pPr algn="ctr"/>
                      <a:r>
                        <a:rPr lang="es-CO" sz="1000">
                          <a:solidFill>
                            <a:srgbClr val="1E293B"/>
                          </a:solidFill>
                          <a:latin typeface="Calibri"/>
                          <a:ea typeface="Calibri"/>
                          <a:cs typeface="Calibri"/>
                        </a:rPr>
                        <a:t>0.97</a:t>
                      </a:r>
                    </a:p>
                  </a:txBody>
                  <a:tcPr marT="36689" marB="36689" anchor="ctr">
                    <a:lnL w="0"/>
                    <a:lnR w="0"/>
                    <a:lnT w="0"/>
                    <a:lnB w="0"/>
                    <a:lnTlToBr w="0"/>
                    <a:lnBlToTr w="0"/>
                  </a:tcPr>
                </a:tc>
                <a:tc>
                  <a:txBody>
                    <a:bodyPr/>
                    <a:lstStyle/>
                    <a:p>
                      <a:pPr algn="ctr"/>
                      <a:r>
                        <a:rPr lang="es-CO" sz="1000">
                          <a:solidFill>
                            <a:srgbClr val="1E293B"/>
                          </a:solidFill>
                          <a:latin typeface="Calibri"/>
                          <a:ea typeface="Calibri"/>
                          <a:cs typeface="Calibri"/>
                        </a:rPr>
                        <a:t>✅ Aprueba</a:t>
                      </a:r>
                    </a:p>
                  </a:txBody>
                  <a:tcPr marT="36689" marB="36689" anchor="ctr">
                    <a:lnL w="0"/>
                    <a:lnR w="0"/>
                    <a:lnT w="0"/>
                    <a:lnB w="0"/>
                    <a:lnTlToBr w="0"/>
                    <a:lnBlToTr w="0"/>
                  </a:tcPr>
                </a:tc>
                <a:extLst>
                  <a:ext uri="{0D108BD9-81ED-4DB2-BD59-A6C34878D82A}">
                    <a16:rowId xmlns:a16="http://schemas.microsoft.com/office/drawing/2014/main" val="2760435180"/>
                  </a:ext>
                </a:extLst>
              </a:tr>
              <a:tr h="327378">
                <a:tc>
                  <a:txBody>
                    <a:bodyPr/>
                    <a:lstStyle/>
                    <a:p>
                      <a:pPr algn="ctr"/>
                      <a:r>
                        <a:rPr lang="es-CO" sz="1000">
                          <a:solidFill>
                            <a:srgbClr val="1E293B"/>
                          </a:solidFill>
                          <a:latin typeface="Calibri"/>
                          <a:ea typeface="Calibri"/>
                          <a:cs typeface="Calibri"/>
                        </a:rPr>
                        <a:t>10</a:t>
                      </a:r>
                    </a:p>
                  </a:txBody>
                  <a:tcPr marT="36689" marB="36689" anchor="ctr">
                    <a:lnL w="0"/>
                    <a:lnR w="0"/>
                    <a:lnT w="0"/>
                    <a:lnB w="0"/>
                    <a:lnTlToBr w="0"/>
                    <a:lnBlToTr w="0"/>
                    <a:solidFill>
                      <a:srgbClr val="F8FAFC"/>
                    </a:solidFill>
                  </a:tcPr>
                </a:tc>
                <a:tc>
                  <a:txBody>
                    <a:bodyPr/>
                    <a:lstStyle/>
                    <a:p>
                      <a:pPr algn="ctr"/>
                      <a:r>
                        <a:rPr lang="es-CO" sz="1000">
                          <a:solidFill>
                            <a:srgbClr val="1E293B"/>
                          </a:solidFill>
                          <a:latin typeface="Calibri"/>
                          <a:ea typeface="Calibri"/>
                          <a:cs typeface="Calibri"/>
                        </a:rPr>
                        <a:t>0.99</a:t>
                      </a:r>
                    </a:p>
                  </a:txBody>
                  <a:tcPr marT="36689" marB="36689" anchor="ctr">
                    <a:lnL w="0"/>
                    <a:lnR w="0"/>
                    <a:lnT w="0"/>
                    <a:lnB w="0"/>
                    <a:lnTlToBr w="0"/>
                    <a:lnBlToTr w="0"/>
                    <a:solidFill>
                      <a:srgbClr val="F8FAFC"/>
                    </a:solidFill>
                  </a:tcPr>
                </a:tc>
                <a:tc>
                  <a:txBody>
                    <a:bodyPr/>
                    <a:lstStyle/>
                    <a:p>
                      <a:pPr algn="ctr"/>
                      <a:r>
                        <a:rPr lang="es-CO" sz="1000">
                          <a:solidFill>
                            <a:srgbClr val="1E293B"/>
                          </a:solidFill>
                          <a:latin typeface="Calibri"/>
                          <a:ea typeface="Calibri"/>
                          <a:cs typeface="Calibri"/>
                        </a:rPr>
                        <a:t>✅ Aprueba</a:t>
                      </a:r>
                    </a:p>
                  </a:txBody>
                  <a:tcPr marT="36689" marB="36689" anchor="ctr">
                    <a:lnL w="0"/>
                    <a:lnR w="0"/>
                    <a:lnT w="0"/>
                    <a:lnB w="0"/>
                    <a:lnTlToBr w="0"/>
                    <a:lnBlToTr w="0"/>
                    <a:solidFill>
                      <a:srgbClr val="F8FAFC"/>
                    </a:solidFill>
                  </a:tcPr>
                </a:tc>
                <a:extLst>
                  <a:ext uri="{0D108BD9-81ED-4DB2-BD59-A6C34878D82A}">
                    <a16:rowId xmlns:a16="http://schemas.microsoft.com/office/drawing/2014/main" val="1248723442"/>
                  </a:ext>
                </a:extLst>
              </a:tr>
            </a:tbl>
          </a:graphicData>
        </a:graphic>
      </p:graphicFrame>
      <p:sp>
        <p:nvSpPr>
          <p:cNvPr id="18" name="CuadroTexto 17">
            <a:extLst>
              <a:ext uri="{FF2B5EF4-FFF2-40B4-BE49-F238E27FC236}">
                <a16:creationId xmlns:a16="http://schemas.microsoft.com/office/drawing/2014/main" id="{9163366D-6603-4BF7-8261-BE33F70A8A69}"/>
              </a:ext>
            </a:extLst>
          </p:cNvPr>
          <p:cNvSpPr txBox="1"/>
          <p:nvPr/>
        </p:nvSpPr>
        <p:spPr>
          <a:xfrm>
            <a:off x="3213100" y="4191000"/>
            <a:ext cx="2730500" cy="736600"/>
          </a:xfrm>
          <a:prstGeom prst="rect">
            <a:avLst/>
          </a:prstGeom>
          <a:noFill/>
        </p:spPr>
        <p:txBody>
          <a:bodyPr vertOverflow="overflow" vert="horz" wrap="square" rtlCol="0" anchor="t">
            <a:noAutofit/>
          </a:bodyPr>
          <a:lstStyle/>
          <a:p>
            <a:pPr algn="l"/>
            <a:r>
              <a:rPr lang="es-ES" sz="1000">
                <a:solidFill>
                  <a:srgbClr val="64748B"/>
                </a:solidFill>
                <a:latin typeface="Calibri"/>
                <a:ea typeface="Calibri"/>
                <a:cs typeface="Calibri"/>
              </a:rPr>
              <a:t>El umbral P = 0.5 separa las dos clases. Con 4 horas estás justo en el límite.</a:t>
            </a:r>
            <a:endParaRPr lang="es-CO" sz="1000">
              <a:solidFill>
                <a:srgbClr val="64748B"/>
              </a:solidFill>
              <a:latin typeface="Calibri"/>
              <a:ea typeface="Calibri"/>
              <a:cs typeface="Calibri"/>
            </a:endParaRPr>
          </a:p>
        </p:txBody>
      </p:sp>
      <p:graphicFrame>
        <p:nvGraphicFramePr>
          <p:cNvPr id="101" name="Chart Sigmoid"/>
          <p:cNvGraphicFramePr/>
          <p:nvPr/>
        </p:nvGraphicFramePr>
        <p:xfrm>
          <a:off x="6083300" y="863600"/>
          <a:ext cx="2857500" cy="4089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28943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B508BC8-DFE9-4734-A1F7-904F2A1D56C2}"/>
              </a:ext>
            </a:extLst>
          </p:cNvPr>
          <p:cNvSpPr/>
          <p:nvPr/>
        </p:nvSpPr>
        <p:spPr>
          <a:xfrm>
            <a:off x="0" y="0"/>
            <a:ext cx="9144000" cy="762000"/>
          </a:xfrm>
          <a:prstGeom prst="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20B60721-626F-4BD9-A8A8-C6969F935E93}"/>
              </a:ext>
            </a:extLst>
          </p:cNvPr>
          <p:cNvSpPr txBox="1"/>
          <p:nvPr/>
        </p:nvSpPr>
        <p:spPr>
          <a:xfrm>
            <a:off x="368300" y="101600"/>
            <a:ext cx="8407400" cy="558800"/>
          </a:xfrm>
          <a:prstGeom prst="rect">
            <a:avLst/>
          </a:prstGeom>
          <a:noFill/>
        </p:spPr>
        <p:txBody>
          <a:bodyPr vertOverflow="overflow" vert="horz" wrap="square" rtlCol="0" anchor="ctr" anchorCtr="0">
            <a:spAutoFit/>
          </a:bodyPr>
          <a:lstStyle/>
          <a:p>
            <a:pPr algn="l"/>
            <a:r>
              <a:rPr lang="es-ES" sz="2000" b="1">
                <a:solidFill>
                  <a:srgbClr val="FFFFFF"/>
                </a:solidFill>
                <a:latin typeface="Calibri"/>
                <a:ea typeface="Calibri"/>
                <a:cs typeface="Calibri"/>
              </a:rPr>
              <a:t>REGRESIÓN LOGARÍTMICA — ¿Qué es y para qué sirve?</a:t>
            </a:r>
            <a:endParaRPr lang="es-CO" sz="2000" b="1">
              <a:solidFill>
                <a:srgbClr val="FFFFFF"/>
              </a:solidFill>
              <a:latin typeface="Calibri"/>
              <a:ea typeface="Calibri"/>
              <a:cs typeface="Calibri"/>
            </a:endParaRPr>
          </a:p>
        </p:txBody>
      </p:sp>
      <p:sp>
        <p:nvSpPr>
          <p:cNvPr id="4" name="Rectángulo: esquinas redondeadas 3">
            <a:extLst>
              <a:ext uri="{FF2B5EF4-FFF2-40B4-BE49-F238E27FC236}">
                <a16:creationId xmlns:a16="http://schemas.microsoft.com/office/drawing/2014/main" id="{0858DFFF-2810-4D1A-A426-DEE401F4314C}"/>
              </a:ext>
            </a:extLst>
          </p:cNvPr>
          <p:cNvSpPr/>
          <p:nvPr/>
        </p:nvSpPr>
        <p:spPr>
          <a:xfrm>
            <a:off x="228600" y="863600"/>
            <a:ext cx="8686800" cy="787400"/>
          </a:xfrm>
          <a:prstGeom prst="roundRect">
            <a:avLst/>
          </a:prstGeom>
          <a:solidFill>
            <a:srgbClr val="FFF8E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EFEB94EB-134D-44EB-8BF8-50E7377AFFCD}"/>
              </a:ext>
            </a:extLst>
          </p:cNvPr>
          <p:cNvSpPr txBox="1"/>
          <p:nvPr/>
        </p:nvSpPr>
        <p:spPr>
          <a:xfrm>
            <a:off x="317500" y="914400"/>
            <a:ext cx="381000" cy="355600"/>
          </a:xfrm>
          <a:prstGeom prst="rect">
            <a:avLst/>
          </a:prstGeom>
          <a:noFill/>
        </p:spPr>
        <p:txBody>
          <a:bodyPr vertOverflow="overflow" vert="horz" wrap="square" rtlCol="0" anchor="t">
            <a:spAutoFit/>
          </a:bodyPr>
          <a:lstStyle/>
          <a:p>
            <a:pPr algn="l"/>
            <a:r>
              <a:rPr lang="es-CO" sz="1600"/>
              <a:t>💡</a:t>
            </a:r>
          </a:p>
        </p:txBody>
      </p:sp>
      <p:sp>
        <p:nvSpPr>
          <p:cNvPr id="6" name="CuadroTexto 5">
            <a:extLst>
              <a:ext uri="{FF2B5EF4-FFF2-40B4-BE49-F238E27FC236}">
                <a16:creationId xmlns:a16="http://schemas.microsoft.com/office/drawing/2014/main" id="{CB2D3FA2-9816-46DB-919D-45710BE5D386}"/>
              </a:ext>
            </a:extLst>
          </p:cNvPr>
          <p:cNvSpPr txBox="1"/>
          <p:nvPr/>
        </p:nvSpPr>
        <p:spPr>
          <a:xfrm>
            <a:off x="736600" y="914400"/>
            <a:ext cx="8077200" cy="660400"/>
          </a:xfrm>
          <a:prstGeom prst="rect">
            <a:avLst/>
          </a:prstGeom>
          <a:noFill/>
        </p:spPr>
        <p:txBody>
          <a:bodyPr vertOverflow="overflow" vert="horz" wrap="square" rtlCol="0" anchor="t">
            <a:noAutofit/>
          </a:bodyPr>
          <a:lstStyle/>
          <a:p>
            <a:pPr algn="l"/>
            <a:r>
              <a:rPr lang="es-ES" sz="1100">
                <a:solidFill>
                  <a:srgbClr val="1E293B"/>
                </a:solidFill>
                <a:latin typeface="Calibri"/>
                <a:ea typeface="Calibri"/>
                <a:cs typeface="Calibri"/>
              </a:rPr>
              <a:t>¿Has notado que cuando una planta crece, al principio lo hace rápido pero luego cada vez más lento? Eso no es una línea recta — es una curva logarítmica. La regresión logarítmica modela exactamente ese tipo de crecimiento que se desacelera.</a:t>
            </a:r>
            <a:endParaRPr lang="es-CO" sz="1100">
              <a:solidFill>
                <a:srgbClr val="1E293B"/>
              </a:solidFill>
              <a:latin typeface="Calibri"/>
              <a:ea typeface="Calibri"/>
              <a:cs typeface="Calibri"/>
            </a:endParaRPr>
          </a:p>
        </p:txBody>
      </p:sp>
      <p:sp>
        <p:nvSpPr>
          <p:cNvPr id="7" name="Rectángulo: esquinas redondeadas 6">
            <a:extLst>
              <a:ext uri="{FF2B5EF4-FFF2-40B4-BE49-F238E27FC236}">
                <a16:creationId xmlns:a16="http://schemas.microsoft.com/office/drawing/2014/main" id="{AFC289BC-0881-4FAE-B4CC-56CCE615B40E}"/>
              </a:ext>
            </a:extLst>
          </p:cNvPr>
          <p:cNvSpPr/>
          <p:nvPr/>
        </p:nvSpPr>
        <p:spPr>
          <a:xfrm>
            <a:off x="228600" y="1778000"/>
            <a:ext cx="4318000" cy="15240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Rectángulo: esquinas redondeadas 7">
            <a:extLst>
              <a:ext uri="{FF2B5EF4-FFF2-40B4-BE49-F238E27FC236}">
                <a16:creationId xmlns:a16="http://schemas.microsoft.com/office/drawing/2014/main" id="{C420A0FA-24FD-4AC1-A692-E54CFCAC730F}"/>
              </a:ext>
            </a:extLst>
          </p:cNvPr>
          <p:cNvSpPr/>
          <p:nvPr/>
        </p:nvSpPr>
        <p:spPr>
          <a:xfrm>
            <a:off x="228600" y="1778000"/>
            <a:ext cx="4318000" cy="355600"/>
          </a:xfrm>
          <a:prstGeom prst="round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9" name="CuadroTexto 8">
            <a:extLst>
              <a:ext uri="{FF2B5EF4-FFF2-40B4-BE49-F238E27FC236}">
                <a16:creationId xmlns:a16="http://schemas.microsoft.com/office/drawing/2014/main" id="{00A60E69-478E-410C-961C-28BDC9DF6199}"/>
              </a:ext>
            </a:extLst>
          </p:cNvPr>
          <p:cNvSpPr txBox="1"/>
          <p:nvPr/>
        </p:nvSpPr>
        <p:spPr>
          <a:xfrm>
            <a:off x="317500" y="1790700"/>
            <a:ext cx="4140200" cy="330200"/>
          </a:xfrm>
          <a:prstGeom prst="rect">
            <a:avLst/>
          </a:prstGeom>
          <a:noFill/>
        </p:spPr>
        <p:txBody>
          <a:bodyPr vertOverflow="overflow" vert="horz" wrap="square" rtlCol="0" anchor="ctr" anchorCtr="0">
            <a:spAutoFit/>
          </a:bodyPr>
          <a:lstStyle/>
          <a:p>
            <a:pPr algn="l"/>
            <a:r>
              <a:rPr lang="es-CO" sz="1300" b="1">
                <a:solidFill>
                  <a:srgbClr val="FFFFFF"/>
                </a:solidFill>
                <a:latin typeface="Calibri"/>
                <a:ea typeface="Calibri"/>
                <a:cs typeface="Calibri"/>
              </a:rPr>
              <a:t>¿Qué es?</a:t>
            </a:r>
          </a:p>
        </p:txBody>
      </p:sp>
      <p:sp>
        <p:nvSpPr>
          <p:cNvPr id="10" name="CuadroTexto 9">
            <a:extLst>
              <a:ext uri="{FF2B5EF4-FFF2-40B4-BE49-F238E27FC236}">
                <a16:creationId xmlns:a16="http://schemas.microsoft.com/office/drawing/2014/main" id="{4F9DED41-E1A4-42A1-84D7-A5B1A4E7F3D2}"/>
              </a:ext>
            </a:extLst>
          </p:cNvPr>
          <p:cNvSpPr txBox="1"/>
          <p:nvPr/>
        </p:nvSpPr>
        <p:spPr>
          <a:xfrm>
            <a:off x="317500" y="2184400"/>
            <a:ext cx="4140200" cy="10414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Es un modelo de regresión donde la relación entre X e Y NO es una línea recta, sino una curva que crece rápido al inicio y luego se aplana.
Usa la función logaritmo natural (ln) para transformar la variable X y convertir la curva en algo que podemos analizar como si fuera lineal.</a:t>
            </a:r>
            <a:endParaRPr lang="es-CO" sz="1000">
              <a:solidFill>
                <a:srgbClr val="1E293B"/>
              </a:solidFill>
              <a:latin typeface="Calibri"/>
              <a:ea typeface="Calibri"/>
              <a:cs typeface="Calibri"/>
            </a:endParaRPr>
          </a:p>
        </p:txBody>
      </p:sp>
      <p:sp>
        <p:nvSpPr>
          <p:cNvPr id="11" name="Rectángulo: esquinas redondeadas 10">
            <a:extLst>
              <a:ext uri="{FF2B5EF4-FFF2-40B4-BE49-F238E27FC236}">
                <a16:creationId xmlns:a16="http://schemas.microsoft.com/office/drawing/2014/main" id="{40176755-A97D-41EA-8137-95E224F07DBC}"/>
              </a:ext>
            </a:extLst>
          </p:cNvPr>
          <p:cNvSpPr/>
          <p:nvPr/>
        </p:nvSpPr>
        <p:spPr>
          <a:xfrm>
            <a:off x="4673600" y="1778000"/>
            <a:ext cx="4241800" cy="15240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2" name="Rectángulo: esquinas redondeadas 11">
            <a:extLst>
              <a:ext uri="{FF2B5EF4-FFF2-40B4-BE49-F238E27FC236}">
                <a16:creationId xmlns:a16="http://schemas.microsoft.com/office/drawing/2014/main" id="{7BC41955-4072-4531-A418-7703487E34E1}"/>
              </a:ext>
            </a:extLst>
          </p:cNvPr>
          <p:cNvSpPr/>
          <p:nvPr/>
        </p:nvSpPr>
        <p:spPr>
          <a:xfrm>
            <a:off x="4673600" y="1778000"/>
            <a:ext cx="4241800" cy="355600"/>
          </a:xfrm>
          <a:prstGeom prst="roundRect">
            <a:avLst/>
          </a:prstGeom>
          <a:solidFill>
            <a:srgbClr val="8E44A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3" name="CuadroTexto 12">
            <a:extLst>
              <a:ext uri="{FF2B5EF4-FFF2-40B4-BE49-F238E27FC236}">
                <a16:creationId xmlns:a16="http://schemas.microsoft.com/office/drawing/2014/main" id="{58B4E126-D484-45E0-963C-1A1A3326562F}"/>
              </a:ext>
            </a:extLst>
          </p:cNvPr>
          <p:cNvSpPr txBox="1"/>
          <p:nvPr/>
        </p:nvSpPr>
        <p:spPr>
          <a:xfrm>
            <a:off x="4762500" y="1790700"/>
            <a:ext cx="4064000" cy="330200"/>
          </a:xfrm>
          <a:prstGeom prst="rect">
            <a:avLst/>
          </a:prstGeom>
          <a:noFill/>
        </p:spPr>
        <p:txBody>
          <a:bodyPr vertOverflow="overflow" vert="horz" wrap="square" rtlCol="0" anchor="ctr" anchorCtr="0">
            <a:spAutoFit/>
          </a:bodyPr>
          <a:lstStyle/>
          <a:p>
            <a:pPr algn="l"/>
            <a:r>
              <a:rPr lang="es-CO" sz="1300" b="1">
                <a:solidFill>
                  <a:srgbClr val="FFFFFF"/>
                </a:solidFill>
                <a:latin typeface="Calibri"/>
                <a:ea typeface="Calibri"/>
                <a:cs typeface="Calibri"/>
              </a:rPr>
              <a:t>Lineal vs Logarítmica</a:t>
            </a:r>
          </a:p>
        </p:txBody>
      </p:sp>
      <p:sp>
        <p:nvSpPr>
          <p:cNvPr id="14" name="CuadroTexto 13">
            <a:extLst>
              <a:ext uri="{FF2B5EF4-FFF2-40B4-BE49-F238E27FC236}">
                <a16:creationId xmlns:a16="http://schemas.microsoft.com/office/drawing/2014/main" id="{81DE7F08-BD85-4717-B675-5B24C3E5ED6D}"/>
              </a:ext>
            </a:extLst>
          </p:cNvPr>
          <p:cNvSpPr txBox="1"/>
          <p:nvPr/>
        </p:nvSpPr>
        <p:spPr>
          <a:xfrm>
            <a:off x="4762500" y="2184400"/>
            <a:ext cx="4064000" cy="10414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Lineal:  y = mx + b
  → Los datos siguen una línea recta
  → Crecimiento constante
Logarítmica:  y = a + b·ln(x)
  → Los datos forman una curva
  → Crecimiento que se desacelera</a:t>
            </a:r>
            <a:endParaRPr lang="es-CO" sz="1000">
              <a:solidFill>
                <a:srgbClr val="1E293B"/>
              </a:solidFill>
              <a:latin typeface="Calibri"/>
              <a:ea typeface="Calibri"/>
              <a:cs typeface="Calibri"/>
            </a:endParaRPr>
          </a:p>
        </p:txBody>
      </p:sp>
      <p:sp>
        <p:nvSpPr>
          <p:cNvPr id="15" name="Rectángulo: esquinas redondeadas 14">
            <a:extLst>
              <a:ext uri="{FF2B5EF4-FFF2-40B4-BE49-F238E27FC236}">
                <a16:creationId xmlns:a16="http://schemas.microsoft.com/office/drawing/2014/main" id="{0E236CAC-05CA-4ECF-B8FF-CDE51D3D0438}"/>
              </a:ext>
            </a:extLst>
          </p:cNvPr>
          <p:cNvSpPr/>
          <p:nvPr/>
        </p:nvSpPr>
        <p:spPr>
          <a:xfrm>
            <a:off x="228600" y="3429000"/>
            <a:ext cx="8686800" cy="1549400"/>
          </a:xfrm>
          <a:prstGeom prst="roundRect">
            <a:avLst/>
          </a:prstGeom>
          <a:solidFill>
            <a:srgbClr val="F0F9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6" name="CuadroTexto 15">
            <a:extLst>
              <a:ext uri="{FF2B5EF4-FFF2-40B4-BE49-F238E27FC236}">
                <a16:creationId xmlns:a16="http://schemas.microsoft.com/office/drawing/2014/main" id="{5B401718-AD81-4656-AC1F-C735C0E35AC4}"/>
              </a:ext>
            </a:extLst>
          </p:cNvPr>
          <p:cNvSpPr txBox="1"/>
          <p:nvPr/>
        </p:nvSpPr>
        <p:spPr>
          <a:xfrm>
            <a:off x="317500" y="3479800"/>
            <a:ext cx="8509000" cy="254000"/>
          </a:xfrm>
          <a:prstGeom prst="rect">
            <a:avLst/>
          </a:prstGeom>
          <a:noFill/>
        </p:spPr>
        <p:txBody>
          <a:bodyPr vertOverflow="overflow" vert="horz" wrap="square" rtlCol="0" anchor="t">
            <a:spAutoFit/>
          </a:bodyPr>
          <a:lstStyle/>
          <a:p>
            <a:pPr algn="l"/>
            <a:r>
              <a:rPr lang="es-ES" sz="1200" b="1">
                <a:solidFill>
                  <a:srgbClr val="0D7377"/>
                </a:solidFill>
                <a:latin typeface="Calibri"/>
                <a:ea typeface="Calibri"/>
                <a:cs typeface="Calibri"/>
              </a:rPr>
              <a:t>Ejemplos cotidianos de comportamiento logarítmico</a:t>
            </a:r>
            <a:endParaRPr lang="es-CO" sz="1200" b="1">
              <a:solidFill>
                <a:srgbClr val="0D7377"/>
              </a:solidFill>
              <a:latin typeface="Calibri"/>
              <a:ea typeface="Calibri"/>
              <a:cs typeface="Calibri"/>
            </a:endParaRPr>
          </a:p>
        </p:txBody>
      </p:sp>
      <p:sp>
        <p:nvSpPr>
          <p:cNvPr id="17" name="CuadroTexto 16">
            <a:extLst>
              <a:ext uri="{FF2B5EF4-FFF2-40B4-BE49-F238E27FC236}">
                <a16:creationId xmlns:a16="http://schemas.microsoft.com/office/drawing/2014/main" id="{57D6C8D1-11F8-4887-BF2D-94941096208C}"/>
              </a:ext>
            </a:extLst>
          </p:cNvPr>
          <p:cNvSpPr txBox="1"/>
          <p:nvPr/>
        </p:nvSpPr>
        <p:spPr>
          <a:xfrm>
            <a:off x="317500" y="3784600"/>
            <a:ext cx="2730500" cy="10795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 Aprendizaje
Al principio aprendes mucho, pero cada hora extra de estudio aporta menos que la anterior.</a:t>
            </a:r>
            <a:endParaRPr lang="es-CO" sz="1000">
              <a:solidFill>
                <a:srgbClr val="1E293B"/>
              </a:solidFill>
              <a:latin typeface="Calibri"/>
              <a:ea typeface="Calibri"/>
              <a:cs typeface="Calibri"/>
            </a:endParaRPr>
          </a:p>
        </p:txBody>
      </p:sp>
      <p:sp>
        <p:nvSpPr>
          <p:cNvPr id="18" name="CuadroTexto 17">
            <a:extLst>
              <a:ext uri="{FF2B5EF4-FFF2-40B4-BE49-F238E27FC236}">
                <a16:creationId xmlns:a16="http://schemas.microsoft.com/office/drawing/2014/main" id="{B4D9FDDF-FF79-4E3C-BC66-4E49CA750FD5}"/>
              </a:ext>
            </a:extLst>
          </p:cNvPr>
          <p:cNvSpPr txBox="1"/>
          <p:nvPr/>
        </p:nvSpPr>
        <p:spPr>
          <a:xfrm>
            <a:off x="3200400" y="3784600"/>
            <a:ext cx="2730500" cy="10795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 Satisfacción y dinero
Ganar más dinero te hace más feliz... pero cada aumento adicional importa menos.</a:t>
            </a:r>
            <a:endParaRPr lang="es-CO" sz="1000">
              <a:solidFill>
                <a:srgbClr val="1E293B"/>
              </a:solidFill>
              <a:latin typeface="Calibri"/>
              <a:ea typeface="Calibri"/>
              <a:cs typeface="Calibri"/>
            </a:endParaRPr>
          </a:p>
        </p:txBody>
      </p:sp>
      <p:sp>
        <p:nvSpPr>
          <p:cNvPr id="19" name="CuadroTexto 18">
            <a:extLst>
              <a:ext uri="{FF2B5EF4-FFF2-40B4-BE49-F238E27FC236}">
                <a16:creationId xmlns:a16="http://schemas.microsoft.com/office/drawing/2014/main" id="{FE3ADA3B-B4CF-4347-9FBE-FD349A8B20B1}"/>
              </a:ext>
            </a:extLst>
          </p:cNvPr>
          <p:cNvSpPr txBox="1"/>
          <p:nvPr/>
        </p:nvSpPr>
        <p:spPr>
          <a:xfrm>
            <a:off x="6083300" y="3784600"/>
            <a:ext cx="2730500" cy="10795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 Rendimiento físico
Los primeros meses de ejercicio dan resultados rápidos; después, mejorar cuesta más.</a:t>
            </a:r>
            <a:endParaRPr lang="es-CO" sz="1000">
              <a:solidFill>
                <a:srgbClr val="1E293B"/>
              </a:solidFill>
              <a:latin typeface="Calibri"/>
              <a:ea typeface="Calibri"/>
              <a:cs typeface="Calibri"/>
            </a:endParaRPr>
          </a:p>
        </p:txBody>
      </p:sp>
    </p:spTree>
    <p:extLst>
      <p:ext uri="{BB962C8B-B14F-4D97-AF65-F5344CB8AC3E}">
        <p14:creationId xmlns:p14="http://schemas.microsoft.com/office/powerpoint/2010/main" val="2637291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AF5AFA2-7A1E-4847-8C4B-08C1630AFDA7}"/>
              </a:ext>
            </a:extLst>
          </p:cNvPr>
          <p:cNvSpPr/>
          <p:nvPr/>
        </p:nvSpPr>
        <p:spPr>
          <a:xfrm>
            <a:off x="0" y="0"/>
            <a:ext cx="9144000" cy="762000"/>
          </a:xfrm>
          <a:prstGeom prst="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FF426D0D-A7E4-4F16-BD19-38CFCDFDAA4C}"/>
              </a:ext>
            </a:extLst>
          </p:cNvPr>
          <p:cNvSpPr txBox="1"/>
          <p:nvPr/>
        </p:nvSpPr>
        <p:spPr>
          <a:xfrm>
            <a:off x="368300" y="101600"/>
            <a:ext cx="8407400" cy="558800"/>
          </a:xfrm>
          <a:prstGeom prst="rect">
            <a:avLst/>
          </a:prstGeom>
          <a:noFill/>
        </p:spPr>
        <p:txBody>
          <a:bodyPr vertOverflow="overflow" vert="horz" wrap="square" rtlCol="0" anchor="ctr" anchorCtr="0">
            <a:spAutoFit/>
          </a:bodyPr>
          <a:lstStyle/>
          <a:p>
            <a:pPr algn="l"/>
            <a:r>
              <a:rPr lang="es-ES" sz="2000" b="1">
                <a:solidFill>
                  <a:srgbClr val="FFFFFF"/>
                </a:solidFill>
                <a:latin typeface="Calibri"/>
                <a:ea typeface="Calibri"/>
                <a:cs typeface="Calibri"/>
              </a:rPr>
              <a:t>REGRESIÓN LOGARÍTMICA — Fórmula y Ejemplo Práctico</a:t>
            </a:r>
            <a:endParaRPr lang="es-CO" sz="2000" b="1">
              <a:solidFill>
                <a:srgbClr val="FFFFFF"/>
              </a:solidFill>
              <a:latin typeface="Calibri"/>
              <a:ea typeface="Calibri"/>
              <a:cs typeface="Calibri"/>
            </a:endParaRPr>
          </a:p>
        </p:txBody>
      </p:sp>
      <p:sp>
        <p:nvSpPr>
          <p:cNvPr id="4" name="Rectángulo: esquinas redondeadas 3">
            <a:extLst>
              <a:ext uri="{FF2B5EF4-FFF2-40B4-BE49-F238E27FC236}">
                <a16:creationId xmlns:a16="http://schemas.microsoft.com/office/drawing/2014/main" id="{CCB89C67-A6F6-4279-945A-D02A1D8755A1}"/>
              </a:ext>
            </a:extLst>
          </p:cNvPr>
          <p:cNvSpPr/>
          <p:nvPr/>
        </p:nvSpPr>
        <p:spPr>
          <a:xfrm>
            <a:off x="228600" y="863600"/>
            <a:ext cx="2857500" cy="1206500"/>
          </a:xfrm>
          <a:prstGeom prst="roundRect">
            <a:avLst/>
          </a:prstGeom>
          <a:solidFill>
            <a:srgbClr val="F0F9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esquinas redondeadas 4">
            <a:extLst>
              <a:ext uri="{FF2B5EF4-FFF2-40B4-BE49-F238E27FC236}">
                <a16:creationId xmlns:a16="http://schemas.microsoft.com/office/drawing/2014/main" id="{2886AF71-C84A-43B3-B2EA-6D4E320DF7B7}"/>
              </a:ext>
            </a:extLst>
          </p:cNvPr>
          <p:cNvSpPr/>
          <p:nvPr/>
        </p:nvSpPr>
        <p:spPr>
          <a:xfrm>
            <a:off x="228600" y="863600"/>
            <a:ext cx="2857500" cy="330200"/>
          </a:xfrm>
          <a:prstGeom prst="roundRect">
            <a:avLst/>
          </a:prstGeom>
          <a:solidFill>
            <a:srgbClr val="3776A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76B630E1-D43A-4712-982A-3039DA33C5A2}"/>
              </a:ext>
            </a:extLst>
          </p:cNvPr>
          <p:cNvSpPr txBox="1"/>
          <p:nvPr/>
        </p:nvSpPr>
        <p:spPr>
          <a:xfrm>
            <a:off x="317500" y="876300"/>
            <a:ext cx="2667000" cy="304800"/>
          </a:xfrm>
          <a:prstGeom prst="rect">
            <a:avLst/>
          </a:prstGeom>
          <a:noFill/>
        </p:spPr>
        <p:txBody>
          <a:bodyPr vertOverflow="overflow" vert="horz" wrap="square" rtlCol="0" anchor="ctr" anchorCtr="0">
            <a:spAutoFit/>
          </a:bodyPr>
          <a:lstStyle/>
          <a:p>
            <a:pPr algn="l"/>
            <a:r>
              <a:rPr lang="es-CO" sz="1200" b="1">
                <a:solidFill>
                  <a:srgbClr val="FFFFFF"/>
                </a:solidFill>
                <a:latin typeface="Calibri"/>
                <a:ea typeface="Calibri"/>
                <a:cs typeface="Calibri"/>
              </a:rPr>
              <a:t>Fórmula general</a:t>
            </a:r>
          </a:p>
        </p:txBody>
      </p:sp>
      <p:sp>
        <p:nvSpPr>
          <p:cNvPr id="7" name="CuadroTexto 6">
            <a:extLst>
              <a:ext uri="{FF2B5EF4-FFF2-40B4-BE49-F238E27FC236}">
                <a16:creationId xmlns:a16="http://schemas.microsoft.com/office/drawing/2014/main" id="{884A253C-A962-4E56-A146-F714ECC9D9CE}"/>
              </a:ext>
            </a:extLst>
          </p:cNvPr>
          <p:cNvSpPr txBox="1"/>
          <p:nvPr/>
        </p:nvSpPr>
        <p:spPr>
          <a:xfrm>
            <a:off x="228600" y="1219200"/>
            <a:ext cx="2857500" cy="406400"/>
          </a:xfrm>
          <a:prstGeom prst="rect">
            <a:avLst/>
          </a:prstGeom>
          <a:noFill/>
        </p:spPr>
        <p:txBody>
          <a:bodyPr vertOverflow="overflow" vert="horz" wrap="square" rtlCol="0" anchor="ctr" anchorCtr="0">
            <a:spAutoFit/>
          </a:bodyPr>
          <a:lstStyle/>
          <a:p>
            <a:pPr algn="l"/>
            <a:r>
              <a:rPr lang="es-ES" sz="2200" b="1">
                <a:solidFill>
                  <a:srgbClr val="0D7377"/>
                </a:solidFill>
                <a:latin typeface="Calibri"/>
                <a:ea typeface="Calibri"/>
                <a:cs typeface="Calibri"/>
              </a:rPr>
              <a:t>y = a + b · ln(x)</a:t>
            </a:r>
            <a:endParaRPr lang="es-CO" sz="2200" b="1">
              <a:solidFill>
                <a:srgbClr val="0D7377"/>
              </a:solidFill>
              <a:latin typeface="Calibri"/>
              <a:ea typeface="Calibri"/>
              <a:cs typeface="Calibri"/>
            </a:endParaRPr>
          </a:p>
        </p:txBody>
      </p:sp>
      <p:sp>
        <p:nvSpPr>
          <p:cNvPr id="8" name="CuadroTexto 7">
            <a:extLst>
              <a:ext uri="{FF2B5EF4-FFF2-40B4-BE49-F238E27FC236}">
                <a16:creationId xmlns:a16="http://schemas.microsoft.com/office/drawing/2014/main" id="{C725637F-82F0-4349-90D5-431BED8C0447}"/>
              </a:ext>
            </a:extLst>
          </p:cNvPr>
          <p:cNvSpPr txBox="1"/>
          <p:nvPr/>
        </p:nvSpPr>
        <p:spPr>
          <a:xfrm>
            <a:off x="317500" y="1651000"/>
            <a:ext cx="2667000" cy="355600"/>
          </a:xfrm>
          <a:prstGeom prst="rect">
            <a:avLst/>
          </a:prstGeom>
          <a:noFill/>
        </p:spPr>
        <p:txBody>
          <a:bodyPr vertOverflow="overflow" vert="horz" wrap="square" rtlCol="0" anchor="t">
            <a:noAutofit/>
          </a:bodyPr>
          <a:lstStyle/>
          <a:p>
            <a:pPr algn="l"/>
            <a:r>
              <a:rPr lang="es-CO" sz="900">
                <a:solidFill>
                  <a:srgbClr val="64748B"/>
                </a:solidFill>
                <a:latin typeface="Calibri"/>
                <a:ea typeface="Calibri"/>
                <a:cs typeface="Calibri"/>
              </a:rPr>
              <a:t>a = intercepto    b = pendiente    ln = logaritmo natural</a:t>
            </a:r>
          </a:p>
        </p:txBody>
      </p:sp>
      <p:sp>
        <p:nvSpPr>
          <p:cNvPr id="9" name="Rectángulo: esquinas redondeadas 8">
            <a:extLst>
              <a:ext uri="{FF2B5EF4-FFF2-40B4-BE49-F238E27FC236}">
                <a16:creationId xmlns:a16="http://schemas.microsoft.com/office/drawing/2014/main" id="{4536E93A-58CF-424F-AC69-6FC68CA88E50}"/>
              </a:ext>
            </a:extLst>
          </p:cNvPr>
          <p:cNvSpPr/>
          <p:nvPr/>
        </p:nvSpPr>
        <p:spPr>
          <a:xfrm>
            <a:off x="228600" y="2184400"/>
            <a:ext cx="2857500" cy="12700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0" name="Rectángulo: esquinas redondeadas 9">
            <a:extLst>
              <a:ext uri="{FF2B5EF4-FFF2-40B4-BE49-F238E27FC236}">
                <a16:creationId xmlns:a16="http://schemas.microsoft.com/office/drawing/2014/main" id="{9BEFE0A8-7787-480D-9D21-39722BA609C0}"/>
              </a:ext>
            </a:extLst>
          </p:cNvPr>
          <p:cNvSpPr/>
          <p:nvPr/>
        </p:nvSpPr>
        <p:spPr>
          <a:xfrm>
            <a:off x="228600" y="2184400"/>
            <a:ext cx="2857500" cy="330200"/>
          </a:xfrm>
          <a:prstGeom prst="roundRect">
            <a:avLst/>
          </a:prstGeom>
          <a:solidFill>
            <a:srgbClr val="E8A83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1" name="CuadroTexto 10">
            <a:extLst>
              <a:ext uri="{FF2B5EF4-FFF2-40B4-BE49-F238E27FC236}">
                <a16:creationId xmlns:a16="http://schemas.microsoft.com/office/drawing/2014/main" id="{8BC9E63B-04CC-4A55-9E62-0EBE15600EDB}"/>
              </a:ext>
            </a:extLst>
          </p:cNvPr>
          <p:cNvSpPr txBox="1"/>
          <p:nvPr/>
        </p:nvSpPr>
        <p:spPr>
          <a:xfrm>
            <a:off x="317500" y="2197100"/>
            <a:ext cx="2667000" cy="304800"/>
          </a:xfrm>
          <a:prstGeom prst="rect">
            <a:avLst/>
          </a:prstGeom>
          <a:noFill/>
        </p:spPr>
        <p:txBody>
          <a:bodyPr vertOverflow="overflow" vert="horz" wrap="square" rtlCol="0" anchor="ctr" anchorCtr="0">
            <a:spAutoFit/>
          </a:bodyPr>
          <a:lstStyle/>
          <a:p>
            <a:pPr algn="l"/>
            <a:r>
              <a:rPr lang="es-CO" sz="1200" b="1">
                <a:solidFill>
                  <a:srgbClr val="FFFFFF"/>
                </a:solidFill>
                <a:latin typeface="Calibri"/>
                <a:ea typeface="Calibri"/>
                <a:cs typeface="Calibri"/>
              </a:rPr>
              <a:t>Ejemplo: Horas de estudio</a:t>
            </a:r>
          </a:p>
        </p:txBody>
      </p:sp>
      <p:sp>
        <p:nvSpPr>
          <p:cNvPr id="12" name="CuadroTexto 11">
            <a:extLst>
              <a:ext uri="{FF2B5EF4-FFF2-40B4-BE49-F238E27FC236}">
                <a16:creationId xmlns:a16="http://schemas.microsoft.com/office/drawing/2014/main" id="{CD958C75-EEB5-4C55-848F-E7F5306B4C3A}"/>
              </a:ext>
            </a:extLst>
          </p:cNvPr>
          <p:cNvSpPr txBox="1"/>
          <p:nvPr/>
        </p:nvSpPr>
        <p:spPr>
          <a:xfrm>
            <a:off x="317500" y="2540000"/>
            <a:ext cx="2667000" cy="8636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Si a = 40, b = 15:
  y = 40 + 15·ln(x)
  1 hora  → y = 40.0
  5 horas → y = 64.1
  20 horas → y = 84.9
  50 horas → y = 98.7</a:t>
            </a:r>
            <a:endParaRPr lang="es-CO" sz="1000">
              <a:solidFill>
                <a:srgbClr val="1E293B"/>
              </a:solidFill>
              <a:latin typeface="Calibri"/>
              <a:ea typeface="Calibri"/>
              <a:cs typeface="Calibri"/>
            </a:endParaRPr>
          </a:p>
        </p:txBody>
      </p:sp>
      <p:sp>
        <p:nvSpPr>
          <p:cNvPr id="13" name="Rectángulo: esquinas redondeadas 12">
            <a:extLst>
              <a:ext uri="{FF2B5EF4-FFF2-40B4-BE49-F238E27FC236}">
                <a16:creationId xmlns:a16="http://schemas.microsoft.com/office/drawing/2014/main" id="{1A7A3D16-FA7F-4FE6-A9C1-FC19A5685F26}"/>
              </a:ext>
            </a:extLst>
          </p:cNvPr>
          <p:cNvSpPr/>
          <p:nvPr/>
        </p:nvSpPr>
        <p:spPr>
          <a:xfrm>
            <a:off x="228600" y="3556000"/>
            <a:ext cx="2857500" cy="1397000"/>
          </a:xfrm>
          <a:prstGeom prst="roundRect">
            <a:avLst/>
          </a:prstGeom>
          <a:solidFill>
            <a:srgbClr val="1E1E2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4" name="CuadroTexto 13">
            <a:extLst>
              <a:ext uri="{FF2B5EF4-FFF2-40B4-BE49-F238E27FC236}">
                <a16:creationId xmlns:a16="http://schemas.microsoft.com/office/drawing/2014/main" id="{D63395A5-6AFD-4BAA-809F-8332BF65DD23}"/>
              </a:ext>
            </a:extLst>
          </p:cNvPr>
          <p:cNvSpPr txBox="1"/>
          <p:nvPr/>
        </p:nvSpPr>
        <p:spPr>
          <a:xfrm>
            <a:off x="279400" y="3606800"/>
            <a:ext cx="2755900" cy="1295400"/>
          </a:xfrm>
          <a:prstGeom prst="rect">
            <a:avLst/>
          </a:prstGeom>
          <a:noFill/>
        </p:spPr>
        <p:txBody>
          <a:bodyPr vertOverflow="overflow" vert="horz" wrap="square" rtlCol="0" anchor="t">
            <a:noAutofit/>
          </a:bodyPr>
          <a:lstStyle/>
          <a:p>
            <a:pPr algn="l"/>
            <a:r>
              <a:rPr lang="es-CO" sz="800">
                <a:solidFill>
                  <a:srgbClr val="FFD43B"/>
                </a:solidFill>
                <a:latin typeface="Consolas"/>
              </a:rPr>
              <a:t>import numpy as np
from scipy.optimize import curve_fit
def log_model(x, a, b):
    return a + b * np.log(x)
popt, _ = curve_fit(log_model, X, Y)
print(f'a={popt[0]:.1f}, b={popt[1]:.1f}')</a:t>
            </a:r>
          </a:p>
        </p:txBody>
      </p:sp>
      <p:sp>
        <p:nvSpPr>
          <p:cNvPr id="15" name="CuadroTexto 14">
            <a:extLst>
              <a:ext uri="{FF2B5EF4-FFF2-40B4-BE49-F238E27FC236}">
                <a16:creationId xmlns:a16="http://schemas.microsoft.com/office/drawing/2014/main" id="{88EFEC0B-25ED-4E9C-954A-B21248FB2EC6}"/>
              </a:ext>
            </a:extLst>
          </p:cNvPr>
          <p:cNvSpPr txBox="1"/>
          <p:nvPr/>
        </p:nvSpPr>
        <p:spPr>
          <a:xfrm>
            <a:off x="3213100" y="863600"/>
            <a:ext cx="2730500" cy="254000"/>
          </a:xfrm>
          <a:prstGeom prst="rect">
            <a:avLst/>
          </a:prstGeom>
          <a:noFill/>
        </p:spPr>
        <p:txBody>
          <a:bodyPr vertOverflow="overflow" vert="horz" wrap="square" rtlCol="0" anchor="t">
            <a:spAutoFit/>
          </a:bodyPr>
          <a:lstStyle/>
          <a:p>
            <a:pPr algn="l"/>
            <a:r>
              <a:rPr lang="es-ES" sz="1100" b="1">
                <a:solidFill>
                  <a:srgbClr val="0D7377"/>
                </a:solidFill>
                <a:latin typeface="Calibri"/>
                <a:ea typeface="Calibri"/>
                <a:cs typeface="Calibri"/>
              </a:rPr>
              <a:t>Tabla de valores: y = 40 + 15·ln(x)</a:t>
            </a:r>
            <a:endParaRPr lang="es-CO" sz="1100" b="1">
              <a:solidFill>
                <a:srgbClr val="0D7377"/>
              </a:solidFill>
              <a:latin typeface="Calibri"/>
              <a:ea typeface="Calibri"/>
              <a:cs typeface="Calibri"/>
            </a:endParaRPr>
          </a:p>
        </p:txBody>
      </p:sp>
      <p:graphicFrame>
        <p:nvGraphicFramePr>
          <p:cNvPr id="17" name="Tabla 16">
            <a:extLst>
              <a:ext uri="{FF2B5EF4-FFF2-40B4-BE49-F238E27FC236}">
                <a16:creationId xmlns:a16="http://schemas.microsoft.com/office/drawing/2014/main" id="{D63C282B-58FC-4E96-9060-2506197DBA33}"/>
              </a:ext>
            </a:extLst>
          </p:cNvPr>
          <p:cNvGraphicFramePr>
            <a:graphicFrameLocks noGrp="1"/>
          </p:cNvGraphicFramePr>
          <p:nvPr/>
        </p:nvGraphicFramePr>
        <p:xfrm>
          <a:off x="3213100" y="1168400"/>
          <a:ext cx="2730501" cy="2667000"/>
        </p:xfrm>
        <a:graphic>
          <a:graphicData uri="http://schemas.openxmlformats.org/drawingml/2006/table">
            <a:tbl>
              <a:tblPr/>
              <a:tblGrid>
                <a:gridCol w="910167">
                  <a:extLst>
                    <a:ext uri="{9D8B030D-6E8A-4147-A177-3AD203B41FA5}">
                      <a16:colId xmlns:a16="http://schemas.microsoft.com/office/drawing/2014/main" val="1897951937"/>
                    </a:ext>
                  </a:extLst>
                </a:gridCol>
                <a:gridCol w="910167">
                  <a:extLst>
                    <a:ext uri="{9D8B030D-6E8A-4147-A177-3AD203B41FA5}">
                      <a16:colId xmlns:a16="http://schemas.microsoft.com/office/drawing/2014/main" val="3000293558"/>
                    </a:ext>
                  </a:extLst>
                </a:gridCol>
                <a:gridCol w="910167">
                  <a:extLst>
                    <a:ext uri="{9D8B030D-6E8A-4147-A177-3AD203B41FA5}">
                      <a16:colId xmlns:a16="http://schemas.microsoft.com/office/drawing/2014/main" val="1590261467"/>
                    </a:ext>
                  </a:extLst>
                </a:gridCol>
              </a:tblGrid>
              <a:tr h="333375">
                <a:tc>
                  <a:txBody>
                    <a:bodyPr/>
                    <a:lstStyle/>
                    <a:p>
                      <a:pPr algn="ctr"/>
                      <a:r>
                        <a:rPr lang="es-CO" sz="1000" b="1">
                          <a:solidFill>
                            <a:srgbClr val="FFFFFF"/>
                          </a:solidFill>
                          <a:latin typeface="Calibri"/>
                          <a:ea typeface="Calibri"/>
                          <a:cs typeface="Calibri"/>
                        </a:rPr>
                        <a:t>x (horas)</a:t>
                      </a:r>
                    </a:p>
                  </a:txBody>
                  <a:tcPr marT="39688" marB="39688" anchor="ctr">
                    <a:lnL w="0"/>
                    <a:lnR w="0"/>
                    <a:lnT w="0"/>
                    <a:lnB w="0"/>
                    <a:lnTlToBr w="0"/>
                    <a:lnBlToTr w="0"/>
                    <a:solidFill>
                      <a:srgbClr val="0D7377"/>
                    </a:solidFill>
                  </a:tcPr>
                </a:tc>
                <a:tc>
                  <a:txBody>
                    <a:bodyPr/>
                    <a:lstStyle/>
                    <a:p>
                      <a:pPr algn="ctr"/>
                      <a:r>
                        <a:rPr lang="es-CO" sz="1000" b="1">
                          <a:solidFill>
                            <a:srgbClr val="FFFFFF"/>
                          </a:solidFill>
                          <a:latin typeface="Calibri"/>
                          <a:ea typeface="Calibri"/>
                          <a:cs typeface="Calibri"/>
                        </a:rPr>
                        <a:t>ln(x)</a:t>
                      </a:r>
                    </a:p>
                  </a:txBody>
                  <a:tcPr marT="39688" marB="39688" anchor="ctr">
                    <a:lnL w="0"/>
                    <a:lnR w="0"/>
                    <a:lnT w="0"/>
                    <a:lnB w="0"/>
                    <a:lnTlToBr w="0"/>
                    <a:lnBlToTr w="0"/>
                    <a:solidFill>
                      <a:srgbClr val="0D7377"/>
                    </a:solidFill>
                  </a:tcPr>
                </a:tc>
                <a:tc>
                  <a:txBody>
                    <a:bodyPr/>
                    <a:lstStyle/>
                    <a:p>
                      <a:pPr algn="ctr"/>
                      <a:r>
                        <a:rPr lang="es-CO" sz="1000" b="1">
                          <a:solidFill>
                            <a:srgbClr val="FFFFFF"/>
                          </a:solidFill>
                          <a:latin typeface="Calibri"/>
                          <a:ea typeface="Calibri"/>
                          <a:cs typeface="Calibri"/>
                        </a:rPr>
                        <a:t>y (nota)</a:t>
                      </a:r>
                    </a:p>
                  </a:txBody>
                  <a:tcPr marT="39688" marB="39688" anchor="ctr">
                    <a:lnL w="0"/>
                    <a:lnR w="0"/>
                    <a:lnT w="0"/>
                    <a:lnB w="0"/>
                    <a:lnTlToBr w="0"/>
                    <a:lnBlToTr w="0"/>
                    <a:solidFill>
                      <a:srgbClr val="0D7377"/>
                    </a:solidFill>
                  </a:tcPr>
                </a:tc>
                <a:extLst>
                  <a:ext uri="{0D108BD9-81ED-4DB2-BD59-A6C34878D82A}">
                    <a16:rowId xmlns:a16="http://schemas.microsoft.com/office/drawing/2014/main" val="533159107"/>
                  </a:ext>
                </a:extLst>
              </a:tr>
              <a:tr h="333375">
                <a:tc>
                  <a:txBody>
                    <a:bodyPr/>
                    <a:lstStyle/>
                    <a:p>
                      <a:pPr algn="ctr"/>
                      <a:r>
                        <a:rPr lang="es-CO" sz="1000">
                          <a:solidFill>
                            <a:srgbClr val="1E293B"/>
                          </a:solidFill>
                          <a:latin typeface="Calibri"/>
                          <a:ea typeface="Calibri"/>
                          <a:cs typeface="Calibri"/>
                        </a:rPr>
                        <a:t>1</a:t>
                      </a:r>
                    </a:p>
                  </a:txBody>
                  <a:tcPr marT="39688" marB="39688" anchor="ctr">
                    <a:lnL w="0"/>
                    <a:lnR w="0"/>
                    <a:lnT w="0"/>
                    <a:lnB w="0"/>
                    <a:lnTlToBr w="0"/>
                    <a:lnBlToTr w="0"/>
                  </a:tcPr>
                </a:tc>
                <a:tc>
                  <a:txBody>
                    <a:bodyPr/>
                    <a:lstStyle/>
                    <a:p>
                      <a:pPr algn="ctr"/>
                      <a:r>
                        <a:rPr lang="es-CO" sz="1000">
                          <a:solidFill>
                            <a:srgbClr val="1E293B"/>
                          </a:solidFill>
                          <a:latin typeface="Calibri"/>
                          <a:ea typeface="Calibri"/>
                          <a:cs typeface="Calibri"/>
                        </a:rPr>
                        <a:t>0.00</a:t>
                      </a:r>
                    </a:p>
                  </a:txBody>
                  <a:tcPr marT="39688" marB="39688" anchor="ctr">
                    <a:lnL w="0"/>
                    <a:lnR w="0"/>
                    <a:lnT w="0"/>
                    <a:lnB w="0"/>
                    <a:lnTlToBr w="0"/>
                    <a:lnBlToTr w="0"/>
                  </a:tcPr>
                </a:tc>
                <a:tc>
                  <a:txBody>
                    <a:bodyPr/>
                    <a:lstStyle/>
                    <a:p>
                      <a:pPr algn="ctr"/>
                      <a:r>
                        <a:rPr lang="es-CO" sz="1000">
                          <a:solidFill>
                            <a:srgbClr val="1E293B"/>
                          </a:solidFill>
                          <a:latin typeface="Calibri"/>
                          <a:ea typeface="Calibri"/>
                          <a:cs typeface="Calibri"/>
                        </a:rPr>
                        <a:t>40.0</a:t>
                      </a:r>
                    </a:p>
                  </a:txBody>
                  <a:tcPr marT="39688" marB="39688" anchor="ctr">
                    <a:lnL w="0"/>
                    <a:lnR w="0"/>
                    <a:lnT w="0"/>
                    <a:lnB w="0"/>
                    <a:lnTlToBr w="0"/>
                    <a:lnBlToTr w="0"/>
                  </a:tcPr>
                </a:tc>
                <a:extLst>
                  <a:ext uri="{0D108BD9-81ED-4DB2-BD59-A6C34878D82A}">
                    <a16:rowId xmlns:a16="http://schemas.microsoft.com/office/drawing/2014/main" val="1605612429"/>
                  </a:ext>
                </a:extLst>
              </a:tr>
              <a:tr h="333375">
                <a:tc>
                  <a:txBody>
                    <a:bodyPr/>
                    <a:lstStyle/>
                    <a:p>
                      <a:pPr algn="ctr"/>
                      <a:r>
                        <a:rPr lang="es-CO" sz="1000">
                          <a:solidFill>
                            <a:srgbClr val="1E293B"/>
                          </a:solidFill>
                          <a:latin typeface="Calibri"/>
                          <a:ea typeface="Calibri"/>
                          <a:cs typeface="Calibri"/>
                        </a:rPr>
                        <a:t>2</a:t>
                      </a:r>
                    </a:p>
                  </a:txBody>
                  <a:tcPr marT="39688" marB="39688" anchor="ctr">
                    <a:lnL w="0"/>
                    <a:lnR w="0"/>
                    <a:lnT w="0"/>
                    <a:lnB w="0"/>
                    <a:lnTlToBr w="0"/>
                    <a:lnBlToTr w="0"/>
                    <a:solidFill>
                      <a:srgbClr val="F8FAFC"/>
                    </a:solidFill>
                  </a:tcPr>
                </a:tc>
                <a:tc>
                  <a:txBody>
                    <a:bodyPr/>
                    <a:lstStyle/>
                    <a:p>
                      <a:pPr algn="ctr"/>
                      <a:r>
                        <a:rPr lang="es-CO" sz="1000">
                          <a:solidFill>
                            <a:srgbClr val="1E293B"/>
                          </a:solidFill>
                          <a:latin typeface="Calibri"/>
                          <a:ea typeface="Calibri"/>
                          <a:cs typeface="Calibri"/>
                        </a:rPr>
                        <a:t>0.69</a:t>
                      </a:r>
                    </a:p>
                  </a:txBody>
                  <a:tcPr marT="39688" marB="39688" anchor="ctr">
                    <a:lnL w="0"/>
                    <a:lnR w="0"/>
                    <a:lnT w="0"/>
                    <a:lnB w="0"/>
                    <a:lnTlToBr w="0"/>
                    <a:lnBlToTr w="0"/>
                    <a:solidFill>
                      <a:srgbClr val="F8FAFC"/>
                    </a:solidFill>
                  </a:tcPr>
                </a:tc>
                <a:tc>
                  <a:txBody>
                    <a:bodyPr/>
                    <a:lstStyle/>
                    <a:p>
                      <a:pPr algn="ctr"/>
                      <a:r>
                        <a:rPr lang="es-CO" sz="1000">
                          <a:solidFill>
                            <a:srgbClr val="1E293B"/>
                          </a:solidFill>
                          <a:latin typeface="Calibri"/>
                          <a:ea typeface="Calibri"/>
                          <a:cs typeface="Calibri"/>
                        </a:rPr>
                        <a:t>50.4</a:t>
                      </a:r>
                    </a:p>
                  </a:txBody>
                  <a:tcPr marT="39688" marB="39688" anchor="ctr">
                    <a:lnL w="0"/>
                    <a:lnR w="0"/>
                    <a:lnT w="0"/>
                    <a:lnB w="0"/>
                    <a:lnTlToBr w="0"/>
                    <a:lnBlToTr w="0"/>
                    <a:solidFill>
                      <a:srgbClr val="F8FAFC"/>
                    </a:solidFill>
                  </a:tcPr>
                </a:tc>
                <a:extLst>
                  <a:ext uri="{0D108BD9-81ED-4DB2-BD59-A6C34878D82A}">
                    <a16:rowId xmlns:a16="http://schemas.microsoft.com/office/drawing/2014/main" val="3503161053"/>
                  </a:ext>
                </a:extLst>
              </a:tr>
              <a:tr h="333375">
                <a:tc>
                  <a:txBody>
                    <a:bodyPr/>
                    <a:lstStyle/>
                    <a:p>
                      <a:pPr algn="ctr"/>
                      <a:r>
                        <a:rPr lang="es-CO" sz="1000">
                          <a:solidFill>
                            <a:srgbClr val="1E293B"/>
                          </a:solidFill>
                          <a:latin typeface="Calibri"/>
                          <a:ea typeface="Calibri"/>
                          <a:cs typeface="Calibri"/>
                        </a:rPr>
                        <a:t>5</a:t>
                      </a:r>
                    </a:p>
                  </a:txBody>
                  <a:tcPr marT="39688" marB="39688" anchor="ctr">
                    <a:lnL w="0"/>
                    <a:lnR w="0"/>
                    <a:lnT w="0"/>
                    <a:lnB w="0"/>
                    <a:lnTlToBr w="0"/>
                    <a:lnBlToTr w="0"/>
                  </a:tcPr>
                </a:tc>
                <a:tc>
                  <a:txBody>
                    <a:bodyPr/>
                    <a:lstStyle/>
                    <a:p>
                      <a:pPr algn="ctr"/>
                      <a:r>
                        <a:rPr lang="es-CO" sz="1000">
                          <a:solidFill>
                            <a:srgbClr val="1E293B"/>
                          </a:solidFill>
                          <a:latin typeface="Calibri"/>
                          <a:ea typeface="Calibri"/>
                          <a:cs typeface="Calibri"/>
                        </a:rPr>
                        <a:t>1.61</a:t>
                      </a:r>
                    </a:p>
                  </a:txBody>
                  <a:tcPr marT="39688" marB="39688" anchor="ctr">
                    <a:lnL w="0"/>
                    <a:lnR w="0"/>
                    <a:lnT w="0"/>
                    <a:lnB w="0"/>
                    <a:lnTlToBr w="0"/>
                    <a:lnBlToTr w="0"/>
                  </a:tcPr>
                </a:tc>
                <a:tc>
                  <a:txBody>
                    <a:bodyPr/>
                    <a:lstStyle/>
                    <a:p>
                      <a:pPr algn="ctr"/>
                      <a:r>
                        <a:rPr lang="es-CO" sz="1000">
                          <a:solidFill>
                            <a:srgbClr val="1E293B"/>
                          </a:solidFill>
                          <a:latin typeface="Calibri"/>
                          <a:ea typeface="Calibri"/>
                          <a:cs typeface="Calibri"/>
                        </a:rPr>
                        <a:t>64.1</a:t>
                      </a:r>
                    </a:p>
                  </a:txBody>
                  <a:tcPr marT="39688" marB="39688" anchor="ctr">
                    <a:lnL w="0"/>
                    <a:lnR w="0"/>
                    <a:lnT w="0"/>
                    <a:lnB w="0"/>
                    <a:lnTlToBr w="0"/>
                    <a:lnBlToTr w="0"/>
                  </a:tcPr>
                </a:tc>
                <a:extLst>
                  <a:ext uri="{0D108BD9-81ED-4DB2-BD59-A6C34878D82A}">
                    <a16:rowId xmlns:a16="http://schemas.microsoft.com/office/drawing/2014/main" val="1242446409"/>
                  </a:ext>
                </a:extLst>
              </a:tr>
              <a:tr h="333375">
                <a:tc>
                  <a:txBody>
                    <a:bodyPr/>
                    <a:lstStyle/>
                    <a:p>
                      <a:pPr algn="ctr"/>
                      <a:r>
                        <a:rPr lang="es-CO" sz="1000">
                          <a:solidFill>
                            <a:srgbClr val="1E293B"/>
                          </a:solidFill>
                          <a:latin typeface="Calibri"/>
                          <a:ea typeface="Calibri"/>
                          <a:cs typeface="Calibri"/>
                        </a:rPr>
                        <a:t>10</a:t>
                      </a:r>
                    </a:p>
                  </a:txBody>
                  <a:tcPr marT="39688" marB="39688" anchor="ctr">
                    <a:lnL w="0"/>
                    <a:lnR w="0"/>
                    <a:lnT w="0"/>
                    <a:lnB w="0"/>
                    <a:lnTlToBr w="0"/>
                    <a:lnBlToTr w="0"/>
                    <a:solidFill>
                      <a:srgbClr val="F8FAFC"/>
                    </a:solidFill>
                  </a:tcPr>
                </a:tc>
                <a:tc>
                  <a:txBody>
                    <a:bodyPr/>
                    <a:lstStyle/>
                    <a:p>
                      <a:pPr algn="ctr"/>
                      <a:r>
                        <a:rPr lang="es-CO" sz="1000">
                          <a:solidFill>
                            <a:srgbClr val="1E293B"/>
                          </a:solidFill>
                          <a:latin typeface="Calibri"/>
                          <a:ea typeface="Calibri"/>
                          <a:cs typeface="Calibri"/>
                        </a:rPr>
                        <a:t>2.30</a:t>
                      </a:r>
                    </a:p>
                  </a:txBody>
                  <a:tcPr marT="39688" marB="39688" anchor="ctr">
                    <a:lnL w="0"/>
                    <a:lnR w="0"/>
                    <a:lnT w="0"/>
                    <a:lnB w="0"/>
                    <a:lnTlToBr w="0"/>
                    <a:lnBlToTr w="0"/>
                    <a:solidFill>
                      <a:srgbClr val="F8FAFC"/>
                    </a:solidFill>
                  </a:tcPr>
                </a:tc>
                <a:tc>
                  <a:txBody>
                    <a:bodyPr/>
                    <a:lstStyle/>
                    <a:p>
                      <a:pPr algn="ctr"/>
                      <a:r>
                        <a:rPr lang="es-CO" sz="1000">
                          <a:solidFill>
                            <a:srgbClr val="1E293B"/>
                          </a:solidFill>
                          <a:latin typeface="Calibri"/>
                          <a:ea typeface="Calibri"/>
                          <a:cs typeface="Calibri"/>
                        </a:rPr>
                        <a:t>74.5</a:t>
                      </a:r>
                    </a:p>
                  </a:txBody>
                  <a:tcPr marT="39688" marB="39688" anchor="ctr">
                    <a:lnL w="0"/>
                    <a:lnR w="0"/>
                    <a:lnT w="0"/>
                    <a:lnB w="0"/>
                    <a:lnTlToBr w="0"/>
                    <a:lnBlToTr w="0"/>
                    <a:solidFill>
                      <a:srgbClr val="F8FAFC"/>
                    </a:solidFill>
                  </a:tcPr>
                </a:tc>
                <a:extLst>
                  <a:ext uri="{0D108BD9-81ED-4DB2-BD59-A6C34878D82A}">
                    <a16:rowId xmlns:a16="http://schemas.microsoft.com/office/drawing/2014/main" val="3801545709"/>
                  </a:ext>
                </a:extLst>
              </a:tr>
              <a:tr h="333375">
                <a:tc>
                  <a:txBody>
                    <a:bodyPr/>
                    <a:lstStyle/>
                    <a:p>
                      <a:pPr algn="ctr"/>
                      <a:r>
                        <a:rPr lang="es-CO" sz="1000">
                          <a:solidFill>
                            <a:srgbClr val="1E293B"/>
                          </a:solidFill>
                          <a:latin typeface="Calibri"/>
                          <a:ea typeface="Calibri"/>
                          <a:cs typeface="Calibri"/>
                        </a:rPr>
                        <a:t>20</a:t>
                      </a:r>
                    </a:p>
                  </a:txBody>
                  <a:tcPr marT="39688" marB="39688" anchor="ctr">
                    <a:lnL w="0"/>
                    <a:lnR w="0"/>
                    <a:lnT w="0"/>
                    <a:lnB w="0"/>
                    <a:lnTlToBr w="0"/>
                    <a:lnBlToTr w="0"/>
                  </a:tcPr>
                </a:tc>
                <a:tc>
                  <a:txBody>
                    <a:bodyPr/>
                    <a:lstStyle/>
                    <a:p>
                      <a:pPr algn="ctr"/>
                      <a:r>
                        <a:rPr lang="es-CO" sz="1000">
                          <a:solidFill>
                            <a:srgbClr val="1E293B"/>
                          </a:solidFill>
                          <a:latin typeface="Calibri"/>
                          <a:ea typeface="Calibri"/>
                          <a:cs typeface="Calibri"/>
                        </a:rPr>
                        <a:t>3.00</a:t>
                      </a:r>
                    </a:p>
                  </a:txBody>
                  <a:tcPr marT="39688" marB="39688" anchor="ctr">
                    <a:lnL w="0"/>
                    <a:lnR w="0"/>
                    <a:lnT w="0"/>
                    <a:lnB w="0"/>
                    <a:lnTlToBr w="0"/>
                    <a:lnBlToTr w="0"/>
                  </a:tcPr>
                </a:tc>
                <a:tc>
                  <a:txBody>
                    <a:bodyPr/>
                    <a:lstStyle/>
                    <a:p>
                      <a:pPr algn="ctr"/>
                      <a:r>
                        <a:rPr lang="es-CO" sz="1000">
                          <a:solidFill>
                            <a:srgbClr val="1E293B"/>
                          </a:solidFill>
                          <a:latin typeface="Calibri"/>
                          <a:ea typeface="Calibri"/>
                          <a:cs typeface="Calibri"/>
                        </a:rPr>
                        <a:t>84.9</a:t>
                      </a:r>
                    </a:p>
                  </a:txBody>
                  <a:tcPr marT="39688" marB="39688" anchor="ctr">
                    <a:lnL w="0"/>
                    <a:lnR w="0"/>
                    <a:lnT w="0"/>
                    <a:lnB w="0"/>
                    <a:lnTlToBr w="0"/>
                    <a:lnBlToTr w="0"/>
                  </a:tcPr>
                </a:tc>
                <a:extLst>
                  <a:ext uri="{0D108BD9-81ED-4DB2-BD59-A6C34878D82A}">
                    <a16:rowId xmlns:a16="http://schemas.microsoft.com/office/drawing/2014/main" val="3947712727"/>
                  </a:ext>
                </a:extLst>
              </a:tr>
              <a:tr h="333375">
                <a:tc>
                  <a:txBody>
                    <a:bodyPr/>
                    <a:lstStyle/>
                    <a:p>
                      <a:pPr algn="ctr"/>
                      <a:r>
                        <a:rPr lang="es-CO" sz="1000">
                          <a:solidFill>
                            <a:srgbClr val="1E293B"/>
                          </a:solidFill>
                          <a:latin typeface="Calibri"/>
                          <a:ea typeface="Calibri"/>
                          <a:cs typeface="Calibri"/>
                        </a:rPr>
                        <a:t>35</a:t>
                      </a:r>
                    </a:p>
                  </a:txBody>
                  <a:tcPr marT="39688" marB="39688" anchor="ctr">
                    <a:lnL w="0"/>
                    <a:lnR w="0"/>
                    <a:lnT w="0"/>
                    <a:lnB w="0"/>
                    <a:lnTlToBr w="0"/>
                    <a:lnBlToTr w="0"/>
                    <a:solidFill>
                      <a:srgbClr val="F8FAFC"/>
                    </a:solidFill>
                  </a:tcPr>
                </a:tc>
                <a:tc>
                  <a:txBody>
                    <a:bodyPr/>
                    <a:lstStyle/>
                    <a:p>
                      <a:pPr algn="ctr"/>
                      <a:r>
                        <a:rPr lang="es-CO" sz="1000">
                          <a:solidFill>
                            <a:srgbClr val="1E293B"/>
                          </a:solidFill>
                          <a:latin typeface="Calibri"/>
                          <a:ea typeface="Calibri"/>
                          <a:cs typeface="Calibri"/>
                        </a:rPr>
                        <a:t>3.56</a:t>
                      </a:r>
                    </a:p>
                  </a:txBody>
                  <a:tcPr marT="39688" marB="39688" anchor="ctr">
                    <a:lnL w="0"/>
                    <a:lnR w="0"/>
                    <a:lnT w="0"/>
                    <a:lnB w="0"/>
                    <a:lnTlToBr w="0"/>
                    <a:lnBlToTr w="0"/>
                    <a:solidFill>
                      <a:srgbClr val="F8FAFC"/>
                    </a:solidFill>
                  </a:tcPr>
                </a:tc>
                <a:tc>
                  <a:txBody>
                    <a:bodyPr/>
                    <a:lstStyle/>
                    <a:p>
                      <a:pPr algn="ctr"/>
                      <a:r>
                        <a:rPr lang="es-CO" sz="1000">
                          <a:solidFill>
                            <a:srgbClr val="1E293B"/>
                          </a:solidFill>
                          <a:latin typeface="Calibri"/>
                          <a:ea typeface="Calibri"/>
                          <a:cs typeface="Calibri"/>
                        </a:rPr>
                        <a:t>93.3</a:t>
                      </a:r>
                    </a:p>
                  </a:txBody>
                  <a:tcPr marT="39688" marB="39688" anchor="ctr">
                    <a:lnL w="0"/>
                    <a:lnR w="0"/>
                    <a:lnT w="0"/>
                    <a:lnB w="0"/>
                    <a:lnTlToBr w="0"/>
                    <a:lnBlToTr w="0"/>
                    <a:solidFill>
                      <a:srgbClr val="F8FAFC"/>
                    </a:solidFill>
                  </a:tcPr>
                </a:tc>
                <a:extLst>
                  <a:ext uri="{0D108BD9-81ED-4DB2-BD59-A6C34878D82A}">
                    <a16:rowId xmlns:a16="http://schemas.microsoft.com/office/drawing/2014/main" val="1632545491"/>
                  </a:ext>
                </a:extLst>
              </a:tr>
              <a:tr h="333375">
                <a:tc>
                  <a:txBody>
                    <a:bodyPr/>
                    <a:lstStyle/>
                    <a:p>
                      <a:pPr algn="ctr"/>
                      <a:r>
                        <a:rPr lang="es-CO" sz="1000">
                          <a:solidFill>
                            <a:srgbClr val="1E293B"/>
                          </a:solidFill>
                          <a:latin typeface="Calibri"/>
                          <a:ea typeface="Calibri"/>
                          <a:cs typeface="Calibri"/>
                        </a:rPr>
                        <a:t>50</a:t>
                      </a:r>
                    </a:p>
                  </a:txBody>
                  <a:tcPr marT="39688" marB="39688" anchor="ctr">
                    <a:lnL w="0"/>
                    <a:lnR w="0"/>
                    <a:lnT w="0"/>
                    <a:lnB w="0"/>
                    <a:lnTlToBr w="0"/>
                    <a:lnBlToTr w="0"/>
                  </a:tcPr>
                </a:tc>
                <a:tc>
                  <a:txBody>
                    <a:bodyPr/>
                    <a:lstStyle/>
                    <a:p>
                      <a:pPr algn="ctr"/>
                      <a:r>
                        <a:rPr lang="es-CO" sz="1000">
                          <a:solidFill>
                            <a:srgbClr val="1E293B"/>
                          </a:solidFill>
                          <a:latin typeface="Calibri"/>
                          <a:ea typeface="Calibri"/>
                          <a:cs typeface="Calibri"/>
                        </a:rPr>
                        <a:t>3.91</a:t>
                      </a:r>
                    </a:p>
                  </a:txBody>
                  <a:tcPr marT="39688" marB="39688" anchor="ctr">
                    <a:lnL w="0"/>
                    <a:lnR w="0"/>
                    <a:lnT w="0"/>
                    <a:lnB w="0"/>
                    <a:lnTlToBr w="0"/>
                    <a:lnBlToTr w="0"/>
                  </a:tcPr>
                </a:tc>
                <a:tc>
                  <a:txBody>
                    <a:bodyPr/>
                    <a:lstStyle/>
                    <a:p>
                      <a:pPr algn="ctr"/>
                      <a:r>
                        <a:rPr lang="es-CO" sz="1000">
                          <a:solidFill>
                            <a:srgbClr val="1E293B"/>
                          </a:solidFill>
                          <a:latin typeface="Calibri"/>
                          <a:ea typeface="Calibri"/>
                          <a:cs typeface="Calibri"/>
                        </a:rPr>
                        <a:t>98.7</a:t>
                      </a:r>
                    </a:p>
                  </a:txBody>
                  <a:tcPr marT="39688" marB="39688" anchor="ctr">
                    <a:lnL w="0"/>
                    <a:lnR w="0"/>
                    <a:lnT w="0"/>
                    <a:lnB w="0"/>
                    <a:lnTlToBr w="0"/>
                    <a:lnBlToTr w="0"/>
                  </a:tcPr>
                </a:tc>
                <a:extLst>
                  <a:ext uri="{0D108BD9-81ED-4DB2-BD59-A6C34878D82A}">
                    <a16:rowId xmlns:a16="http://schemas.microsoft.com/office/drawing/2014/main" val="3697691411"/>
                  </a:ext>
                </a:extLst>
              </a:tr>
            </a:tbl>
          </a:graphicData>
        </a:graphic>
      </p:graphicFrame>
      <p:sp>
        <p:nvSpPr>
          <p:cNvPr id="18" name="CuadroTexto 17">
            <a:extLst>
              <a:ext uri="{FF2B5EF4-FFF2-40B4-BE49-F238E27FC236}">
                <a16:creationId xmlns:a16="http://schemas.microsoft.com/office/drawing/2014/main" id="{6F4E8645-FA49-4682-B7EF-27E366BC04A2}"/>
              </a:ext>
            </a:extLst>
          </p:cNvPr>
          <p:cNvSpPr txBox="1"/>
          <p:nvPr/>
        </p:nvSpPr>
        <p:spPr>
          <a:xfrm>
            <a:off x="3213100" y="3937000"/>
            <a:ext cx="2730500" cy="990600"/>
          </a:xfrm>
          <a:prstGeom prst="rect">
            <a:avLst/>
          </a:prstGeom>
          <a:noFill/>
        </p:spPr>
        <p:txBody>
          <a:bodyPr vertOverflow="overflow" vert="horz" wrap="square" rtlCol="0" anchor="t">
            <a:noAutofit/>
          </a:bodyPr>
          <a:lstStyle/>
          <a:p>
            <a:pPr algn="l"/>
            <a:r>
              <a:rPr lang="es-ES" sz="1000">
                <a:solidFill>
                  <a:srgbClr val="64748B"/>
                </a:solidFill>
                <a:latin typeface="Calibri"/>
                <a:ea typeface="Calibri"/>
                <a:cs typeface="Calibri"/>
              </a:rPr>
              <a:t>Observa: al principio cada hora extra sube mucho la nota, pero después el beneficio disminuye.</a:t>
            </a:r>
            <a:endParaRPr lang="es-CO" sz="1000">
              <a:solidFill>
                <a:srgbClr val="64748B"/>
              </a:solidFill>
              <a:latin typeface="Calibri"/>
              <a:ea typeface="Calibri"/>
              <a:cs typeface="Calibri"/>
            </a:endParaRPr>
          </a:p>
        </p:txBody>
      </p:sp>
      <p:graphicFrame>
        <p:nvGraphicFramePr>
          <p:cNvPr id="101" name="Chart Log"/>
          <p:cNvGraphicFramePr/>
          <p:nvPr/>
        </p:nvGraphicFramePr>
        <p:xfrm>
          <a:off x="6083300" y="863600"/>
          <a:ext cx="2857500" cy="4089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109089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4D6C087-B768-450F-B642-B820D4596692}"/>
              </a:ext>
            </a:extLst>
          </p:cNvPr>
          <p:cNvSpPr/>
          <p:nvPr/>
        </p:nvSpPr>
        <p:spPr>
          <a:xfrm>
            <a:off x="0" y="0"/>
            <a:ext cx="9144000" cy="762000"/>
          </a:xfrm>
          <a:prstGeom prst="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1BEE0FE1-C436-4933-89F5-5C05F12EA825}"/>
              </a:ext>
            </a:extLst>
          </p:cNvPr>
          <p:cNvSpPr txBox="1"/>
          <p:nvPr/>
        </p:nvSpPr>
        <p:spPr>
          <a:xfrm>
            <a:off x="368300" y="101600"/>
            <a:ext cx="8407400" cy="558800"/>
          </a:xfrm>
          <a:prstGeom prst="rect">
            <a:avLst/>
          </a:prstGeom>
          <a:noFill/>
        </p:spPr>
        <p:txBody>
          <a:bodyPr vertOverflow="overflow" vert="horz" wrap="square" rtlCol="0" anchor="ctr" anchorCtr="0">
            <a:spAutoFit/>
          </a:bodyPr>
          <a:lstStyle/>
          <a:p>
            <a:pPr algn="l"/>
            <a:r>
              <a:rPr lang="es-CO" sz="2000" b="1">
                <a:solidFill>
                  <a:srgbClr val="FFFFFF"/>
                </a:solidFill>
                <a:latin typeface="Calibri"/>
                <a:ea typeface="Calibri"/>
                <a:cs typeface="Calibri"/>
              </a:rPr>
              <a:t>REGRESIÓN LOGARÍTMICA — ¿Cuándo usarla?</a:t>
            </a:r>
          </a:p>
        </p:txBody>
      </p:sp>
      <p:sp>
        <p:nvSpPr>
          <p:cNvPr id="4" name="Rectángulo: esquinas redondeadas 3">
            <a:extLst>
              <a:ext uri="{FF2B5EF4-FFF2-40B4-BE49-F238E27FC236}">
                <a16:creationId xmlns:a16="http://schemas.microsoft.com/office/drawing/2014/main" id="{3C1852D4-9AA6-4C2D-9B15-CEEA7336A303}"/>
              </a:ext>
            </a:extLst>
          </p:cNvPr>
          <p:cNvSpPr/>
          <p:nvPr/>
        </p:nvSpPr>
        <p:spPr>
          <a:xfrm>
            <a:off x="228600" y="863600"/>
            <a:ext cx="4318000" cy="19685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esquinas redondeadas 4">
            <a:extLst>
              <a:ext uri="{FF2B5EF4-FFF2-40B4-BE49-F238E27FC236}">
                <a16:creationId xmlns:a16="http://schemas.microsoft.com/office/drawing/2014/main" id="{DB41C668-12ED-4015-9873-D7481CCB4232}"/>
              </a:ext>
            </a:extLst>
          </p:cNvPr>
          <p:cNvSpPr/>
          <p:nvPr/>
        </p:nvSpPr>
        <p:spPr>
          <a:xfrm>
            <a:off x="228600" y="863600"/>
            <a:ext cx="4318000" cy="355600"/>
          </a:xfrm>
          <a:prstGeom prst="round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65835DA8-2596-4708-8E7D-CB19F842B6B9}"/>
              </a:ext>
            </a:extLst>
          </p:cNvPr>
          <p:cNvSpPr txBox="1"/>
          <p:nvPr/>
        </p:nvSpPr>
        <p:spPr>
          <a:xfrm>
            <a:off x="317500" y="876300"/>
            <a:ext cx="4140200" cy="330200"/>
          </a:xfrm>
          <a:prstGeom prst="rect">
            <a:avLst/>
          </a:prstGeom>
          <a:noFill/>
        </p:spPr>
        <p:txBody>
          <a:bodyPr vertOverflow="overflow" vert="horz" wrap="square" rtlCol="0" anchor="ctr" anchorCtr="0">
            <a:spAutoFit/>
          </a:bodyPr>
          <a:lstStyle/>
          <a:p>
            <a:pPr algn="l"/>
            <a:r>
              <a:rPr lang="es-CO" sz="1300" b="1">
                <a:solidFill>
                  <a:srgbClr val="FFFFFF"/>
                </a:solidFill>
                <a:latin typeface="Calibri"/>
                <a:ea typeface="Calibri"/>
                <a:cs typeface="Calibri"/>
              </a:rPr>
              <a:t>✅  Úsala cuando...</a:t>
            </a:r>
          </a:p>
        </p:txBody>
      </p:sp>
      <p:sp>
        <p:nvSpPr>
          <p:cNvPr id="7" name="CuadroTexto 6">
            <a:extLst>
              <a:ext uri="{FF2B5EF4-FFF2-40B4-BE49-F238E27FC236}">
                <a16:creationId xmlns:a16="http://schemas.microsoft.com/office/drawing/2014/main" id="{81365C24-4FF8-43B8-9259-0F7D43353920}"/>
              </a:ext>
            </a:extLst>
          </p:cNvPr>
          <p:cNvSpPr txBox="1"/>
          <p:nvPr/>
        </p:nvSpPr>
        <p:spPr>
          <a:xfrm>
            <a:off x="317500" y="1270000"/>
            <a:ext cx="4140200" cy="14986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 Los datos crecen rápido al inicio y luego se estabilizan
• Una línea recta NO se ajusta bien a los datos
• Los residuos del modelo lineal muestran un patrón curvo
• X siempre es positiva (ln no acepta valores ≤ 0)</a:t>
            </a:r>
            <a:endParaRPr lang="es-CO" sz="1000">
              <a:solidFill>
                <a:srgbClr val="1E293B"/>
              </a:solidFill>
              <a:latin typeface="Calibri"/>
              <a:ea typeface="Calibri"/>
              <a:cs typeface="Calibri"/>
            </a:endParaRPr>
          </a:p>
        </p:txBody>
      </p:sp>
      <p:sp>
        <p:nvSpPr>
          <p:cNvPr id="8" name="Rectángulo: esquinas redondeadas 7">
            <a:extLst>
              <a:ext uri="{FF2B5EF4-FFF2-40B4-BE49-F238E27FC236}">
                <a16:creationId xmlns:a16="http://schemas.microsoft.com/office/drawing/2014/main" id="{545E6776-4A20-43E8-AD9A-293F22745F60}"/>
              </a:ext>
            </a:extLst>
          </p:cNvPr>
          <p:cNvSpPr/>
          <p:nvPr/>
        </p:nvSpPr>
        <p:spPr>
          <a:xfrm>
            <a:off x="4673600" y="863600"/>
            <a:ext cx="4241800" cy="19685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9" name="Rectángulo: esquinas redondeadas 8">
            <a:extLst>
              <a:ext uri="{FF2B5EF4-FFF2-40B4-BE49-F238E27FC236}">
                <a16:creationId xmlns:a16="http://schemas.microsoft.com/office/drawing/2014/main" id="{E21EC597-9C5A-4C91-BE54-067D1F0174EB}"/>
              </a:ext>
            </a:extLst>
          </p:cNvPr>
          <p:cNvSpPr/>
          <p:nvPr/>
        </p:nvSpPr>
        <p:spPr>
          <a:xfrm>
            <a:off x="4673600" y="863600"/>
            <a:ext cx="4241800" cy="355600"/>
          </a:xfrm>
          <a:prstGeom prst="roundRect">
            <a:avLst/>
          </a:prstGeom>
          <a:solidFill>
            <a:srgbClr val="D32F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0" name="CuadroTexto 9">
            <a:extLst>
              <a:ext uri="{FF2B5EF4-FFF2-40B4-BE49-F238E27FC236}">
                <a16:creationId xmlns:a16="http://schemas.microsoft.com/office/drawing/2014/main" id="{BE5A403D-98EE-4EAA-8EB7-8268F6051A41}"/>
              </a:ext>
            </a:extLst>
          </p:cNvPr>
          <p:cNvSpPr txBox="1"/>
          <p:nvPr/>
        </p:nvSpPr>
        <p:spPr>
          <a:xfrm>
            <a:off x="4762500" y="876300"/>
            <a:ext cx="4064000" cy="330200"/>
          </a:xfrm>
          <a:prstGeom prst="rect">
            <a:avLst/>
          </a:prstGeom>
          <a:noFill/>
        </p:spPr>
        <p:txBody>
          <a:bodyPr vertOverflow="overflow" vert="horz" wrap="square" rtlCol="0" anchor="ctr" anchorCtr="0">
            <a:spAutoFit/>
          </a:bodyPr>
          <a:lstStyle/>
          <a:p>
            <a:pPr algn="l"/>
            <a:r>
              <a:rPr lang="es-CO" sz="1300" b="1">
                <a:solidFill>
                  <a:srgbClr val="FFFFFF"/>
                </a:solidFill>
                <a:latin typeface="Calibri"/>
                <a:ea typeface="Calibri"/>
                <a:cs typeface="Calibri"/>
              </a:rPr>
              <a:t>❌  NO la uses cuando...</a:t>
            </a:r>
          </a:p>
        </p:txBody>
      </p:sp>
      <p:sp>
        <p:nvSpPr>
          <p:cNvPr id="11" name="CuadroTexto 10">
            <a:extLst>
              <a:ext uri="{FF2B5EF4-FFF2-40B4-BE49-F238E27FC236}">
                <a16:creationId xmlns:a16="http://schemas.microsoft.com/office/drawing/2014/main" id="{6BB0E0FD-9A29-4BB4-B51E-D5C17ECD1197}"/>
              </a:ext>
            </a:extLst>
          </p:cNvPr>
          <p:cNvSpPr txBox="1"/>
          <p:nvPr/>
        </p:nvSpPr>
        <p:spPr>
          <a:xfrm>
            <a:off x="4762500" y="1270000"/>
            <a:ext cx="4064000" cy="14986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 La relación entre X e Y es claramente lineal
• Los datos tienen valores de X negativos o cero
• El crecimiento se acelera (sube cada vez más rápido)
  → Usa regresión exponencial
• Los datos oscilan → Usa modelos polinómicos</a:t>
            </a:r>
            <a:endParaRPr lang="es-CO" sz="1000">
              <a:solidFill>
                <a:srgbClr val="1E293B"/>
              </a:solidFill>
              <a:latin typeface="Calibri"/>
              <a:ea typeface="Calibri"/>
              <a:cs typeface="Calibri"/>
            </a:endParaRPr>
          </a:p>
        </p:txBody>
      </p:sp>
      <p:sp>
        <p:nvSpPr>
          <p:cNvPr id="12" name="Rectángulo: esquinas redondeadas 11">
            <a:extLst>
              <a:ext uri="{FF2B5EF4-FFF2-40B4-BE49-F238E27FC236}">
                <a16:creationId xmlns:a16="http://schemas.microsoft.com/office/drawing/2014/main" id="{4F7F42CE-45EE-4A8E-8EAE-CF17810A3A65}"/>
              </a:ext>
            </a:extLst>
          </p:cNvPr>
          <p:cNvSpPr/>
          <p:nvPr/>
        </p:nvSpPr>
        <p:spPr>
          <a:xfrm>
            <a:off x="228600" y="2959100"/>
            <a:ext cx="8686800" cy="2006600"/>
          </a:xfrm>
          <a:prstGeom prst="roundRect">
            <a:avLst/>
          </a:prstGeom>
          <a:solidFill>
            <a:srgbClr val="F0F9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3" name="CuadroTexto 12">
            <a:extLst>
              <a:ext uri="{FF2B5EF4-FFF2-40B4-BE49-F238E27FC236}">
                <a16:creationId xmlns:a16="http://schemas.microsoft.com/office/drawing/2014/main" id="{FEF0182D-FCC9-4EE6-81D4-C225671F3AD5}"/>
              </a:ext>
            </a:extLst>
          </p:cNvPr>
          <p:cNvSpPr txBox="1"/>
          <p:nvPr/>
        </p:nvSpPr>
        <p:spPr>
          <a:xfrm>
            <a:off x="317500" y="3009900"/>
            <a:ext cx="8509000" cy="254000"/>
          </a:xfrm>
          <a:prstGeom prst="rect">
            <a:avLst/>
          </a:prstGeom>
          <a:noFill/>
        </p:spPr>
        <p:txBody>
          <a:bodyPr vertOverflow="overflow" vert="horz" wrap="square" rtlCol="0" anchor="t">
            <a:spAutoFit/>
          </a:bodyPr>
          <a:lstStyle/>
          <a:p>
            <a:pPr algn="l"/>
            <a:r>
              <a:rPr lang="es-ES" sz="1200" b="1">
                <a:solidFill>
                  <a:srgbClr val="0D7377"/>
                </a:solidFill>
                <a:latin typeface="Calibri"/>
                <a:ea typeface="Calibri"/>
                <a:cs typeface="Calibri"/>
              </a:rPr>
              <a:t>Guía rápida para elegir el modelo</a:t>
            </a:r>
            <a:endParaRPr lang="es-CO" sz="1200" b="1">
              <a:solidFill>
                <a:srgbClr val="0D7377"/>
              </a:solidFill>
              <a:latin typeface="Calibri"/>
              <a:ea typeface="Calibri"/>
              <a:cs typeface="Calibri"/>
            </a:endParaRPr>
          </a:p>
        </p:txBody>
      </p:sp>
      <p:sp>
        <p:nvSpPr>
          <p:cNvPr id="14" name="Rectángulo: esquinas redondeadas 13">
            <a:extLst>
              <a:ext uri="{FF2B5EF4-FFF2-40B4-BE49-F238E27FC236}">
                <a16:creationId xmlns:a16="http://schemas.microsoft.com/office/drawing/2014/main" id="{E8436DF8-ADDB-4CE9-A21D-A1284CD05331}"/>
              </a:ext>
            </a:extLst>
          </p:cNvPr>
          <p:cNvSpPr/>
          <p:nvPr/>
        </p:nvSpPr>
        <p:spPr>
          <a:xfrm>
            <a:off x="317500" y="3365500"/>
            <a:ext cx="1397000" cy="736600"/>
          </a:xfrm>
          <a:prstGeom prst="roundRect">
            <a:avLst/>
          </a:prstGeom>
          <a:solidFill>
            <a:srgbClr val="3776A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5" name="CuadroTexto 14">
            <a:extLst>
              <a:ext uri="{FF2B5EF4-FFF2-40B4-BE49-F238E27FC236}">
                <a16:creationId xmlns:a16="http://schemas.microsoft.com/office/drawing/2014/main" id="{3EAA3EBA-ABAC-40A0-B364-74C1444CD610}"/>
              </a:ext>
            </a:extLst>
          </p:cNvPr>
          <p:cNvSpPr txBox="1"/>
          <p:nvPr/>
        </p:nvSpPr>
        <p:spPr>
          <a:xfrm>
            <a:off x="381000" y="3390900"/>
            <a:ext cx="1270000" cy="685800"/>
          </a:xfrm>
          <a:prstGeom prst="rect">
            <a:avLst/>
          </a:prstGeom>
          <a:noFill/>
        </p:spPr>
        <p:txBody>
          <a:bodyPr vertOverflow="overflow" vert="horz" wrap="square" rtlCol="0" anchor="ctr" anchorCtr="0">
            <a:noAutofit/>
          </a:bodyPr>
          <a:lstStyle/>
          <a:p>
            <a:pPr algn="l"/>
            <a:r>
              <a:rPr lang="es-ES" sz="900" b="1">
                <a:solidFill>
                  <a:srgbClr val="FFFFFF"/>
                </a:solidFill>
                <a:latin typeface="Calibri"/>
                <a:ea typeface="Calibri"/>
                <a:cs typeface="Calibri"/>
              </a:rPr>
              <a:t>¿Los datos
forman una
línea recta?</a:t>
            </a:r>
            <a:endParaRPr lang="es-CO" sz="900" b="1">
              <a:solidFill>
                <a:srgbClr val="FFFFFF"/>
              </a:solidFill>
              <a:latin typeface="Calibri"/>
              <a:ea typeface="Calibri"/>
              <a:cs typeface="Calibri"/>
            </a:endParaRPr>
          </a:p>
        </p:txBody>
      </p:sp>
      <p:sp>
        <p:nvSpPr>
          <p:cNvPr id="16" name="Rectángulo: esquinas redondeadas 15">
            <a:extLst>
              <a:ext uri="{FF2B5EF4-FFF2-40B4-BE49-F238E27FC236}">
                <a16:creationId xmlns:a16="http://schemas.microsoft.com/office/drawing/2014/main" id="{D18BD0E2-88E6-40BD-85CE-041BEC6B9E95}"/>
              </a:ext>
            </a:extLst>
          </p:cNvPr>
          <p:cNvSpPr/>
          <p:nvPr/>
        </p:nvSpPr>
        <p:spPr>
          <a:xfrm>
            <a:off x="1879600" y="3365500"/>
            <a:ext cx="1270000" cy="736600"/>
          </a:xfrm>
          <a:prstGeom prst="round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7" name="CuadroTexto 16">
            <a:extLst>
              <a:ext uri="{FF2B5EF4-FFF2-40B4-BE49-F238E27FC236}">
                <a16:creationId xmlns:a16="http://schemas.microsoft.com/office/drawing/2014/main" id="{8FEBEE0D-49BD-4390-9D99-45543FDD2EC5}"/>
              </a:ext>
            </a:extLst>
          </p:cNvPr>
          <p:cNvSpPr txBox="1"/>
          <p:nvPr/>
        </p:nvSpPr>
        <p:spPr>
          <a:xfrm>
            <a:off x="1943100" y="3390900"/>
            <a:ext cx="1143000" cy="685800"/>
          </a:xfrm>
          <a:prstGeom prst="rect">
            <a:avLst/>
          </a:prstGeom>
          <a:noFill/>
        </p:spPr>
        <p:txBody>
          <a:bodyPr vertOverflow="overflow" vert="horz" wrap="square" rtlCol="0" anchor="ctr" anchorCtr="0">
            <a:noAutofit/>
          </a:bodyPr>
          <a:lstStyle/>
          <a:p>
            <a:pPr algn="l"/>
            <a:r>
              <a:rPr lang="es-CO" sz="900" b="1">
                <a:solidFill>
                  <a:srgbClr val="FFFFFF"/>
                </a:solidFill>
                <a:latin typeface="Calibri"/>
                <a:ea typeface="Calibri"/>
                <a:cs typeface="Calibri"/>
              </a:rPr>
              <a:t>SÍ →
Regresión
Lineal</a:t>
            </a:r>
          </a:p>
        </p:txBody>
      </p:sp>
      <p:sp>
        <p:nvSpPr>
          <p:cNvPr id="18" name="Rectángulo: esquinas redondeadas 17">
            <a:extLst>
              <a:ext uri="{FF2B5EF4-FFF2-40B4-BE49-F238E27FC236}">
                <a16:creationId xmlns:a16="http://schemas.microsoft.com/office/drawing/2014/main" id="{C4633D36-99F8-40A1-86E5-1B9F0CC5C984}"/>
              </a:ext>
            </a:extLst>
          </p:cNvPr>
          <p:cNvSpPr/>
          <p:nvPr/>
        </p:nvSpPr>
        <p:spPr>
          <a:xfrm>
            <a:off x="3314700" y="3365500"/>
            <a:ext cx="1524000" cy="736600"/>
          </a:xfrm>
          <a:prstGeom prst="roundRect">
            <a:avLst/>
          </a:prstGeom>
          <a:solidFill>
            <a:srgbClr val="E8A83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9" name="CuadroTexto 18">
            <a:extLst>
              <a:ext uri="{FF2B5EF4-FFF2-40B4-BE49-F238E27FC236}">
                <a16:creationId xmlns:a16="http://schemas.microsoft.com/office/drawing/2014/main" id="{1BF23286-DB68-4A56-B393-5B201570CD18}"/>
              </a:ext>
            </a:extLst>
          </p:cNvPr>
          <p:cNvSpPr txBox="1"/>
          <p:nvPr/>
        </p:nvSpPr>
        <p:spPr>
          <a:xfrm>
            <a:off x="3378200" y="3390900"/>
            <a:ext cx="1397000" cy="685800"/>
          </a:xfrm>
          <a:prstGeom prst="rect">
            <a:avLst/>
          </a:prstGeom>
          <a:noFill/>
        </p:spPr>
        <p:txBody>
          <a:bodyPr vertOverflow="overflow" vert="horz" wrap="square" rtlCol="0" anchor="ctr" anchorCtr="0">
            <a:noAutofit/>
          </a:bodyPr>
          <a:lstStyle/>
          <a:p>
            <a:pPr algn="l"/>
            <a:r>
              <a:rPr lang="es-ES" sz="900" b="1">
                <a:solidFill>
                  <a:srgbClr val="FFFFFF"/>
                </a:solidFill>
                <a:latin typeface="Calibri"/>
                <a:ea typeface="Calibri"/>
                <a:cs typeface="Calibri"/>
              </a:rPr>
              <a:t>NO → ¿Crecen
rápido y luego
se estabilizan?</a:t>
            </a:r>
            <a:endParaRPr lang="es-CO" sz="900" b="1">
              <a:solidFill>
                <a:srgbClr val="FFFFFF"/>
              </a:solidFill>
              <a:latin typeface="Calibri"/>
              <a:ea typeface="Calibri"/>
              <a:cs typeface="Calibri"/>
            </a:endParaRPr>
          </a:p>
        </p:txBody>
      </p:sp>
      <p:sp>
        <p:nvSpPr>
          <p:cNvPr id="20" name="Rectángulo: esquinas redondeadas 19">
            <a:extLst>
              <a:ext uri="{FF2B5EF4-FFF2-40B4-BE49-F238E27FC236}">
                <a16:creationId xmlns:a16="http://schemas.microsoft.com/office/drawing/2014/main" id="{56486BCC-8AEA-4F8B-BEF1-7320A915BD88}"/>
              </a:ext>
            </a:extLst>
          </p:cNvPr>
          <p:cNvSpPr/>
          <p:nvPr/>
        </p:nvSpPr>
        <p:spPr>
          <a:xfrm>
            <a:off x="5003800" y="3365500"/>
            <a:ext cx="1397000" cy="736600"/>
          </a:xfrm>
          <a:prstGeom prst="roundRect">
            <a:avLst/>
          </a:prstGeom>
          <a:solidFill>
            <a:srgbClr val="8E44A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21" name="CuadroTexto 20">
            <a:extLst>
              <a:ext uri="{FF2B5EF4-FFF2-40B4-BE49-F238E27FC236}">
                <a16:creationId xmlns:a16="http://schemas.microsoft.com/office/drawing/2014/main" id="{80710C4B-CD55-4DF9-AF86-F15E38B7A19E}"/>
              </a:ext>
            </a:extLst>
          </p:cNvPr>
          <p:cNvSpPr txBox="1"/>
          <p:nvPr/>
        </p:nvSpPr>
        <p:spPr>
          <a:xfrm>
            <a:off x="5067300" y="3390900"/>
            <a:ext cx="1270000" cy="685800"/>
          </a:xfrm>
          <a:prstGeom prst="rect">
            <a:avLst/>
          </a:prstGeom>
          <a:noFill/>
        </p:spPr>
        <p:txBody>
          <a:bodyPr vertOverflow="overflow" vert="horz" wrap="square" rtlCol="0" anchor="ctr" anchorCtr="0">
            <a:noAutofit/>
          </a:bodyPr>
          <a:lstStyle/>
          <a:p>
            <a:pPr algn="l"/>
            <a:r>
              <a:rPr lang="es-CO" sz="900" b="1">
                <a:solidFill>
                  <a:srgbClr val="FFFFFF"/>
                </a:solidFill>
                <a:latin typeface="Calibri"/>
                <a:ea typeface="Calibri"/>
                <a:cs typeface="Calibri"/>
              </a:rPr>
              <a:t>SÍ →
Regresión
Logarítmica</a:t>
            </a:r>
          </a:p>
        </p:txBody>
      </p:sp>
      <p:sp>
        <p:nvSpPr>
          <p:cNvPr id="22" name="Rectángulo: esquinas redondeadas 21">
            <a:extLst>
              <a:ext uri="{FF2B5EF4-FFF2-40B4-BE49-F238E27FC236}">
                <a16:creationId xmlns:a16="http://schemas.microsoft.com/office/drawing/2014/main" id="{8AAF47C4-3CB7-49B3-ACFB-6ACC6B57FC15}"/>
              </a:ext>
            </a:extLst>
          </p:cNvPr>
          <p:cNvSpPr/>
          <p:nvPr/>
        </p:nvSpPr>
        <p:spPr>
          <a:xfrm>
            <a:off x="6565900" y="3365500"/>
            <a:ext cx="1397000" cy="736600"/>
          </a:xfrm>
          <a:prstGeom prst="roundRect">
            <a:avLst/>
          </a:prstGeom>
          <a:solidFill>
            <a:srgbClr val="D32F2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23" name="CuadroTexto 22">
            <a:extLst>
              <a:ext uri="{FF2B5EF4-FFF2-40B4-BE49-F238E27FC236}">
                <a16:creationId xmlns:a16="http://schemas.microsoft.com/office/drawing/2014/main" id="{11CFFF63-E8F4-412B-AD30-3557BF670A2A}"/>
              </a:ext>
            </a:extLst>
          </p:cNvPr>
          <p:cNvSpPr txBox="1"/>
          <p:nvPr/>
        </p:nvSpPr>
        <p:spPr>
          <a:xfrm>
            <a:off x="6629400" y="3390900"/>
            <a:ext cx="1270000" cy="685800"/>
          </a:xfrm>
          <a:prstGeom prst="rect">
            <a:avLst/>
          </a:prstGeom>
          <a:noFill/>
        </p:spPr>
        <p:txBody>
          <a:bodyPr vertOverflow="overflow" vert="horz" wrap="square" rtlCol="0" anchor="ctr" anchorCtr="0">
            <a:noAutofit/>
          </a:bodyPr>
          <a:lstStyle/>
          <a:p>
            <a:pPr algn="l"/>
            <a:r>
              <a:rPr lang="es-CO" sz="900" b="1">
                <a:solidFill>
                  <a:srgbClr val="FFFFFF"/>
                </a:solidFill>
                <a:latin typeface="Calibri"/>
                <a:ea typeface="Calibri"/>
                <a:cs typeface="Calibri"/>
              </a:rPr>
              <a:t>NO →
Exponencial o
Polinómica</a:t>
            </a:r>
          </a:p>
        </p:txBody>
      </p:sp>
      <p:sp>
        <p:nvSpPr>
          <p:cNvPr id="24" name="Flecha: a la derecha 23">
            <a:extLst>
              <a:ext uri="{FF2B5EF4-FFF2-40B4-BE49-F238E27FC236}">
                <a16:creationId xmlns:a16="http://schemas.microsoft.com/office/drawing/2014/main" id="{9E0C68E9-34FA-4C9C-9ADD-ED5134D340B8}"/>
              </a:ext>
            </a:extLst>
          </p:cNvPr>
          <p:cNvSpPr/>
          <p:nvPr/>
        </p:nvSpPr>
        <p:spPr>
          <a:xfrm>
            <a:off x="1714500" y="3683000"/>
            <a:ext cx="165100" cy="177800"/>
          </a:xfrm>
          <a:prstGeom prst="rightArrow">
            <a:avLst/>
          </a:prstGeom>
          <a:solidFill>
            <a:srgbClr val="64748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25" name="Flecha: a la derecha 24">
            <a:extLst>
              <a:ext uri="{FF2B5EF4-FFF2-40B4-BE49-F238E27FC236}">
                <a16:creationId xmlns:a16="http://schemas.microsoft.com/office/drawing/2014/main" id="{36AFC2C9-3043-42ED-A9FE-29F7B1441BC4}"/>
              </a:ext>
            </a:extLst>
          </p:cNvPr>
          <p:cNvSpPr/>
          <p:nvPr/>
        </p:nvSpPr>
        <p:spPr>
          <a:xfrm>
            <a:off x="3149600" y="3683000"/>
            <a:ext cx="165100" cy="177800"/>
          </a:xfrm>
          <a:prstGeom prst="rightArrow">
            <a:avLst/>
          </a:prstGeom>
          <a:solidFill>
            <a:srgbClr val="64748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26" name="Flecha: a la derecha 25">
            <a:extLst>
              <a:ext uri="{FF2B5EF4-FFF2-40B4-BE49-F238E27FC236}">
                <a16:creationId xmlns:a16="http://schemas.microsoft.com/office/drawing/2014/main" id="{E0C71165-ECC1-49AC-855E-21B353F33D69}"/>
              </a:ext>
            </a:extLst>
          </p:cNvPr>
          <p:cNvSpPr/>
          <p:nvPr/>
        </p:nvSpPr>
        <p:spPr>
          <a:xfrm>
            <a:off x="4838700" y="3683000"/>
            <a:ext cx="165100" cy="177800"/>
          </a:xfrm>
          <a:prstGeom prst="rightArrow">
            <a:avLst/>
          </a:prstGeom>
          <a:solidFill>
            <a:srgbClr val="64748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27" name="Flecha: a la derecha 26">
            <a:extLst>
              <a:ext uri="{FF2B5EF4-FFF2-40B4-BE49-F238E27FC236}">
                <a16:creationId xmlns:a16="http://schemas.microsoft.com/office/drawing/2014/main" id="{830419E9-34FC-4630-8BB9-D2DEFABB374B}"/>
              </a:ext>
            </a:extLst>
          </p:cNvPr>
          <p:cNvSpPr/>
          <p:nvPr/>
        </p:nvSpPr>
        <p:spPr>
          <a:xfrm>
            <a:off x="6400800" y="3683000"/>
            <a:ext cx="165100" cy="177800"/>
          </a:xfrm>
          <a:prstGeom prst="rightArrow">
            <a:avLst/>
          </a:prstGeom>
          <a:solidFill>
            <a:srgbClr val="64748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28" name="CuadroTexto 27">
            <a:extLst>
              <a:ext uri="{FF2B5EF4-FFF2-40B4-BE49-F238E27FC236}">
                <a16:creationId xmlns:a16="http://schemas.microsoft.com/office/drawing/2014/main" id="{B73BE5BB-779F-4B65-BA90-BD8438C72F87}"/>
              </a:ext>
            </a:extLst>
          </p:cNvPr>
          <p:cNvSpPr txBox="1"/>
          <p:nvPr/>
        </p:nvSpPr>
        <p:spPr>
          <a:xfrm>
            <a:off x="317500" y="4216400"/>
            <a:ext cx="8509000" cy="6350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 Tip: Siempre grafica tus datos primero. Un diagrama de dispersión te dice visualmente cuál modelo es el más apropiado.</a:t>
            </a:r>
            <a:endParaRPr lang="es-CO" sz="1000">
              <a:solidFill>
                <a:srgbClr val="1E293B"/>
              </a:solidFill>
              <a:latin typeface="Calibri"/>
              <a:ea typeface="Calibri"/>
              <a:cs typeface="Calibri"/>
            </a:endParaRPr>
          </a:p>
        </p:txBody>
      </p:sp>
    </p:spTree>
    <p:extLst>
      <p:ext uri="{BB962C8B-B14F-4D97-AF65-F5344CB8AC3E}">
        <p14:creationId xmlns:p14="http://schemas.microsoft.com/office/powerpoint/2010/main" val="38047285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8A838"/>
          </a:solidFill>
          <a:ln w="12700">
            <a:solidFill>
              <a:srgbClr val="E8A838"/>
            </a:solidFill>
            <a:prstDash val="solid"/>
          </a:ln>
        </p:spPr>
        <p:txBody>
          <a:bodyPr/>
          <a:lstStyle/>
          <a:p>
            <a:endParaRPr lang="es-CO"/>
          </a:p>
        </p:txBody>
      </p:sp>
      <p:sp>
        <p:nvSpPr>
          <p:cNvPr id="3" name="Shape 1"/>
          <p:cNvSpPr/>
          <p:nvPr/>
        </p:nvSpPr>
        <p:spPr>
          <a:xfrm>
            <a:off x="0" y="5029200"/>
            <a:ext cx="9144000" cy="109728"/>
          </a:xfrm>
          <a:prstGeom prst="rect">
            <a:avLst/>
          </a:prstGeom>
          <a:solidFill>
            <a:srgbClr val="E8A838"/>
          </a:solidFill>
          <a:ln w="12700">
            <a:solidFill>
              <a:srgbClr val="E8A838"/>
            </a:solidFill>
            <a:prstDash val="solid"/>
          </a:ln>
        </p:spPr>
        <p:txBody>
          <a:bodyPr/>
          <a:lstStyle/>
          <a:p>
            <a:endParaRPr lang="es-CO"/>
          </a:p>
        </p:txBody>
      </p:sp>
      <p:sp>
        <p:nvSpPr>
          <p:cNvPr id="4" name="Text 2"/>
          <p:cNvSpPr/>
          <p:nvPr/>
        </p:nvSpPr>
        <p:spPr>
          <a:xfrm>
            <a:off x="548640" y="502920"/>
            <a:ext cx="8229600" cy="457200"/>
          </a:xfrm>
          <a:prstGeom prst="rect">
            <a:avLst/>
          </a:prstGeom>
          <a:noFill/>
          <a:ln/>
        </p:spPr>
        <p:txBody>
          <a:bodyPr wrap="square" rtlCol="0" anchor="ctr"/>
          <a:lstStyle/>
          <a:p>
            <a:pPr marL="0" indent="0">
              <a:buNone/>
            </a:pPr>
            <a:r>
              <a:rPr lang="en-US" sz="1400" b="1" kern="0" spc="600" dirty="0">
                <a:solidFill>
                  <a:srgbClr val="E8A838"/>
                </a:solidFill>
                <a:latin typeface="Calibri" pitchFamily="34" charset="0"/>
                <a:ea typeface="Calibri" pitchFamily="34" charset="-122"/>
                <a:cs typeface="Calibri" pitchFamily="34" charset="-120"/>
              </a:rPr>
              <a:t>SESIÓN 4</a:t>
            </a:r>
            <a:endParaRPr lang="en-US" sz="1400" dirty="0"/>
          </a:p>
        </p:txBody>
      </p:sp>
      <p:sp>
        <p:nvSpPr>
          <p:cNvPr id="5" name="Text 3"/>
          <p:cNvSpPr/>
          <p:nvPr/>
        </p:nvSpPr>
        <p:spPr>
          <a:xfrm>
            <a:off x="548640" y="1005840"/>
            <a:ext cx="8229600" cy="128016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Proyecto </a:t>
            </a:r>
            <a:r>
              <a:rPr lang="en-US" sz="3600" b="1" dirty="0" err="1">
                <a:solidFill>
                  <a:srgbClr val="FFFFFF"/>
                </a:solidFill>
                <a:latin typeface="Calibri" pitchFamily="34" charset="0"/>
                <a:ea typeface="Calibri" pitchFamily="34" charset="-122"/>
                <a:cs typeface="Calibri" pitchFamily="34" charset="-120"/>
              </a:rPr>
              <a:t>Integrador</a:t>
            </a:r>
            <a:endParaRPr lang="en-US" sz="3600" dirty="0"/>
          </a:p>
        </p:txBody>
      </p:sp>
      <p:sp>
        <p:nvSpPr>
          <p:cNvPr id="6" name="Text 4"/>
          <p:cNvSpPr/>
          <p:nvPr/>
        </p:nvSpPr>
        <p:spPr>
          <a:xfrm>
            <a:off x="548640" y="2468880"/>
            <a:ext cx="8229600" cy="548640"/>
          </a:xfrm>
          <a:prstGeom prst="rect">
            <a:avLst/>
          </a:prstGeom>
          <a:noFill/>
          <a:ln/>
        </p:spPr>
        <p:txBody>
          <a:bodyPr wrap="square" rtlCol="0" anchor="ctr"/>
          <a:lstStyle/>
          <a:p>
            <a:pPr marL="0" indent="0">
              <a:buNone/>
            </a:pPr>
            <a:r>
              <a:rPr lang="en-US" sz="1500" i="1" dirty="0">
                <a:solidFill>
                  <a:srgbClr val="A8C8E8"/>
                </a:solidFill>
                <a:latin typeface="Calibri" pitchFamily="34" charset="0"/>
                <a:ea typeface="Calibri" pitchFamily="34" charset="-122"/>
                <a:cs typeface="Calibri" pitchFamily="34" charset="-120"/>
              </a:rPr>
              <a:t>Dataset real · Jupyter Notebook · Pregunta de investigación · Presentación</a:t>
            </a:r>
            <a:endParaRPr lang="en-US" sz="1500" dirty="0"/>
          </a:p>
        </p:txBody>
      </p:sp>
      <p:sp>
        <p:nvSpPr>
          <p:cNvPr id="7" name="Shape 5"/>
          <p:cNvSpPr/>
          <p:nvPr/>
        </p:nvSpPr>
        <p:spPr>
          <a:xfrm>
            <a:off x="457200" y="3977640"/>
            <a:ext cx="1600200" cy="640080"/>
          </a:xfrm>
          <a:prstGeom prst="roundRect">
            <a:avLst>
              <a:gd name="adj" fmla="val 14286"/>
            </a:avLst>
          </a:prstGeom>
          <a:solidFill>
            <a:srgbClr val="0D3A5C"/>
          </a:solidFill>
          <a:ln w="12700">
            <a:solidFill>
              <a:srgbClr val="E8A838"/>
            </a:solidFill>
            <a:prstDash val="solid"/>
          </a:ln>
        </p:spPr>
        <p:txBody>
          <a:bodyPr/>
          <a:lstStyle/>
          <a:p>
            <a:endParaRPr lang="es-CO"/>
          </a:p>
        </p:txBody>
      </p:sp>
      <p:sp>
        <p:nvSpPr>
          <p:cNvPr id="8" name="Text 6"/>
          <p:cNvSpPr/>
          <p:nvPr/>
        </p:nvSpPr>
        <p:spPr>
          <a:xfrm>
            <a:off x="457200" y="3977640"/>
            <a:ext cx="1600200" cy="6400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Pregunta real</a:t>
            </a:r>
            <a:endParaRPr lang="en-US" sz="1100" dirty="0"/>
          </a:p>
        </p:txBody>
      </p:sp>
      <p:sp>
        <p:nvSpPr>
          <p:cNvPr id="9" name="Shape 7"/>
          <p:cNvSpPr/>
          <p:nvPr/>
        </p:nvSpPr>
        <p:spPr>
          <a:xfrm>
            <a:off x="2139696" y="3977640"/>
            <a:ext cx="1600200" cy="640080"/>
          </a:xfrm>
          <a:prstGeom prst="roundRect">
            <a:avLst>
              <a:gd name="adj" fmla="val 14286"/>
            </a:avLst>
          </a:prstGeom>
          <a:solidFill>
            <a:srgbClr val="0D3A5C"/>
          </a:solidFill>
          <a:ln w="12700">
            <a:solidFill>
              <a:srgbClr val="E8A838"/>
            </a:solidFill>
            <a:prstDash val="solid"/>
          </a:ln>
        </p:spPr>
        <p:txBody>
          <a:bodyPr/>
          <a:lstStyle/>
          <a:p>
            <a:endParaRPr lang="es-CO"/>
          </a:p>
        </p:txBody>
      </p:sp>
      <p:sp>
        <p:nvSpPr>
          <p:cNvPr id="10" name="Text 8"/>
          <p:cNvSpPr/>
          <p:nvPr/>
        </p:nvSpPr>
        <p:spPr>
          <a:xfrm>
            <a:off x="2139696" y="3977640"/>
            <a:ext cx="1600200" cy="6400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EDA completo</a:t>
            </a:r>
            <a:endParaRPr lang="en-US" sz="1100" dirty="0"/>
          </a:p>
        </p:txBody>
      </p:sp>
      <p:sp>
        <p:nvSpPr>
          <p:cNvPr id="11" name="Shape 9"/>
          <p:cNvSpPr/>
          <p:nvPr/>
        </p:nvSpPr>
        <p:spPr>
          <a:xfrm>
            <a:off x="3822192" y="3977640"/>
            <a:ext cx="1600200" cy="640080"/>
          </a:xfrm>
          <a:prstGeom prst="roundRect">
            <a:avLst>
              <a:gd name="adj" fmla="val 14286"/>
            </a:avLst>
          </a:prstGeom>
          <a:solidFill>
            <a:srgbClr val="0D3A5C"/>
          </a:solidFill>
          <a:ln w="12700">
            <a:solidFill>
              <a:srgbClr val="E8A838"/>
            </a:solidFill>
            <a:prstDash val="solid"/>
          </a:ln>
        </p:spPr>
        <p:txBody>
          <a:bodyPr/>
          <a:lstStyle/>
          <a:p>
            <a:endParaRPr lang="es-CO"/>
          </a:p>
        </p:txBody>
      </p:sp>
      <p:sp>
        <p:nvSpPr>
          <p:cNvPr id="12" name="Text 10"/>
          <p:cNvSpPr/>
          <p:nvPr/>
        </p:nvSpPr>
        <p:spPr>
          <a:xfrm>
            <a:off x="3822192" y="3977640"/>
            <a:ext cx="1600200" cy="6400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Modelo OLS</a:t>
            </a:r>
            <a:endParaRPr lang="en-US" sz="1100" dirty="0"/>
          </a:p>
        </p:txBody>
      </p:sp>
      <p:sp>
        <p:nvSpPr>
          <p:cNvPr id="13" name="Shape 11"/>
          <p:cNvSpPr/>
          <p:nvPr/>
        </p:nvSpPr>
        <p:spPr>
          <a:xfrm>
            <a:off x="5504688" y="3977640"/>
            <a:ext cx="1600200" cy="640080"/>
          </a:xfrm>
          <a:prstGeom prst="roundRect">
            <a:avLst>
              <a:gd name="adj" fmla="val 14286"/>
            </a:avLst>
          </a:prstGeom>
          <a:solidFill>
            <a:srgbClr val="0D3A5C"/>
          </a:solidFill>
          <a:ln w="12700">
            <a:solidFill>
              <a:srgbClr val="E8A838"/>
            </a:solidFill>
            <a:prstDash val="solid"/>
          </a:ln>
        </p:spPr>
        <p:txBody>
          <a:bodyPr/>
          <a:lstStyle/>
          <a:p>
            <a:endParaRPr lang="es-CO"/>
          </a:p>
        </p:txBody>
      </p:sp>
      <p:sp>
        <p:nvSpPr>
          <p:cNvPr id="14" name="Text 12"/>
          <p:cNvSpPr/>
          <p:nvPr/>
        </p:nvSpPr>
        <p:spPr>
          <a:xfrm>
            <a:off x="5504688" y="3977640"/>
            <a:ext cx="1600200" cy="6400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Visualización</a:t>
            </a:r>
            <a:endParaRPr lang="en-US" sz="1100" dirty="0"/>
          </a:p>
        </p:txBody>
      </p:sp>
      <p:sp>
        <p:nvSpPr>
          <p:cNvPr id="15" name="Shape 13"/>
          <p:cNvSpPr/>
          <p:nvPr/>
        </p:nvSpPr>
        <p:spPr>
          <a:xfrm>
            <a:off x="7187184" y="3977640"/>
            <a:ext cx="1600200" cy="640080"/>
          </a:xfrm>
          <a:prstGeom prst="roundRect">
            <a:avLst>
              <a:gd name="adj" fmla="val 14286"/>
            </a:avLst>
          </a:prstGeom>
          <a:solidFill>
            <a:srgbClr val="0D3A5C"/>
          </a:solidFill>
          <a:ln w="12700">
            <a:solidFill>
              <a:srgbClr val="E8A838"/>
            </a:solidFill>
            <a:prstDash val="solid"/>
          </a:ln>
        </p:spPr>
        <p:txBody>
          <a:bodyPr/>
          <a:lstStyle/>
          <a:p>
            <a:endParaRPr lang="es-CO"/>
          </a:p>
        </p:txBody>
      </p:sp>
      <p:sp>
        <p:nvSpPr>
          <p:cNvPr id="16" name="Text 14"/>
          <p:cNvSpPr/>
          <p:nvPr/>
        </p:nvSpPr>
        <p:spPr>
          <a:xfrm>
            <a:off x="7187184" y="3977640"/>
            <a:ext cx="1600200" cy="6400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Comunicación</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7377"/>
          </a:solidFill>
          <a:ln w="12700">
            <a:solidFill>
              <a:srgbClr val="0D7377"/>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GUÍA DEL PROYECTO INTEGRADOR — Paso a Paso con Python</a:t>
            </a:r>
            <a:endParaRPr lang="en-US" sz="2000" dirty="0"/>
          </a:p>
        </p:txBody>
      </p:sp>
      <p:sp>
        <p:nvSpPr>
          <p:cNvPr id="4" name="Shape 2"/>
          <p:cNvSpPr/>
          <p:nvPr/>
        </p:nvSpPr>
        <p:spPr>
          <a:xfrm>
            <a:off x="274320" y="1005840"/>
            <a:ext cx="411480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5" name="Shape 3"/>
          <p:cNvSpPr/>
          <p:nvPr/>
        </p:nvSpPr>
        <p:spPr>
          <a:xfrm>
            <a:off x="274320" y="1005840"/>
            <a:ext cx="4114800" cy="411480"/>
          </a:xfrm>
          <a:prstGeom prst="rect">
            <a:avLst/>
          </a:prstGeom>
          <a:solidFill>
            <a:srgbClr val="1A3A5C"/>
          </a:solidFill>
          <a:ln w="12700">
            <a:solidFill>
              <a:srgbClr val="1A3A5C"/>
            </a:solidFill>
            <a:prstDash val="solid"/>
          </a:ln>
        </p:spPr>
        <p:txBody>
          <a:bodyPr/>
          <a:lstStyle/>
          <a:p>
            <a:endParaRPr lang="es-CO"/>
          </a:p>
        </p:txBody>
      </p:sp>
      <p:sp>
        <p:nvSpPr>
          <p:cNvPr id="6" name="Text 4"/>
          <p:cNvSpPr/>
          <p:nvPr/>
        </p:nvSpPr>
        <p:spPr>
          <a:xfrm>
            <a:off x="365760" y="1005840"/>
            <a:ext cx="393192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PASO 1: Formular la pregunta</a:t>
            </a:r>
            <a:endParaRPr lang="en-US" sz="1300" dirty="0"/>
          </a:p>
        </p:txBody>
      </p:sp>
      <p:sp>
        <p:nvSpPr>
          <p:cNvPr id="7" name="Text 5"/>
          <p:cNvSpPr/>
          <p:nvPr/>
        </p:nvSpPr>
        <p:spPr>
          <a:xfrm>
            <a:off x="365760" y="1463040"/>
            <a:ext cx="3931920" cy="283464"/>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Definir Y (variable dependiente) y X (predictores)</a:t>
            </a:r>
            <a:endParaRPr lang="en-US" sz="1000" dirty="0"/>
          </a:p>
        </p:txBody>
      </p:sp>
      <p:sp>
        <p:nvSpPr>
          <p:cNvPr id="8" name="Text 6"/>
          <p:cNvSpPr/>
          <p:nvPr/>
        </p:nvSpPr>
        <p:spPr>
          <a:xfrm>
            <a:off x="365760" y="1764792"/>
            <a:ext cx="3931920" cy="283464"/>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Justificación teórica de las variables</a:t>
            </a:r>
            <a:endParaRPr lang="en-US" sz="1000" dirty="0"/>
          </a:p>
        </p:txBody>
      </p:sp>
      <p:sp>
        <p:nvSpPr>
          <p:cNvPr id="9" name="Text 7"/>
          <p:cNvSpPr/>
          <p:nvPr/>
        </p:nvSpPr>
        <p:spPr>
          <a:xfrm>
            <a:off x="365760" y="2066544"/>
            <a:ext cx="3931920" cy="283464"/>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Ejemplos: '¿Afecta el desempleo la criminalidad?'</a:t>
            </a:r>
            <a:endParaRPr lang="en-US" sz="1000" dirty="0"/>
          </a:p>
        </p:txBody>
      </p:sp>
      <p:sp>
        <p:nvSpPr>
          <p:cNvPr id="10" name="Shape 8"/>
          <p:cNvSpPr/>
          <p:nvPr/>
        </p:nvSpPr>
        <p:spPr>
          <a:xfrm>
            <a:off x="365760" y="2414016"/>
            <a:ext cx="3931920" cy="347472"/>
          </a:xfrm>
          <a:prstGeom prst="rect">
            <a:avLst/>
          </a:prstGeom>
          <a:solidFill>
            <a:srgbClr val="1E1E2E"/>
          </a:solidFill>
          <a:ln w="12700">
            <a:solidFill>
              <a:srgbClr val="1E1E2E"/>
            </a:solidFill>
            <a:prstDash val="solid"/>
          </a:ln>
        </p:spPr>
        <p:txBody>
          <a:bodyPr/>
          <a:lstStyle/>
          <a:p>
            <a:endParaRPr lang="es-CO"/>
          </a:p>
        </p:txBody>
      </p:sp>
      <p:sp>
        <p:nvSpPr>
          <p:cNvPr id="11" name="Text 9"/>
          <p:cNvSpPr/>
          <p:nvPr/>
        </p:nvSpPr>
        <p:spPr>
          <a:xfrm>
            <a:off x="411480" y="2414016"/>
            <a:ext cx="3840480" cy="347472"/>
          </a:xfrm>
          <a:prstGeom prst="rect">
            <a:avLst/>
          </a:prstGeom>
          <a:noFill/>
          <a:ln/>
        </p:spPr>
        <p:txBody>
          <a:bodyPr wrap="square" rtlCol="0" anchor="ctr"/>
          <a:lstStyle/>
          <a:p>
            <a:pPr marL="0" indent="0">
              <a:buNone/>
            </a:pPr>
            <a:r>
              <a:rPr lang="en-US" sz="850" dirty="0">
                <a:solidFill>
                  <a:srgbClr val="FFD43B"/>
                </a:solidFill>
                <a:latin typeface="Consolas" pitchFamily="34" charset="0"/>
                <a:ea typeface="Consolas" pitchFamily="34" charset="-122"/>
                <a:cs typeface="Consolas" pitchFamily="34" charset="-120"/>
              </a:rPr>
              <a:t>🐍 # Hipótesis previa es obligatoria</a:t>
            </a:r>
            <a:endParaRPr lang="en-US" sz="850" dirty="0"/>
          </a:p>
        </p:txBody>
      </p:sp>
      <p:sp>
        <p:nvSpPr>
          <p:cNvPr id="12" name="Shape 10"/>
          <p:cNvSpPr/>
          <p:nvPr/>
        </p:nvSpPr>
        <p:spPr>
          <a:xfrm>
            <a:off x="4709160" y="1005840"/>
            <a:ext cx="411480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3" name="Shape 11"/>
          <p:cNvSpPr/>
          <p:nvPr/>
        </p:nvSpPr>
        <p:spPr>
          <a:xfrm>
            <a:off x="4709160" y="1005840"/>
            <a:ext cx="4114800" cy="411480"/>
          </a:xfrm>
          <a:prstGeom prst="rect">
            <a:avLst/>
          </a:prstGeom>
          <a:solidFill>
            <a:srgbClr val="0D7377"/>
          </a:solidFill>
          <a:ln w="12700">
            <a:solidFill>
              <a:srgbClr val="0D7377"/>
            </a:solidFill>
            <a:prstDash val="solid"/>
          </a:ln>
        </p:spPr>
        <p:txBody>
          <a:bodyPr/>
          <a:lstStyle/>
          <a:p>
            <a:endParaRPr lang="es-CO"/>
          </a:p>
        </p:txBody>
      </p:sp>
      <p:sp>
        <p:nvSpPr>
          <p:cNvPr id="14" name="Text 12"/>
          <p:cNvSpPr/>
          <p:nvPr/>
        </p:nvSpPr>
        <p:spPr>
          <a:xfrm>
            <a:off x="4800600" y="1005840"/>
            <a:ext cx="393192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PASO 2: Datos y EDA</a:t>
            </a:r>
            <a:endParaRPr lang="en-US" sz="1300" dirty="0"/>
          </a:p>
        </p:txBody>
      </p:sp>
      <p:sp>
        <p:nvSpPr>
          <p:cNvPr id="15" name="Text 13"/>
          <p:cNvSpPr/>
          <p:nvPr/>
        </p:nvSpPr>
        <p:spPr>
          <a:xfrm>
            <a:off x="4800600" y="1463040"/>
            <a:ext cx="3931920" cy="283464"/>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Fuentes: DANE, Banco Mundial, Kaggle</a:t>
            </a:r>
            <a:endParaRPr lang="en-US" sz="1000" dirty="0"/>
          </a:p>
        </p:txBody>
      </p:sp>
      <p:sp>
        <p:nvSpPr>
          <p:cNvPr id="16" name="Text 14"/>
          <p:cNvSpPr/>
          <p:nvPr/>
        </p:nvSpPr>
        <p:spPr>
          <a:xfrm>
            <a:off x="4800600" y="1764792"/>
            <a:ext cx="3931920" cy="283464"/>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df.describe(), df.info(), sns.heatmap()</a:t>
            </a:r>
            <a:endParaRPr lang="en-US" sz="1000" dirty="0"/>
          </a:p>
        </p:txBody>
      </p:sp>
      <p:sp>
        <p:nvSpPr>
          <p:cNvPr id="17" name="Text 15"/>
          <p:cNvSpPr/>
          <p:nvPr/>
        </p:nvSpPr>
        <p:spPr>
          <a:xfrm>
            <a:off x="4800600" y="2066544"/>
            <a:ext cx="3931920" cy="283464"/>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Detectar y tratar outliers</a:t>
            </a:r>
            <a:endParaRPr lang="en-US" sz="1000" dirty="0"/>
          </a:p>
        </p:txBody>
      </p:sp>
      <p:sp>
        <p:nvSpPr>
          <p:cNvPr id="18" name="Shape 16"/>
          <p:cNvSpPr/>
          <p:nvPr/>
        </p:nvSpPr>
        <p:spPr>
          <a:xfrm>
            <a:off x="4800600" y="2414016"/>
            <a:ext cx="3931920" cy="347472"/>
          </a:xfrm>
          <a:prstGeom prst="rect">
            <a:avLst/>
          </a:prstGeom>
          <a:solidFill>
            <a:srgbClr val="1E1E2E"/>
          </a:solidFill>
          <a:ln w="12700">
            <a:solidFill>
              <a:srgbClr val="1E1E2E"/>
            </a:solidFill>
            <a:prstDash val="solid"/>
          </a:ln>
        </p:spPr>
        <p:txBody>
          <a:bodyPr/>
          <a:lstStyle/>
          <a:p>
            <a:endParaRPr lang="es-CO"/>
          </a:p>
        </p:txBody>
      </p:sp>
      <p:sp>
        <p:nvSpPr>
          <p:cNvPr id="19" name="Text 17"/>
          <p:cNvSpPr/>
          <p:nvPr/>
        </p:nvSpPr>
        <p:spPr>
          <a:xfrm>
            <a:off x="4846320" y="2414016"/>
            <a:ext cx="3840480" cy="347472"/>
          </a:xfrm>
          <a:prstGeom prst="rect">
            <a:avLst/>
          </a:prstGeom>
          <a:noFill/>
          <a:ln/>
        </p:spPr>
        <p:txBody>
          <a:bodyPr wrap="square" rtlCol="0" anchor="ctr"/>
          <a:lstStyle/>
          <a:p>
            <a:pPr marL="0" indent="0">
              <a:buNone/>
            </a:pPr>
            <a:r>
              <a:rPr lang="en-US" sz="850" dirty="0">
                <a:solidFill>
                  <a:srgbClr val="FFD43B"/>
                </a:solidFill>
                <a:latin typeface="Consolas" pitchFamily="34" charset="0"/>
                <a:ea typeface="Consolas" pitchFamily="34" charset="-122"/>
                <a:cs typeface="Consolas" pitchFamily="34" charset="-120"/>
              </a:rPr>
              <a:t>🐍 df = pd.read_csv('datos.csv')</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df.describe()</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df.isnull().sum()</a:t>
            </a:r>
            <a:endParaRPr lang="en-US" sz="850" dirty="0"/>
          </a:p>
        </p:txBody>
      </p:sp>
      <p:sp>
        <p:nvSpPr>
          <p:cNvPr id="20" name="Shape 18"/>
          <p:cNvSpPr/>
          <p:nvPr/>
        </p:nvSpPr>
        <p:spPr>
          <a:xfrm>
            <a:off x="274320" y="3017520"/>
            <a:ext cx="411480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1" name="Shape 19"/>
          <p:cNvSpPr/>
          <p:nvPr/>
        </p:nvSpPr>
        <p:spPr>
          <a:xfrm>
            <a:off x="274320" y="3017520"/>
            <a:ext cx="4114800" cy="411480"/>
          </a:xfrm>
          <a:prstGeom prst="rect">
            <a:avLst/>
          </a:prstGeom>
          <a:solidFill>
            <a:srgbClr val="8E44AD"/>
          </a:solidFill>
          <a:ln w="12700">
            <a:solidFill>
              <a:srgbClr val="8E44AD"/>
            </a:solidFill>
            <a:prstDash val="solid"/>
          </a:ln>
        </p:spPr>
        <p:txBody>
          <a:bodyPr/>
          <a:lstStyle/>
          <a:p>
            <a:endParaRPr lang="es-CO"/>
          </a:p>
        </p:txBody>
      </p:sp>
      <p:sp>
        <p:nvSpPr>
          <p:cNvPr id="22" name="Text 20"/>
          <p:cNvSpPr/>
          <p:nvPr/>
        </p:nvSpPr>
        <p:spPr>
          <a:xfrm>
            <a:off x="365760" y="3017520"/>
            <a:ext cx="393192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PASO 3: Ajustar el modelo</a:t>
            </a:r>
            <a:endParaRPr lang="en-US" sz="1300" dirty="0"/>
          </a:p>
        </p:txBody>
      </p:sp>
      <p:sp>
        <p:nvSpPr>
          <p:cNvPr id="23" name="Text 21"/>
          <p:cNvSpPr/>
          <p:nvPr/>
        </p:nvSpPr>
        <p:spPr>
          <a:xfrm>
            <a:off x="365760" y="3474720"/>
            <a:ext cx="3931920" cy="283464"/>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OLS con statsmodels para salida completa</a:t>
            </a:r>
            <a:endParaRPr lang="en-US" sz="1000" dirty="0"/>
          </a:p>
        </p:txBody>
      </p:sp>
      <p:sp>
        <p:nvSpPr>
          <p:cNvPr id="24" name="Text 22"/>
          <p:cNvSpPr/>
          <p:nvPr/>
        </p:nvSpPr>
        <p:spPr>
          <a:xfrm>
            <a:off x="365760" y="3776472"/>
            <a:ext cx="3931920" cy="283464"/>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Verificar </a:t>
            </a:r>
            <a:r>
              <a:rPr lang="en-US" sz="1000" dirty="0" err="1">
                <a:solidFill>
                  <a:srgbClr val="1E293B"/>
                </a:solidFill>
                <a:latin typeface="Calibri" pitchFamily="34" charset="0"/>
                <a:ea typeface="Calibri" pitchFamily="34" charset="-122"/>
                <a:cs typeface="Calibri" pitchFamily="34" charset="-120"/>
              </a:rPr>
              <a:t>supuestos</a:t>
            </a:r>
            <a:r>
              <a:rPr lang="en-US" sz="1000" dirty="0">
                <a:solidFill>
                  <a:srgbClr val="1E293B"/>
                </a:solidFill>
                <a:latin typeface="Calibri" pitchFamily="34" charset="0"/>
                <a:ea typeface="Calibri" pitchFamily="34" charset="-122"/>
                <a:cs typeface="Calibri" pitchFamily="34" charset="-120"/>
              </a:rPr>
              <a:t>: residuos, normalidad</a:t>
            </a:r>
            <a:endParaRPr lang="en-US" sz="1000" dirty="0"/>
          </a:p>
        </p:txBody>
      </p:sp>
      <p:sp>
        <p:nvSpPr>
          <p:cNvPr id="25" name="Text 23"/>
          <p:cNvSpPr/>
          <p:nvPr/>
        </p:nvSpPr>
        <p:spPr>
          <a:xfrm>
            <a:off x="365760" y="4078224"/>
            <a:ext cx="3931920" cy="283464"/>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Calcular R², F-test, p-valores</a:t>
            </a:r>
            <a:endParaRPr lang="en-US" sz="1000" dirty="0"/>
          </a:p>
        </p:txBody>
      </p:sp>
      <p:sp>
        <p:nvSpPr>
          <p:cNvPr id="26" name="Shape 24"/>
          <p:cNvSpPr/>
          <p:nvPr/>
        </p:nvSpPr>
        <p:spPr>
          <a:xfrm>
            <a:off x="365760" y="4425696"/>
            <a:ext cx="3931920" cy="347472"/>
          </a:xfrm>
          <a:prstGeom prst="rect">
            <a:avLst/>
          </a:prstGeom>
          <a:solidFill>
            <a:srgbClr val="1E1E2E"/>
          </a:solidFill>
          <a:ln w="12700">
            <a:solidFill>
              <a:srgbClr val="1E1E2E"/>
            </a:solidFill>
            <a:prstDash val="solid"/>
          </a:ln>
        </p:spPr>
        <p:txBody>
          <a:bodyPr/>
          <a:lstStyle/>
          <a:p>
            <a:endParaRPr lang="es-CO"/>
          </a:p>
        </p:txBody>
      </p:sp>
      <p:sp>
        <p:nvSpPr>
          <p:cNvPr id="27" name="Text 25"/>
          <p:cNvSpPr/>
          <p:nvPr/>
        </p:nvSpPr>
        <p:spPr>
          <a:xfrm>
            <a:off x="411480" y="4425696"/>
            <a:ext cx="3840480" cy="347472"/>
          </a:xfrm>
          <a:prstGeom prst="rect">
            <a:avLst/>
          </a:prstGeom>
          <a:noFill/>
          <a:ln/>
        </p:spPr>
        <p:txBody>
          <a:bodyPr wrap="square" rtlCol="0" anchor="ctr"/>
          <a:lstStyle/>
          <a:p>
            <a:pPr marL="0" indent="0">
              <a:buNone/>
            </a:pPr>
            <a:r>
              <a:rPr lang="en-US" sz="850" dirty="0">
                <a:solidFill>
                  <a:srgbClr val="FFD43B"/>
                </a:solidFill>
                <a:latin typeface="Consolas" pitchFamily="34" charset="0"/>
                <a:ea typeface="Consolas" pitchFamily="34" charset="-122"/>
                <a:cs typeface="Consolas" pitchFamily="34" charset="-120"/>
              </a:rPr>
              <a:t>🐍 X = sm.add_constant(X)</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mod = sm.OLS(y,X).fit()</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print(mod.summary())</a:t>
            </a:r>
            <a:endParaRPr lang="en-US" sz="850" dirty="0"/>
          </a:p>
        </p:txBody>
      </p:sp>
      <p:sp>
        <p:nvSpPr>
          <p:cNvPr id="28" name="Shape 26"/>
          <p:cNvSpPr/>
          <p:nvPr/>
        </p:nvSpPr>
        <p:spPr>
          <a:xfrm>
            <a:off x="4709160" y="3017520"/>
            <a:ext cx="411480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9" name="Shape 27"/>
          <p:cNvSpPr/>
          <p:nvPr/>
        </p:nvSpPr>
        <p:spPr>
          <a:xfrm>
            <a:off x="4709160" y="3017520"/>
            <a:ext cx="4114800" cy="411480"/>
          </a:xfrm>
          <a:prstGeom prst="rect">
            <a:avLst/>
          </a:prstGeom>
          <a:solidFill>
            <a:srgbClr val="E67E22"/>
          </a:solidFill>
          <a:ln w="12700">
            <a:solidFill>
              <a:srgbClr val="E67E22"/>
            </a:solidFill>
            <a:prstDash val="solid"/>
          </a:ln>
        </p:spPr>
        <p:txBody>
          <a:bodyPr/>
          <a:lstStyle/>
          <a:p>
            <a:endParaRPr lang="es-CO"/>
          </a:p>
        </p:txBody>
      </p:sp>
      <p:sp>
        <p:nvSpPr>
          <p:cNvPr id="30" name="Text 28"/>
          <p:cNvSpPr/>
          <p:nvPr/>
        </p:nvSpPr>
        <p:spPr>
          <a:xfrm>
            <a:off x="4800600" y="3017520"/>
            <a:ext cx="393192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PASO 4: Interpretar y comunicar</a:t>
            </a:r>
            <a:endParaRPr lang="en-US" sz="1300" dirty="0"/>
          </a:p>
        </p:txBody>
      </p:sp>
      <p:sp>
        <p:nvSpPr>
          <p:cNvPr id="31" name="Text 29"/>
          <p:cNvSpPr/>
          <p:nvPr/>
        </p:nvSpPr>
        <p:spPr>
          <a:xfrm>
            <a:off x="4800600" y="3474720"/>
            <a:ext cx="3931920" cy="283464"/>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Magnitud del efecto + significancia</a:t>
            </a:r>
            <a:endParaRPr lang="en-US" sz="1000" dirty="0"/>
          </a:p>
        </p:txBody>
      </p:sp>
      <p:sp>
        <p:nvSpPr>
          <p:cNvPr id="32" name="Text 30"/>
          <p:cNvSpPr/>
          <p:nvPr/>
        </p:nvSpPr>
        <p:spPr>
          <a:xfrm>
            <a:off x="4800600" y="3776472"/>
            <a:ext cx="3931920" cy="283464"/>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Señalar limitaciones explícitamente</a:t>
            </a:r>
            <a:endParaRPr lang="en-US" sz="1000" dirty="0"/>
          </a:p>
        </p:txBody>
      </p:sp>
      <p:sp>
        <p:nvSpPr>
          <p:cNvPr id="33" name="Text 31"/>
          <p:cNvSpPr/>
          <p:nvPr/>
        </p:nvSpPr>
        <p:spPr>
          <a:xfrm>
            <a:off x="4800600" y="4078224"/>
            <a:ext cx="3931920" cy="283464"/>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Jupyter Notebook como entregable final</a:t>
            </a:r>
            <a:endParaRPr lang="en-US" sz="1000" dirty="0"/>
          </a:p>
        </p:txBody>
      </p:sp>
      <p:sp>
        <p:nvSpPr>
          <p:cNvPr id="34" name="Shape 32"/>
          <p:cNvSpPr/>
          <p:nvPr/>
        </p:nvSpPr>
        <p:spPr>
          <a:xfrm>
            <a:off x="4800600" y="4425696"/>
            <a:ext cx="3931920" cy="347472"/>
          </a:xfrm>
          <a:prstGeom prst="rect">
            <a:avLst/>
          </a:prstGeom>
          <a:solidFill>
            <a:srgbClr val="1E1E2E"/>
          </a:solidFill>
          <a:ln w="12700">
            <a:solidFill>
              <a:srgbClr val="1E1E2E"/>
            </a:solidFill>
            <a:prstDash val="solid"/>
          </a:ln>
        </p:spPr>
        <p:txBody>
          <a:bodyPr/>
          <a:lstStyle/>
          <a:p>
            <a:endParaRPr lang="es-CO"/>
          </a:p>
        </p:txBody>
      </p:sp>
      <p:sp>
        <p:nvSpPr>
          <p:cNvPr id="35" name="Text 33"/>
          <p:cNvSpPr/>
          <p:nvPr/>
        </p:nvSpPr>
        <p:spPr>
          <a:xfrm>
            <a:off x="4846320" y="4425696"/>
            <a:ext cx="3840480" cy="347472"/>
          </a:xfrm>
          <a:prstGeom prst="rect">
            <a:avLst/>
          </a:prstGeom>
          <a:noFill/>
          <a:ln/>
        </p:spPr>
        <p:txBody>
          <a:bodyPr wrap="square" rtlCol="0" anchor="ctr"/>
          <a:lstStyle/>
          <a:p>
            <a:pPr marL="0" indent="0">
              <a:buNone/>
            </a:pPr>
            <a:r>
              <a:rPr lang="en-US" sz="850" dirty="0">
                <a:solidFill>
                  <a:srgbClr val="FFD43B"/>
                </a:solidFill>
                <a:latin typeface="Consolas" pitchFamily="34" charset="0"/>
                <a:ea typeface="Consolas" pitchFamily="34" charset="-122"/>
                <a:cs typeface="Consolas" pitchFamily="34" charset="-120"/>
              </a:rPr>
              <a:t>🐍 sns.residplot(...)</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plt.savefig('resultados.png')</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E8A838"/>
          </a:solidFill>
          <a:ln w="12700">
            <a:solidFill>
              <a:srgbClr val="E8A838"/>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RÚBRICA DE EVALUACIÓN DEL PROYECTO INTEGRADOR</a:t>
            </a:r>
            <a:endParaRPr lang="en-US" sz="2000" dirty="0"/>
          </a:p>
        </p:txBody>
      </p:sp>
      <p:sp>
        <p:nvSpPr>
          <p:cNvPr id="4" name="Shape 2"/>
          <p:cNvSpPr/>
          <p:nvPr/>
        </p:nvSpPr>
        <p:spPr>
          <a:xfrm>
            <a:off x="0" y="0"/>
            <a:ext cx="9144000" cy="914400"/>
          </a:xfrm>
          <a:prstGeom prst="rect">
            <a:avLst/>
          </a:prstGeom>
          <a:solidFill>
            <a:srgbClr val="E8A838"/>
          </a:solidFill>
          <a:ln w="12700">
            <a:solidFill>
              <a:srgbClr val="E8A838"/>
            </a:solidFill>
            <a:prstDash val="solid"/>
          </a:ln>
        </p:spPr>
        <p:txBody>
          <a:bodyPr/>
          <a:lstStyle/>
          <a:p>
            <a:endParaRPr lang="es-CO"/>
          </a:p>
        </p:txBody>
      </p:sp>
      <p:sp>
        <p:nvSpPr>
          <p:cNvPr id="5" name="Text 3"/>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1A3A5C"/>
                </a:solidFill>
                <a:latin typeface="Calibri" pitchFamily="34" charset="0"/>
                <a:ea typeface="Calibri" pitchFamily="34" charset="-122"/>
                <a:cs typeface="Calibri" pitchFamily="34" charset="-120"/>
              </a:rPr>
              <a:t>RÚBRICA DE EVALUACIÓN DEL PROYECTO INTEGRADOR</a:t>
            </a:r>
            <a:endParaRPr lang="en-US" sz="2000" dirty="0"/>
          </a:p>
        </p:txBody>
      </p:sp>
      <p:graphicFrame>
        <p:nvGraphicFramePr>
          <p:cNvPr id="25" name="Table 0"/>
          <p:cNvGraphicFramePr>
            <a:graphicFrameLocks noGrp="1"/>
          </p:cNvGraphicFramePr>
          <p:nvPr>
            <p:extLst>
              <p:ext uri="{D42A27DB-BD31-4B8C-83A1-F6EECF244321}">
                <p14:modId xmlns:p14="http://schemas.microsoft.com/office/powerpoint/2010/main" val="891025477"/>
              </p:ext>
            </p:extLst>
          </p:nvPr>
        </p:nvGraphicFramePr>
        <p:xfrm>
          <a:off x="274320" y="960120"/>
          <a:ext cx="8412480" cy="3977640"/>
        </p:xfrm>
        <a:graphic>
          <a:graphicData uri="http://schemas.openxmlformats.org/drawingml/2006/table">
            <a:tbl>
              <a:tblPr/>
              <a:tblGrid>
                <a:gridCol w="16459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662940">
                <a:tc>
                  <a:txBody>
                    <a:bodyPr/>
                    <a:lstStyle/>
                    <a:p>
                      <a:pPr marL="0" indent="0">
                        <a:buNone/>
                      </a:pPr>
                      <a:r>
                        <a:rPr lang="es-CO" sz="1000" b="1" noProof="0" dirty="0">
                          <a:solidFill>
                            <a:srgbClr val="FFFFFF"/>
                          </a:solidFill>
                          <a:latin typeface="Calibri" pitchFamily="34" charset="0"/>
                          <a:ea typeface="Calibri" pitchFamily="34" charset="-122"/>
                          <a:cs typeface="Calibri" pitchFamily="34" charset="-120"/>
                        </a:rPr>
                        <a:t>Criterio</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A5C"/>
                    </a:solidFill>
                  </a:tcPr>
                </a:tc>
                <a:tc>
                  <a:txBody>
                    <a:bodyPr/>
                    <a:lstStyle/>
                    <a:p>
                      <a:pPr marL="0" indent="0">
                        <a:buNone/>
                      </a:pPr>
                      <a:r>
                        <a:rPr lang="es-CO" sz="1000" b="1" noProof="0" dirty="0">
                          <a:solidFill>
                            <a:srgbClr val="FFFFFF"/>
                          </a:solidFill>
                          <a:latin typeface="Calibri" pitchFamily="34" charset="0"/>
                          <a:ea typeface="Calibri" pitchFamily="34" charset="-122"/>
                          <a:cs typeface="Calibri" pitchFamily="34" charset="-120"/>
                        </a:rPr>
                        <a:t>Excelente (4-5)</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A5C"/>
                    </a:solidFill>
                  </a:tcPr>
                </a:tc>
                <a:tc>
                  <a:txBody>
                    <a:bodyPr/>
                    <a:lstStyle/>
                    <a:p>
                      <a:pPr marL="0" indent="0">
                        <a:buNone/>
                      </a:pPr>
                      <a:r>
                        <a:rPr lang="es-CO" sz="1000" b="1" noProof="0" dirty="0">
                          <a:solidFill>
                            <a:srgbClr val="FFFFFF"/>
                          </a:solidFill>
                          <a:latin typeface="Calibri" pitchFamily="34" charset="0"/>
                          <a:ea typeface="Calibri" pitchFamily="34" charset="-122"/>
                          <a:cs typeface="Calibri" pitchFamily="34" charset="-120"/>
                        </a:rPr>
                        <a:t>Satisfactorio (2.5-3.9)</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A5C"/>
                    </a:solidFill>
                  </a:tcPr>
                </a:tc>
                <a:tc>
                  <a:txBody>
                    <a:bodyPr/>
                    <a:lstStyle/>
                    <a:p>
                      <a:pPr marL="0" indent="0">
                        <a:buNone/>
                      </a:pPr>
                      <a:r>
                        <a:rPr lang="es-CO" sz="1000" b="1" noProof="0" dirty="0">
                          <a:solidFill>
                            <a:srgbClr val="FFFFFF"/>
                          </a:solidFill>
                          <a:latin typeface="Calibri" pitchFamily="34" charset="0"/>
                          <a:ea typeface="Calibri" pitchFamily="34" charset="-122"/>
                          <a:cs typeface="Calibri" pitchFamily="34" charset="-120"/>
                        </a:rPr>
                        <a:t>Insuficiente (&lt;2.5)</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A5C"/>
                    </a:solidFill>
                  </a:tcPr>
                </a:tc>
                <a:tc>
                  <a:txBody>
                    <a:bodyPr/>
                    <a:lstStyle/>
                    <a:p>
                      <a:pPr marL="0" indent="0">
                        <a:buNone/>
                      </a:pPr>
                      <a:r>
                        <a:rPr lang="es-CO" sz="1000" b="1" noProof="0" dirty="0">
                          <a:solidFill>
                            <a:srgbClr val="FFFFFF"/>
                          </a:solidFill>
                          <a:latin typeface="Calibri" pitchFamily="34" charset="0"/>
                          <a:ea typeface="Calibri" pitchFamily="34" charset="-122"/>
                          <a:cs typeface="Calibri" pitchFamily="34" charset="-120"/>
                        </a:rPr>
                        <a:t>Peso</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662940">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Documentación de su Notebook</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Clara, relevante, declarativa y fácil de interpretar</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Formulada sin suficiente justificación</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Vaga o incompleta</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20%</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662940">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EDA + Python</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EDA completo con gráficas y estadísticas, código comentado</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EDA parcial o sin visualizaciones</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Copiar resultados sin analizar</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20%</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662940">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Modelo OLS + supuestos</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Variables justificadas, supuestos verificados, código reproducible</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Modelo correcto sin verificar supuestos</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Variables ad-hoc sin teoría</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20%</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662940">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Interpretación prudente</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Magnitud, significancia, limitaciones y no-causalidad explicadas</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Interpreta coeficientes pero omite limitaciones</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Solo copia el </a:t>
                      </a:r>
                      <a:r>
                        <a:rPr lang="es-CO" sz="1000" noProof="0" dirty="0" err="1">
                          <a:solidFill>
                            <a:srgbClr val="000000"/>
                          </a:solidFill>
                          <a:latin typeface="Calibri" pitchFamily="34" charset="0"/>
                          <a:ea typeface="Calibri" pitchFamily="34" charset="-122"/>
                          <a:cs typeface="Calibri" pitchFamily="34" charset="-120"/>
                        </a:rPr>
                        <a:t>summary</a:t>
                      </a:r>
                      <a:r>
                        <a:rPr lang="es-CO" sz="1000" noProof="0" dirty="0">
                          <a:solidFill>
                            <a:srgbClr val="000000"/>
                          </a:solidFill>
                          <a:latin typeface="Calibri" pitchFamily="34" charset="0"/>
                          <a:ea typeface="Calibri" pitchFamily="34" charset="-122"/>
                          <a:cs typeface="Calibri" pitchFamily="34" charset="-120"/>
                        </a:rPr>
                        <a:t>() sin análisis</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25%</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662940">
                <a:tc>
                  <a:txBody>
                    <a:bodyPr/>
                    <a:lstStyle/>
                    <a:p>
                      <a:pPr marL="0" indent="0">
                        <a:buNone/>
                      </a:pPr>
                      <a:r>
                        <a:rPr lang="es-CO" sz="1000" noProof="0">
                          <a:solidFill>
                            <a:srgbClr val="000000"/>
                          </a:solidFill>
                          <a:latin typeface="Calibri" pitchFamily="34" charset="0"/>
                          <a:ea typeface="Calibri" pitchFamily="34" charset="-122"/>
                          <a:cs typeface="Calibri" pitchFamily="34" charset="-120"/>
                        </a:rPr>
                        <a:t>Presentación</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Notebook ordenado, 10 min exactos, responde preguntas técnicas</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Presentación clara pero desorganizado el código</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Notebook desordenado o no responde preguntas</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s-CO" sz="1000" noProof="0" dirty="0">
                          <a:solidFill>
                            <a:srgbClr val="000000"/>
                          </a:solidFill>
                          <a:latin typeface="Calibri" pitchFamily="34" charset="0"/>
                          <a:ea typeface="Calibri" pitchFamily="34" charset="-122"/>
                          <a:cs typeface="Calibri" pitchFamily="34" charset="-120"/>
                        </a:rPr>
                        <a:t>15%</a:t>
                      </a:r>
                      <a:endParaRPr lang="es-CO" sz="1000" noProof="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274320" y="4983480"/>
            <a:ext cx="8595360" cy="73152"/>
          </a:xfrm>
          <a:prstGeom prst="rect">
            <a:avLst/>
          </a:prstGeom>
          <a:solidFill>
            <a:srgbClr val="1A3A5C"/>
          </a:solidFill>
          <a:ln w="12700">
            <a:solidFill>
              <a:srgbClr val="1A3A5C"/>
            </a:solidFill>
            <a:prstDash val="solid"/>
          </a:ln>
        </p:spPr>
        <p:txBody>
          <a:bodyPr/>
          <a:lstStyle/>
          <a:p>
            <a:endParaRPr lang="es-CO"/>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8A838"/>
          </a:solidFill>
          <a:ln w="12700">
            <a:solidFill>
              <a:srgbClr val="E8A838"/>
            </a:solidFill>
            <a:prstDash val="solid"/>
          </a:ln>
        </p:spPr>
        <p:txBody>
          <a:bodyPr/>
          <a:lstStyle/>
          <a:p>
            <a:endParaRPr lang="es-CO"/>
          </a:p>
        </p:txBody>
      </p:sp>
      <p:sp>
        <p:nvSpPr>
          <p:cNvPr id="3" name="Shape 1"/>
          <p:cNvSpPr/>
          <p:nvPr/>
        </p:nvSpPr>
        <p:spPr>
          <a:xfrm>
            <a:off x="0" y="5029200"/>
            <a:ext cx="9144000" cy="109728"/>
          </a:xfrm>
          <a:prstGeom prst="rect">
            <a:avLst/>
          </a:prstGeom>
          <a:solidFill>
            <a:srgbClr val="E8A838"/>
          </a:solidFill>
          <a:ln w="12700">
            <a:solidFill>
              <a:srgbClr val="E8A838"/>
            </a:solidFill>
            <a:prstDash val="solid"/>
          </a:ln>
        </p:spPr>
        <p:txBody>
          <a:bodyPr/>
          <a:lstStyle/>
          <a:p>
            <a:endParaRPr lang="es-CO"/>
          </a:p>
        </p:txBody>
      </p:sp>
      <p:sp>
        <p:nvSpPr>
          <p:cNvPr id="4" name="Text 2"/>
          <p:cNvSpPr/>
          <p:nvPr/>
        </p:nvSpPr>
        <p:spPr>
          <a:xfrm>
            <a:off x="457200" y="320040"/>
            <a:ext cx="8229600" cy="530352"/>
          </a:xfrm>
          <a:prstGeom prst="rect">
            <a:avLst/>
          </a:prstGeom>
          <a:noFill/>
          <a:ln/>
        </p:spPr>
        <p:txBody>
          <a:bodyPr wrap="square" rtlCol="0" anchor="ctr"/>
          <a:lstStyle/>
          <a:p>
            <a:pPr marL="0" indent="0" algn="ctr">
              <a:buNone/>
            </a:pPr>
            <a:r>
              <a:rPr lang="en-US" sz="2400" b="1" dirty="0">
                <a:solidFill>
                  <a:srgbClr val="E8A838"/>
                </a:solidFill>
                <a:latin typeface="Calibri" pitchFamily="34" charset="0"/>
                <a:ea typeface="Calibri" pitchFamily="34" charset="-122"/>
                <a:cs typeface="Calibri" pitchFamily="34" charset="-120"/>
              </a:rPr>
              <a:t>LO QUE LLEVAS DE ESTE CURSO</a:t>
            </a:r>
            <a:endParaRPr lang="en-US" sz="2400" dirty="0"/>
          </a:p>
        </p:txBody>
      </p:sp>
      <p:sp>
        <p:nvSpPr>
          <p:cNvPr id="5" name="Shape 3"/>
          <p:cNvSpPr/>
          <p:nvPr/>
        </p:nvSpPr>
        <p:spPr>
          <a:xfrm>
            <a:off x="365760" y="1051560"/>
            <a:ext cx="4114800" cy="1508760"/>
          </a:xfrm>
          <a:prstGeom prst="rect">
            <a:avLst/>
          </a:prstGeom>
          <a:solidFill>
            <a:srgbClr val="152A45"/>
          </a:solidFill>
          <a:ln w="12700">
            <a:solidFill>
              <a:srgbClr val="0D7377"/>
            </a:solidFill>
            <a:prstDash val="solid"/>
          </a:ln>
          <a:effectLst>
            <a:outerShdw blurRad="101600" dist="38100" dir="8100000" algn="bl" rotWithShape="0">
              <a:srgbClr val="000000">
                <a:alpha val="12000"/>
              </a:srgbClr>
            </a:outerShdw>
          </a:effectLst>
        </p:spPr>
        <p:txBody>
          <a:bodyPr/>
          <a:lstStyle/>
          <a:p>
            <a:endParaRPr lang="es-CO"/>
          </a:p>
        </p:txBody>
      </p:sp>
      <p:sp>
        <p:nvSpPr>
          <p:cNvPr id="6" name="Text 4"/>
          <p:cNvSpPr/>
          <p:nvPr/>
        </p:nvSpPr>
        <p:spPr>
          <a:xfrm>
            <a:off x="365760" y="1143000"/>
            <a:ext cx="822960" cy="1280160"/>
          </a:xfrm>
          <a:prstGeom prst="rect">
            <a:avLst/>
          </a:prstGeom>
          <a:noFill/>
          <a:ln/>
        </p:spPr>
        <p:txBody>
          <a:bodyPr wrap="square" rtlCol="0" anchor="ctr"/>
          <a:lstStyle/>
          <a:p>
            <a:pPr marL="0" indent="0" algn="ctr">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7" name="Text 5"/>
          <p:cNvSpPr/>
          <p:nvPr/>
        </p:nvSpPr>
        <p:spPr>
          <a:xfrm>
            <a:off x="1234440" y="1216152"/>
            <a:ext cx="3108960" cy="365760"/>
          </a:xfrm>
          <a:prstGeom prst="rect">
            <a:avLst/>
          </a:prstGeom>
          <a:noFill/>
          <a:ln/>
        </p:spPr>
        <p:txBody>
          <a:bodyPr wrap="square" rtlCol="0" anchor="ctr"/>
          <a:lstStyle/>
          <a:p>
            <a:pPr marL="0" indent="0">
              <a:buNone/>
            </a:pPr>
            <a:r>
              <a:rPr lang="en-US" sz="1300" b="1" dirty="0">
                <a:solidFill>
                  <a:srgbClr val="E8A838"/>
                </a:solidFill>
                <a:latin typeface="Calibri" pitchFamily="34" charset="0"/>
                <a:ea typeface="Calibri" pitchFamily="34" charset="-122"/>
                <a:cs typeface="Calibri" pitchFamily="34" charset="-120"/>
              </a:rPr>
              <a:t>Herramienta cuantitativa</a:t>
            </a:r>
            <a:endParaRPr lang="en-US" sz="1300" dirty="0"/>
          </a:p>
        </p:txBody>
      </p:sp>
      <p:sp>
        <p:nvSpPr>
          <p:cNvPr id="8" name="Text 6"/>
          <p:cNvSpPr/>
          <p:nvPr/>
        </p:nvSpPr>
        <p:spPr>
          <a:xfrm>
            <a:off x="1234440" y="1618488"/>
            <a:ext cx="3108960" cy="822960"/>
          </a:xfrm>
          <a:prstGeom prst="rect">
            <a:avLst/>
          </a:prstGeom>
          <a:noFill/>
          <a:ln/>
        </p:spPr>
        <p:txBody>
          <a:bodyPr wrap="square" rtlCol="0" anchor="ctr"/>
          <a:lstStyle/>
          <a:p>
            <a:pPr marL="0" indent="0">
              <a:buNone/>
            </a:pPr>
            <a:r>
              <a:rPr lang="en-US" sz="1100" dirty="0">
                <a:solidFill>
                  <a:srgbClr val="A8C8E8"/>
                </a:solidFill>
                <a:latin typeface="Calibri" pitchFamily="34" charset="0"/>
                <a:ea typeface="Calibri" pitchFamily="34" charset="-122"/>
                <a:cs typeface="Calibri" pitchFamily="34" charset="-120"/>
              </a:rPr>
              <a:t>Regresión simple y múltiple con Python para modelar relaciones reales en economía y ciencias sociales</a:t>
            </a:r>
            <a:endParaRPr lang="en-US" sz="1100" dirty="0"/>
          </a:p>
        </p:txBody>
      </p:sp>
      <p:sp>
        <p:nvSpPr>
          <p:cNvPr id="9" name="Shape 7"/>
          <p:cNvSpPr/>
          <p:nvPr/>
        </p:nvSpPr>
        <p:spPr>
          <a:xfrm>
            <a:off x="4754880" y="1051560"/>
            <a:ext cx="4114800" cy="1508760"/>
          </a:xfrm>
          <a:prstGeom prst="rect">
            <a:avLst/>
          </a:prstGeom>
          <a:solidFill>
            <a:srgbClr val="152A45"/>
          </a:solidFill>
          <a:ln w="12700">
            <a:solidFill>
              <a:srgbClr val="0D7377"/>
            </a:solidFill>
            <a:prstDash val="solid"/>
          </a:ln>
          <a:effectLst>
            <a:outerShdw blurRad="101600" dist="38100" dir="8100000" algn="bl" rotWithShape="0">
              <a:srgbClr val="000000">
                <a:alpha val="12000"/>
              </a:srgbClr>
            </a:outerShdw>
          </a:effectLst>
        </p:spPr>
        <p:txBody>
          <a:bodyPr/>
          <a:lstStyle/>
          <a:p>
            <a:endParaRPr lang="es-CO"/>
          </a:p>
        </p:txBody>
      </p:sp>
      <p:sp>
        <p:nvSpPr>
          <p:cNvPr id="10" name="Text 8"/>
          <p:cNvSpPr/>
          <p:nvPr/>
        </p:nvSpPr>
        <p:spPr>
          <a:xfrm>
            <a:off x="4754880" y="1143000"/>
            <a:ext cx="822960" cy="1280160"/>
          </a:xfrm>
          <a:prstGeom prst="rect">
            <a:avLst/>
          </a:prstGeom>
          <a:noFill/>
          <a:ln/>
        </p:spPr>
        <p:txBody>
          <a:bodyPr wrap="square" rtlCol="0" anchor="ctr"/>
          <a:lstStyle/>
          <a:p>
            <a:pPr marL="0" indent="0" algn="ctr">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11" name="Text 9"/>
          <p:cNvSpPr/>
          <p:nvPr/>
        </p:nvSpPr>
        <p:spPr>
          <a:xfrm>
            <a:off x="5623560" y="1216152"/>
            <a:ext cx="3108960" cy="365760"/>
          </a:xfrm>
          <a:prstGeom prst="rect">
            <a:avLst/>
          </a:prstGeom>
          <a:noFill/>
          <a:ln/>
        </p:spPr>
        <p:txBody>
          <a:bodyPr wrap="square" rtlCol="0" anchor="ctr"/>
          <a:lstStyle/>
          <a:p>
            <a:pPr marL="0" indent="0">
              <a:buNone/>
            </a:pPr>
            <a:r>
              <a:rPr lang="en-US" sz="1300" b="1" dirty="0">
                <a:solidFill>
                  <a:srgbClr val="E8A838"/>
                </a:solidFill>
                <a:latin typeface="Calibri" pitchFamily="34" charset="0"/>
                <a:ea typeface="Calibri" pitchFamily="34" charset="-122"/>
                <a:cs typeface="Calibri" pitchFamily="34" charset="-120"/>
              </a:rPr>
              <a:t>Analítica con Python</a:t>
            </a:r>
            <a:endParaRPr lang="en-US" sz="1300" dirty="0"/>
          </a:p>
        </p:txBody>
      </p:sp>
      <p:sp>
        <p:nvSpPr>
          <p:cNvPr id="12" name="Text 10"/>
          <p:cNvSpPr/>
          <p:nvPr/>
        </p:nvSpPr>
        <p:spPr>
          <a:xfrm>
            <a:off x="5623560" y="1618488"/>
            <a:ext cx="3108960" cy="822960"/>
          </a:xfrm>
          <a:prstGeom prst="rect">
            <a:avLst/>
          </a:prstGeom>
          <a:noFill/>
          <a:ln/>
        </p:spPr>
        <p:txBody>
          <a:bodyPr wrap="square" rtlCol="0" anchor="ctr"/>
          <a:lstStyle/>
          <a:p>
            <a:pPr marL="0" indent="0">
              <a:buNone/>
            </a:pPr>
            <a:r>
              <a:rPr lang="en-US" sz="1100" dirty="0">
                <a:solidFill>
                  <a:srgbClr val="A8C8E8"/>
                </a:solidFill>
                <a:latin typeface="Calibri" pitchFamily="34" charset="0"/>
                <a:ea typeface="Calibri" pitchFamily="34" charset="-122"/>
                <a:cs typeface="Calibri" pitchFamily="34" charset="-120"/>
              </a:rPr>
              <a:t>pandas, statsmodels, sklearn, seaborn: el flujo completo de CRISP-DM en código reproducible</a:t>
            </a:r>
            <a:endParaRPr lang="en-US" sz="1100" dirty="0"/>
          </a:p>
        </p:txBody>
      </p:sp>
      <p:sp>
        <p:nvSpPr>
          <p:cNvPr id="13" name="Shape 11"/>
          <p:cNvSpPr/>
          <p:nvPr/>
        </p:nvSpPr>
        <p:spPr>
          <a:xfrm>
            <a:off x="365760" y="2743200"/>
            <a:ext cx="4114800" cy="1508760"/>
          </a:xfrm>
          <a:prstGeom prst="rect">
            <a:avLst/>
          </a:prstGeom>
          <a:solidFill>
            <a:srgbClr val="152A45"/>
          </a:solidFill>
          <a:ln w="12700">
            <a:solidFill>
              <a:srgbClr val="0D7377"/>
            </a:solidFill>
            <a:prstDash val="solid"/>
          </a:ln>
          <a:effectLst>
            <a:outerShdw blurRad="101600" dist="38100" dir="8100000" algn="bl" rotWithShape="0">
              <a:srgbClr val="000000">
                <a:alpha val="12000"/>
              </a:srgbClr>
            </a:outerShdw>
          </a:effectLst>
        </p:spPr>
        <p:txBody>
          <a:bodyPr/>
          <a:lstStyle/>
          <a:p>
            <a:endParaRPr lang="es-CO"/>
          </a:p>
        </p:txBody>
      </p:sp>
      <p:sp>
        <p:nvSpPr>
          <p:cNvPr id="14" name="Text 12"/>
          <p:cNvSpPr/>
          <p:nvPr/>
        </p:nvSpPr>
        <p:spPr>
          <a:xfrm>
            <a:off x="365760" y="2834640"/>
            <a:ext cx="822960" cy="1280160"/>
          </a:xfrm>
          <a:prstGeom prst="rect">
            <a:avLst/>
          </a:prstGeom>
          <a:noFill/>
          <a:ln/>
        </p:spPr>
        <p:txBody>
          <a:bodyPr wrap="square" rtlCol="0" anchor="ctr"/>
          <a:lstStyle/>
          <a:p>
            <a:pPr marL="0" indent="0" algn="ctr">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15" name="Text 13"/>
          <p:cNvSpPr/>
          <p:nvPr/>
        </p:nvSpPr>
        <p:spPr>
          <a:xfrm>
            <a:off x="1234440" y="2907792"/>
            <a:ext cx="3108960" cy="365760"/>
          </a:xfrm>
          <a:prstGeom prst="rect">
            <a:avLst/>
          </a:prstGeom>
          <a:noFill/>
          <a:ln/>
        </p:spPr>
        <p:txBody>
          <a:bodyPr wrap="square" rtlCol="0" anchor="ctr"/>
          <a:lstStyle/>
          <a:p>
            <a:pPr marL="0" indent="0">
              <a:buNone/>
            </a:pPr>
            <a:r>
              <a:rPr lang="en-US" sz="1300" b="1" dirty="0">
                <a:solidFill>
                  <a:srgbClr val="E8A838"/>
                </a:solidFill>
                <a:latin typeface="Calibri" pitchFamily="34" charset="0"/>
                <a:ea typeface="Calibri" pitchFamily="34" charset="-122"/>
                <a:cs typeface="Calibri" pitchFamily="34" charset="-120"/>
              </a:rPr>
              <a:t>Interpretación crítica</a:t>
            </a:r>
            <a:endParaRPr lang="en-US" sz="1300" dirty="0"/>
          </a:p>
        </p:txBody>
      </p:sp>
      <p:sp>
        <p:nvSpPr>
          <p:cNvPr id="16" name="Text 14"/>
          <p:cNvSpPr/>
          <p:nvPr/>
        </p:nvSpPr>
        <p:spPr>
          <a:xfrm>
            <a:off x="1234440" y="3310128"/>
            <a:ext cx="3108960" cy="822960"/>
          </a:xfrm>
          <a:prstGeom prst="rect">
            <a:avLst/>
          </a:prstGeom>
          <a:noFill/>
          <a:ln/>
        </p:spPr>
        <p:txBody>
          <a:bodyPr wrap="square" rtlCol="0" anchor="ctr"/>
          <a:lstStyle/>
          <a:p>
            <a:pPr marL="0" indent="0">
              <a:buNone/>
            </a:pPr>
            <a:r>
              <a:rPr lang="en-US" sz="1100" dirty="0">
                <a:solidFill>
                  <a:srgbClr val="A8C8E8"/>
                </a:solidFill>
                <a:latin typeface="Calibri" pitchFamily="34" charset="0"/>
                <a:ea typeface="Calibri" pitchFamily="34" charset="-122"/>
                <a:cs typeface="Calibri" pitchFamily="34" charset="-120"/>
              </a:rPr>
              <a:t>p-valores, R², coeficientes: interpretar con prudencia y transparencia sobre las limitaciones</a:t>
            </a:r>
            <a:endParaRPr lang="en-US" sz="1100" dirty="0"/>
          </a:p>
        </p:txBody>
      </p:sp>
      <p:sp>
        <p:nvSpPr>
          <p:cNvPr id="17" name="Shape 15"/>
          <p:cNvSpPr/>
          <p:nvPr/>
        </p:nvSpPr>
        <p:spPr>
          <a:xfrm>
            <a:off x="4754880" y="2743200"/>
            <a:ext cx="4114800" cy="1508760"/>
          </a:xfrm>
          <a:prstGeom prst="rect">
            <a:avLst/>
          </a:prstGeom>
          <a:solidFill>
            <a:srgbClr val="152A45"/>
          </a:solidFill>
          <a:ln w="12700">
            <a:solidFill>
              <a:srgbClr val="0D7377"/>
            </a:solidFill>
            <a:prstDash val="solid"/>
          </a:ln>
          <a:effectLst>
            <a:outerShdw blurRad="101600" dist="38100" dir="8100000" algn="bl" rotWithShape="0">
              <a:srgbClr val="000000">
                <a:alpha val="12000"/>
              </a:srgbClr>
            </a:outerShdw>
          </a:effectLst>
        </p:spPr>
        <p:txBody>
          <a:bodyPr/>
          <a:lstStyle/>
          <a:p>
            <a:endParaRPr lang="es-CO"/>
          </a:p>
        </p:txBody>
      </p:sp>
      <p:sp>
        <p:nvSpPr>
          <p:cNvPr id="18" name="Text 16"/>
          <p:cNvSpPr/>
          <p:nvPr/>
        </p:nvSpPr>
        <p:spPr>
          <a:xfrm>
            <a:off x="4754880" y="2834640"/>
            <a:ext cx="822960" cy="1280160"/>
          </a:xfrm>
          <a:prstGeom prst="rect">
            <a:avLst/>
          </a:prstGeom>
          <a:noFill/>
          <a:ln/>
        </p:spPr>
        <p:txBody>
          <a:bodyPr wrap="square" rtlCol="0" anchor="ctr"/>
          <a:lstStyle/>
          <a:p>
            <a:pPr marL="0" indent="0" algn="ctr">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19" name="Text 17"/>
          <p:cNvSpPr/>
          <p:nvPr/>
        </p:nvSpPr>
        <p:spPr>
          <a:xfrm>
            <a:off x="5623560" y="2907792"/>
            <a:ext cx="3108960" cy="365760"/>
          </a:xfrm>
          <a:prstGeom prst="rect">
            <a:avLst/>
          </a:prstGeom>
          <a:noFill/>
          <a:ln/>
        </p:spPr>
        <p:txBody>
          <a:bodyPr wrap="square" rtlCol="0" anchor="ctr"/>
          <a:lstStyle/>
          <a:p>
            <a:pPr marL="0" indent="0">
              <a:buNone/>
            </a:pPr>
            <a:r>
              <a:rPr lang="en-US" sz="1300" b="1" dirty="0">
                <a:solidFill>
                  <a:srgbClr val="E8A838"/>
                </a:solidFill>
                <a:latin typeface="Calibri" pitchFamily="34" charset="0"/>
                <a:ea typeface="Calibri" pitchFamily="34" charset="-122"/>
                <a:cs typeface="Calibri" pitchFamily="34" charset="-120"/>
              </a:rPr>
              <a:t>Proyecto real</a:t>
            </a:r>
            <a:endParaRPr lang="en-US" sz="1300" dirty="0"/>
          </a:p>
        </p:txBody>
      </p:sp>
      <p:sp>
        <p:nvSpPr>
          <p:cNvPr id="20" name="Text 18"/>
          <p:cNvSpPr/>
          <p:nvPr/>
        </p:nvSpPr>
        <p:spPr>
          <a:xfrm>
            <a:off x="5623560" y="3310128"/>
            <a:ext cx="3108960" cy="822960"/>
          </a:xfrm>
          <a:prstGeom prst="rect">
            <a:avLst/>
          </a:prstGeom>
          <a:noFill/>
          <a:ln/>
        </p:spPr>
        <p:txBody>
          <a:bodyPr wrap="square" rtlCol="0" anchor="ctr"/>
          <a:lstStyle/>
          <a:p>
            <a:pPr marL="0" indent="0">
              <a:buNone/>
            </a:pPr>
            <a:r>
              <a:rPr lang="en-US" sz="1100" dirty="0">
                <a:solidFill>
                  <a:srgbClr val="A8C8E8"/>
                </a:solidFill>
                <a:latin typeface="Calibri" pitchFamily="34" charset="0"/>
                <a:ea typeface="Calibri" pitchFamily="34" charset="-122"/>
                <a:cs typeface="Calibri" pitchFamily="34" charset="-120"/>
              </a:rPr>
              <a:t>Capacidad de formular una pregunta empírica, analizarla con Python y comunicar los hallazgos</a:t>
            </a:r>
            <a:endParaRPr lang="en-US" sz="1100" dirty="0"/>
          </a:p>
        </p:txBody>
      </p:sp>
      <p:sp>
        <p:nvSpPr>
          <p:cNvPr id="21" name="Text 19"/>
          <p:cNvSpPr/>
          <p:nvPr/>
        </p:nvSpPr>
        <p:spPr>
          <a:xfrm>
            <a:off x="457200" y="4663440"/>
            <a:ext cx="8229600" cy="274320"/>
          </a:xfrm>
          <a:prstGeom prst="rect">
            <a:avLst/>
          </a:prstGeom>
          <a:noFill/>
          <a:ln/>
        </p:spPr>
        <p:txBody>
          <a:bodyPr wrap="square" rtlCol="0" anchor="ctr"/>
          <a:lstStyle/>
          <a:p>
            <a:pPr marL="0" indent="0" algn="ctr">
              <a:buNone/>
            </a:pPr>
            <a:r>
              <a:rPr lang="en-US" sz="1100" i="1" dirty="0">
                <a:solidFill>
                  <a:srgbClr val="E8A838"/>
                </a:solidFill>
                <a:latin typeface="Calibri" pitchFamily="34" charset="0"/>
                <a:ea typeface="Calibri" pitchFamily="34" charset="-122"/>
                <a:cs typeface="Calibri" pitchFamily="34" charset="-120"/>
              </a:rPr>
              <a:t>"Todos los modelos son incorrectos, pero algunos son útiles." — George Box</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3FE696D-9C2E-4780-9DAA-AE98CB99F6FE}">
  <we:reference id="wa200010001" version="1.0.0.1" store="en-US" storeType="OMEX"/>
  <we:alternateReferences>
    <we:reference id="wa200010001" version="1.0.0.1" store="en-US" storeType="OMEX"/>
  </we:alternateReferences>
  <we:properties>
    <we:property name="claude.fileId" value="&quot;a43c097d-8aed-4b70-b8a5-2342e4d0899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437</TotalTime>
  <Words>4943</Words>
  <Application>Microsoft Office PowerPoint</Application>
  <PresentationFormat>Presentación en pantalla (16:9)</PresentationFormat>
  <Paragraphs>628</Paragraphs>
  <Slides>31</Slides>
  <Notes>23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31</vt:i4>
      </vt:variant>
    </vt:vector>
  </HeadingPairs>
  <TitlesOfParts>
    <vt:vector size="37" baseType="lpstr">
      <vt:lpstr>Arial</vt:lpstr>
      <vt:lpstr>Calibri</vt:lpstr>
      <vt:lpstr>Consolas</vt:lpstr>
      <vt:lpstr>Segoe UI</vt:lpstr>
      <vt:lpstr>Segoe UI Emoji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Modelos Predictivos con Python</dc:title>
  <dc:subject>PptxGenJS Presentation</dc:subject>
  <dc:creator>PptxGenJS</dc:creator>
  <cp:lastModifiedBy>Ricardo Navarro</cp:lastModifiedBy>
  <cp:revision>2</cp:revision>
  <dcterms:created xsi:type="dcterms:W3CDTF">2026-05-03T18:51:22Z</dcterms:created>
  <dcterms:modified xsi:type="dcterms:W3CDTF">2026-05-07T02:21:13Z</dcterms:modified>
</cp:coreProperties>
</file>