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314" r:id="rId7"/>
    <p:sldId id="315" r:id="rId8"/>
    <p:sldId id="277" r:id="rId9"/>
    <p:sldId id="316" r:id="rId10"/>
    <p:sldId id="317" r:id="rId11"/>
    <p:sldId id="280" r:id="rId12"/>
    <p:sldId id="283" r:id="rId13"/>
    <p:sldId id="321" r:id="rId14"/>
    <p:sldId id="285" r:id="rId15"/>
    <p:sldId id="284" r:id="rId16"/>
    <p:sldId id="262" r:id="rId17"/>
    <p:sldId id="322" r:id="rId18"/>
    <p:sldId id="323" r:id="rId19"/>
    <p:sldId id="324" r:id="rId20"/>
    <p:sldId id="325" r:id="rId21"/>
  </p:sldIdLst>
  <p:sldSz cx="12192000" cy="6858000"/>
  <p:notesSz cx="6858000" cy="9144000"/>
  <p:defaultTextStyle>
    <a:defPPr>
      <a:defRPr lang="es-P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6D49F-CAF3-45F8-98EE-989C2C8F4686}" v="1" dt="2026-04-20T20:06:12.25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0" y="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Relationship Id="rId27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abriel Gomez" userId="78ad1a3c6fa230df" providerId="LiveId" clId="{D109B958-7FFB-4BCF-98F1-9BFDF70EDECE}"/>
    <pc:docChg chg="modSld sldOrd">
      <pc:chgData name="Gabriel Gomez" userId="78ad1a3c6fa230df" providerId="LiveId" clId="{D109B958-7FFB-4BCF-98F1-9BFDF70EDECE}" dt="2026-04-20T20:20:06.256" v="2"/>
      <pc:docMkLst>
        <pc:docMk/>
      </pc:docMkLst>
      <pc:sldChg chg="ord">
        <pc:chgData name="Gabriel Gomez" userId="78ad1a3c6fa230df" providerId="LiveId" clId="{D109B958-7FFB-4BCF-98F1-9BFDF70EDECE}" dt="2026-04-20T20:03:54.889" v="0"/>
        <pc:sldMkLst>
          <pc:docMk/>
          <pc:sldMk cId="3517202495" sldId="322"/>
        </pc:sldMkLst>
      </pc:sldChg>
      <pc:sldChg chg="addSp modSp">
        <pc:chgData name="Gabriel Gomez" userId="78ad1a3c6fa230df" providerId="LiveId" clId="{D109B958-7FFB-4BCF-98F1-9BFDF70EDECE}" dt="2026-04-20T20:06:12.251" v="1" actId="33987"/>
        <pc:sldMkLst>
          <pc:docMk/>
          <pc:sldMk cId="300655365" sldId="323"/>
        </pc:sldMkLst>
        <pc:spChg chg="add mod">
          <ac:chgData name="Gabriel Gomez" userId="78ad1a3c6fa230df" providerId="LiveId" clId="{D109B958-7FFB-4BCF-98F1-9BFDF70EDECE}" dt="2026-04-20T20:06:12.251" v="1" actId="33987"/>
          <ac:spMkLst>
            <pc:docMk/>
            <pc:sldMk cId="300655365" sldId="323"/>
            <ac:spMk id="21" creationId="{54DB955B-69DF-CBC9-D06D-6FCA05A5BF22}"/>
          </ac:spMkLst>
        </pc:spChg>
      </pc:sldChg>
      <pc:sldChg chg="addSp">
        <pc:chgData name="Gabriel Gomez" userId="78ad1a3c6fa230df" providerId="LiveId" clId="{D109B958-7FFB-4BCF-98F1-9BFDF70EDECE}" dt="2026-04-20T20:20:06.256" v="2"/>
        <pc:sldMkLst>
          <pc:docMk/>
          <pc:sldMk cId="3508251870" sldId="324"/>
        </pc:sldMkLst>
        <pc:picChg chg="add">
          <ac:chgData name="Gabriel Gomez" userId="78ad1a3c6fa230df" providerId="LiveId" clId="{D109B958-7FFB-4BCF-98F1-9BFDF70EDECE}" dt="2026-04-20T20:20:06.256" v="2"/>
          <ac:picMkLst>
            <pc:docMk/>
            <pc:sldMk cId="3508251870" sldId="324"/>
            <ac:picMk id="3" creationId="{438A328D-7B61-818D-1FBC-4CEE287A611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8DE32A-12BA-DB48-52A0-6C1C5346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9BEE8D-9152-3175-1B17-954E4ED93A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5E7108F-885B-F84C-68EB-31D0D6A1E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F2B59E3-AC0D-BD79-3B0E-B6DA1FC3C0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9F754BC-CCE1-2732-A4F6-1FF09E46E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251467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E6B9B2-D763-A37C-6A45-03B066D4E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0EEA2C1-C67B-3A40-17C8-F874E3664D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3304108-63F9-8843-7ACF-2DFDC01B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9F50DFB-D5B6-2FF8-0A4B-7A9D67470C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7F7F441-0C87-9C43-6D2B-FF7C986BDD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8236137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05527F-83DD-22E3-30C5-B71182C84A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7B77F8F-C0C4-F4D7-3265-1519EA1A54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E2B1FF1-62E7-605B-E7AF-A0668716F9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DA82EA-5629-8310-A934-8AEAFD4028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ECB8CED-DF4C-2BDF-9A65-C0DAD5EC4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0917573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1C48B98-DDE5-41F6-F943-CA86C896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79E6E6-4EE9-4CBA-EB6D-2B6E191974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F9AA287A-1B44-877A-A1E4-6F0A6B2682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3FD03B7-5A98-DBE6-0F76-88CC6593D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3BABC8A-CF5D-F49A-4DC2-EDF952E368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D4C8388-AF66-AEEA-3761-AC0333C00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6233761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63E4CFF-F360-4F91-6A83-BFE3CE5C0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9091F9B-6205-6B7D-A12F-2FCFE9CF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B4EF413-4F2B-0195-B5FC-A47B170107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BD1C020-22BD-942C-B005-EE8F070E7C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98523991-05B8-DB7E-79C9-43A9E47D27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24F5A151-0134-AFCF-475E-BFCA976C6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237894B-A66D-3591-A49F-449EEF19A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1A53B4D9-46D9-B89E-F307-CD5442180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019619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6E79B3-2CD5-5D3F-C913-483D7B38B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04839A89-9470-0D3C-E194-6F383FD29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32226A1-D9CF-6039-4E39-2DCEFFE8A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D6197B3-E507-2C0C-71C0-3DD650EE4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84109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7C4FC0F-8852-9A3B-EE7D-79B6FD6BB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ABF9227-E208-1BD2-327E-11C7D97FD4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EA8A25E-3689-B65A-3A1E-A244D76AD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0311781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0B71E3-B61B-DDD9-71F6-7057725D8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FCF5738-AABF-099A-639F-29328FD23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0092A11-658D-754B-391C-C87A7C0614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C270EEB-34C1-A519-75F1-C65B1D7D89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F55EF657-8F6D-4A94-03CD-B8F041377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8A24EC9-A878-1593-71EC-E7F2FC9367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2222383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E20034-1F6C-2488-4800-85397FEDBC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4EAD1C4A-DF1E-CA6F-7820-2596DC05AE4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PA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240CE8C-97C0-BE6C-3126-514A5947A4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72118184-6379-D397-856A-D0DEE22A8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68E05F1-5589-865C-A2CD-AB950B2C7C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BD4802F-CD9A-5FFF-73D0-55F16A6A5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62750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AD1F99-CD86-86EF-B824-3173D5A3ED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80F2F844-BB8B-6C3E-2C4F-4F937B2B42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FB92FB33-BF59-2349-5200-6395FFF21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749354F-2B58-9A2F-991F-7B3D9ED54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839098-0DDE-AA24-51D3-30C89E098E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264825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5B2EE03-28B4-4673-4EBE-A95F6B2AAA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12D4026-5162-E01D-ADF1-BCD169AD6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C6C9C53-3776-526A-7EA3-C7EA3E4F6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BA30-2DED-73A3-8594-96D2C651EB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7A0C83A-668A-42C9-7156-C04BEC0312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41692055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2B75143-9618-CDD6-D581-7C9B7DFD0B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PA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C22493F2-8D52-C9AB-57D2-B28919EE1F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A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12E271-F31F-346A-3B09-4719AB8DF3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DE43BF1-0705-4830-A095-B9D5B2CFEEA6}" type="datetimeFigureOut">
              <a:rPr lang="es-PA" smtClean="0"/>
              <a:t>04/20/2026</a:t>
            </a:fld>
            <a:endParaRPr lang="es-PA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759F11-8776-AFB3-4D91-B3043E11D31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PA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A60D896-9537-4C4D-5B15-8F7E23D9A2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922572-AB4E-4BF5-92D6-D1F9C6CE07F9}" type="slidenum">
              <a:rPr lang="es-PA" smtClean="0"/>
              <a:t>‹Nº›</a:t>
            </a:fld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1453583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DE52970-1C27-7354-9AF5-627CE080D3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Data Wrangling </a:t>
            </a:r>
            <a:r>
              <a:rPr lang="en-US" b="1" dirty="0" err="1"/>
              <a:t>accesible</a:t>
            </a:r>
            <a:r>
              <a:rPr lang="en-US" b="1" dirty="0"/>
              <a:t> (Python + SQL)</a:t>
            </a:r>
            <a:br>
              <a:rPr lang="en-US" b="1" dirty="0"/>
            </a:br>
            <a:endParaRPr lang="es-PA" dirty="0"/>
          </a:p>
        </p:txBody>
      </p:sp>
    </p:spTree>
    <p:extLst>
      <p:ext uri="{BB962C8B-B14F-4D97-AF65-F5344CB8AC3E}">
        <p14:creationId xmlns:p14="http://schemas.microsoft.com/office/powerpoint/2010/main" val="29838793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7A84822F-2490-23BC-26BA-5E9EADB64B9C}"/>
              </a:ext>
            </a:extLst>
          </p:cNvPr>
          <p:cNvSpPr/>
          <p:nvPr/>
        </p:nvSpPr>
        <p:spPr>
          <a:xfrm>
            <a:off x="0" y="0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9F19065-F1A4-EE7D-C1E8-A397191D1C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Procesos</a:t>
            </a:r>
            <a:endParaRPr lang="es-PA" b="1" dirty="0">
              <a:solidFill>
                <a:schemeClr val="bg1"/>
              </a:solidFill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ECFC709-51A6-A24F-787C-ACD27E162B28}"/>
              </a:ext>
            </a:extLst>
          </p:cNvPr>
          <p:cNvGrpSpPr/>
          <p:nvPr/>
        </p:nvGrpSpPr>
        <p:grpSpPr>
          <a:xfrm>
            <a:off x="756512" y="2327240"/>
            <a:ext cx="2199649" cy="2043211"/>
            <a:chOff x="1237234" y="2333297"/>
            <a:chExt cx="2199649" cy="2043211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AFB8D75E-DB2C-2DDE-0A99-727D34E8A38E}"/>
                </a:ext>
              </a:extLst>
            </p:cNvPr>
            <p:cNvSpPr/>
            <p:nvPr/>
          </p:nvSpPr>
          <p:spPr>
            <a:xfrm rot="16200000">
              <a:off x="1393672" y="2333297"/>
              <a:ext cx="2043211" cy="2043211"/>
            </a:xfrm>
            <a:prstGeom prst="ellipse">
              <a:avLst/>
            </a:prstGeom>
            <a:noFill/>
            <a:ln w="1333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tx2">
                      <a:lumMod val="75000"/>
                      <a:lumOff val="25000"/>
                    </a:schemeClr>
                  </a:gs>
                  <a:gs pos="100000">
                    <a:srgbClr val="00206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5739D776-C9B1-6191-29E7-A7CABD0B8463}"/>
                </a:ext>
              </a:extLst>
            </p:cNvPr>
            <p:cNvSpPr/>
            <p:nvPr/>
          </p:nvSpPr>
          <p:spPr>
            <a:xfrm rot="16200000">
              <a:off x="1237234" y="2333297"/>
              <a:ext cx="2043211" cy="2043211"/>
            </a:xfrm>
            <a:prstGeom prst="ellipse">
              <a:avLst/>
            </a:prstGeom>
            <a:noFill/>
            <a:ln w="2222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accent5">
                      <a:lumMod val="62000"/>
                      <a:lumOff val="38000"/>
                      <a:alpha val="2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</p:grpSp>
      <p:grpSp>
        <p:nvGrpSpPr>
          <p:cNvPr id="7" name="Grupo 6">
            <a:extLst>
              <a:ext uri="{FF2B5EF4-FFF2-40B4-BE49-F238E27FC236}">
                <a16:creationId xmlns:a16="http://schemas.microsoft.com/office/drawing/2014/main" id="{D0763C89-6B2D-3A5B-E943-4D676E7706C0}"/>
              </a:ext>
            </a:extLst>
          </p:cNvPr>
          <p:cNvGrpSpPr/>
          <p:nvPr/>
        </p:nvGrpSpPr>
        <p:grpSpPr>
          <a:xfrm>
            <a:off x="3406664" y="2327240"/>
            <a:ext cx="2199649" cy="2043211"/>
            <a:chOff x="1237234" y="2333297"/>
            <a:chExt cx="2199649" cy="2043211"/>
          </a:xfrm>
        </p:grpSpPr>
        <p:sp>
          <p:nvSpPr>
            <p:cNvPr id="8" name="Elipse 7">
              <a:extLst>
                <a:ext uri="{FF2B5EF4-FFF2-40B4-BE49-F238E27FC236}">
                  <a16:creationId xmlns:a16="http://schemas.microsoft.com/office/drawing/2014/main" id="{D5BD12C8-9BAB-6B6F-C082-5037677CABF5}"/>
                </a:ext>
              </a:extLst>
            </p:cNvPr>
            <p:cNvSpPr/>
            <p:nvPr/>
          </p:nvSpPr>
          <p:spPr>
            <a:xfrm rot="16200000">
              <a:off x="1393672" y="2333297"/>
              <a:ext cx="2043211" cy="2043211"/>
            </a:xfrm>
            <a:prstGeom prst="ellipse">
              <a:avLst/>
            </a:prstGeom>
            <a:noFill/>
            <a:ln w="1333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tx2">
                      <a:lumMod val="75000"/>
                      <a:lumOff val="25000"/>
                    </a:schemeClr>
                  </a:gs>
                  <a:gs pos="100000">
                    <a:srgbClr val="00206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  <p:sp>
          <p:nvSpPr>
            <p:cNvPr id="9" name="Elipse 8">
              <a:extLst>
                <a:ext uri="{FF2B5EF4-FFF2-40B4-BE49-F238E27FC236}">
                  <a16:creationId xmlns:a16="http://schemas.microsoft.com/office/drawing/2014/main" id="{6A9FF194-C44D-019D-5D85-B6AEC7D2625C}"/>
                </a:ext>
              </a:extLst>
            </p:cNvPr>
            <p:cNvSpPr/>
            <p:nvPr/>
          </p:nvSpPr>
          <p:spPr>
            <a:xfrm rot="16200000">
              <a:off x="1237234" y="2333297"/>
              <a:ext cx="2043211" cy="2043211"/>
            </a:xfrm>
            <a:prstGeom prst="ellipse">
              <a:avLst/>
            </a:prstGeom>
            <a:noFill/>
            <a:ln w="2222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accent5">
                      <a:lumMod val="62000"/>
                      <a:lumOff val="38000"/>
                      <a:alpha val="2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</p:grpSp>
      <p:grpSp>
        <p:nvGrpSpPr>
          <p:cNvPr id="10" name="Grupo 9">
            <a:extLst>
              <a:ext uri="{FF2B5EF4-FFF2-40B4-BE49-F238E27FC236}">
                <a16:creationId xmlns:a16="http://schemas.microsoft.com/office/drawing/2014/main" id="{9415C984-C232-FF42-6B46-C119BA433221}"/>
              </a:ext>
            </a:extLst>
          </p:cNvPr>
          <p:cNvGrpSpPr/>
          <p:nvPr/>
        </p:nvGrpSpPr>
        <p:grpSpPr>
          <a:xfrm>
            <a:off x="6056816" y="2327240"/>
            <a:ext cx="2199649" cy="2043211"/>
            <a:chOff x="1237234" y="2333297"/>
            <a:chExt cx="2199649" cy="2043211"/>
          </a:xfrm>
        </p:grpSpPr>
        <p:sp>
          <p:nvSpPr>
            <p:cNvPr id="11" name="Elipse 10">
              <a:extLst>
                <a:ext uri="{FF2B5EF4-FFF2-40B4-BE49-F238E27FC236}">
                  <a16:creationId xmlns:a16="http://schemas.microsoft.com/office/drawing/2014/main" id="{94883531-20FD-6BF8-4E11-1F6644B394DD}"/>
                </a:ext>
              </a:extLst>
            </p:cNvPr>
            <p:cNvSpPr/>
            <p:nvPr/>
          </p:nvSpPr>
          <p:spPr>
            <a:xfrm rot="16200000">
              <a:off x="1393672" y="2333297"/>
              <a:ext cx="2043211" cy="2043211"/>
            </a:xfrm>
            <a:prstGeom prst="ellipse">
              <a:avLst/>
            </a:prstGeom>
            <a:noFill/>
            <a:ln w="1333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tx2">
                      <a:lumMod val="75000"/>
                      <a:lumOff val="25000"/>
                    </a:schemeClr>
                  </a:gs>
                  <a:gs pos="100000">
                    <a:srgbClr val="00206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  <p:sp>
          <p:nvSpPr>
            <p:cNvPr id="12" name="Elipse 11">
              <a:extLst>
                <a:ext uri="{FF2B5EF4-FFF2-40B4-BE49-F238E27FC236}">
                  <a16:creationId xmlns:a16="http://schemas.microsoft.com/office/drawing/2014/main" id="{8C04A3A5-37F6-C937-9A67-3BED517C6093}"/>
                </a:ext>
              </a:extLst>
            </p:cNvPr>
            <p:cNvSpPr/>
            <p:nvPr/>
          </p:nvSpPr>
          <p:spPr>
            <a:xfrm rot="16200000">
              <a:off x="1237234" y="2333297"/>
              <a:ext cx="2043211" cy="2043211"/>
            </a:xfrm>
            <a:prstGeom prst="ellipse">
              <a:avLst/>
            </a:prstGeom>
            <a:noFill/>
            <a:ln w="2222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accent5">
                      <a:lumMod val="62000"/>
                      <a:lumOff val="38000"/>
                      <a:alpha val="2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</p:grpSp>
      <p:grpSp>
        <p:nvGrpSpPr>
          <p:cNvPr id="13" name="Grupo 12">
            <a:extLst>
              <a:ext uri="{FF2B5EF4-FFF2-40B4-BE49-F238E27FC236}">
                <a16:creationId xmlns:a16="http://schemas.microsoft.com/office/drawing/2014/main" id="{83F88A31-E21E-63E2-FCBD-48CF18A5F575}"/>
              </a:ext>
            </a:extLst>
          </p:cNvPr>
          <p:cNvGrpSpPr/>
          <p:nvPr/>
        </p:nvGrpSpPr>
        <p:grpSpPr>
          <a:xfrm>
            <a:off x="8706968" y="2327240"/>
            <a:ext cx="2199649" cy="2043211"/>
            <a:chOff x="1237234" y="2333297"/>
            <a:chExt cx="2199649" cy="2043211"/>
          </a:xfrm>
        </p:grpSpPr>
        <p:sp>
          <p:nvSpPr>
            <p:cNvPr id="14" name="Elipse 13">
              <a:extLst>
                <a:ext uri="{FF2B5EF4-FFF2-40B4-BE49-F238E27FC236}">
                  <a16:creationId xmlns:a16="http://schemas.microsoft.com/office/drawing/2014/main" id="{F393A89E-B29C-3B0B-8ABE-15D30F591A1C}"/>
                </a:ext>
              </a:extLst>
            </p:cNvPr>
            <p:cNvSpPr/>
            <p:nvPr/>
          </p:nvSpPr>
          <p:spPr>
            <a:xfrm rot="16200000">
              <a:off x="1393672" y="2333297"/>
              <a:ext cx="2043211" cy="2043211"/>
            </a:xfrm>
            <a:prstGeom prst="ellipse">
              <a:avLst/>
            </a:prstGeom>
            <a:noFill/>
            <a:ln w="1333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tx2">
                      <a:lumMod val="75000"/>
                      <a:lumOff val="25000"/>
                    </a:schemeClr>
                  </a:gs>
                  <a:gs pos="100000">
                    <a:srgbClr val="00206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  <p:sp>
          <p:nvSpPr>
            <p:cNvPr id="15" name="Elipse 14">
              <a:extLst>
                <a:ext uri="{FF2B5EF4-FFF2-40B4-BE49-F238E27FC236}">
                  <a16:creationId xmlns:a16="http://schemas.microsoft.com/office/drawing/2014/main" id="{B7B900E2-D65A-3A56-3C73-D507050CD938}"/>
                </a:ext>
              </a:extLst>
            </p:cNvPr>
            <p:cNvSpPr/>
            <p:nvPr/>
          </p:nvSpPr>
          <p:spPr>
            <a:xfrm rot="16200000">
              <a:off x="1237234" y="2333297"/>
              <a:ext cx="2043211" cy="2043211"/>
            </a:xfrm>
            <a:prstGeom prst="ellipse">
              <a:avLst/>
            </a:prstGeom>
            <a:noFill/>
            <a:ln w="2222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accent5">
                      <a:lumMod val="62000"/>
                      <a:lumOff val="38000"/>
                      <a:alpha val="2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</p:grpSp>
      <p:sp>
        <p:nvSpPr>
          <p:cNvPr id="16" name="CuadroTexto 15">
            <a:extLst>
              <a:ext uri="{FF2B5EF4-FFF2-40B4-BE49-F238E27FC236}">
                <a16:creationId xmlns:a16="http://schemas.microsoft.com/office/drawing/2014/main" id="{13F2F930-C957-E012-682C-A5A0B3BA9181}"/>
              </a:ext>
            </a:extLst>
          </p:cNvPr>
          <p:cNvSpPr txBox="1"/>
          <p:nvPr/>
        </p:nvSpPr>
        <p:spPr>
          <a:xfrm>
            <a:off x="3930103" y="3109679"/>
            <a:ext cx="140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Limpieza</a:t>
            </a:r>
            <a:endParaRPr lang="es-PA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0228F88B-5576-126A-5C72-C3E8FBBD07FA}"/>
              </a:ext>
            </a:extLst>
          </p:cNvPr>
          <p:cNvSpPr txBox="1"/>
          <p:nvPr/>
        </p:nvSpPr>
        <p:spPr>
          <a:xfrm>
            <a:off x="1377524" y="3109679"/>
            <a:ext cx="140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Lectura</a:t>
            </a:r>
            <a:endParaRPr lang="es-PA" dirty="0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8B984BF4-DB29-FFAE-877B-AE2C6B1300EF}"/>
              </a:ext>
            </a:extLst>
          </p:cNvPr>
          <p:cNvSpPr txBox="1"/>
          <p:nvPr/>
        </p:nvSpPr>
        <p:spPr>
          <a:xfrm>
            <a:off x="6309966" y="3109679"/>
            <a:ext cx="17727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Transformación</a:t>
            </a:r>
            <a:endParaRPr lang="es-PA" dirty="0"/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1F18DA63-0A9E-922C-182F-4BAC7BA4B766}"/>
              </a:ext>
            </a:extLst>
          </p:cNvPr>
          <p:cNvSpPr txBox="1"/>
          <p:nvPr/>
        </p:nvSpPr>
        <p:spPr>
          <a:xfrm>
            <a:off x="9345273" y="3109679"/>
            <a:ext cx="140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Carga</a:t>
            </a:r>
            <a:endParaRPr lang="es-PA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2D81D185-2F05-1A9A-09D0-146BCF0A0AD9}"/>
              </a:ext>
            </a:extLst>
          </p:cNvPr>
          <p:cNvSpPr/>
          <p:nvPr/>
        </p:nvSpPr>
        <p:spPr>
          <a:xfrm>
            <a:off x="0" y="5510623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062801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62AF9B-389F-D765-0F0A-FFFDD21828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9B139899-C999-4F5D-55B4-1BA9A99CEECA}"/>
              </a:ext>
            </a:extLst>
          </p:cNvPr>
          <p:cNvSpPr/>
          <p:nvPr/>
        </p:nvSpPr>
        <p:spPr>
          <a:xfrm>
            <a:off x="0" y="0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13DCDE0C-4E28-CE16-8CC0-F7722DAA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Entornos</a:t>
            </a:r>
            <a:endParaRPr lang="es-PA" b="1" dirty="0">
              <a:solidFill>
                <a:schemeClr val="bg1"/>
              </a:solidFill>
            </a:endParaRPr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5C8D070A-7FDA-47D1-B52C-DBF6E74B4FB3}"/>
              </a:ext>
            </a:extLst>
          </p:cNvPr>
          <p:cNvGrpSpPr/>
          <p:nvPr/>
        </p:nvGrpSpPr>
        <p:grpSpPr>
          <a:xfrm>
            <a:off x="2294928" y="2469764"/>
            <a:ext cx="2199649" cy="2043211"/>
            <a:chOff x="1237234" y="2333297"/>
            <a:chExt cx="2199649" cy="2043211"/>
          </a:xfrm>
        </p:grpSpPr>
        <p:sp>
          <p:nvSpPr>
            <p:cNvPr id="4" name="Elipse 3">
              <a:extLst>
                <a:ext uri="{FF2B5EF4-FFF2-40B4-BE49-F238E27FC236}">
                  <a16:creationId xmlns:a16="http://schemas.microsoft.com/office/drawing/2014/main" id="{C63105A0-B53B-64FA-37D8-D15FB70E1267}"/>
                </a:ext>
              </a:extLst>
            </p:cNvPr>
            <p:cNvSpPr/>
            <p:nvPr/>
          </p:nvSpPr>
          <p:spPr>
            <a:xfrm rot="16200000">
              <a:off x="1393672" y="2333297"/>
              <a:ext cx="2043211" cy="2043211"/>
            </a:xfrm>
            <a:prstGeom prst="ellipse">
              <a:avLst/>
            </a:prstGeom>
            <a:noFill/>
            <a:ln w="1333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tx2">
                      <a:lumMod val="75000"/>
                      <a:lumOff val="25000"/>
                    </a:schemeClr>
                  </a:gs>
                  <a:gs pos="100000">
                    <a:srgbClr val="002060"/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  <p:sp>
          <p:nvSpPr>
            <p:cNvPr id="5" name="Elipse 4">
              <a:extLst>
                <a:ext uri="{FF2B5EF4-FFF2-40B4-BE49-F238E27FC236}">
                  <a16:creationId xmlns:a16="http://schemas.microsoft.com/office/drawing/2014/main" id="{D54EAA3F-5FF6-004D-A920-399E6B22F6C6}"/>
                </a:ext>
              </a:extLst>
            </p:cNvPr>
            <p:cNvSpPr/>
            <p:nvPr/>
          </p:nvSpPr>
          <p:spPr>
            <a:xfrm rot="16200000">
              <a:off x="1237234" y="2333297"/>
              <a:ext cx="2043211" cy="2043211"/>
            </a:xfrm>
            <a:prstGeom prst="ellipse">
              <a:avLst/>
            </a:prstGeom>
            <a:noFill/>
            <a:ln w="222250">
              <a:gradFill>
                <a:gsLst>
                  <a:gs pos="29000">
                    <a:schemeClr val="bg1"/>
                  </a:gs>
                  <a:gs pos="46000">
                    <a:schemeClr val="accent1">
                      <a:lumMod val="45000"/>
                      <a:lumOff val="55000"/>
                    </a:schemeClr>
                  </a:gs>
                  <a:gs pos="66000">
                    <a:schemeClr val="accent5">
                      <a:lumMod val="62000"/>
                      <a:lumOff val="38000"/>
                      <a:alpha val="20000"/>
                    </a:schemeClr>
                  </a:gs>
                  <a:gs pos="100000">
                    <a:schemeClr val="accent5">
                      <a:lumMod val="5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A"/>
            </a:p>
          </p:txBody>
        </p:sp>
      </p:grpSp>
      <p:sp>
        <p:nvSpPr>
          <p:cNvPr id="17" name="CuadroTexto 16">
            <a:extLst>
              <a:ext uri="{FF2B5EF4-FFF2-40B4-BE49-F238E27FC236}">
                <a16:creationId xmlns:a16="http://schemas.microsoft.com/office/drawing/2014/main" id="{9FDE0CA7-7F24-CB81-6C8E-075EB9529745}"/>
              </a:ext>
            </a:extLst>
          </p:cNvPr>
          <p:cNvSpPr txBox="1"/>
          <p:nvPr/>
        </p:nvSpPr>
        <p:spPr>
          <a:xfrm>
            <a:off x="2915940" y="3252203"/>
            <a:ext cx="14049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Entornos</a:t>
            </a:r>
            <a:endParaRPr lang="es-PA" dirty="0"/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E71E85F1-839B-48FD-B5DA-066711DC4E69}"/>
              </a:ext>
            </a:extLst>
          </p:cNvPr>
          <p:cNvSpPr/>
          <p:nvPr/>
        </p:nvSpPr>
        <p:spPr>
          <a:xfrm>
            <a:off x="0" y="5510623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3242891-6C8A-1EDF-F01D-793DEB4D7597}"/>
              </a:ext>
            </a:extLst>
          </p:cNvPr>
          <p:cNvSpPr txBox="1"/>
          <p:nvPr/>
        </p:nvSpPr>
        <p:spPr>
          <a:xfrm>
            <a:off x="5943600" y="2057821"/>
            <a:ext cx="215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Google Collab</a:t>
            </a:r>
            <a:endParaRPr lang="es-PA" dirty="0"/>
          </a:p>
        </p:txBody>
      </p:sp>
      <p:sp>
        <p:nvSpPr>
          <p:cNvPr id="22" name="CuadroTexto 21">
            <a:extLst>
              <a:ext uri="{FF2B5EF4-FFF2-40B4-BE49-F238E27FC236}">
                <a16:creationId xmlns:a16="http://schemas.microsoft.com/office/drawing/2014/main" id="{6FD272B9-3221-94CD-96D1-38E1D54AEE03}"/>
              </a:ext>
            </a:extLst>
          </p:cNvPr>
          <p:cNvSpPr txBox="1"/>
          <p:nvPr/>
        </p:nvSpPr>
        <p:spPr>
          <a:xfrm>
            <a:off x="5892113" y="3931684"/>
            <a:ext cx="21562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VS Code</a:t>
            </a:r>
            <a:endParaRPr lang="es-PA" dirty="0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1807CBF9-304D-A0F6-5CE5-E6E9A1C84863}"/>
              </a:ext>
            </a:extLst>
          </p:cNvPr>
          <p:cNvSpPr/>
          <p:nvPr/>
        </p:nvSpPr>
        <p:spPr>
          <a:xfrm>
            <a:off x="8260490" y="4249981"/>
            <a:ext cx="438665" cy="43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C6FFEF68-976C-5510-3644-D58509268401}"/>
              </a:ext>
            </a:extLst>
          </p:cNvPr>
          <p:cNvSpPr/>
          <p:nvPr/>
        </p:nvSpPr>
        <p:spPr>
          <a:xfrm>
            <a:off x="8260491" y="2055813"/>
            <a:ext cx="438665" cy="43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9443EFFE-9BCF-92D3-DFE3-D351BE117405}"/>
              </a:ext>
            </a:extLst>
          </p:cNvPr>
          <p:cNvSpPr/>
          <p:nvPr/>
        </p:nvSpPr>
        <p:spPr>
          <a:xfrm>
            <a:off x="8260488" y="3391654"/>
            <a:ext cx="438665" cy="43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cxnSp>
        <p:nvCxnSpPr>
          <p:cNvPr id="27" name="Conector recto de flecha 26">
            <a:extLst>
              <a:ext uri="{FF2B5EF4-FFF2-40B4-BE49-F238E27FC236}">
                <a16:creationId xmlns:a16="http://schemas.microsoft.com/office/drawing/2014/main" id="{C5F61239-111B-016A-D944-FEFDA5A89CA1}"/>
              </a:ext>
            </a:extLst>
          </p:cNvPr>
          <p:cNvCxnSpPr>
            <a:stCxn id="23" idx="0"/>
            <a:endCxn id="25" idx="4"/>
          </p:cNvCxnSpPr>
          <p:nvPr/>
        </p:nvCxnSpPr>
        <p:spPr>
          <a:xfrm flipH="1" flipV="1">
            <a:off x="8479821" y="3830319"/>
            <a:ext cx="2" cy="419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137D3CA1-4935-0DA9-24CF-BA1B27E481FF}"/>
              </a:ext>
            </a:extLst>
          </p:cNvPr>
          <p:cNvCxnSpPr>
            <a:stCxn id="25" idx="4"/>
            <a:endCxn id="23" idx="0"/>
          </p:cNvCxnSpPr>
          <p:nvPr/>
        </p:nvCxnSpPr>
        <p:spPr>
          <a:xfrm>
            <a:off x="8479821" y="3830319"/>
            <a:ext cx="2" cy="4196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131363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56861B-E75D-3C50-D32F-98AED1CD4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45425216-C47D-E450-5496-9CB07EE81C58}"/>
              </a:ext>
            </a:extLst>
          </p:cNvPr>
          <p:cNvSpPr/>
          <p:nvPr/>
        </p:nvSpPr>
        <p:spPr>
          <a:xfrm>
            <a:off x="0" y="0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8D15A979-CEF3-0ACB-92EA-DF7CE1C785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Librerías</a:t>
            </a:r>
            <a:endParaRPr lang="es-PA" b="1" dirty="0">
              <a:solidFill>
                <a:schemeClr val="bg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18A4CCEE-9DDB-FAEE-9E4D-3FCE0D3F1874}"/>
              </a:ext>
            </a:extLst>
          </p:cNvPr>
          <p:cNvSpPr/>
          <p:nvPr/>
        </p:nvSpPr>
        <p:spPr>
          <a:xfrm>
            <a:off x="0" y="5510623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3" name="Elipse 22">
            <a:extLst>
              <a:ext uri="{FF2B5EF4-FFF2-40B4-BE49-F238E27FC236}">
                <a16:creationId xmlns:a16="http://schemas.microsoft.com/office/drawing/2014/main" id="{B49409B2-3F3E-55E8-9CA0-9481AD3688E4}"/>
              </a:ext>
            </a:extLst>
          </p:cNvPr>
          <p:cNvSpPr/>
          <p:nvPr/>
        </p:nvSpPr>
        <p:spPr>
          <a:xfrm>
            <a:off x="4243070" y="4249981"/>
            <a:ext cx="438665" cy="43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 dirty="0"/>
          </a:p>
        </p:txBody>
      </p:sp>
      <p:sp>
        <p:nvSpPr>
          <p:cNvPr id="24" name="Elipse 23">
            <a:extLst>
              <a:ext uri="{FF2B5EF4-FFF2-40B4-BE49-F238E27FC236}">
                <a16:creationId xmlns:a16="http://schemas.microsoft.com/office/drawing/2014/main" id="{7F19662A-8CCA-3CC3-2C9C-F5074197EA6F}"/>
              </a:ext>
            </a:extLst>
          </p:cNvPr>
          <p:cNvSpPr/>
          <p:nvPr/>
        </p:nvSpPr>
        <p:spPr>
          <a:xfrm>
            <a:off x="4243071" y="2055813"/>
            <a:ext cx="438665" cy="43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5" name="Elipse 24">
            <a:extLst>
              <a:ext uri="{FF2B5EF4-FFF2-40B4-BE49-F238E27FC236}">
                <a16:creationId xmlns:a16="http://schemas.microsoft.com/office/drawing/2014/main" id="{9086326D-EF66-F53E-0FE6-AD0FF8B27454}"/>
              </a:ext>
            </a:extLst>
          </p:cNvPr>
          <p:cNvSpPr/>
          <p:nvPr/>
        </p:nvSpPr>
        <p:spPr>
          <a:xfrm>
            <a:off x="4243070" y="3107477"/>
            <a:ext cx="438665" cy="43866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pic>
        <p:nvPicPr>
          <p:cNvPr id="7" name="Imagen 6" descr="Humano PNG para descargar gratis">
            <a:extLst>
              <a:ext uri="{FF2B5EF4-FFF2-40B4-BE49-F238E27FC236}">
                <a16:creationId xmlns:a16="http://schemas.microsoft.com/office/drawing/2014/main" id="{393B4D8A-0630-49F5-C856-BB7570B717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27267" y="1452306"/>
            <a:ext cx="3675776" cy="3715006"/>
          </a:xfrm>
          <a:prstGeom prst="rect">
            <a:avLst/>
          </a:prstGeom>
        </p:spPr>
      </p:pic>
      <p:cxnSp>
        <p:nvCxnSpPr>
          <p:cNvPr id="13" name="Conector recto de flecha 12">
            <a:extLst>
              <a:ext uri="{FF2B5EF4-FFF2-40B4-BE49-F238E27FC236}">
                <a16:creationId xmlns:a16="http://schemas.microsoft.com/office/drawing/2014/main" id="{835A0C02-7957-4621-D735-99EAF54E28CE}"/>
              </a:ext>
            </a:extLst>
          </p:cNvPr>
          <p:cNvCxnSpPr>
            <a:stCxn id="24" idx="6"/>
          </p:cNvCxnSpPr>
          <p:nvPr/>
        </p:nvCxnSpPr>
        <p:spPr>
          <a:xfrm flipV="1">
            <a:off x="4681736" y="2055813"/>
            <a:ext cx="2089766" cy="21933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ector recto de flecha 14">
            <a:extLst>
              <a:ext uri="{FF2B5EF4-FFF2-40B4-BE49-F238E27FC236}">
                <a16:creationId xmlns:a16="http://schemas.microsoft.com/office/drawing/2014/main" id="{509E96CD-EE98-F43F-6548-4C1687A9DA31}"/>
              </a:ext>
            </a:extLst>
          </p:cNvPr>
          <p:cNvCxnSpPr>
            <a:cxnSpLocks/>
            <a:stCxn id="25" idx="6"/>
          </p:cNvCxnSpPr>
          <p:nvPr/>
        </p:nvCxnSpPr>
        <p:spPr>
          <a:xfrm flipV="1">
            <a:off x="4681735" y="2907988"/>
            <a:ext cx="1898238" cy="41882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>
            <a:extLst>
              <a:ext uri="{FF2B5EF4-FFF2-40B4-BE49-F238E27FC236}">
                <a16:creationId xmlns:a16="http://schemas.microsoft.com/office/drawing/2014/main" id="{CABEEF4A-3525-5F36-7482-FFC7D65FA2D1}"/>
              </a:ext>
            </a:extLst>
          </p:cNvPr>
          <p:cNvCxnSpPr>
            <a:stCxn id="23" idx="6"/>
          </p:cNvCxnSpPr>
          <p:nvPr/>
        </p:nvCxnSpPr>
        <p:spPr>
          <a:xfrm>
            <a:off x="4681735" y="4469314"/>
            <a:ext cx="2089767" cy="9032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48602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3BABAE-52DB-121B-49A3-87E8B8F62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6A97A3-9FA6-B050-8052-58D39831BB5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Análisis</a:t>
            </a:r>
            <a:r>
              <a:rPr lang="en-US" b="1" dirty="0"/>
              <a:t> </a:t>
            </a:r>
            <a:r>
              <a:rPr lang="en-US" b="1" dirty="0" err="1"/>
              <a:t>Exploratorio</a:t>
            </a:r>
            <a:r>
              <a:rPr lang="en-US" b="1" dirty="0"/>
              <a:t> de Datos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Sesión</a:t>
            </a:r>
            <a:r>
              <a:rPr lang="en-US" b="1" dirty="0"/>
              <a:t> 2</a:t>
            </a:r>
            <a:endParaRPr lang="es-PA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6C2386B-D86D-1D7F-ABF7-983E6D817FCB}"/>
              </a:ext>
            </a:extLst>
          </p:cNvPr>
          <p:cNvSpPr/>
          <p:nvPr/>
        </p:nvSpPr>
        <p:spPr>
          <a:xfrm>
            <a:off x="0" y="5510623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1662420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080AC8C-CAF4-1913-1DCB-BD774766633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392" b="5415"/>
          <a:stretch/>
        </p:blipFill>
        <p:spPr>
          <a:xfrm>
            <a:off x="1280160" y="1850099"/>
            <a:ext cx="9144000" cy="335426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8E78BB-E9E9-422E-D2FD-F7B83E29FCFA}"/>
              </a:ext>
            </a:extLst>
          </p:cNvPr>
          <p:cNvSpPr txBox="1"/>
          <p:nvPr/>
        </p:nvSpPr>
        <p:spPr>
          <a:xfrm>
            <a:off x="1746155" y="5316836"/>
            <a:ext cx="804935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i="1" dirty="0"/>
              <a:t>El </a:t>
            </a:r>
            <a:r>
              <a:rPr lang="en-US" sz="2400" i="1" dirty="0" err="1"/>
              <a:t>objetivo</a:t>
            </a:r>
            <a:r>
              <a:rPr lang="en-US" sz="2400" i="1" dirty="0"/>
              <a:t> principal es </a:t>
            </a:r>
            <a:r>
              <a:rPr lang="en-US" sz="2400" i="1" dirty="0" err="1"/>
              <a:t>entender</a:t>
            </a:r>
            <a:r>
              <a:rPr lang="en-US" sz="2400" i="1" dirty="0"/>
              <a:t> </a:t>
            </a:r>
            <a:r>
              <a:rPr lang="en-US" sz="2400" i="1" dirty="0" err="1"/>
              <a:t>los</a:t>
            </a:r>
            <a:r>
              <a:rPr lang="en-US" sz="2400" i="1" dirty="0"/>
              <a:t> </a:t>
            </a:r>
            <a:r>
              <a:rPr lang="en-US" sz="2400" i="1" dirty="0" err="1"/>
              <a:t>datos</a:t>
            </a:r>
            <a:endParaRPr lang="en-US" sz="2400" i="1" dirty="0"/>
          </a:p>
        </p:txBody>
      </p:sp>
      <p:sp>
        <p:nvSpPr>
          <p:cNvPr id="9" name="Rectángulo 4">
            <a:extLst>
              <a:ext uri="{FF2B5EF4-FFF2-40B4-BE49-F238E27FC236}">
                <a16:creationId xmlns:a16="http://schemas.microsoft.com/office/drawing/2014/main" id="{B14F2E3E-9714-06A3-F4FE-975B146AD904}"/>
              </a:ext>
            </a:extLst>
          </p:cNvPr>
          <p:cNvSpPr/>
          <p:nvPr/>
        </p:nvSpPr>
        <p:spPr>
          <a:xfrm>
            <a:off x="675249" y="521495"/>
            <a:ext cx="11306842" cy="6752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600" dirty="0" err="1"/>
              <a:t>Análisis</a:t>
            </a:r>
            <a:r>
              <a:rPr lang="en-US" sz="6600" dirty="0"/>
              <a:t> </a:t>
            </a:r>
            <a:r>
              <a:rPr lang="en-US" sz="6600" dirty="0" err="1"/>
              <a:t>Exploratorio</a:t>
            </a:r>
            <a:r>
              <a:rPr lang="en-US" sz="6600" dirty="0"/>
              <a:t>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458366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76681FEF-02D4-4967-7276-CD9027081F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315" b="6034"/>
          <a:stretch/>
        </p:blipFill>
        <p:spPr>
          <a:xfrm>
            <a:off x="3695738" y="2325508"/>
            <a:ext cx="5732584" cy="3312773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5DB05275-663F-A528-067C-36034BC410A4}"/>
              </a:ext>
            </a:extLst>
          </p:cNvPr>
          <p:cNvSpPr txBox="1"/>
          <p:nvPr/>
        </p:nvSpPr>
        <p:spPr>
          <a:xfrm>
            <a:off x="1276383" y="3098266"/>
            <a:ext cx="2507274" cy="16970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 i="1" dirty="0" err="1"/>
              <a:t>Hacer</a:t>
            </a:r>
            <a:r>
              <a:rPr lang="en-US" sz="2400" i="1" dirty="0"/>
              <a:t> </a:t>
            </a:r>
            <a:r>
              <a:rPr lang="en-US" sz="2400" i="1" dirty="0" err="1"/>
              <a:t>preguntas</a:t>
            </a:r>
            <a:r>
              <a:rPr lang="en-US" sz="2400" i="1" dirty="0"/>
              <a:t> para </a:t>
            </a:r>
            <a:r>
              <a:rPr lang="en-US" sz="2400" i="1" dirty="0" err="1"/>
              <a:t>llegar</a:t>
            </a:r>
            <a:r>
              <a:rPr lang="en-US" sz="2400" i="1" dirty="0"/>
              <a:t> a ese </a:t>
            </a:r>
            <a:r>
              <a:rPr lang="en-US" sz="2400" i="1" dirty="0" err="1"/>
              <a:t>entendimiento</a:t>
            </a:r>
            <a:endParaRPr lang="en-US" sz="2400" i="1" dirty="0"/>
          </a:p>
        </p:txBody>
      </p:sp>
      <p:sp>
        <p:nvSpPr>
          <p:cNvPr id="9" name="Rectángulo 4">
            <a:extLst>
              <a:ext uri="{FF2B5EF4-FFF2-40B4-BE49-F238E27FC236}">
                <a16:creationId xmlns:a16="http://schemas.microsoft.com/office/drawing/2014/main" id="{F463254E-2E98-DCDB-33B1-B8BC0E276214}"/>
              </a:ext>
            </a:extLst>
          </p:cNvPr>
          <p:cNvSpPr/>
          <p:nvPr/>
        </p:nvSpPr>
        <p:spPr>
          <a:xfrm>
            <a:off x="675249" y="521495"/>
            <a:ext cx="11306842" cy="6752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600" dirty="0" err="1"/>
              <a:t>Análisis</a:t>
            </a:r>
            <a:r>
              <a:rPr lang="en-US" sz="6600" dirty="0"/>
              <a:t> </a:t>
            </a:r>
            <a:r>
              <a:rPr lang="en-US" sz="6600" dirty="0" err="1"/>
              <a:t>Exploratorio</a:t>
            </a:r>
            <a:r>
              <a:rPr lang="en-US" sz="6600" dirty="0"/>
              <a:t>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82703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>
            <a:extLst>
              <a:ext uri="{FF2B5EF4-FFF2-40B4-BE49-F238E27FC236}">
                <a16:creationId xmlns:a16="http://schemas.microsoft.com/office/drawing/2014/main" id="{45FF638E-4CC8-0EF3-1EAD-E1B7E30E9B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50577" y="1627455"/>
            <a:ext cx="5657850" cy="3981123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44939993-FB08-E99D-4B8A-80FC564EF7C7}"/>
              </a:ext>
            </a:extLst>
          </p:cNvPr>
          <p:cNvSpPr/>
          <p:nvPr/>
        </p:nvSpPr>
        <p:spPr>
          <a:xfrm>
            <a:off x="7757013" y="4561746"/>
            <a:ext cx="2220058" cy="2202473"/>
          </a:xfrm>
          <a:prstGeom prst="ellipse">
            <a:avLst/>
          </a:prstGeom>
          <a:solidFill>
            <a:schemeClr val="accent1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C573336-7B31-9012-D89A-BB773F19F185}"/>
              </a:ext>
            </a:extLst>
          </p:cNvPr>
          <p:cNvSpPr/>
          <p:nvPr/>
        </p:nvSpPr>
        <p:spPr>
          <a:xfrm>
            <a:off x="2034686" y="1551841"/>
            <a:ext cx="2220058" cy="2202473"/>
          </a:xfrm>
          <a:prstGeom prst="ellipse">
            <a:avLst/>
          </a:prstGeom>
          <a:solidFill>
            <a:schemeClr val="accent1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6FD634F-AE4C-624F-CA8F-29004F3F2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NI" dirty="0"/>
              <a:t>Análisis Exploratorio de Datos</a:t>
            </a:r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D4C4FE2-D7EA-4D49-0A7B-D120824D244D}"/>
              </a:ext>
            </a:extLst>
          </p:cNvPr>
          <p:cNvSpPr txBox="1"/>
          <p:nvPr/>
        </p:nvSpPr>
        <p:spPr>
          <a:xfrm>
            <a:off x="2273544" y="1952766"/>
            <a:ext cx="178044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600" b="1" dirty="0">
                <a:solidFill>
                  <a:schemeClr val="bg1"/>
                </a:solidFill>
              </a:rPr>
              <a:t>¿</a:t>
            </a:r>
            <a:r>
              <a:rPr lang="en-US" sz="1600" b="1" dirty="0" err="1">
                <a:solidFill>
                  <a:schemeClr val="bg1"/>
                </a:solidFill>
              </a:rPr>
              <a:t>Qué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tipo</a:t>
            </a:r>
            <a:r>
              <a:rPr lang="en-US" sz="1600" b="1" dirty="0">
                <a:solidFill>
                  <a:schemeClr val="bg1"/>
                </a:solidFill>
              </a:rPr>
              <a:t> de </a:t>
            </a:r>
            <a:r>
              <a:rPr lang="en-US" sz="1600" b="1" dirty="0" err="1">
                <a:solidFill>
                  <a:schemeClr val="bg1"/>
                </a:solidFill>
              </a:rPr>
              <a:t>variaciones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ocurren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en</a:t>
            </a:r>
            <a:r>
              <a:rPr lang="en-US" sz="1600" b="1" dirty="0">
                <a:solidFill>
                  <a:schemeClr val="bg1"/>
                </a:solidFill>
              </a:rPr>
              <a:t> las variables del set de </a:t>
            </a:r>
            <a:r>
              <a:rPr lang="en-US" sz="1600" b="1" dirty="0" err="1">
                <a:solidFill>
                  <a:schemeClr val="bg1"/>
                </a:solidFill>
              </a:rPr>
              <a:t>datos</a:t>
            </a:r>
            <a:r>
              <a:rPr lang="en-US" sz="1600" b="1" dirty="0">
                <a:solidFill>
                  <a:schemeClr val="bg1"/>
                </a:solidFill>
              </a:rPr>
              <a:t>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29E3BC1-524D-6C85-57A5-5D18CE7ABBF9}"/>
              </a:ext>
            </a:extLst>
          </p:cNvPr>
          <p:cNvSpPr txBox="1"/>
          <p:nvPr/>
        </p:nvSpPr>
        <p:spPr>
          <a:xfrm>
            <a:off x="7863986" y="5094394"/>
            <a:ext cx="200611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¿</a:t>
            </a:r>
            <a:r>
              <a:rPr lang="en-US" b="1" dirty="0" err="1">
                <a:solidFill>
                  <a:schemeClr val="bg1"/>
                </a:solidFill>
              </a:rPr>
              <a:t>Qué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tipo</a:t>
            </a:r>
            <a:r>
              <a:rPr lang="en-US" b="1" dirty="0">
                <a:solidFill>
                  <a:schemeClr val="bg1"/>
                </a:solidFill>
              </a:rPr>
              <a:t> de </a:t>
            </a:r>
            <a:r>
              <a:rPr lang="en-US" b="1" dirty="0" err="1">
                <a:solidFill>
                  <a:schemeClr val="bg1"/>
                </a:solidFill>
              </a:rPr>
              <a:t>Covariación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occuren</a:t>
            </a:r>
            <a:r>
              <a:rPr lang="en-US" b="1" dirty="0">
                <a:solidFill>
                  <a:schemeClr val="bg1"/>
                </a:solidFill>
              </a:rPr>
              <a:t> entre mis variables?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F388A0A0-7733-8352-264A-530ADB9CC7F1}"/>
              </a:ext>
            </a:extLst>
          </p:cNvPr>
          <p:cNvSpPr/>
          <p:nvPr/>
        </p:nvSpPr>
        <p:spPr>
          <a:xfrm>
            <a:off x="8069876" y="1303799"/>
            <a:ext cx="1628775" cy="1647092"/>
          </a:xfrm>
          <a:prstGeom prst="ellipse">
            <a:avLst/>
          </a:prstGeom>
          <a:solidFill>
            <a:schemeClr val="accent1">
              <a:lumMod val="50000"/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D0DD7CE-DA97-9E90-03BE-907630FE5CBF}"/>
              </a:ext>
            </a:extLst>
          </p:cNvPr>
          <p:cNvSpPr txBox="1"/>
          <p:nvPr/>
        </p:nvSpPr>
        <p:spPr>
          <a:xfrm>
            <a:off x="8092586" y="1690689"/>
            <a:ext cx="160606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bg1"/>
                </a:solidFill>
              </a:rPr>
              <a:t>¿Hay </a:t>
            </a:r>
            <a:r>
              <a:rPr lang="en-US" b="1" dirty="0" err="1">
                <a:solidFill>
                  <a:schemeClr val="bg1"/>
                </a:solidFill>
              </a:rPr>
              <a:t>valores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en-US" b="1" dirty="0" err="1">
                <a:solidFill>
                  <a:schemeClr val="bg1"/>
                </a:solidFill>
              </a:rPr>
              <a:t>fuera</a:t>
            </a:r>
            <a:r>
              <a:rPr lang="en-US" b="1" dirty="0">
                <a:solidFill>
                  <a:schemeClr val="bg1"/>
                </a:solidFill>
              </a:rPr>
              <a:t> de Rango?</a:t>
            </a:r>
          </a:p>
        </p:txBody>
      </p:sp>
    </p:spTree>
    <p:extLst>
      <p:ext uri="{BB962C8B-B14F-4D97-AF65-F5344CB8AC3E}">
        <p14:creationId xmlns:p14="http://schemas.microsoft.com/office/powerpoint/2010/main" val="26219869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0D6EE91-E133-A0A0-3B9E-83D5E5A00E3A}"/>
              </a:ext>
            </a:extLst>
          </p:cNvPr>
          <p:cNvSpPr/>
          <p:nvPr/>
        </p:nvSpPr>
        <p:spPr>
          <a:xfrm>
            <a:off x="4566922" y="1968377"/>
            <a:ext cx="2035419" cy="65478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736454E7-7EF1-A420-7E45-9599F364A65D}"/>
              </a:ext>
            </a:extLst>
          </p:cNvPr>
          <p:cNvSpPr/>
          <p:nvPr/>
        </p:nvSpPr>
        <p:spPr>
          <a:xfrm>
            <a:off x="7100571" y="3068203"/>
            <a:ext cx="1617784" cy="1635369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0AEA3D2-7951-5055-834D-EFF48B532CD6}"/>
              </a:ext>
            </a:extLst>
          </p:cNvPr>
          <p:cNvSpPr/>
          <p:nvPr/>
        </p:nvSpPr>
        <p:spPr>
          <a:xfrm>
            <a:off x="2525642" y="3068203"/>
            <a:ext cx="1617784" cy="1635369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B065AAA-58C9-96EB-6D29-1B43656068FF}"/>
              </a:ext>
            </a:extLst>
          </p:cNvPr>
          <p:cNvSpPr txBox="1"/>
          <p:nvPr/>
        </p:nvSpPr>
        <p:spPr>
          <a:xfrm>
            <a:off x="4698806" y="2069029"/>
            <a:ext cx="1754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</a:rPr>
              <a:t>Variación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AA484EB-4A96-5D19-2BF8-4E98679800D5}"/>
              </a:ext>
            </a:extLst>
          </p:cNvPr>
          <p:cNvSpPr txBox="1"/>
          <p:nvPr/>
        </p:nvSpPr>
        <p:spPr>
          <a:xfrm>
            <a:off x="2301434" y="3531943"/>
            <a:ext cx="196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Variables </a:t>
            </a:r>
            <a:r>
              <a:rPr lang="en-US" sz="2000" b="1" dirty="0" err="1">
                <a:solidFill>
                  <a:schemeClr val="bg1"/>
                </a:solidFill>
              </a:rPr>
              <a:t>Categóricas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34D20C-5576-C67E-D566-2EBB3E809982}"/>
              </a:ext>
            </a:extLst>
          </p:cNvPr>
          <p:cNvSpPr txBox="1"/>
          <p:nvPr/>
        </p:nvSpPr>
        <p:spPr>
          <a:xfrm>
            <a:off x="6933515" y="3531943"/>
            <a:ext cx="196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Variables </a:t>
            </a:r>
            <a:r>
              <a:rPr lang="en-US" sz="2000" b="1" dirty="0" err="1">
                <a:solidFill>
                  <a:schemeClr val="bg1"/>
                </a:solidFill>
              </a:rPr>
              <a:t>continuas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E979B8B-FD70-AC6A-B0B7-17D7AB44F076}"/>
              </a:ext>
            </a:extLst>
          </p:cNvPr>
          <p:cNvSpPr txBox="1"/>
          <p:nvPr/>
        </p:nvSpPr>
        <p:spPr>
          <a:xfrm>
            <a:off x="7134276" y="1928813"/>
            <a:ext cx="275345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Tendencia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que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tienen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los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valores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en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una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variable de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cambiar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cada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vez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que se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miden</a:t>
            </a:r>
            <a:endParaRPr lang="en-US" sz="1400" i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E25E584-31E6-5715-79BF-5FDFABDE4AB4}"/>
              </a:ext>
            </a:extLst>
          </p:cNvPr>
          <p:cNvSpPr txBox="1"/>
          <p:nvPr/>
        </p:nvSpPr>
        <p:spPr>
          <a:xfrm>
            <a:off x="2301434" y="6374790"/>
            <a:ext cx="196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Gráfico</a:t>
            </a:r>
            <a:r>
              <a:rPr lang="en-US" dirty="0">
                <a:solidFill>
                  <a:schemeClr val="bg1"/>
                </a:solidFill>
              </a:rPr>
              <a:t> de Barras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AA852A97-6171-084A-3D2F-FBA1B6203E50}"/>
              </a:ext>
            </a:extLst>
          </p:cNvPr>
          <p:cNvSpPr txBox="1"/>
          <p:nvPr/>
        </p:nvSpPr>
        <p:spPr>
          <a:xfrm>
            <a:off x="6933514" y="6374790"/>
            <a:ext cx="19606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solidFill>
                  <a:schemeClr val="bg1"/>
                </a:solidFill>
              </a:rPr>
              <a:t>Histograma</a:t>
            </a:r>
            <a:endParaRPr lang="en-US" dirty="0">
              <a:solidFill>
                <a:schemeClr val="bg1"/>
              </a:solidFill>
            </a:endParaRPr>
          </a:p>
        </p:txBody>
      </p: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575B9AA5-4A65-324B-D021-A14A411D16CF}"/>
              </a:ext>
            </a:extLst>
          </p:cNvPr>
          <p:cNvCxnSpPr>
            <a:stCxn id="4" idx="2"/>
            <a:endCxn id="9" idx="3"/>
          </p:cNvCxnSpPr>
          <p:nvPr/>
        </p:nvCxnSpPr>
        <p:spPr>
          <a:xfrm rot="5400000">
            <a:off x="4292013" y="2593268"/>
            <a:ext cx="1262727" cy="1322513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EEAB6769-3FEF-49EB-7831-F29B3E6437D2}"/>
              </a:ext>
            </a:extLst>
          </p:cNvPr>
          <p:cNvCxnSpPr>
            <a:stCxn id="4" idx="2"/>
            <a:endCxn id="10" idx="1"/>
          </p:cNvCxnSpPr>
          <p:nvPr/>
        </p:nvCxnSpPr>
        <p:spPr>
          <a:xfrm rot="16200000" flipH="1">
            <a:off x="5627710" y="2580082"/>
            <a:ext cx="1262727" cy="1348883"/>
          </a:xfrm>
          <a:prstGeom prst="bentConnector2">
            <a:avLst/>
          </a:prstGeom>
          <a:ln w="19050">
            <a:solidFill>
              <a:schemeClr val="bg2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A30779F7-1ACD-2C15-3FC3-9D272B3F2F2A}"/>
              </a:ext>
            </a:extLst>
          </p:cNvPr>
          <p:cNvCxnSpPr>
            <a:stCxn id="4" idx="3"/>
            <a:endCxn id="11" idx="1"/>
          </p:cNvCxnSpPr>
          <p:nvPr/>
        </p:nvCxnSpPr>
        <p:spPr>
          <a:xfrm>
            <a:off x="6602341" y="2295770"/>
            <a:ext cx="531935" cy="2377"/>
          </a:xfrm>
          <a:prstGeom prst="straightConnector1">
            <a:avLst/>
          </a:prstGeom>
          <a:ln w="1905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36DFEF09-2069-3369-763F-1AE31E6F8A1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415" t="26575" r="4180" b="11027"/>
          <a:stretch/>
        </p:blipFill>
        <p:spPr>
          <a:xfrm>
            <a:off x="6918866" y="4884627"/>
            <a:ext cx="2142390" cy="1177995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C5EA97E1-9A8C-631D-941F-EDECABDF52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8258" y="4911789"/>
            <a:ext cx="2236741" cy="1154458"/>
          </a:xfrm>
          <a:prstGeom prst="rect">
            <a:avLst/>
          </a:prstGeom>
        </p:spPr>
      </p:pic>
      <p:sp>
        <p:nvSpPr>
          <p:cNvPr id="21" name="Rectángulo 4">
            <a:extLst>
              <a:ext uri="{FF2B5EF4-FFF2-40B4-BE49-F238E27FC236}">
                <a16:creationId xmlns:a16="http://schemas.microsoft.com/office/drawing/2014/main" id="{7DF9524E-0882-D7ED-0D2E-3E346FA2A140}"/>
              </a:ext>
            </a:extLst>
          </p:cNvPr>
          <p:cNvSpPr/>
          <p:nvPr/>
        </p:nvSpPr>
        <p:spPr>
          <a:xfrm>
            <a:off x="675249" y="521495"/>
            <a:ext cx="11306842" cy="67525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6600" dirty="0" err="1"/>
              <a:t>Análisis</a:t>
            </a:r>
            <a:r>
              <a:rPr lang="en-US" sz="6600" dirty="0"/>
              <a:t> </a:t>
            </a:r>
            <a:r>
              <a:rPr lang="en-US" sz="6600" dirty="0" err="1"/>
              <a:t>Exploratorio</a:t>
            </a:r>
            <a:r>
              <a:rPr lang="en-US" sz="6600" dirty="0"/>
              <a:t>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904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D86368EB-1733-D890-52AC-A0462E3DE1F7}"/>
              </a:ext>
            </a:extLst>
          </p:cNvPr>
          <p:cNvSpPr txBox="1"/>
          <p:nvPr/>
        </p:nvSpPr>
        <p:spPr>
          <a:xfrm>
            <a:off x="2477675" y="1919176"/>
            <a:ext cx="23783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Valores</a:t>
            </a:r>
            <a:r>
              <a:rPr 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5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Típicos</a:t>
            </a:r>
            <a:endParaRPr lang="en-US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A41CECE-1B22-C364-696C-F6CC2B4ACD30}"/>
              </a:ext>
            </a:extLst>
          </p:cNvPr>
          <p:cNvSpPr txBox="1"/>
          <p:nvPr/>
        </p:nvSpPr>
        <p:spPr>
          <a:xfrm>
            <a:off x="7105360" y="2013926"/>
            <a:ext cx="241495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5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Valores</a:t>
            </a:r>
            <a:r>
              <a:rPr lang="en-US" sz="25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25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Atípicos</a:t>
            </a:r>
            <a:endParaRPr lang="en-US" sz="25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10C7436-DB6A-B0DE-677E-B7770379B95D}"/>
              </a:ext>
            </a:extLst>
          </p:cNvPr>
          <p:cNvGrpSpPr/>
          <p:nvPr/>
        </p:nvGrpSpPr>
        <p:grpSpPr>
          <a:xfrm>
            <a:off x="1910568" y="2923932"/>
            <a:ext cx="839666" cy="808893"/>
            <a:chOff x="813288" y="2580542"/>
            <a:chExt cx="839666" cy="808893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CB370CC-C6FC-2C6A-1EEB-A0FC413DDE0B}"/>
                </a:ext>
              </a:extLst>
            </p:cNvPr>
            <p:cNvSpPr/>
            <p:nvPr/>
          </p:nvSpPr>
          <p:spPr>
            <a:xfrm>
              <a:off x="813288" y="2580542"/>
              <a:ext cx="839666" cy="808893"/>
            </a:xfrm>
            <a:prstGeom prst="ellipse">
              <a:avLst/>
            </a:prstGeom>
            <a:noFill/>
            <a:ln w="635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A52D0F5-A319-8FB0-D4F9-A676AFC7E3A6}"/>
                </a:ext>
              </a:extLst>
            </p:cNvPr>
            <p:cNvSpPr/>
            <p:nvPr/>
          </p:nvSpPr>
          <p:spPr>
            <a:xfrm>
              <a:off x="929054" y="2678723"/>
              <a:ext cx="608135" cy="612531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660835B9-2C71-147A-B879-09A9701EEEF8}"/>
              </a:ext>
            </a:extLst>
          </p:cNvPr>
          <p:cNvGrpSpPr/>
          <p:nvPr/>
        </p:nvGrpSpPr>
        <p:grpSpPr>
          <a:xfrm>
            <a:off x="1934747" y="3946770"/>
            <a:ext cx="839666" cy="808893"/>
            <a:chOff x="813288" y="2580542"/>
            <a:chExt cx="839666" cy="808893"/>
          </a:xfrm>
        </p:grpSpPr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03FF908E-DE5A-34A9-0D2F-57123F3FB913}"/>
                </a:ext>
              </a:extLst>
            </p:cNvPr>
            <p:cNvSpPr/>
            <p:nvPr/>
          </p:nvSpPr>
          <p:spPr>
            <a:xfrm>
              <a:off x="813288" y="2580542"/>
              <a:ext cx="839666" cy="808893"/>
            </a:xfrm>
            <a:prstGeom prst="ellipse">
              <a:avLst/>
            </a:prstGeom>
            <a:noFill/>
            <a:ln w="635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86DFEFC-4E92-5F88-2817-4957AA5920CC}"/>
                </a:ext>
              </a:extLst>
            </p:cNvPr>
            <p:cNvSpPr/>
            <p:nvPr/>
          </p:nvSpPr>
          <p:spPr>
            <a:xfrm>
              <a:off x="929054" y="2678723"/>
              <a:ext cx="608135" cy="612531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04C7AF4D-495D-9984-6A05-E3BA2F4083B0}"/>
              </a:ext>
            </a:extLst>
          </p:cNvPr>
          <p:cNvGrpSpPr/>
          <p:nvPr/>
        </p:nvGrpSpPr>
        <p:grpSpPr>
          <a:xfrm>
            <a:off x="1934747" y="4969608"/>
            <a:ext cx="839666" cy="808893"/>
            <a:chOff x="813288" y="2580542"/>
            <a:chExt cx="839666" cy="808893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9BA2FA-6DC8-7C36-B3E0-A3070DD2760D}"/>
                </a:ext>
              </a:extLst>
            </p:cNvPr>
            <p:cNvSpPr/>
            <p:nvPr/>
          </p:nvSpPr>
          <p:spPr>
            <a:xfrm>
              <a:off x="813288" y="2580542"/>
              <a:ext cx="839666" cy="808893"/>
            </a:xfrm>
            <a:prstGeom prst="ellipse">
              <a:avLst/>
            </a:prstGeom>
            <a:noFill/>
            <a:ln w="635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A395B7F5-A6DD-0DDB-E0BA-FE22161F30CD}"/>
                </a:ext>
              </a:extLst>
            </p:cNvPr>
            <p:cNvSpPr/>
            <p:nvPr/>
          </p:nvSpPr>
          <p:spPr>
            <a:xfrm>
              <a:off x="929054" y="2678723"/>
              <a:ext cx="608135" cy="612531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0" name="TextBox 29">
            <a:extLst>
              <a:ext uri="{FF2B5EF4-FFF2-40B4-BE49-F238E27FC236}">
                <a16:creationId xmlns:a16="http://schemas.microsoft.com/office/drawing/2014/main" id="{007D9C90-02DA-F51F-E38F-E25148FAF49D}"/>
              </a:ext>
            </a:extLst>
          </p:cNvPr>
          <p:cNvSpPr txBox="1"/>
          <p:nvPr/>
        </p:nvSpPr>
        <p:spPr>
          <a:xfrm>
            <a:off x="2890181" y="2976590"/>
            <a:ext cx="2479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Cuales</a:t>
            </a:r>
            <a:r>
              <a:rPr lang="en-US" dirty="0"/>
              <a:t> </a:t>
            </a:r>
            <a:r>
              <a:rPr lang="en-US" dirty="0" err="1"/>
              <a:t>valores</a:t>
            </a:r>
            <a:r>
              <a:rPr lang="en-US" dirty="0"/>
              <a:t> son </a:t>
            </a:r>
            <a:r>
              <a:rPr lang="en-US" dirty="0" err="1"/>
              <a:t>los</a:t>
            </a:r>
            <a:r>
              <a:rPr lang="en-US" dirty="0"/>
              <a:t> </a:t>
            </a:r>
            <a:r>
              <a:rPr lang="en-US" dirty="0" err="1"/>
              <a:t>más</a:t>
            </a:r>
            <a:r>
              <a:rPr lang="en-US" dirty="0"/>
              <a:t> </a:t>
            </a:r>
            <a:r>
              <a:rPr lang="en-US" dirty="0" err="1"/>
              <a:t>frecuentes</a:t>
            </a:r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FE54709-2FBE-CF1E-2221-1257D06A7743}"/>
              </a:ext>
            </a:extLst>
          </p:cNvPr>
          <p:cNvSpPr txBox="1"/>
          <p:nvPr/>
        </p:nvSpPr>
        <p:spPr>
          <a:xfrm>
            <a:off x="2890179" y="3993470"/>
            <a:ext cx="2814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Puede</a:t>
            </a:r>
            <a:r>
              <a:rPr lang="en-US" dirty="0"/>
              <a:t> </a:t>
            </a:r>
            <a:r>
              <a:rPr lang="en-US" dirty="0" err="1"/>
              <a:t>identificar</a:t>
            </a:r>
            <a:r>
              <a:rPr lang="en-US" dirty="0"/>
              <a:t> </a:t>
            </a:r>
            <a:r>
              <a:rPr lang="en-US" dirty="0" err="1"/>
              <a:t>algún</a:t>
            </a:r>
            <a:r>
              <a:rPr lang="en-US" dirty="0"/>
              <a:t> patron de </a:t>
            </a:r>
            <a:r>
              <a:rPr lang="en-US" dirty="0" err="1"/>
              <a:t>comportamiento</a:t>
            </a:r>
            <a:endParaRPr lang="en-US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4E38FEA-6E42-1ABC-E1E4-3156F31D879B}"/>
              </a:ext>
            </a:extLst>
          </p:cNvPr>
          <p:cNvSpPr txBox="1"/>
          <p:nvPr/>
        </p:nvSpPr>
        <p:spPr>
          <a:xfrm>
            <a:off x="2890181" y="5067789"/>
            <a:ext cx="2479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Identifica</a:t>
            </a:r>
            <a:r>
              <a:rPr lang="en-US" dirty="0"/>
              <a:t> </a:t>
            </a:r>
            <a:r>
              <a:rPr lang="en-US" dirty="0" err="1"/>
              <a:t>alguna</a:t>
            </a:r>
            <a:r>
              <a:rPr lang="en-US" dirty="0"/>
              <a:t> </a:t>
            </a:r>
            <a:r>
              <a:rPr lang="en-US" dirty="0" err="1"/>
              <a:t>inconsistencia</a:t>
            </a:r>
            <a:endParaRPr lang="en-US" dirty="0"/>
          </a:p>
        </p:txBody>
      </p: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392C05-AF1C-2EF4-D25C-945601F8CF0C}"/>
              </a:ext>
            </a:extLst>
          </p:cNvPr>
          <p:cNvGrpSpPr/>
          <p:nvPr/>
        </p:nvGrpSpPr>
        <p:grpSpPr>
          <a:xfrm>
            <a:off x="6186561" y="2923932"/>
            <a:ext cx="839666" cy="808893"/>
            <a:chOff x="813288" y="2580542"/>
            <a:chExt cx="839666" cy="808893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65F68A5B-7847-061A-E186-CB9177A31EA5}"/>
                </a:ext>
              </a:extLst>
            </p:cNvPr>
            <p:cNvSpPr/>
            <p:nvPr/>
          </p:nvSpPr>
          <p:spPr>
            <a:xfrm>
              <a:off x="813288" y="2580542"/>
              <a:ext cx="839666" cy="808893"/>
            </a:xfrm>
            <a:prstGeom prst="ellipse">
              <a:avLst/>
            </a:prstGeom>
            <a:noFill/>
            <a:ln w="635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39224D3-D4D4-498A-A192-5627BC462503}"/>
                </a:ext>
              </a:extLst>
            </p:cNvPr>
            <p:cNvSpPr/>
            <p:nvPr/>
          </p:nvSpPr>
          <p:spPr>
            <a:xfrm>
              <a:off x="929054" y="2678723"/>
              <a:ext cx="608135" cy="612531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9E6C39A7-5C35-AF63-8B58-774B82B9E1B8}"/>
              </a:ext>
            </a:extLst>
          </p:cNvPr>
          <p:cNvGrpSpPr/>
          <p:nvPr/>
        </p:nvGrpSpPr>
        <p:grpSpPr>
          <a:xfrm>
            <a:off x="6210740" y="3946770"/>
            <a:ext cx="839666" cy="808893"/>
            <a:chOff x="813288" y="2580542"/>
            <a:chExt cx="839666" cy="808893"/>
          </a:xfrm>
        </p:grpSpPr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314D7708-9AF1-3409-0AA3-0B5B6E75E371}"/>
                </a:ext>
              </a:extLst>
            </p:cNvPr>
            <p:cNvSpPr/>
            <p:nvPr/>
          </p:nvSpPr>
          <p:spPr>
            <a:xfrm>
              <a:off x="813288" y="2580542"/>
              <a:ext cx="839666" cy="808893"/>
            </a:xfrm>
            <a:prstGeom prst="ellipse">
              <a:avLst/>
            </a:prstGeom>
            <a:noFill/>
            <a:ln w="635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26C61AD9-6A12-AEA2-CF38-E1E1426E692B}"/>
                </a:ext>
              </a:extLst>
            </p:cNvPr>
            <p:cNvSpPr/>
            <p:nvPr/>
          </p:nvSpPr>
          <p:spPr>
            <a:xfrm>
              <a:off x="929054" y="2678723"/>
              <a:ext cx="608135" cy="612531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2720A87A-D3FF-C32B-066E-597E0C256EEF}"/>
              </a:ext>
            </a:extLst>
          </p:cNvPr>
          <p:cNvGrpSpPr/>
          <p:nvPr/>
        </p:nvGrpSpPr>
        <p:grpSpPr>
          <a:xfrm>
            <a:off x="6210740" y="4969608"/>
            <a:ext cx="839666" cy="808893"/>
            <a:chOff x="813288" y="2580542"/>
            <a:chExt cx="839666" cy="808893"/>
          </a:xfrm>
        </p:grpSpPr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539496F6-9B58-9C0B-AF6B-2F1DF9DBD697}"/>
                </a:ext>
              </a:extLst>
            </p:cNvPr>
            <p:cNvSpPr/>
            <p:nvPr/>
          </p:nvSpPr>
          <p:spPr>
            <a:xfrm>
              <a:off x="813288" y="2580542"/>
              <a:ext cx="839666" cy="808893"/>
            </a:xfrm>
            <a:prstGeom prst="ellipse">
              <a:avLst/>
            </a:prstGeom>
            <a:noFill/>
            <a:ln w="635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8CE84EF8-4101-B9EC-6A21-0D8044F1647E}"/>
                </a:ext>
              </a:extLst>
            </p:cNvPr>
            <p:cNvSpPr/>
            <p:nvPr/>
          </p:nvSpPr>
          <p:spPr>
            <a:xfrm>
              <a:off x="929054" y="2678723"/>
              <a:ext cx="608135" cy="612531"/>
            </a:xfrm>
            <a:prstGeom prst="ellipse">
              <a:avLst/>
            </a:prstGeom>
            <a:solidFill>
              <a:schemeClr val="accent4"/>
            </a:solidFill>
            <a:ln w="63500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2" name="TextBox 41">
            <a:extLst>
              <a:ext uri="{FF2B5EF4-FFF2-40B4-BE49-F238E27FC236}">
                <a16:creationId xmlns:a16="http://schemas.microsoft.com/office/drawing/2014/main" id="{EE7FDF9E-947C-7CBF-1761-DA08BB520D32}"/>
              </a:ext>
            </a:extLst>
          </p:cNvPr>
          <p:cNvSpPr txBox="1"/>
          <p:nvPr/>
        </p:nvSpPr>
        <p:spPr>
          <a:xfrm>
            <a:off x="7166174" y="2976590"/>
            <a:ext cx="2479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Valores</a:t>
            </a:r>
            <a:r>
              <a:rPr lang="en-US" dirty="0"/>
              <a:t> que no </a:t>
            </a:r>
            <a:r>
              <a:rPr lang="en-US" dirty="0" err="1"/>
              <a:t>están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un </a:t>
            </a:r>
            <a:r>
              <a:rPr lang="en-US" dirty="0" err="1"/>
              <a:t>rango</a:t>
            </a:r>
            <a:r>
              <a:rPr lang="en-US" dirty="0"/>
              <a:t> </a:t>
            </a:r>
            <a:r>
              <a:rPr lang="en-US" dirty="0" err="1"/>
              <a:t>común</a:t>
            </a:r>
            <a:endParaRPr lang="en-US" dirty="0"/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FB2B6381-FE5F-605B-8EF6-F69D461C1D70}"/>
              </a:ext>
            </a:extLst>
          </p:cNvPr>
          <p:cNvSpPr txBox="1"/>
          <p:nvPr/>
        </p:nvSpPr>
        <p:spPr>
          <a:xfrm>
            <a:off x="7166172" y="3993470"/>
            <a:ext cx="28142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Se </a:t>
            </a:r>
            <a:r>
              <a:rPr lang="en-US" dirty="0" err="1"/>
              <a:t>pueden</a:t>
            </a:r>
            <a:r>
              <a:rPr lang="en-US" dirty="0"/>
              <a:t> tartar </a:t>
            </a:r>
            <a:r>
              <a:rPr lang="en-US" dirty="0" err="1"/>
              <a:t>esos</a:t>
            </a:r>
            <a:r>
              <a:rPr lang="en-US" dirty="0"/>
              <a:t> </a:t>
            </a:r>
            <a:r>
              <a:rPr lang="en-US" dirty="0" err="1"/>
              <a:t>valores</a:t>
            </a:r>
            <a:endParaRPr lang="en-US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934DC8A-E92D-604B-8918-5E667D005770}"/>
              </a:ext>
            </a:extLst>
          </p:cNvPr>
          <p:cNvSpPr txBox="1"/>
          <p:nvPr/>
        </p:nvSpPr>
        <p:spPr>
          <a:xfrm>
            <a:off x="7166174" y="5067789"/>
            <a:ext cx="24794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Que decision se </a:t>
            </a:r>
            <a:r>
              <a:rPr lang="en-US" dirty="0" err="1"/>
              <a:t>tomará</a:t>
            </a:r>
            <a:r>
              <a:rPr lang="en-US" dirty="0"/>
              <a:t> al </a:t>
            </a:r>
            <a:r>
              <a:rPr lang="en-US" dirty="0" err="1"/>
              <a:t>respecto</a:t>
            </a:r>
            <a:r>
              <a:rPr lang="en-US" dirty="0"/>
              <a:t>.</a:t>
            </a:r>
          </a:p>
        </p:txBody>
      </p:sp>
      <p:sp>
        <p:nvSpPr>
          <p:cNvPr id="48" name="Rectángulo 4">
            <a:extLst>
              <a:ext uri="{FF2B5EF4-FFF2-40B4-BE49-F238E27FC236}">
                <a16:creationId xmlns:a16="http://schemas.microsoft.com/office/drawing/2014/main" id="{53F3A397-2C84-2010-4A8F-736CE90704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r>
              <a:rPr lang="en-US" sz="6600" dirty="0" err="1"/>
              <a:t>Análisis</a:t>
            </a:r>
            <a:r>
              <a:rPr lang="en-US" sz="6600" dirty="0"/>
              <a:t> </a:t>
            </a:r>
            <a:r>
              <a:rPr lang="en-US" sz="6600" dirty="0" err="1"/>
              <a:t>Exploratorio</a:t>
            </a:r>
            <a:r>
              <a:rPr lang="en-US" sz="6600" dirty="0"/>
              <a:t>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56607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4">
            <a:extLst>
              <a:ext uri="{FF2B5EF4-FFF2-40B4-BE49-F238E27FC236}">
                <a16:creationId xmlns:a16="http://schemas.microsoft.com/office/drawing/2014/main" id="{41BA1495-B46C-AD31-A498-9E0995915AB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/>
              <a:t>Análisis Exploratorio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0F594F3-3F2C-F818-5FB5-99DB86520974}"/>
              </a:ext>
            </a:extLst>
          </p:cNvPr>
          <p:cNvSpPr/>
          <p:nvPr/>
        </p:nvSpPr>
        <p:spPr>
          <a:xfrm>
            <a:off x="4907567" y="1495866"/>
            <a:ext cx="2035419" cy="654782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2C1DA49-3F62-1A31-3972-3DEBD6469809}"/>
              </a:ext>
            </a:extLst>
          </p:cNvPr>
          <p:cNvSpPr/>
          <p:nvPr/>
        </p:nvSpPr>
        <p:spPr>
          <a:xfrm>
            <a:off x="5957151" y="4693503"/>
            <a:ext cx="1617784" cy="16353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F2DFC6C-A5A8-6276-6022-F481C196F581}"/>
              </a:ext>
            </a:extLst>
          </p:cNvPr>
          <p:cNvSpPr/>
          <p:nvPr/>
        </p:nvSpPr>
        <p:spPr>
          <a:xfrm>
            <a:off x="4538292" y="4693503"/>
            <a:ext cx="1617784" cy="1635369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456902-3A79-CAC3-AB13-1B73232A7969}"/>
              </a:ext>
            </a:extLst>
          </p:cNvPr>
          <p:cNvSpPr txBox="1"/>
          <p:nvPr/>
        </p:nvSpPr>
        <p:spPr>
          <a:xfrm>
            <a:off x="5039451" y="1596519"/>
            <a:ext cx="17540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 err="1">
                <a:solidFill>
                  <a:schemeClr val="bg1"/>
                </a:solidFill>
              </a:rPr>
              <a:t>Covariación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39A6E38-653A-273D-5AC7-B2091883BAF6}"/>
              </a:ext>
            </a:extLst>
          </p:cNvPr>
          <p:cNvSpPr txBox="1"/>
          <p:nvPr/>
        </p:nvSpPr>
        <p:spPr>
          <a:xfrm>
            <a:off x="4314084" y="5147382"/>
            <a:ext cx="196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Variables </a:t>
            </a:r>
            <a:r>
              <a:rPr lang="en-US" sz="2000" b="1" dirty="0" err="1">
                <a:solidFill>
                  <a:schemeClr val="bg1"/>
                </a:solidFill>
              </a:rPr>
              <a:t>Categóricas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B903016-DDC8-EFEE-6334-BF0AC3ADD4CA}"/>
              </a:ext>
            </a:extLst>
          </p:cNvPr>
          <p:cNvSpPr txBox="1"/>
          <p:nvPr/>
        </p:nvSpPr>
        <p:spPr>
          <a:xfrm>
            <a:off x="5790096" y="5157242"/>
            <a:ext cx="196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Variables </a:t>
            </a:r>
            <a:r>
              <a:rPr lang="en-US" sz="2000" b="1" dirty="0" err="1">
                <a:solidFill>
                  <a:schemeClr val="bg1"/>
                </a:solidFill>
              </a:rPr>
              <a:t>continuas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DF10A9-C0AE-558A-7CB1-E5C9B4511C2A}"/>
              </a:ext>
            </a:extLst>
          </p:cNvPr>
          <p:cNvSpPr txBox="1"/>
          <p:nvPr/>
        </p:nvSpPr>
        <p:spPr>
          <a:xfrm>
            <a:off x="7474921" y="1561806"/>
            <a:ext cx="27534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Describe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el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</a:t>
            </a:r>
            <a:r>
              <a:rPr lang="en-US" sz="1400" i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comportamiento</a:t>
            </a:r>
            <a:r>
              <a:rPr lang="en-US" sz="1400" i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 que hay al combiner dos variables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5CB4443F-97EB-0457-E6EE-B7664693AD4B}"/>
              </a:ext>
            </a:extLst>
          </p:cNvPr>
          <p:cNvCxnSpPr>
            <a:stCxn id="14" idx="3"/>
            <a:endCxn id="8" idx="1"/>
          </p:cNvCxnSpPr>
          <p:nvPr/>
        </p:nvCxnSpPr>
        <p:spPr>
          <a:xfrm>
            <a:off x="6942986" y="1823260"/>
            <a:ext cx="531935" cy="159"/>
          </a:xfrm>
          <a:prstGeom prst="straightConnector1">
            <a:avLst/>
          </a:prstGeom>
          <a:ln w="190500">
            <a:solidFill>
              <a:schemeClr val="accent4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Oval 18">
            <a:extLst>
              <a:ext uri="{FF2B5EF4-FFF2-40B4-BE49-F238E27FC236}">
                <a16:creationId xmlns:a16="http://schemas.microsoft.com/office/drawing/2014/main" id="{A6A30C4B-3DDD-233B-623E-0CEAA4384B9B}"/>
              </a:ext>
            </a:extLst>
          </p:cNvPr>
          <p:cNvSpPr/>
          <p:nvPr/>
        </p:nvSpPr>
        <p:spPr>
          <a:xfrm>
            <a:off x="7056367" y="2592065"/>
            <a:ext cx="1617784" cy="1635369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0FA080A-1BD4-6738-4620-2F2F45E3328B}"/>
              </a:ext>
            </a:extLst>
          </p:cNvPr>
          <p:cNvSpPr txBox="1"/>
          <p:nvPr/>
        </p:nvSpPr>
        <p:spPr>
          <a:xfrm>
            <a:off x="6889312" y="3055804"/>
            <a:ext cx="196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Variables </a:t>
            </a:r>
            <a:r>
              <a:rPr lang="en-US" sz="2000" b="1" dirty="0" err="1">
                <a:solidFill>
                  <a:schemeClr val="bg1"/>
                </a:solidFill>
              </a:rPr>
              <a:t>continuas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F9C799F5-9A24-CF06-B8DB-F1DDF101CE4E}"/>
              </a:ext>
            </a:extLst>
          </p:cNvPr>
          <p:cNvSpPr/>
          <p:nvPr/>
        </p:nvSpPr>
        <p:spPr>
          <a:xfrm>
            <a:off x="8477985" y="2548193"/>
            <a:ext cx="1617784" cy="1635369"/>
          </a:xfrm>
          <a:prstGeom prst="ellipse">
            <a:avLst/>
          </a:prstGeom>
          <a:solidFill>
            <a:schemeClr val="accent4">
              <a:alpha val="4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BFA8C0B-5DBB-CE62-B0CA-4025ECB810EB}"/>
              </a:ext>
            </a:extLst>
          </p:cNvPr>
          <p:cNvSpPr txBox="1"/>
          <p:nvPr/>
        </p:nvSpPr>
        <p:spPr>
          <a:xfrm>
            <a:off x="8310930" y="3011932"/>
            <a:ext cx="196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Variables </a:t>
            </a:r>
            <a:r>
              <a:rPr lang="en-US" sz="2000" b="1" dirty="0" err="1">
                <a:solidFill>
                  <a:schemeClr val="tx1">
                    <a:lumMod val="75000"/>
                    <a:lumOff val="25000"/>
                  </a:schemeClr>
                </a:solidFill>
              </a:rPr>
              <a:t>continuas</a:t>
            </a:r>
            <a:endParaRPr lang="en-US" sz="20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1614CD41-D2AA-560E-9B0D-A3E995354600}"/>
              </a:ext>
            </a:extLst>
          </p:cNvPr>
          <p:cNvSpPr/>
          <p:nvPr/>
        </p:nvSpPr>
        <p:spPr>
          <a:xfrm>
            <a:off x="3298035" y="2600858"/>
            <a:ext cx="1617784" cy="1635369"/>
          </a:xfrm>
          <a:prstGeom prst="ellipse">
            <a:avLst/>
          </a:prstGeom>
          <a:solidFill>
            <a:schemeClr val="tx2">
              <a:lumMod val="60000"/>
              <a:lumOff val="40000"/>
              <a:alpha val="7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106C82E8-598D-D5C9-5B43-E8FE4A3B12C7}"/>
              </a:ext>
            </a:extLst>
          </p:cNvPr>
          <p:cNvSpPr/>
          <p:nvPr/>
        </p:nvSpPr>
        <p:spPr>
          <a:xfrm>
            <a:off x="1926972" y="2606461"/>
            <a:ext cx="1617784" cy="1635369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1D0A6496-568C-B3EE-5165-5FAD3FA321D8}"/>
              </a:ext>
            </a:extLst>
          </p:cNvPr>
          <p:cNvSpPr txBox="1"/>
          <p:nvPr/>
        </p:nvSpPr>
        <p:spPr>
          <a:xfrm>
            <a:off x="3130980" y="3064597"/>
            <a:ext cx="196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Variables </a:t>
            </a:r>
            <a:r>
              <a:rPr lang="en-US" sz="2000" b="1" dirty="0" err="1">
                <a:solidFill>
                  <a:schemeClr val="bg1"/>
                </a:solidFill>
              </a:rPr>
              <a:t>Categórica</a:t>
            </a:r>
            <a:endParaRPr lang="en-US" sz="2000" b="1" dirty="0">
              <a:solidFill>
                <a:schemeClr val="bg1"/>
              </a:solidFill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928C6E9-B155-417F-5616-7225158353D5}"/>
              </a:ext>
            </a:extLst>
          </p:cNvPr>
          <p:cNvSpPr txBox="1"/>
          <p:nvPr/>
        </p:nvSpPr>
        <p:spPr>
          <a:xfrm>
            <a:off x="1700577" y="3070199"/>
            <a:ext cx="196068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bg1"/>
                </a:solidFill>
              </a:rPr>
              <a:t>Variables </a:t>
            </a:r>
            <a:r>
              <a:rPr lang="en-US" sz="2000" b="1" dirty="0" err="1">
                <a:solidFill>
                  <a:schemeClr val="bg1"/>
                </a:solidFill>
              </a:rPr>
              <a:t>Categóricas</a:t>
            </a:r>
            <a:endParaRPr lang="en-US" sz="20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40335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790EC57-0FDC-E3D5-B481-F94F11E081B1}"/>
              </a:ext>
            </a:extLst>
          </p:cNvPr>
          <p:cNvSpPr txBox="1"/>
          <p:nvPr/>
        </p:nvSpPr>
        <p:spPr>
          <a:xfrm>
            <a:off x="3906715" y="1451471"/>
            <a:ext cx="39829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Geom</a:t>
            </a:r>
            <a:r>
              <a:rPr 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 Count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F71F99C-0102-8338-FC84-FAFCC7ABCE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9390" y="2391876"/>
            <a:ext cx="6753225" cy="341947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ABB59BA-6140-2713-F1EB-A91A966C69BF}"/>
              </a:ext>
            </a:extLst>
          </p:cNvPr>
          <p:cNvSpPr txBox="1"/>
          <p:nvPr/>
        </p:nvSpPr>
        <p:spPr>
          <a:xfrm>
            <a:off x="3981449" y="5987562"/>
            <a:ext cx="31388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Dos variables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categóricas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8" name="Rectángulo 4">
            <a:extLst>
              <a:ext uri="{FF2B5EF4-FFF2-40B4-BE49-F238E27FC236}">
                <a16:creationId xmlns:a16="http://schemas.microsoft.com/office/drawing/2014/main" id="{AF7945DC-0D25-D95F-E96F-BE0B6EBBD8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rmAutofit fontScale="90000"/>
          </a:bodyPr>
          <a:lstStyle/>
          <a:p>
            <a:r>
              <a:rPr lang="en-US" sz="6600" dirty="0" err="1"/>
              <a:t>Análisis</a:t>
            </a:r>
            <a:r>
              <a:rPr lang="en-US" sz="6600" dirty="0"/>
              <a:t> </a:t>
            </a:r>
            <a:r>
              <a:rPr lang="en-US" sz="6600" dirty="0" err="1"/>
              <a:t>Exploratorio</a:t>
            </a:r>
            <a:r>
              <a:rPr lang="en-US" sz="6600" dirty="0"/>
              <a:t>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4585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4D7C533-2FCB-4A2D-8E3C-3FB62FF0C7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16932" y="2754672"/>
            <a:ext cx="2657475" cy="2794635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C4445AA9-5DF4-423F-9E0C-593704EFBCA8}"/>
              </a:ext>
            </a:extLst>
          </p:cNvPr>
          <p:cNvSpPr txBox="1"/>
          <p:nvPr/>
        </p:nvSpPr>
        <p:spPr>
          <a:xfrm>
            <a:off x="9009399" y="2227505"/>
            <a:ext cx="10821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Outliers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E7FF1-23D8-4F61-96F1-3630DE795E0C}"/>
              </a:ext>
            </a:extLst>
          </p:cNvPr>
          <p:cNvSpPr txBox="1"/>
          <p:nvPr/>
        </p:nvSpPr>
        <p:spPr>
          <a:xfrm>
            <a:off x="8943820" y="4001945"/>
            <a:ext cx="10821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Valor medio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80ADDCA-18C8-CD37-68BF-5BA4BB84DC34}"/>
              </a:ext>
            </a:extLst>
          </p:cNvPr>
          <p:cNvSpPr txBox="1"/>
          <p:nvPr/>
        </p:nvSpPr>
        <p:spPr>
          <a:xfrm>
            <a:off x="5386613" y="1526206"/>
            <a:ext cx="16485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 Plot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D3196C-39E3-B3AE-F9F7-46DE1F68815D}"/>
              </a:ext>
            </a:extLst>
          </p:cNvPr>
          <p:cNvSpPr txBox="1"/>
          <p:nvPr/>
        </p:nvSpPr>
        <p:spPr>
          <a:xfrm>
            <a:off x="1690284" y="5549307"/>
            <a:ext cx="2605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Una variable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categórica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Una variable continua</a:t>
            </a:r>
          </a:p>
        </p:txBody>
      </p:sp>
      <p:sp>
        <p:nvSpPr>
          <p:cNvPr id="2" name="Rectángulo 4">
            <a:extLst>
              <a:ext uri="{FF2B5EF4-FFF2-40B4-BE49-F238E27FC236}">
                <a16:creationId xmlns:a16="http://schemas.microsoft.com/office/drawing/2014/main" id="{EA88DA01-BD07-B6BA-AE39-8DE08B858F2D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/>
              <a:t>Análisis Exploratorio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304909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8A00EBC3-2B68-33BE-5256-8F93EA6E4470}"/>
              </a:ext>
            </a:extLst>
          </p:cNvPr>
          <p:cNvSpPr/>
          <p:nvPr/>
        </p:nvSpPr>
        <p:spPr>
          <a:xfrm>
            <a:off x="1867754" y="4479291"/>
            <a:ext cx="1967417" cy="3803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82BDF1E2-7B9A-2799-0CFB-9AB0426A3AC7}"/>
              </a:ext>
            </a:extLst>
          </p:cNvPr>
          <p:cNvSpPr/>
          <p:nvPr/>
        </p:nvSpPr>
        <p:spPr>
          <a:xfrm>
            <a:off x="5227184" y="6069540"/>
            <a:ext cx="1967417" cy="3803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941D176-238A-DC53-FF5A-1D85968EB923}"/>
              </a:ext>
            </a:extLst>
          </p:cNvPr>
          <p:cNvSpPr/>
          <p:nvPr/>
        </p:nvSpPr>
        <p:spPr>
          <a:xfrm>
            <a:off x="8439153" y="2195693"/>
            <a:ext cx="1967417" cy="3803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4D7C533-2FCB-4A2D-8E3C-3FB62FF0C739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4716932" y="2754672"/>
            <a:ext cx="2657475" cy="2794635"/>
          </a:xfrm>
          <a:prstGeom prst="rect">
            <a:avLst/>
          </a:prstGeom>
        </p:spPr>
      </p:pic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810D171-5082-48C8-A63F-362C56CCE7D4}"/>
              </a:ext>
            </a:extLst>
          </p:cNvPr>
          <p:cNvCxnSpPr>
            <a:cxnSpLocks/>
            <a:endCxn id="22" idx="1"/>
          </p:cNvCxnSpPr>
          <p:nvPr/>
        </p:nvCxnSpPr>
        <p:spPr>
          <a:xfrm flipV="1">
            <a:off x="6953071" y="4152120"/>
            <a:ext cx="1499233" cy="7101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Left Brace 7">
            <a:extLst>
              <a:ext uri="{FF2B5EF4-FFF2-40B4-BE49-F238E27FC236}">
                <a16:creationId xmlns:a16="http://schemas.microsoft.com/office/drawing/2014/main" id="{0287754D-7DFD-4CC7-A503-F213A0EA35FF}"/>
              </a:ext>
            </a:extLst>
          </p:cNvPr>
          <p:cNvSpPr/>
          <p:nvPr/>
        </p:nvSpPr>
        <p:spPr>
          <a:xfrm>
            <a:off x="4172825" y="4342316"/>
            <a:ext cx="1135344" cy="654341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7CC7AAD-86D2-47C6-9303-D8825B836A6D}"/>
              </a:ext>
            </a:extLst>
          </p:cNvPr>
          <p:cNvSpPr txBox="1"/>
          <p:nvPr/>
        </p:nvSpPr>
        <p:spPr>
          <a:xfrm>
            <a:off x="1867754" y="4394929"/>
            <a:ext cx="196741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La </a:t>
            </a:r>
            <a:r>
              <a:rPr lang="en-US" sz="1350" dirty="0" err="1">
                <a:solidFill>
                  <a:schemeClr val="bg1"/>
                </a:solidFill>
              </a:rPr>
              <a:t>caja</a:t>
            </a:r>
            <a:r>
              <a:rPr lang="en-US" sz="1350" dirty="0">
                <a:solidFill>
                  <a:schemeClr val="bg1"/>
                </a:solidFill>
              </a:rPr>
              <a:t> es la </a:t>
            </a:r>
            <a:r>
              <a:rPr lang="en-US" sz="1350" dirty="0" err="1">
                <a:solidFill>
                  <a:schemeClr val="bg1"/>
                </a:solidFill>
              </a:rPr>
              <a:t>mitad</a:t>
            </a:r>
            <a:r>
              <a:rPr lang="en-US" sz="1350" dirty="0">
                <a:solidFill>
                  <a:schemeClr val="bg1"/>
                </a:solidFill>
              </a:rPr>
              <a:t> central de </a:t>
            </a:r>
            <a:r>
              <a:rPr lang="en-US" sz="1350" dirty="0" err="1">
                <a:solidFill>
                  <a:schemeClr val="bg1"/>
                </a:solidFill>
              </a:rPr>
              <a:t>los</a:t>
            </a:r>
            <a:r>
              <a:rPr lang="en-US" sz="1350" dirty="0">
                <a:solidFill>
                  <a:schemeClr val="bg1"/>
                </a:solidFill>
              </a:rPr>
              <a:t> </a:t>
            </a:r>
            <a:r>
              <a:rPr lang="en-US" sz="1350" dirty="0" err="1">
                <a:solidFill>
                  <a:schemeClr val="bg1"/>
                </a:solidFill>
              </a:rPr>
              <a:t>datos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494D6A83-F662-4CC8-B4D4-F17BAA162B54}"/>
              </a:ext>
            </a:extLst>
          </p:cNvPr>
          <p:cNvSpPr/>
          <p:nvPr/>
        </p:nvSpPr>
        <p:spPr>
          <a:xfrm rot="16200000">
            <a:off x="5809009" y="4563558"/>
            <a:ext cx="710969" cy="1577156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3027B8-6740-4E61-AE10-26827DFEFE58}"/>
              </a:ext>
            </a:extLst>
          </p:cNvPr>
          <p:cNvSpPr txBox="1"/>
          <p:nvPr/>
        </p:nvSpPr>
        <p:spPr>
          <a:xfrm>
            <a:off x="5047380" y="6007379"/>
            <a:ext cx="2327027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dirty="0" err="1">
                <a:solidFill>
                  <a:schemeClr val="bg1"/>
                </a:solidFill>
              </a:rPr>
              <a:t>Línea</a:t>
            </a:r>
            <a:r>
              <a:rPr lang="en-US" sz="1350" dirty="0">
                <a:solidFill>
                  <a:schemeClr val="bg1"/>
                </a:solidFill>
              </a:rPr>
              <a:t> inferior = 25% de </a:t>
            </a:r>
            <a:r>
              <a:rPr lang="en-US" sz="1350" dirty="0" err="1">
                <a:solidFill>
                  <a:schemeClr val="bg1"/>
                </a:solidFill>
              </a:rPr>
              <a:t>los</a:t>
            </a:r>
            <a:r>
              <a:rPr lang="en-US" sz="1350" dirty="0">
                <a:solidFill>
                  <a:schemeClr val="bg1"/>
                </a:solidFill>
              </a:rPr>
              <a:t> </a:t>
            </a:r>
            <a:r>
              <a:rPr lang="en-US" sz="1350" dirty="0" err="1">
                <a:solidFill>
                  <a:schemeClr val="bg1"/>
                </a:solidFill>
              </a:rPr>
              <a:t>valores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9EEA376F-9E10-4E66-82F3-87252E3C57A1}"/>
              </a:ext>
            </a:extLst>
          </p:cNvPr>
          <p:cNvSpPr/>
          <p:nvPr/>
        </p:nvSpPr>
        <p:spPr>
          <a:xfrm rot="5400000">
            <a:off x="5396902" y="2786146"/>
            <a:ext cx="1535183" cy="1577155"/>
          </a:xfrm>
          <a:prstGeom prst="leftBrace">
            <a:avLst>
              <a:gd name="adj1" fmla="val 8333"/>
              <a:gd name="adj2" fmla="val 7632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61F5440D-D8FF-4D22-BB28-5FE54395ACCC}"/>
              </a:ext>
            </a:extLst>
          </p:cNvPr>
          <p:cNvCxnSpPr>
            <a:cxnSpLocks/>
            <a:endCxn id="16" idx="1"/>
          </p:cNvCxnSpPr>
          <p:nvPr/>
        </p:nvCxnSpPr>
        <p:spPr>
          <a:xfrm flipV="1">
            <a:off x="6164490" y="3284236"/>
            <a:ext cx="2237156" cy="7812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>
            <a:extLst>
              <a:ext uri="{FF2B5EF4-FFF2-40B4-BE49-F238E27FC236}">
                <a16:creationId xmlns:a16="http://schemas.microsoft.com/office/drawing/2014/main" id="{C6E20D0B-F71D-4BFE-9E38-FE1683E82C49}"/>
              </a:ext>
            </a:extLst>
          </p:cNvPr>
          <p:cNvSpPr/>
          <p:nvPr/>
        </p:nvSpPr>
        <p:spPr>
          <a:xfrm>
            <a:off x="5967969" y="2939218"/>
            <a:ext cx="485842" cy="440423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0894A8A8-1D03-444D-ADD7-0C5C274A34A9}"/>
              </a:ext>
            </a:extLst>
          </p:cNvPr>
          <p:cNvCxnSpPr>
            <a:cxnSpLocks/>
            <a:endCxn id="2" idx="1"/>
          </p:cNvCxnSpPr>
          <p:nvPr/>
        </p:nvCxnSpPr>
        <p:spPr>
          <a:xfrm flipV="1">
            <a:off x="6453810" y="2385885"/>
            <a:ext cx="1985340" cy="69653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C4445AA9-5DF4-423F-9E0C-593704EFBCA8}"/>
              </a:ext>
            </a:extLst>
          </p:cNvPr>
          <p:cNvSpPr txBox="1"/>
          <p:nvPr/>
        </p:nvSpPr>
        <p:spPr>
          <a:xfrm>
            <a:off x="9009399" y="2227505"/>
            <a:ext cx="10821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Outliers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299368D-BC8F-7C7F-8E04-72ACA8AB50F8}"/>
              </a:ext>
            </a:extLst>
          </p:cNvPr>
          <p:cNvSpPr/>
          <p:nvPr/>
        </p:nvSpPr>
        <p:spPr>
          <a:xfrm>
            <a:off x="8452304" y="3078811"/>
            <a:ext cx="1967417" cy="3803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EECE9C5-CDE7-1064-91B7-3D0D12B6B16C}"/>
              </a:ext>
            </a:extLst>
          </p:cNvPr>
          <p:cNvSpPr/>
          <p:nvPr/>
        </p:nvSpPr>
        <p:spPr>
          <a:xfrm>
            <a:off x="8452304" y="3961928"/>
            <a:ext cx="1967417" cy="3803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32E0715-AD30-48F9-B220-DD9A04356B5C}"/>
              </a:ext>
            </a:extLst>
          </p:cNvPr>
          <p:cNvSpPr txBox="1"/>
          <p:nvPr/>
        </p:nvSpPr>
        <p:spPr>
          <a:xfrm>
            <a:off x="8401649" y="3030323"/>
            <a:ext cx="1861909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Rango del resto del set de </a:t>
            </a:r>
            <a:r>
              <a:rPr lang="en-US" sz="1350" dirty="0" err="1">
                <a:solidFill>
                  <a:schemeClr val="bg1"/>
                </a:solidFill>
              </a:rPr>
              <a:t>datos</a:t>
            </a:r>
            <a:endParaRPr lang="en-US" sz="1350" dirty="0">
              <a:solidFill>
                <a:schemeClr val="bg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DE7FF1-23D8-4F61-96F1-3630DE795E0C}"/>
              </a:ext>
            </a:extLst>
          </p:cNvPr>
          <p:cNvSpPr txBox="1"/>
          <p:nvPr/>
        </p:nvSpPr>
        <p:spPr>
          <a:xfrm>
            <a:off x="8943820" y="4001945"/>
            <a:ext cx="1082180" cy="3000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350" dirty="0">
                <a:solidFill>
                  <a:schemeClr val="bg1"/>
                </a:solidFill>
              </a:rPr>
              <a:t>Valor medio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1AD421-D819-6BBB-93EB-8A471D252A42}"/>
              </a:ext>
            </a:extLst>
          </p:cNvPr>
          <p:cNvSpPr/>
          <p:nvPr/>
        </p:nvSpPr>
        <p:spPr>
          <a:xfrm>
            <a:off x="2661991" y="2144548"/>
            <a:ext cx="1967417" cy="38038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E570F08-4C52-4D7F-82CE-65FF5BDA66FB}"/>
              </a:ext>
            </a:extLst>
          </p:cNvPr>
          <p:cNvSpPr txBox="1"/>
          <p:nvPr/>
        </p:nvSpPr>
        <p:spPr>
          <a:xfrm>
            <a:off x="2667657" y="2080827"/>
            <a:ext cx="2049275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350" b="1" dirty="0" err="1">
                <a:solidFill>
                  <a:schemeClr val="bg1"/>
                </a:solidFill>
              </a:rPr>
              <a:t>Línea</a:t>
            </a:r>
            <a:r>
              <a:rPr lang="en-US" sz="1350" b="1" dirty="0">
                <a:solidFill>
                  <a:schemeClr val="bg1"/>
                </a:solidFill>
              </a:rPr>
              <a:t> superior = 75% de </a:t>
            </a:r>
            <a:r>
              <a:rPr lang="en-US" sz="1350" b="1" dirty="0" err="1">
                <a:solidFill>
                  <a:schemeClr val="bg1"/>
                </a:solidFill>
              </a:rPr>
              <a:t>los</a:t>
            </a:r>
            <a:r>
              <a:rPr lang="en-US" sz="1350" b="1" dirty="0">
                <a:solidFill>
                  <a:schemeClr val="bg1"/>
                </a:solidFill>
              </a:rPr>
              <a:t> </a:t>
            </a:r>
            <a:r>
              <a:rPr lang="en-US" sz="1350" b="1" dirty="0" err="1">
                <a:solidFill>
                  <a:schemeClr val="bg1"/>
                </a:solidFill>
              </a:rPr>
              <a:t>valores</a:t>
            </a:r>
            <a:endParaRPr lang="en-US" sz="1350" b="1" dirty="0">
              <a:solidFill>
                <a:schemeClr val="bg1"/>
              </a:solidFill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7735485-24FC-D143-F8FA-39022E2FE2A6}"/>
              </a:ext>
            </a:extLst>
          </p:cNvPr>
          <p:cNvCxnSpPr>
            <a:stCxn id="13" idx="3"/>
          </p:cNvCxnSpPr>
          <p:nvPr/>
        </p:nvCxnSpPr>
        <p:spPr>
          <a:xfrm>
            <a:off x="4716932" y="2334743"/>
            <a:ext cx="979021" cy="744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A80ADDCA-18C8-CD37-68BF-5BA4BB84DC34}"/>
              </a:ext>
            </a:extLst>
          </p:cNvPr>
          <p:cNvSpPr txBox="1"/>
          <p:nvPr/>
        </p:nvSpPr>
        <p:spPr>
          <a:xfrm>
            <a:off x="5386613" y="1526206"/>
            <a:ext cx="1648557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Box Plot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1D3196C-39E3-B3AE-F9F7-46DE1F68815D}"/>
              </a:ext>
            </a:extLst>
          </p:cNvPr>
          <p:cNvSpPr txBox="1"/>
          <p:nvPr/>
        </p:nvSpPr>
        <p:spPr>
          <a:xfrm>
            <a:off x="1690284" y="5549307"/>
            <a:ext cx="260531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Una variable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categórica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Una variable continua</a:t>
            </a:r>
          </a:p>
        </p:txBody>
      </p:sp>
      <p:sp>
        <p:nvSpPr>
          <p:cNvPr id="3" name="Rectángulo 4">
            <a:extLst>
              <a:ext uri="{FF2B5EF4-FFF2-40B4-BE49-F238E27FC236}">
                <a16:creationId xmlns:a16="http://schemas.microsoft.com/office/drawing/2014/main" id="{AE809498-665C-90FE-623B-6E5A86B3D109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dirty="0" err="1"/>
              <a:t>Análisis</a:t>
            </a:r>
            <a:r>
              <a:rPr lang="en-US" sz="6600" dirty="0"/>
              <a:t> </a:t>
            </a:r>
            <a:r>
              <a:rPr lang="en-US" sz="6600" dirty="0" err="1"/>
              <a:t>Exploratorio</a:t>
            </a:r>
            <a:r>
              <a:rPr lang="en-US" sz="6600" dirty="0"/>
              <a:t>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558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41EFCE-44F3-535F-E61C-8872902F90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5746" y="2133045"/>
            <a:ext cx="5706208" cy="371108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3790EC57-0FDC-E3D5-B481-F94F11E081B1}"/>
              </a:ext>
            </a:extLst>
          </p:cNvPr>
          <p:cNvSpPr txBox="1"/>
          <p:nvPr/>
        </p:nvSpPr>
        <p:spPr>
          <a:xfrm>
            <a:off x="3906715" y="1451471"/>
            <a:ext cx="398291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500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Scatter plot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4CCCD22-C396-0185-884E-A25250210709}"/>
              </a:ext>
            </a:extLst>
          </p:cNvPr>
          <p:cNvSpPr txBox="1"/>
          <p:nvPr/>
        </p:nvSpPr>
        <p:spPr>
          <a:xfrm>
            <a:off x="3866380" y="6006504"/>
            <a:ext cx="260531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b="1" dirty="0">
                <a:solidFill>
                  <a:schemeClr val="tx1">
                    <a:lumMod val="65000"/>
                    <a:lumOff val="35000"/>
                  </a:schemeClr>
                </a:solidFill>
              </a:rPr>
              <a:t>Dos variables </a:t>
            </a:r>
            <a:r>
              <a:rPr lang="en-US" b="1" dirty="0" err="1">
                <a:solidFill>
                  <a:schemeClr val="tx1">
                    <a:lumMod val="65000"/>
                    <a:lumOff val="35000"/>
                  </a:schemeClr>
                </a:solidFill>
              </a:rPr>
              <a:t>continuas</a:t>
            </a:r>
            <a:endParaRPr lang="en-US" b="1" dirty="0">
              <a:solidFill>
                <a:schemeClr val="tx1">
                  <a:lumMod val="65000"/>
                  <a:lumOff val="35000"/>
                </a:schemeClr>
              </a:solidFill>
            </a:endParaRPr>
          </a:p>
        </p:txBody>
      </p:sp>
      <p:sp>
        <p:nvSpPr>
          <p:cNvPr id="7" name="Rectángulo 4">
            <a:extLst>
              <a:ext uri="{FF2B5EF4-FFF2-40B4-BE49-F238E27FC236}">
                <a16:creationId xmlns:a16="http://schemas.microsoft.com/office/drawing/2014/main" id="{48B95241-E468-E68E-75B6-EA0006860EEC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/>
              <a:t>Análisis Exploratorio de Datos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792926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BE2C4E-87AF-A41B-61AA-355494F9B5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ángulo 20">
            <a:extLst>
              <a:ext uri="{FF2B5EF4-FFF2-40B4-BE49-F238E27FC236}">
                <a16:creationId xmlns:a16="http://schemas.microsoft.com/office/drawing/2014/main" id="{033A5997-812D-4696-D4E6-AEA1A890D829}"/>
              </a:ext>
            </a:extLst>
          </p:cNvPr>
          <p:cNvSpPr/>
          <p:nvPr/>
        </p:nvSpPr>
        <p:spPr>
          <a:xfrm>
            <a:off x="0" y="0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68D8965-5761-F948-C85C-0BC220541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>
                <a:solidFill>
                  <a:schemeClr val="bg1"/>
                </a:solidFill>
              </a:rPr>
              <a:t>Propiedades</a:t>
            </a:r>
            <a:r>
              <a:rPr lang="en-US" b="1" dirty="0">
                <a:solidFill>
                  <a:schemeClr val="bg1"/>
                </a:solidFill>
              </a:rPr>
              <a:t> del </a:t>
            </a:r>
            <a:r>
              <a:rPr lang="en-US" b="1" dirty="0" err="1">
                <a:solidFill>
                  <a:schemeClr val="bg1"/>
                </a:solidFill>
              </a:rPr>
              <a:t>Gráfico</a:t>
            </a:r>
            <a:endParaRPr lang="es-PA" b="1" dirty="0">
              <a:solidFill>
                <a:schemeClr val="bg1"/>
              </a:solidFill>
            </a:endParaRPr>
          </a:p>
        </p:txBody>
      </p:sp>
      <p:sp>
        <p:nvSpPr>
          <p:cNvPr id="20" name="Rectángulo 19">
            <a:extLst>
              <a:ext uri="{FF2B5EF4-FFF2-40B4-BE49-F238E27FC236}">
                <a16:creationId xmlns:a16="http://schemas.microsoft.com/office/drawing/2014/main" id="{7F70A75D-D0E5-1177-496E-496867E59D8C}"/>
              </a:ext>
            </a:extLst>
          </p:cNvPr>
          <p:cNvSpPr/>
          <p:nvPr/>
        </p:nvSpPr>
        <p:spPr>
          <a:xfrm>
            <a:off x="0" y="5510623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106D0E88-830D-FD35-BCB8-B64385757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8561" y="1513300"/>
            <a:ext cx="5741423" cy="3667637"/>
          </a:xfrm>
          <a:prstGeom prst="rect">
            <a:avLst/>
          </a:prstGeom>
        </p:spPr>
      </p:pic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809FF780-AAB7-76FC-F916-E064C040098E}"/>
              </a:ext>
            </a:extLst>
          </p:cNvPr>
          <p:cNvCxnSpPr>
            <a:cxnSpLocks/>
          </p:cNvCxnSpPr>
          <p:nvPr/>
        </p:nvCxnSpPr>
        <p:spPr>
          <a:xfrm>
            <a:off x="2797701" y="1810633"/>
            <a:ext cx="2221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ector recto de flecha 13">
            <a:extLst>
              <a:ext uri="{FF2B5EF4-FFF2-40B4-BE49-F238E27FC236}">
                <a16:creationId xmlns:a16="http://schemas.microsoft.com/office/drawing/2014/main" id="{FA5EAEB5-7240-1B92-87DB-09CF2389342C}"/>
              </a:ext>
            </a:extLst>
          </p:cNvPr>
          <p:cNvCxnSpPr>
            <a:cxnSpLocks/>
          </p:cNvCxnSpPr>
          <p:nvPr/>
        </p:nvCxnSpPr>
        <p:spPr>
          <a:xfrm>
            <a:off x="2797701" y="2955147"/>
            <a:ext cx="2221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ector recto de flecha 16">
            <a:extLst>
              <a:ext uri="{FF2B5EF4-FFF2-40B4-BE49-F238E27FC236}">
                <a16:creationId xmlns:a16="http://schemas.microsoft.com/office/drawing/2014/main" id="{6F914990-C7F0-EA3C-3974-0202FB83F587}"/>
              </a:ext>
            </a:extLst>
          </p:cNvPr>
          <p:cNvCxnSpPr/>
          <p:nvPr/>
        </p:nvCxnSpPr>
        <p:spPr>
          <a:xfrm>
            <a:off x="8211433" y="3052037"/>
            <a:ext cx="100523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ángulo: esquinas redondeadas 18">
            <a:extLst>
              <a:ext uri="{FF2B5EF4-FFF2-40B4-BE49-F238E27FC236}">
                <a16:creationId xmlns:a16="http://schemas.microsoft.com/office/drawing/2014/main" id="{D1E5E2AC-2937-D27C-3D91-42D384920BE7}"/>
              </a:ext>
            </a:extLst>
          </p:cNvPr>
          <p:cNvSpPr/>
          <p:nvPr/>
        </p:nvSpPr>
        <p:spPr>
          <a:xfrm>
            <a:off x="9337780" y="2797701"/>
            <a:ext cx="1587261" cy="4723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Datos</a:t>
            </a:r>
            <a:endParaRPr lang="es-PA" dirty="0"/>
          </a:p>
        </p:txBody>
      </p:sp>
      <p:cxnSp>
        <p:nvCxnSpPr>
          <p:cNvPr id="26" name="Conector recto de flecha 25">
            <a:extLst>
              <a:ext uri="{FF2B5EF4-FFF2-40B4-BE49-F238E27FC236}">
                <a16:creationId xmlns:a16="http://schemas.microsoft.com/office/drawing/2014/main" id="{5C089D8B-3F2F-18C7-F8DE-95A6998849B5}"/>
              </a:ext>
            </a:extLst>
          </p:cNvPr>
          <p:cNvCxnSpPr/>
          <p:nvPr/>
        </p:nvCxnSpPr>
        <p:spPr>
          <a:xfrm flipH="1">
            <a:off x="6945807" y="3330596"/>
            <a:ext cx="2391973" cy="60556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 recto de flecha 27">
            <a:extLst>
              <a:ext uri="{FF2B5EF4-FFF2-40B4-BE49-F238E27FC236}">
                <a16:creationId xmlns:a16="http://schemas.microsoft.com/office/drawing/2014/main" id="{6AB6854B-16E7-519E-D19D-D52BF211C38C}"/>
              </a:ext>
            </a:extLst>
          </p:cNvPr>
          <p:cNvCxnSpPr>
            <a:cxnSpLocks/>
          </p:cNvCxnSpPr>
          <p:nvPr/>
        </p:nvCxnSpPr>
        <p:spPr>
          <a:xfrm>
            <a:off x="2797701" y="4487221"/>
            <a:ext cx="2221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ector recto de flecha 29">
            <a:extLst>
              <a:ext uri="{FF2B5EF4-FFF2-40B4-BE49-F238E27FC236}">
                <a16:creationId xmlns:a16="http://schemas.microsoft.com/office/drawing/2014/main" id="{6FB244CC-513E-469D-A7FD-ECBF9B33F553}"/>
              </a:ext>
            </a:extLst>
          </p:cNvPr>
          <p:cNvCxnSpPr>
            <a:cxnSpLocks/>
          </p:cNvCxnSpPr>
          <p:nvPr/>
        </p:nvCxnSpPr>
        <p:spPr>
          <a:xfrm>
            <a:off x="2797701" y="5086728"/>
            <a:ext cx="222241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ector recto de flecha 34">
            <a:extLst>
              <a:ext uri="{FF2B5EF4-FFF2-40B4-BE49-F238E27FC236}">
                <a16:creationId xmlns:a16="http://schemas.microsoft.com/office/drawing/2014/main" id="{7EBAD4EA-8863-58E2-0DEF-2B756CB1C62D}"/>
              </a:ext>
            </a:extLst>
          </p:cNvPr>
          <p:cNvCxnSpPr>
            <a:cxnSpLocks/>
          </p:cNvCxnSpPr>
          <p:nvPr/>
        </p:nvCxnSpPr>
        <p:spPr>
          <a:xfrm>
            <a:off x="2797701" y="3670721"/>
            <a:ext cx="222199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CuadroTexto 35">
            <a:extLst>
              <a:ext uri="{FF2B5EF4-FFF2-40B4-BE49-F238E27FC236}">
                <a16:creationId xmlns:a16="http://schemas.microsoft.com/office/drawing/2014/main" id="{106F4CBC-C486-EC15-F991-7188D7A65266}"/>
              </a:ext>
            </a:extLst>
          </p:cNvPr>
          <p:cNvSpPr txBox="1"/>
          <p:nvPr/>
        </p:nvSpPr>
        <p:spPr>
          <a:xfrm>
            <a:off x="924170" y="1586605"/>
            <a:ext cx="132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Librerías</a:t>
            </a:r>
            <a:endParaRPr lang="es-PA" b="1" dirty="0"/>
          </a:p>
        </p:txBody>
      </p:sp>
      <p:sp>
        <p:nvSpPr>
          <p:cNvPr id="37" name="CuadroTexto 36">
            <a:extLst>
              <a:ext uri="{FF2B5EF4-FFF2-40B4-BE49-F238E27FC236}">
                <a16:creationId xmlns:a16="http://schemas.microsoft.com/office/drawing/2014/main" id="{5417649F-D44C-7374-6C38-6AF523CF1853}"/>
              </a:ext>
            </a:extLst>
          </p:cNvPr>
          <p:cNvSpPr txBox="1"/>
          <p:nvPr/>
        </p:nvSpPr>
        <p:spPr>
          <a:xfrm>
            <a:off x="924169" y="2719622"/>
            <a:ext cx="132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Datos</a:t>
            </a:r>
            <a:endParaRPr lang="es-PA" b="1" dirty="0"/>
          </a:p>
        </p:txBody>
      </p:sp>
      <p:sp>
        <p:nvSpPr>
          <p:cNvPr id="38" name="CuadroTexto 37">
            <a:extLst>
              <a:ext uri="{FF2B5EF4-FFF2-40B4-BE49-F238E27FC236}">
                <a16:creationId xmlns:a16="http://schemas.microsoft.com/office/drawing/2014/main" id="{43371A8C-600E-E0CF-C300-46C58782115C}"/>
              </a:ext>
            </a:extLst>
          </p:cNvPr>
          <p:cNvSpPr txBox="1"/>
          <p:nvPr/>
        </p:nvSpPr>
        <p:spPr>
          <a:xfrm>
            <a:off x="924168" y="3448711"/>
            <a:ext cx="132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Lienzo</a:t>
            </a:r>
            <a:endParaRPr lang="es-PA" b="1" dirty="0"/>
          </a:p>
        </p:txBody>
      </p:sp>
      <p:sp>
        <p:nvSpPr>
          <p:cNvPr id="39" name="CuadroTexto 38">
            <a:extLst>
              <a:ext uri="{FF2B5EF4-FFF2-40B4-BE49-F238E27FC236}">
                <a16:creationId xmlns:a16="http://schemas.microsoft.com/office/drawing/2014/main" id="{0D9F911C-65C7-766D-098B-DAF20B0DB853}"/>
              </a:ext>
            </a:extLst>
          </p:cNvPr>
          <p:cNvSpPr txBox="1"/>
          <p:nvPr/>
        </p:nvSpPr>
        <p:spPr>
          <a:xfrm>
            <a:off x="924167" y="4241937"/>
            <a:ext cx="132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limites</a:t>
            </a:r>
            <a:endParaRPr lang="es-PA" b="1" dirty="0"/>
          </a:p>
        </p:txBody>
      </p:sp>
      <p:sp>
        <p:nvSpPr>
          <p:cNvPr id="40" name="CuadroTexto 39">
            <a:extLst>
              <a:ext uri="{FF2B5EF4-FFF2-40B4-BE49-F238E27FC236}">
                <a16:creationId xmlns:a16="http://schemas.microsoft.com/office/drawing/2014/main" id="{5B724A57-61B1-5857-BF2F-E5F93C785A92}"/>
              </a:ext>
            </a:extLst>
          </p:cNvPr>
          <p:cNvSpPr txBox="1"/>
          <p:nvPr/>
        </p:nvSpPr>
        <p:spPr>
          <a:xfrm>
            <a:off x="924166" y="4814257"/>
            <a:ext cx="13297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err="1"/>
              <a:t>Mostrar</a:t>
            </a:r>
            <a:endParaRPr lang="es-PA" b="1" dirty="0"/>
          </a:p>
        </p:txBody>
      </p:sp>
    </p:spTree>
    <p:extLst>
      <p:ext uri="{BB962C8B-B14F-4D97-AF65-F5344CB8AC3E}">
        <p14:creationId xmlns:p14="http://schemas.microsoft.com/office/powerpoint/2010/main" val="157652793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68C823-588A-EDE3-C8A7-023EC0217F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3B1D31-F469-9A8A-37AB-8CEE292F27D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err="1"/>
              <a:t>Consultas</a:t>
            </a:r>
            <a:r>
              <a:rPr lang="en-US" b="1" dirty="0"/>
              <a:t> SQL</a:t>
            </a:r>
            <a:br>
              <a:rPr lang="en-US" b="1" dirty="0"/>
            </a:br>
            <a:br>
              <a:rPr lang="en-US" b="1" dirty="0"/>
            </a:br>
            <a:r>
              <a:rPr lang="en-US" b="1" dirty="0" err="1"/>
              <a:t>Sesión</a:t>
            </a:r>
            <a:r>
              <a:rPr lang="en-US" b="1" dirty="0"/>
              <a:t> 4</a:t>
            </a:r>
            <a:endParaRPr lang="es-PA" dirty="0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979F17E9-9710-4699-8F5D-F4E80E3B4AF8}"/>
              </a:ext>
            </a:extLst>
          </p:cNvPr>
          <p:cNvSpPr/>
          <p:nvPr/>
        </p:nvSpPr>
        <p:spPr>
          <a:xfrm>
            <a:off x="0" y="5510623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</p:spTree>
    <p:extLst>
      <p:ext uri="{BB962C8B-B14F-4D97-AF65-F5344CB8AC3E}">
        <p14:creationId xmlns:p14="http://schemas.microsoft.com/office/powerpoint/2010/main" val="351720249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ángulo 4">
            <a:extLst>
              <a:ext uri="{FF2B5EF4-FFF2-40B4-BE49-F238E27FC236}">
                <a16:creationId xmlns:a16="http://schemas.microsoft.com/office/drawing/2014/main" id="{A60EC610-9D89-222D-197B-CC2CE2EB435C}"/>
              </a:ext>
            </a:extLst>
          </p:cNvPr>
          <p:cNvSpPr/>
          <p:nvPr/>
        </p:nvSpPr>
        <p:spPr>
          <a:xfrm>
            <a:off x="0" y="5510623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2B9D41B-649B-6D12-7BFD-A503624C0B88}"/>
              </a:ext>
            </a:extLst>
          </p:cNvPr>
          <p:cNvSpPr/>
          <p:nvPr/>
        </p:nvSpPr>
        <p:spPr>
          <a:xfrm>
            <a:off x="1353553" y="1517439"/>
            <a:ext cx="1943100" cy="5354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Select</a:t>
            </a:r>
            <a:endParaRPr lang="es-PA" dirty="0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987DF03-8B7B-8649-DE67-E388898B34DA}"/>
              </a:ext>
            </a:extLst>
          </p:cNvPr>
          <p:cNvSpPr/>
          <p:nvPr/>
        </p:nvSpPr>
        <p:spPr>
          <a:xfrm>
            <a:off x="1353553" y="2535794"/>
            <a:ext cx="1943100" cy="5354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From</a:t>
            </a:r>
            <a:endParaRPr lang="es-PA" dirty="0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696D3342-A9D8-677A-708A-D458BA3D6305}"/>
              </a:ext>
            </a:extLst>
          </p:cNvPr>
          <p:cNvSpPr/>
          <p:nvPr/>
        </p:nvSpPr>
        <p:spPr>
          <a:xfrm>
            <a:off x="1353553" y="3713202"/>
            <a:ext cx="1943100" cy="5354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Where</a:t>
            </a:r>
            <a:endParaRPr lang="es-PA" dirty="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114FCD80-D6B3-EF2E-DC6C-44C77366150F}"/>
              </a:ext>
            </a:extLst>
          </p:cNvPr>
          <p:cNvSpPr/>
          <p:nvPr/>
        </p:nvSpPr>
        <p:spPr>
          <a:xfrm>
            <a:off x="1353553" y="4776470"/>
            <a:ext cx="1943100" cy="5354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Order by</a:t>
            </a:r>
            <a:endParaRPr lang="es-PA" dirty="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24E60406-11F0-97A2-C936-A64A9B6815AF}"/>
              </a:ext>
            </a:extLst>
          </p:cNvPr>
          <p:cNvSpPr/>
          <p:nvPr/>
        </p:nvSpPr>
        <p:spPr>
          <a:xfrm>
            <a:off x="4545879" y="1517439"/>
            <a:ext cx="1943100" cy="5354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Group by</a:t>
            </a:r>
            <a:endParaRPr lang="es-PA" dirty="0"/>
          </a:p>
        </p:txBody>
      </p:sp>
      <p:sp>
        <p:nvSpPr>
          <p:cNvPr id="16" name="Rectángulo 15">
            <a:extLst>
              <a:ext uri="{FF2B5EF4-FFF2-40B4-BE49-F238E27FC236}">
                <a16:creationId xmlns:a16="http://schemas.microsoft.com/office/drawing/2014/main" id="{CE3315D0-2AD7-4213-79BE-8B345C8D8F4B}"/>
              </a:ext>
            </a:extLst>
          </p:cNvPr>
          <p:cNvSpPr/>
          <p:nvPr/>
        </p:nvSpPr>
        <p:spPr>
          <a:xfrm>
            <a:off x="4545879" y="2535794"/>
            <a:ext cx="1943100" cy="5354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Having</a:t>
            </a:r>
            <a:endParaRPr lang="es-PA" dirty="0"/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54DB955B-69DF-CBC9-D06D-6FCA05A5BF22}"/>
              </a:ext>
            </a:extLst>
          </p:cNvPr>
          <p:cNvSpPr/>
          <p:nvPr/>
        </p:nvSpPr>
        <p:spPr>
          <a:xfrm>
            <a:off x="5060940" y="3556079"/>
            <a:ext cx="114967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5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S</a:t>
            </a:r>
          </a:p>
        </p:txBody>
      </p:sp>
      <p:sp>
        <p:nvSpPr>
          <p:cNvPr id="23" name="Rectángulo 22">
            <a:extLst>
              <a:ext uri="{FF2B5EF4-FFF2-40B4-BE49-F238E27FC236}">
                <a16:creationId xmlns:a16="http://schemas.microsoft.com/office/drawing/2014/main" id="{606CE47B-0E6E-C3B2-6C92-B3D0D7672E04}"/>
              </a:ext>
            </a:extLst>
          </p:cNvPr>
          <p:cNvSpPr/>
          <p:nvPr/>
        </p:nvSpPr>
        <p:spPr>
          <a:xfrm>
            <a:off x="7234167" y="2340493"/>
            <a:ext cx="1372492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5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Q</a:t>
            </a: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43F73EC-C2FF-54B0-213A-363C1908C77C}"/>
              </a:ext>
            </a:extLst>
          </p:cNvPr>
          <p:cNvSpPr/>
          <p:nvPr/>
        </p:nvSpPr>
        <p:spPr>
          <a:xfrm>
            <a:off x="9630211" y="1124906"/>
            <a:ext cx="1011815" cy="201593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12500" b="1" cap="none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L</a:t>
            </a: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F56867FC-9A2D-DC8F-45A1-05FD2FABA6FF}"/>
              </a:ext>
            </a:extLst>
          </p:cNvPr>
          <p:cNvSpPr/>
          <p:nvPr/>
        </p:nvSpPr>
        <p:spPr>
          <a:xfrm>
            <a:off x="0" y="-61392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9" name="Rectángulo 4">
            <a:extLst>
              <a:ext uri="{FF2B5EF4-FFF2-40B4-BE49-F238E27FC236}">
                <a16:creationId xmlns:a16="http://schemas.microsoft.com/office/drawing/2014/main" id="{5127D287-40DB-6333-B88C-504BBCB5B63B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dirty="0" err="1"/>
              <a:t>Sentencias</a:t>
            </a:r>
            <a:r>
              <a:rPr lang="en-US" sz="6600" dirty="0"/>
              <a:t> </a:t>
            </a:r>
            <a:r>
              <a:rPr lang="en-US" sz="6600" dirty="0" err="1"/>
              <a:t>más</a:t>
            </a:r>
            <a:r>
              <a:rPr lang="en-US" sz="6600" dirty="0"/>
              <a:t> </a:t>
            </a:r>
            <a:r>
              <a:rPr lang="en-US" sz="6600" dirty="0" err="1"/>
              <a:t>comunes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65536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9B1EB-95E5-377B-8D77-765D43F9A3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ángulo 26">
            <a:extLst>
              <a:ext uri="{FF2B5EF4-FFF2-40B4-BE49-F238E27FC236}">
                <a16:creationId xmlns:a16="http://schemas.microsoft.com/office/drawing/2014/main" id="{FEC91CB9-80D3-6388-291E-51BC09D5DA69}"/>
              </a:ext>
            </a:extLst>
          </p:cNvPr>
          <p:cNvSpPr/>
          <p:nvPr/>
        </p:nvSpPr>
        <p:spPr>
          <a:xfrm>
            <a:off x="0" y="-61392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29" name="Rectángulo 4">
            <a:extLst>
              <a:ext uri="{FF2B5EF4-FFF2-40B4-BE49-F238E27FC236}">
                <a16:creationId xmlns:a16="http://schemas.microsoft.com/office/drawing/2014/main" id="{CBD7812A-5990-4723-9334-F95508A6BD60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dirty="0" err="1"/>
              <a:t>Sentencias</a:t>
            </a:r>
            <a:r>
              <a:rPr lang="en-US" sz="6600" dirty="0"/>
              <a:t> </a:t>
            </a:r>
            <a:r>
              <a:rPr lang="en-US" sz="6600" dirty="0" err="1"/>
              <a:t>más</a:t>
            </a:r>
            <a:r>
              <a:rPr lang="en-US" sz="6600" dirty="0"/>
              <a:t> </a:t>
            </a:r>
            <a:r>
              <a:rPr lang="en-US" sz="6600" dirty="0" err="1"/>
              <a:t>comunes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438A328D-7B61-818D-1FBC-4CEE287A61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273" b="7228"/>
          <a:stretch>
            <a:fillRect/>
          </a:stretch>
        </p:blipFill>
        <p:spPr>
          <a:xfrm>
            <a:off x="410137" y="1285985"/>
            <a:ext cx="11371725" cy="55720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2518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56EB0511-7A78-AEE3-C0AE-6E659BB7E9FA}"/>
              </a:ext>
            </a:extLst>
          </p:cNvPr>
          <p:cNvSpPr txBox="1"/>
          <p:nvPr/>
        </p:nvSpPr>
        <p:spPr>
          <a:xfrm>
            <a:off x="2302653" y="1912419"/>
            <a:ext cx="6094990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PA" dirty="0">
                <a:highlight>
                  <a:srgbClr val="FFFF00"/>
                </a:highlight>
              </a:rPr>
              <a:t>WITH sales AS (</a:t>
            </a:r>
          </a:p>
          <a:p>
            <a:r>
              <a:rPr lang="es-PA" dirty="0">
                <a:highlight>
                  <a:srgbClr val="FFFF00"/>
                </a:highlight>
              </a:rPr>
              <a:t>    SELECT </a:t>
            </a:r>
          </a:p>
          <a:p>
            <a:r>
              <a:rPr lang="es-PA" dirty="0">
                <a:highlight>
                  <a:srgbClr val="FFFF00"/>
                </a:highlight>
              </a:rPr>
              <a:t>        </a:t>
            </a:r>
            <a:r>
              <a:rPr lang="es-PA" dirty="0" err="1">
                <a:highlight>
                  <a:srgbClr val="FFFF00"/>
                </a:highlight>
              </a:rPr>
              <a:t>od.ProductID</a:t>
            </a:r>
            <a:r>
              <a:rPr lang="es-PA" dirty="0">
                <a:highlight>
                  <a:srgbClr val="FFFF00"/>
                </a:highlight>
              </a:rPr>
              <a:t>,</a:t>
            </a:r>
          </a:p>
          <a:p>
            <a:r>
              <a:rPr lang="es-PA" dirty="0">
                <a:highlight>
                  <a:srgbClr val="FFFF00"/>
                </a:highlight>
              </a:rPr>
              <a:t>        SUM(</a:t>
            </a:r>
            <a:r>
              <a:rPr lang="es-PA" dirty="0" err="1">
                <a:highlight>
                  <a:srgbClr val="FFFF00"/>
                </a:highlight>
              </a:rPr>
              <a:t>od.quantity</a:t>
            </a:r>
            <a:r>
              <a:rPr lang="es-PA" dirty="0">
                <a:highlight>
                  <a:srgbClr val="FFFF00"/>
                </a:highlight>
              </a:rPr>
              <a:t>) AS </a:t>
            </a:r>
            <a:r>
              <a:rPr lang="es-PA" dirty="0" err="1">
                <a:highlight>
                  <a:srgbClr val="FFFF00"/>
                </a:highlight>
              </a:rPr>
              <a:t>total_quantity</a:t>
            </a:r>
            <a:endParaRPr lang="es-PA" dirty="0">
              <a:highlight>
                <a:srgbClr val="FFFF00"/>
              </a:highlight>
            </a:endParaRPr>
          </a:p>
          <a:p>
            <a:r>
              <a:rPr lang="es-PA" dirty="0">
                <a:highlight>
                  <a:srgbClr val="FFFF00"/>
                </a:highlight>
              </a:rPr>
              <a:t>    FROM </a:t>
            </a:r>
            <a:r>
              <a:rPr lang="es-PA" dirty="0" err="1">
                <a:highlight>
                  <a:srgbClr val="FFFF00"/>
                </a:highlight>
              </a:rPr>
              <a:t>orderdetails</a:t>
            </a:r>
            <a:r>
              <a:rPr lang="es-PA" dirty="0">
                <a:highlight>
                  <a:srgbClr val="FFFF00"/>
                </a:highlight>
              </a:rPr>
              <a:t> </a:t>
            </a:r>
            <a:r>
              <a:rPr lang="es-PA" dirty="0" err="1">
                <a:highlight>
                  <a:srgbClr val="FFFF00"/>
                </a:highlight>
              </a:rPr>
              <a:t>od</a:t>
            </a:r>
            <a:endParaRPr lang="es-PA" dirty="0">
              <a:highlight>
                <a:srgbClr val="FFFF00"/>
              </a:highlight>
            </a:endParaRPr>
          </a:p>
          <a:p>
            <a:r>
              <a:rPr lang="es-PA" dirty="0">
                <a:highlight>
                  <a:srgbClr val="FFFF00"/>
                </a:highlight>
              </a:rPr>
              <a:t>    GROUP BY </a:t>
            </a:r>
            <a:r>
              <a:rPr lang="es-PA" dirty="0" err="1">
                <a:highlight>
                  <a:srgbClr val="FFFF00"/>
                </a:highlight>
              </a:rPr>
              <a:t>od.ProductID</a:t>
            </a:r>
            <a:endParaRPr lang="es-PA" dirty="0">
              <a:highlight>
                <a:srgbClr val="FFFF00"/>
              </a:highlight>
            </a:endParaRPr>
          </a:p>
          <a:p>
            <a:r>
              <a:rPr lang="es-PA" dirty="0">
                <a:highlight>
                  <a:srgbClr val="FFFF00"/>
                </a:highlight>
              </a:rPr>
              <a:t>)</a:t>
            </a:r>
          </a:p>
          <a:p>
            <a:endParaRPr lang="es-PA" dirty="0"/>
          </a:p>
          <a:p>
            <a:r>
              <a:rPr lang="es-PA" dirty="0">
                <a:highlight>
                  <a:srgbClr val="00FFFF"/>
                </a:highlight>
              </a:rPr>
              <a:t>SELECT </a:t>
            </a:r>
          </a:p>
          <a:p>
            <a:r>
              <a:rPr lang="es-PA" dirty="0">
                <a:highlight>
                  <a:srgbClr val="00FFFF"/>
                </a:highlight>
              </a:rPr>
              <a:t>    </a:t>
            </a:r>
            <a:r>
              <a:rPr lang="es-PA" dirty="0" err="1">
                <a:highlight>
                  <a:srgbClr val="00FFFF"/>
                </a:highlight>
              </a:rPr>
              <a:t>p.ProductName</a:t>
            </a:r>
            <a:r>
              <a:rPr lang="es-PA" dirty="0">
                <a:highlight>
                  <a:srgbClr val="00FFFF"/>
                </a:highlight>
              </a:rPr>
              <a:t>,</a:t>
            </a:r>
          </a:p>
          <a:p>
            <a:r>
              <a:rPr lang="es-PA" dirty="0">
                <a:highlight>
                  <a:srgbClr val="00FFFF"/>
                </a:highlight>
              </a:rPr>
              <a:t>    </a:t>
            </a:r>
            <a:r>
              <a:rPr lang="es-PA" dirty="0" err="1">
                <a:highlight>
                  <a:srgbClr val="00FFFF"/>
                </a:highlight>
              </a:rPr>
              <a:t>p.Price</a:t>
            </a:r>
            <a:r>
              <a:rPr lang="es-PA" dirty="0">
                <a:highlight>
                  <a:srgbClr val="00FFFF"/>
                </a:highlight>
              </a:rPr>
              <a:t> * </a:t>
            </a:r>
            <a:r>
              <a:rPr lang="es-PA" dirty="0" err="1">
                <a:highlight>
                  <a:srgbClr val="00FFFF"/>
                </a:highlight>
              </a:rPr>
              <a:t>s.total_quantity</a:t>
            </a:r>
            <a:r>
              <a:rPr lang="es-PA" dirty="0">
                <a:highlight>
                  <a:srgbClr val="00FFFF"/>
                </a:highlight>
              </a:rPr>
              <a:t> AS Total</a:t>
            </a:r>
          </a:p>
          <a:p>
            <a:r>
              <a:rPr lang="es-PA" dirty="0">
                <a:highlight>
                  <a:srgbClr val="00FFFF"/>
                </a:highlight>
              </a:rPr>
              <a:t>FROM </a:t>
            </a:r>
            <a:r>
              <a:rPr lang="es-PA" dirty="0" err="1">
                <a:highlight>
                  <a:srgbClr val="00FFFF"/>
                </a:highlight>
              </a:rPr>
              <a:t>products</a:t>
            </a:r>
            <a:r>
              <a:rPr lang="es-PA" dirty="0">
                <a:highlight>
                  <a:srgbClr val="00FFFF"/>
                </a:highlight>
              </a:rPr>
              <a:t> p</a:t>
            </a:r>
          </a:p>
          <a:p>
            <a:r>
              <a:rPr lang="es-PA" dirty="0">
                <a:highlight>
                  <a:srgbClr val="00FF00"/>
                </a:highlight>
              </a:rPr>
              <a:t>LEFT JOIN sales s</a:t>
            </a:r>
          </a:p>
          <a:p>
            <a:r>
              <a:rPr lang="es-PA" dirty="0">
                <a:highlight>
                  <a:srgbClr val="00FF00"/>
                </a:highlight>
              </a:rPr>
              <a:t>    ON </a:t>
            </a:r>
            <a:r>
              <a:rPr lang="es-PA" dirty="0" err="1">
                <a:highlight>
                  <a:srgbClr val="00FF00"/>
                </a:highlight>
              </a:rPr>
              <a:t>p.ProductID</a:t>
            </a:r>
            <a:r>
              <a:rPr lang="es-PA" dirty="0">
                <a:highlight>
                  <a:srgbClr val="00FF00"/>
                </a:highlight>
              </a:rPr>
              <a:t> = </a:t>
            </a:r>
            <a:r>
              <a:rPr lang="es-PA" dirty="0" err="1">
                <a:highlight>
                  <a:srgbClr val="00FF00"/>
                </a:highlight>
              </a:rPr>
              <a:t>s.ProductID</a:t>
            </a:r>
            <a:endParaRPr lang="es-PA" dirty="0">
              <a:highlight>
                <a:srgbClr val="00FF00"/>
              </a:highlight>
            </a:endParaRPr>
          </a:p>
          <a:p>
            <a:r>
              <a:rPr lang="es-PA" dirty="0">
                <a:highlight>
                  <a:srgbClr val="00FF00"/>
                </a:highlight>
              </a:rPr>
              <a:t>WHERE </a:t>
            </a:r>
            <a:r>
              <a:rPr lang="es-PA" dirty="0" err="1">
                <a:highlight>
                  <a:srgbClr val="00FF00"/>
                </a:highlight>
              </a:rPr>
              <a:t>p.Price</a:t>
            </a:r>
            <a:r>
              <a:rPr lang="es-PA" dirty="0">
                <a:highlight>
                  <a:srgbClr val="00FF00"/>
                </a:highlight>
              </a:rPr>
              <a:t> * </a:t>
            </a:r>
            <a:r>
              <a:rPr lang="es-PA" dirty="0" err="1">
                <a:highlight>
                  <a:srgbClr val="00FF00"/>
                </a:highlight>
              </a:rPr>
              <a:t>s.total_quantity</a:t>
            </a:r>
            <a:r>
              <a:rPr lang="es-PA" dirty="0">
                <a:highlight>
                  <a:srgbClr val="00FF00"/>
                </a:highlight>
              </a:rPr>
              <a:t> &gt; 2000;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0344FA5D-6859-7DC6-888B-3AE9EECBB4F7}"/>
              </a:ext>
            </a:extLst>
          </p:cNvPr>
          <p:cNvSpPr/>
          <p:nvPr/>
        </p:nvSpPr>
        <p:spPr>
          <a:xfrm>
            <a:off x="0" y="-61392"/>
            <a:ext cx="12192000" cy="1347377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A"/>
          </a:p>
        </p:txBody>
      </p:sp>
      <p:sp>
        <p:nvSpPr>
          <p:cNvPr id="7" name="Rectángulo 4">
            <a:extLst>
              <a:ext uri="{FF2B5EF4-FFF2-40B4-BE49-F238E27FC236}">
                <a16:creationId xmlns:a16="http://schemas.microsoft.com/office/drawing/2014/main" id="{FAC7A05A-7365-FEF8-C3A0-6860FED2E966}"/>
              </a:ext>
            </a:extLst>
          </p:cNvPr>
          <p:cNvSpPr txBox="1">
            <a:spLocks/>
          </p:cNvSpPr>
          <p:nvPr/>
        </p:nvSpPr>
        <p:spPr>
          <a:xfrm>
            <a:off x="838200" y="365126"/>
            <a:ext cx="10515600" cy="714374"/>
          </a:xfrm>
          <a:prstGeom prst="rect">
            <a:avLst/>
          </a:prstGeom>
          <a:solidFill>
            <a:schemeClr val="accent1">
              <a:lumMod val="50000"/>
            </a:schemeClr>
          </a:solidFill>
          <a:ln w="1270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 fontScale="825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600" dirty="0" err="1"/>
              <a:t>Sentencias</a:t>
            </a:r>
            <a:r>
              <a:rPr lang="en-US" sz="6600" dirty="0"/>
              <a:t> </a:t>
            </a:r>
            <a:r>
              <a:rPr lang="en-US" sz="6600" dirty="0" err="1"/>
              <a:t>más</a:t>
            </a:r>
            <a:r>
              <a:rPr lang="en-US" sz="6600" dirty="0"/>
              <a:t> </a:t>
            </a:r>
            <a:r>
              <a:rPr lang="en-US" sz="6600" dirty="0" err="1"/>
              <a:t>comunes</a:t>
            </a:r>
            <a:endParaRPr lang="es-AR" sz="3200" b="1" dirty="0">
              <a:latin typeface="Lato" panose="020F0502020204030203" pitchFamily="34" charset="0"/>
              <a:ea typeface="Lato" panose="020F0502020204030203" pitchFamily="34" charset="0"/>
              <a:cs typeface="Lato" panose="020F050202020403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102962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3017</TotalTime>
  <Words>378</Words>
  <Application>Microsoft Office PowerPoint</Application>
  <PresentationFormat>Panorámica</PresentationFormat>
  <Paragraphs>102</Paragraphs>
  <Slides>20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5" baseType="lpstr">
      <vt:lpstr>Aptos</vt:lpstr>
      <vt:lpstr>Aptos Display</vt:lpstr>
      <vt:lpstr>Arial</vt:lpstr>
      <vt:lpstr>Lato</vt:lpstr>
      <vt:lpstr>Tema de Office</vt:lpstr>
      <vt:lpstr>Data Wrangling accesible (Python + SQL) </vt:lpstr>
      <vt:lpstr>Procesos</vt:lpstr>
      <vt:lpstr>Entornos</vt:lpstr>
      <vt:lpstr>Librerías</vt:lpstr>
      <vt:lpstr>Análisis Exploratorio de Datos  Sesión 2</vt:lpstr>
      <vt:lpstr>Presentación de PowerPoint</vt:lpstr>
      <vt:lpstr>Presentación de PowerPoint</vt:lpstr>
      <vt:lpstr>Análisis Exploratorio de Datos</vt:lpstr>
      <vt:lpstr>Presentación de PowerPoint</vt:lpstr>
      <vt:lpstr>Análisis Exploratorio de Datos</vt:lpstr>
      <vt:lpstr>Presentación de PowerPoint</vt:lpstr>
      <vt:lpstr>Análisis Exploratorio de Datos</vt:lpstr>
      <vt:lpstr>Presentación de PowerPoint</vt:lpstr>
      <vt:lpstr>Presentación de PowerPoint</vt:lpstr>
      <vt:lpstr>Presentación de PowerPoint</vt:lpstr>
      <vt:lpstr>Propiedades del Gráfico</vt:lpstr>
      <vt:lpstr>Consultas SQL  Sesión 4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 Gomez</dc:creator>
  <cp:lastModifiedBy>Gabriel Gomez</cp:lastModifiedBy>
  <cp:revision>1</cp:revision>
  <dcterms:created xsi:type="dcterms:W3CDTF">2026-04-07T20:00:07Z</dcterms:created>
  <dcterms:modified xsi:type="dcterms:W3CDTF">2026-04-20T20:54:20Z</dcterms:modified>
</cp:coreProperties>
</file>